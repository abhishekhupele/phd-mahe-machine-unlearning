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313" r:id="rId3"/>
    <p:sldId id="314" r:id="rId4"/>
    <p:sldId id="315" r:id="rId5"/>
    <p:sldId id="316" r:id="rId6"/>
    <p:sldId id="361" r:id="rId7"/>
    <p:sldId id="318" r:id="rId8"/>
    <p:sldId id="350" r:id="rId9"/>
    <p:sldId id="349" r:id="rId10"/>
    <p:sldId id="359" r:id="rId11"/>
    <p:sldId id="352" r:id="rId12"/>
    <p:sldId id="354" r:id="rId13"/>
    <p:sldId id="355" r:id="rId14"/>
    <p:sldId id="319" r:id="rId15"/>
    <p:sldId id="320" r:id="rId16"/>
    <p:sldId id="322" r:id="rId17"/>
    <p:sldId id="323" r:id="rId18"/>
    <p:sldId id="324" r:id="rId19"/>
    <p:sldId id="325" r:id="rId20"/>
    <p:sldId id="326" r:id="rId21"/>
    <p:sldId id="327" r:id="rId22"/>
    <p:sldId id="329" r:id="rId23"/>
    <p:sldId id="330" r:id="rId24"/>
    <p:sldId id="332" r:id="rId25"/>
    <p:sldId id="333" r:id="rId26"/>
    <p:sldId id="334" r:id="rId27"/>
    <p:sldId id="342" r:id="rId28"/>
    <p:sldId id="343" r:id="rId29"/>
    <p:sldId id="344" r:id="rId30"/>
    <p:sldId id="345" r:id="rId31"/>
    <p:sldId id="362" r:id="rId32"/>
    <p:sldId id="357" r:id="rId33"/>
    <p:sldId id="364" r:id="rId34"/>
    <p:sldId id="335" r:id="rId35"/>
    <p:sldId id="35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D39"/>
    <a:srgbClr val="01A933"/>
    <a:srgbClr val="A5A5A5"/>
    <a:srgbClr val="B98A82"/>
    <a:srgbClr val="D17B5C"/>
    <a:srgbClr val="FF873A"/>
    <a:srgbClr val="4EC58E"/>
    <a:srgbClr val="731A3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33" autoAdjust="0"/>
    <p:restoredTop sz="94444" autoAdjust="0"/>
  </p:normalViewPr>
  <p:slideViewPr>
    <p:cSldViewPr snapToGrid="0" showGuides="1">
      <p:cViewPr varScale="1">
        <p:scale>
          <a:sx n="104" d="100"/>
          <a:sy n="104" d="100"/>
        </p:scale>
        <p:origin x="688" y="192"/>
      </p:cViewPr>
      <p:guideLst>
        <p:guide orient="horz" pos="3385"/>
        <p:guide pos="3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C4CF35-159D-B040-B663-4EE5FA728A8A}" type="doc">
      <dgm:prSet loTypeId="urn:microsoft.com/office/officeart/2005/8/layout/vList5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D61BDDC4-021A-334C-AF3B-92FCE0045DDC}">
      <dgm:prSet phldrT="[Text]" custT="1"/>
      <dgm:spPr/>
      <dgm:t>
        <a:bodyPr/>
        <a:lstStyle/>
        <a:p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Multi-injury Detection</a:t>
          </a:r>
        </a:p>
      </dgm:t>
    </dgm:pt>
    <dgm:pt modelId="{8CF9F419-4236-2D45-8EAC-3B4313354A1B}" type="parTrans" cxnId="{FC060B20-383A-BC46-8391-BAC911F73166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C337BF-5EB9-D94B-B919-FB76190BED5F}" type="sibTrans" cxnId="{FC060B20-383A-BC46-8391-BAC911F73166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C3C1B4-FAA8-0B44-8934-51056F222B1D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Limited work is reported on detecting and segmenting multiple liver injuries in one study with radiologist level accuracy. 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C80B86-2404-144D-A687-81AF58C51ED4}" type="parTrans" cxnId="{49ECBBF4-46D8-3D40-972F-7343F8A859D8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78C564-54DD-3845-B714-CD25FD728E83}" type="sibTrans" cxnId="{49ECBBF4-46D8-3D40-972F-7343F8A859D8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8E91D7-994B-8548-B0CA-DB05AF7DF7BD}">
      <dgm:prSet phldrT="[Text]" custT="1"/>
      <dgm:spPr/>
      <dgm:t>
        <a:bodyPr/>
        <a:lstStyle/>
        <a:p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Use of Multi-phasic Study</a:t>
          </a:r>
        </a:p>
      </dgm:t>
    </dgm:pt>
    <dgm:pt modelId="{1E1B022F-B487-2D42-B62C-7BD722C48649}" type="parTrans" cxnId="{A4693350-DC78-E840-8EED-843BCD583772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AB0E77-89E1-2044-836F-565191019A63}" type="sibTrans" cxnId="{A4693350-DC78-E840-8EED-843BCD583772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C2D0AA-44C1-CD40-AD9D-A7BF1413A317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Current studies are primarily done on single phase CT imaging, while multi-phasic imaging can provide a richer insights to traumatic liver injuries. 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374D4B-6DF8-0749-94C4-52DAD862232A}" type="parTrans" cxnId="{6EADD451-2D8B-1F4B-82CF-9DDDC9804229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B7887B-F6FA-E246-91AD-70C1D21B4B4E}" type="sibTrans" cxnId="{6EADD451-2D8B-1F4B-82CF-9DDDC9804229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6DF13C-075E-0A48-A56C-CB80BEBBD7FE}">
      <dgm:prSet phldrT="[Text]" custT="1"/>
      <dgm:spPr/>
      <dgm:t>
        <a:bodyPr/>
        <a:lstStyle/>
        <a:p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Automated Grading System</a:t>
          </a:r>
        </a:p>
      </dgm:t>
    </dgm:pt>
    <dgm:pt modelId="{B934537E-3ED2-1B42-A827-756391C051E5}" type="parTrans" cxnId="{B6C3A926-8CC5-4E43-B449-685B60629B5A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A96DC1-96DA-C24D-9395-C88D7AC9FCFD}" type="sibTrans" cxnId="{B6C3A926-8CC5-4E43-B449-685B60629B5A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E21EE7-134D-AB48-9724-B9DED266835C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Although work has been done on volumetric assessment of liver trauma, very limited work has been carried out on grading the severity of the liver injury. 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C7A4FF-FF7B-644E-9253-C72F62A123CC}" type="parTrans" cxnId="{A0DECCF2-3C1F-5144-9E1A-4C158ACEE939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E91BF4-A800-194C-99C6-655B090851FD}" type="sibTrans" cxnId="{A0DECCF2-3C1F-5144-9E1A-4C158ACEE939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7F5A0D-4DDF-7642-A117-287EFFAC1546}">
      <dgm:prSet phldrT="[Text]" custT="1"/>
      <dgm:spPr/>
      <dgm:t>
        <a:bodyPr/>
        <a:lstStyle/>
        <a:p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Decision Support System (DSS)</a:t>
          </a:r>
        </a:p>
      </dgm:t>
    </dgm:pt>
    <dgm:pt modelId="{65D3563B-9F3E-E942-856C-F17417479E87}" type="parTrans" cxnId="{89331B67-785D-654A-A777-0A7B57C05946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A1FFA6-428D-A840-B2C6-1CA118D92B83}" type="sibTrans" cxnId="{89331B67-785D-654A-A777-0A7B57C05946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62ACCC-E4FF-0546-A346-7C4ABB89C7E7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There is no major work carried out on designing an intuitive interface to automate the assessment of liver trauma. 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077AE1-B651-8040-B28C-5E254D2AFC12}" type="parTrans" cxnId="{AC321AC2-1F89-8A47-BD5F-7D49C0E9A6DD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DAECA4-AE98-8E41-A96B-38A4B889B59A}" type="sibTrans" cxnId="{AC321AC2-1F89-8A47-BD5F-7D49C0E9A6DD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B77D11-2F3F-3E47-8FD0-E91B151C1214}" type="pres">
      <dgm:prSet presAssocID="{38C4CF35-159D-B040-B663-4EE5FA728A8A}" presName="Name0" presStyleCnt="0">
        <dgm:presLayoutVars>
          <dgm:dir/>
          <dgm:animLvl val="lvl"/>
          <dgm:resizeHandles val="exact"/>
        </dgm:presLayoutVars>
      </dgm:prSet>
      <dgm:spPr/>
    </dgm:pt>
    <dgm:pt modelId="{484235DD-557E-DF46-8A61-284B4D627B50}" type="pres">
      <dgm:prSet presAssocID="{D61BDDC4-021A-334C-AF3B-92FCE0045DDC}" presName="linNode" presStyleCnt="0"/>
      <dgm:spPr/>
    </dgm:pt>
    <dgm:pt modelId="{2509E6C5-E558-994C-B4C7-DCDCB4762F21}" type="pres">
      <dgm:prSet presAssocID="{D61BDDC4-021A-334C-AF3B-92FCE0045DDC}" presName="parentText" presStyleLbl="node1" presStyleIdx="0" presStyleCnt="4" custScaleX="94644">
        <dgm:presLayoutVars>
          <dgm:chMax val="1"/>
          <dgm:bulletEnabled val="1"/>
        </dgm:presLayoutVars>
      </dgm:prSet>
      <dgm:spPr/>
    </dgm:pt>
    <dgm:pt modelId="{0443FC87-0DAA-FE4F-B3DC-59C91B1530E0}" type="pres">
      <dgm:prSet presAssocID="{D61BDDC4-021A-334C-AF3B-92FCE0045DDC}" presName="descendantText" presStyleLbl="alignAccFollowNode1" presStyleIdx="0" presStyleCnt="4" custScaleY="106454">
        <dgm:presLayoutVars>
          <dgm:bulletEnabled val="1"/>
        </dgm:presLayoutVars>
      </dgm:prSet>
      <dgm:spPr/>
    </dgm:pt>
    <dgm:pt modelId="{988A4A4A-8BDF-CA4C-B5FB-20EDC888CF5E}" type="pres">
      <dgm:prSet presAssocID="{82C337BF-5EB9-D94B-B919-FB76190BED5F}" presName="sp" presStyleCnt="0"/>
      <dgm:spPr/>
    </dgm:pt>
    <dgm:pt modelId="{4E9D0C5D-5FC8-1342-B60E-E8436BBDFCAE}" type="pres">
      <dgm:prSet presAssocID="{418E91D7-994B-8548-B0CA-DB05AF7DF7BD}" presName="linNode" presStyleCnt="0"/>
      <dgm:spPr/>
    </dgm:pt>
    <dgm:pt modelId="{5887623D-96BC-B747-A79F-E37C93CDAE33}" type="pres">
      <dgm:prSet presAssocID="{418E91D7-994B-8548-B0CA-DB05AF7DF7BD}" presName="parentText" presStyleLbl="node1" presStyleIdx="1" presStyleCnt="4" custScaleX="94644">
        <dgm:presLayoutVars>
          <dgm:chMax val="1"/>
          <dgm:bulletEnabled val="1"/>
        </dgm:presLayoutVars>
      </dgm:prSet>
      <dgm:spPr/>
    </dgm:pt>
    <dgm:pt modelId="{AEC64D76-254D-5C4C-89E0-7E54C22BE44C}" type="pres">
      <dgm:prSet presAssocID="{418E91D7-994B-8548-B0CA-DB05AF7DF7BD}" presName="descendantText" presStyleLbl="alignAccFollowNode1" presStyleIdx="1" presStyleCnt="4">
        <dgm:presLayoutVars>
          <dgm:bulletEnabled val="1"/>
        </dgm:presLayoutVars>
      </dgm:prSet>
      <dgm:spPr/>
    </dgm:pt>
    <dgm:pt modelId="{2F50449C-EA63-9E43-9A01-B3AF5AA29906}" type="pres">
      <dgm:prSet presAssocID="{88AB0E77-89E1-2044-836F-565191019A63}" presName="sp" presStyleCnt="0"/>
      <dgm:spPr/>
    </dgm:pt>
    <dgm:pt modelId="{DAC403F3-9310-DE42-BF25-35A600EF238C}" type="pres">
      <dgm:prSet presAssocID="{7B6DF13C-075E-0A48-A56C-CB80BEBBD7FE}" presName="linNode" presStyleCnt="0"/>
      <dgm:spPr/>
    </dgm:pt>
    <dgm:pt modelId="{A28434E8-C752-4344-82EF-D4F915620887}" type="pres">
      <dgm:prSet presAssocID="{7B6DF13C-075E-0A48-A56C-CB80BEBBD7FE}" presName="parentText" presStyleLbl="node1" presStyleIdx="2" presStyleCnt="4" custScaleX="94644">
        <dgm:presLayoutVars>
          <dgm:chMax val="1"/>
          <dgm:bulletEnabled val="1"/>
        </dgm:presLayoutVars>
      </dgm:prSet>
      <dgm:spPr/>
    </dgm:pt>
    <dgm:pt modelId="{E7972576-5D6F-FA4B-903C-6084BEDFFCF5}" type="pres">
      <dgm:prSet presAssocID="{7B6DF13C-075E-0A48-A56C-CB80BEBBD7FE}" presName="descendantText" presStyleLbl="alignAccFollowNode1" presStyleIdx="2" presStyleCnt="4">
        <dgm:presLayoutVars>
          <dgm:bulletEnabled val="1"/>
        </dgm:presLayoutVars>
      </dgm:prSet>
      <dgm:spPr/>
    </dgm:pt>
    <dgm:pt modelId="{366D149A-8127-2B49-BE35-18C7BD0000C9}" type="pres">
      <dgm:prSet presAssocID="{1FA96DC1-96DA-C24D-9395-C88D7AC9FCFD}" presName="sp" presStyleCnt="0"/>
      <dgm:spPr/>
    </dgm:pt>
    <dgm:pt modelId="{B9F3DF8B-311C-1E4F-98C1-78A750499395}" type="pres">
      <dgm:prSet presAssocID="{317F5A0D-4DDF-7642-A117-287EFFAC1546}" presName="linNode" presStyleCnt="0"/>
      <dgm:spPr/>
    </dgm:pt>
    <dgm:pt modelId="{CC229CB6-8123-A641-8FF9-976A0B779F84}" type="pres">
      <dgm:prSet presAssocID="{317F5A0D-4DDF-7642-A117-287EFFAC1546}" presName="parentText" presStyleLbl="node1" presStyleIdx="3" presStyleCnt="4" custScaleX="94644">
        <dgm:presLayoutVars>
          <dgm:chMax val="1"/>
          <dgm:bulletEnabled val="1"/>
        </dgm:presLayoutVars>
      </dgm:prSet>
      <dgm:spPr/>
    </dgm:pt>
    <dgm:pt modelId="{3A7982CA-9FA5-FF49-8B87-8915B8F21519}" type="pres">
      <dgm:prSet presAssocID="{317F5A0D-4DDF-7642-A117-287EFFAC1546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816D9A00-44CA-B349-A266-1CA93C82E658}" type="presOf" srcId="{D61BDDC4-021A-334C-AF3B-92FCE0045DDC}" destId="{2509E6C5-E558-994C-B4C7-DCDCB4762F21}" srcOrd="0" destOrd="0" presId="urn:microsoft.com/office/officeart/2005/8/layout/vList5"/>
    <dgm:cxn modelId="{4CBAB50D-030C-354A-A900-097EB61B00D8}" type="presOf" srcId="{38C4CF35-159D-B040-B663-4EE5FA728A8A}" destId="{C5B77D11-2F3F-3E47-8FD0-E91B151C1214}" srcOrd="0" destOrd="0" presId="urn:microsoft.com/office/officeart/2005/8/layout/vList5"/>
    <dgm:cxn modelId="{93EA031F-F7BD-6740-BD83-532FA1E312E6}" type="presOf" srcId="{9AC3C1B4-FAA8-0B44-8934-51056F222B1D}" destId="{0443FC87-0DAA-FE4F-B3DC-59C91B1530E0}" srcOrd="0" destOrd="0" presId="urn:microsoft.com/office/officeart/2005/8/layout/vList5"/>
    <dgm:cxn modelId="{FC060B20-383A-BC46-8391-BAC911F73166}" srcId="{38C4CF35-159D-B040-B663-4EE5FA728A8A}" destId="{D61BDDC4-021A-334C-AF3B-92FCE0045DDC}" srcOrd="0" destOrd="0" parTransId="{8CF9F419-4236-2D45-8EAC-3B4313354A1B}" sibTransId="{82C337BF-5EB9-D94B-B919-FB76190BED5F}"/>
    <dgm:cxn modelId="{B6C3A926-8CC5-4E43-B449-685B60629B5A}" srcId="{38C4CF35-159D-B040-B663-4EE5FA728A8A}" destId="{7B6DF13C-075E-0A48-A56C-CB80BEBBD7FE}" srcOrd="2" destOrd="0" parTransId="{B934537E-3ED2-1B42-A827-756391C051E5}" sibTransId="{1FA96DC1-96DA-C24D-9395-C88D7AC9FCFD}"/>
    <dgm:cxn modelId="{A7300030-CA32-134B-AD69-ECA54AF5C4E1}" type="presOf" srcId="{F7E21EE7-134D-AB48-9724-B9DED266835C}" destId="{E7972576-5D6F-FA4B-903C-6084BEDFFCF5}" srcOrd="0" destOrd="0" presId="urn:microsoft.com/office/officeart/2005/8/layout/vList5"/>
    <dgm:cxn modelId="{5C044042-8534-8C4A-B9A0-1ADE85E40709}" type="presOf" srcId="{7B6DF13C-075E-0A48-A56C-CB80BEBBD7FE}" destId="{A28434E8-C752-4344-82EF-D4F915620887}" srcOrd="0" destOrd="0" presId="urn:microsoft.com/office/officeart/2005/8/layout/vList5"/>
    <dgm:cxn modelId="{A4693350-DC78-E840-8EED-843BCD583772}" srcId="{38C4CF35-159D-B040-B663-4EE5FA728A8A}" destId="{418E91D7-994B-8548-B0CA-DB05AF7DF7BD}" srcOrd="1" destOrd="0" parTransId="{1E1B022F-B487-2D42-B62C-7BD722C48649}" sibTransId="{88AB0E77-89E1-2044-836F-565191019A63}"/>
    <dgm:cxn modelId="{6EADD451-2D8B-1F4B-82CF-9DDDC9804229}" srcId="{418E91D7-994B-8548-B0CA-DB05AF7DF7BD}" destId="{43C2D0AA-44C1-CD40-AD9D-A7BF1413A317}" srcOrd="0" destOrd="0" parTransId="{50374D4B-6DF8-0749-94C4-52DAD862232A}" sibTransId="{FBB7887B-F6FA-E246-91AD-70C1D21B4B4E}"/>
    <dgm:cxn modelId="{D270FB66-8CD8-EF4C-8A47-DB41BD1ECB90}" type="presOf" srcId="{317F5A0D-4DDF-7642-A117-287EFFAC1546}" destId="{CC229CB6-8123-A641-8FF9-976A0B779F84}" srcOrd="0" destOrd="0" presId="urn:microsoft.com/office/officeart/2005/8/layout/vList5"/>
    <dgm:cxn modelId="{89331B67-785D-654A-A777-0A7B57C05946}" srcId="{38C4CF35-159D-B040-B663-4EE5FA728A8A}" destId="{317F5A0D-4DDF-7642-A117-287EFFAC1546}" srcOrd="3" destOrd="0" parTransId="{65D3563B-9F3E-E942-856C-F17417479E87}" sibTransId="{F1A1FFA6-428D-A840-B2C6-1CA118D92B83}"/>
    <dgm:cxn modelId="{7937E182-05EF-C145-8ACF-F8325015D6C6}" type="presOf" srcId="{7C62ACCC-E4FF-0546-A346-7C4ABB89C7E7}" destId="{3A7982CA-9FA5-FF49-8B87-8915B8F21519}" srcOrd="0" destOrd="0" presId="urn:microsoft.com/office/officeart/2005/8/layout/vList5"/>
    <dgm:cxn modelId="{0F07EB83-5D7A-AD44-8006-1D7E659FC174}" type="presOf" srcId="{418E91D7-994B-8548-B0CA-DB05AF7DF7BD}" destId="{5887623D-96BC-B747-A79F-E37C93CDAE33}" srcOrd="0" destOrd="0" presId="urn:microsoft.com/office/officeart/2005/8/layout/vList5"/>
    <dgm:cxn modelId="{AC321AC2-1F89-8A47-BD5F-7D49C0E9A6DD}" srcId="{317F5A0D-4DDF-7642-A117-287EFFAC1546}" destId="{7C62ACCC-E4FF-0546-A346-7C4ABB89C7E7}" srcOrd="0" destOrd="0" parTransId="{C3077AE1-B651-8040-B28C-5E254D2AFC12}" sibTransId="{E9DAECA4-AE98-8E41-A96B-38A4B889B59A}"/>
    <dgm:cxn modelId="{646B19F0-E29E-B440-9E15-A3C82A72876D}" type="presOf" srcId="{43C2D0AA-44C1-CD40-AD9D-A7BF1413A317}" destId="{AEC64D76-254D-5C4C-89E0-7E54C22BE44C}" srcOrd="0" destOrd="0" presId="urn:microsoft.com/office/officeart/2005/8/layout/vList5"/>
    <dgm:cxn modelId="{A0DECCF2-3C1F-5144-9E1A-4C158ACEE939}" srcId="{7B6DF13C-075E-0A48-A56C-CB80BEBBD7FE}" destId="{F7E21EE7-134D-AB48-9724-B9DED266835C}" srcOrd="0" destOrd="0" parTransId="{04C7A4FF-FF7B-644E-9253-C72F62A123CC}" sibTransId="{B2E91BF4-A800-194C-99C6-655B090851FD}"/>
    <dgm:cxn modelId="{49ECBBF4-46D8-3D40-972F-7343F8A859D8}" srcId="{D61BDDC4-021A-334C-AF3B-92FCE0045DDC}" destId="{9AC3C1B4-FAA8-0B44-8934-51056F222B1D}" srcOrd="0" destOrd="0" parTransId="{56C80B86-2404-144D-A687-81AF58C51ED4}" sibTransId="{E978C564-54DD-3845-B714-CD25FD728E83}"/>
    <dgm:cxn modelId="{D091F2F5-7E49-2241-9072-B09B2E75013F}" type="presParOf" srcId="{C5B77D11-2F3F-3E47-8FD0-E91B151C1214}" destId="{484235DD-557E-DF46-8A61-284B4D627B50}" srcOrd="0" destOrd="0" presId="urn:microsoft.com/office/officeart/2005/8/layout/vList5"/>
    <dgm:cxn modelId="{A41859D7-4E8B-454F-A9EF-48194CB87564}" type="presParOf" srcId="{484235DD-557E-DF46-8A61-284B4D627B50}" destId="{2509E6C5-E558-994C-B4C7-DCDCB4762F21}" srcOrd="0" destOrd="0" presId="urn:microsoft.com/office/officeart/2005/8/layout/vList5"/>
    <dgm:cxn modelId="{7D60C9D0-EB06-4146-9BC3-F305B29A7C3D}" type="presParOf" srcId="{484235DD-557E-DF46-8A61-284B4D627B50}" destId="{0443FC87-0DAA-FE4F-B3DC-59C91B1530E0}" srcOrd="1" destOrd="0" presId="urn:microsoft.com/office/officeart/2005/8/layout/vList5"/>
    <dgm:cxn modelId="{180F93EA-903B-2241-862D-5559A2194F2A}" type="presParOf" srcId="{C5B77D11-2F3F-3E47-8FD0-E91B151C1214}" destId="{988A4A4A-8BDF-CA4C-B5FB-20EDC888CF5E}" srcOrd="1" destOrd="0" presId="urn:microsoft.com/office/officeart/2005/8/layout/vList5"/>
    <dgm:cxn modelId="{EA3B59B7-8A3F-5E49-A6D6-FF0CD8A3741A}" type="presParOf" srcId="{C5B77D11-2F3F-3E47-8FD0-E91B151C1214}" destId="{4E9D0C5D-5FC8-1342-B60E-E8436BBDFCAE}" srcOrd="2" destOrd="0" presId="urn:microsoft.com/office/officeart/2005/8/layout/vList5"/>
    <dgm:cxn modelId="{93E4F2E5-C7F2-B840-B581-3D009E96869B}" type="presParOf" srcId="{4E9D0C5D-5FC8-1342-B60E-E8436BBDFCAE}" destId="{5887623D-96BC-B747-A79F-E37C93CDAE33}" srcOrd="0" destOrd="0" presId="urn:microsoft.com/office/officeart/2005/8/layout/vList5"/>
    <dgm:cxn modelId="{DDF190ED-D1EE-044D-AF14-7DDAF9036F49}" type="presParOf" srcId="{4E9D0C5D-5FC8-1342-B60E-E8436BBDFCAE}" destId="{AEC64D76-254D-5C4C-89E0-7E54C22BE44C}" srcOrd="1" destOrd="0" presId="urn:microsoft.com/office/officeart/2005/8/layout/vList5"/>
    <dgm:cxn modelId="{088A3E88-B292-CC48-BF27-EDF35D9B5686}" type="presParOf" srcId="{C5B77D11-2F3F-3E47-8FD0-E91B151C1214}" destId="{2F50449C-EA63-9E43-9A01-B3AF5AA29906}" srcOrd="3" destOrd="0" presId="urn:microsoft.com/office/officeart/2005/8/layout/vList5"/>
    <dgm:cxn modelId="{844146EC-7E7A-0B45-A530-EB19BDF77B8C}" type="presParOf" srcId="{C5B77D11-2F3F-3E47-8FD0-E91B151C1214}" destId="{DAC403F3-9310-DE42-BF25-35A600EF238C}" srcOrd="4" destOrd="0" presId="urn:microsoft.com/office/officeart/2005/8/layout/vList5"/>
    <dgm:cxn modelId="{37258555-2CA9-E948-A6BB-BE0E5DC4E7A6}" type="presParOf" srcId="{DAC403F3-9310-DE42-BF25-35A600EF238C}" destId="{A28434E8-C752-4344-82EF-D4F915620887}" srcOrd="0" destOrd="0" presId="urn:microsoft.com/office/officeart/2005/8/layout/vList5"/>
    <dgm:cxn modelId="{8691E64A-2C05-254B-A242-6AE548917E51}" type="presParOf" srcId="{DAC403F3-9310-DE42-BF25-35A600EF238C}" destId="{E7972576-5D6F-FA4B-903C-6084BEDFFCF5}" srcOrd="1" destOrd="0" presId="urn:microsoft.com/office/officeart/2005/8/layout/vList5"/>
    <dgm:cxn modelId="{C672CE6F-342F-B841-BFC0-4487BB9F7C37}" type="presParOf" srcId="{C5B77D11-2F3F-3E47-8FD0-E91B151C1214}" destId="{366D149A-8127-2B49-BE35-18C7BD0000C9}" srcOrd="5" destOrd="0" presId="urn:microsoft.com/office/officeart/2005/8/layout/vList5"/>
    <dgm:cxn modelId="{37442EB9-70CF-764B-87D8-4C823B0C4201}" type="presParOf" srcId="{C5B77D11-2F3F-3E47-8FD0-E91B151C1214}" destId="{B9F3DF8B-311C-1E4F-98C1-78A750499395}" srcOrd="6" destOrd="0" presId="urn:microsoft.com/office/officeart/2005/8/layout/vList5"/>
    <dgm:cxn modelId="{FE6252AB-99EF-9344-B388-C1C97B1B2F78}" type="presParOf" srcId="{B9F3DF8B-311C-1E4F-98C1-78A750499395}" destId="{CC229CB6-8123-A641-8FF9-976A0B779F84}" srcOrd="0" destOrd="0" presId="urn:microsoft.com/office/officeart/2005/8/layout/vList5"/>
    <dgm:cxn modelId="{989EED5A-A4B2-5949-AE85-7B67D48D08F7}" type="presParOf" srcId="{B9F3DF8B-311C-1E4F-98C1-78A750499395}" destId="{3A7982CA-9FA5-FF49-8B87-8915B8F2151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D455D8-428A-9F43-A691-EF8F8F5689BD}" type="doc">
      <dgm:prSet loTypeId="urn:microsoft.com/office/officeart/2005/8/layout/vList3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94C4543E-8B7F-CF4D-978A-BB77AA6B98B1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develop an efficient framework to identify and segment the liver and traumatic regions of liver in CT scan.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3128F8-293E-BF4B-8436-7533A0C03A4C}" type="parTrans" cxnId="{2B1F1224-9549-E146-B02C-CA759A605711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8FACC6-2853-D94E-BEE8-6D7C40D7A6C8}" type="sibTrans" cxnId="{2B1F1224-9549-E146-B02C-CA759A605711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C01232-065A-014A-965D-E9288E28F34B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 an automated module for quantitative assessment and severity grading of liver trauma. 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6A16F5-9883-A745-A5C2-DCDF389A05C6}" type="parTrans" cxnId="{032F300D-E06D-3143-8971-812C2111D361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8AD7A8-470F-4048-8A08-1567EB84A626}" type="sibTrans" cxnId="{032F300D-E06D-3143-8971-812C2111D361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85175A-4A06-F84C-A96B-04E9B3053C29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 an end-to-end pipeline that integrates trauma segmentation and injury grading into an intuitive interface, for accurate and precise assessment of liver trauma. 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6C4510-4A84-6844-B45D-D4EF2963695F}" type="parTrans" cxnId="{0F3AD537-392A-124E-87DB-76998C889913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9AE27C-0FA8-DF46-9A7C-66E399C15731}" type="sibTrans" cxnId="{0F3AD537-392A-124E-87DB-76998C889913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D9EFDC-825D-B345-AB14-AE12FBB69B9D}" type="pres">
      <dgm:prSet presAssocID="{57D455D8-428A-9F43-A691-EF8F8F5689BD}" presName="linearFlow" presStyleCnt="0">
        <dgm:presLayoutVars>
          <dgm:dir/>
          <dgm:resizeHandles val="exact"/>
        </dgm:presLayoutVars>
      </dgm:prSet>
      <dgm:spPr/>
    </dgm:pt>
    <dgm:pt modelId="{79566DC5-9EA1-6044-9CE0-52FA8D7D9C4F}" type="pres">
      <dgm:prSet presAssocID="{94C4543E-8B7F-CF4D-978A-BB77AA6B98B1}" presName="composite" presStyleCnt="0"/>
      <dgm:spPr/>
    </dgm:pt>
    <dgm:pt modelId="{E370F7E1-3417-D347-85AA-C3941A450E3F}" type="pres">
      <dgm:prSet presAssocID="{94C4543E-8B7F-CF4D-978A-BB77AA6B98B1}" presName="imgShp" presStyleLbl="fgImgPlace1" presStyleIdx="0" presStyleCnt="3" custLinFactNeighborX="-71656" custLinFactNeighborY="1141"/>
      <dgm:spPr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C6EDA068-6DCD-5B44-A711-56E467C655BB}" type="pres">
      <dgm:prSet presAssocID="{94C4543E-8B7F-CF4D-978A-BB77AA6B98B1}" presName="txShp" presStyleLbl="node1" presStyleIdx="0" presStyleCnt="3" custScaleX="133851">
        <dgm:presLayoutVars>
          <dgm:bulletEnabled val="1"/>
        </dgm:presLayoutVars>
      </dgm:prSet>
      <dgm:spPr/>
    </dgm:pt>
    <dgm:pt modelId="{69B5F443-8C6E-F249-84A2-CA1629DC0B9E}" type="pres">
      <dgm:prSet presAssocID="{3C8FACC6-2853-D94E-BEE8-6D7C40D7A6C8}" presName="spacing" presStyleCnt="0"/>
      <dgm:spPr/>
    </dgm:pt>
    <dgm:pt modelId="{38592B41-025B-104E-AF83-4B3221EF96DD}" type="pres">
      <dgm:prSet presAssocID="{92C01232-065A-014A-965D-E9288E28F34B}" presName="composite" presStyleCnt="0"/>
      <dgm:spPr/>
    </dgm:pt>
    <dgm:pt modelId="{BFA21859-67FE-0744-B3BE-5E8C851783A7}" type="pres">
      <dgm:prSet presAssocID="{92C01232-065A-014A-965D-E9288E28F34B}" presName="imgShp" presStyleLbl="fgImgPlace1" presStyleIdx="1" presStyleCnt="3" custLinFactNeighborX="-71656" custLinFactNeighborY="1141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600B32BE-338D-354F-945F-1972DB549D0F}" type="pres">
      <dgm:prSet presAssocID="{92C01232-065A-014A-965D-E9288E28F34B}" presName="txShp" presStyleLbl="node1" presStyleIdx="1" presStyleCnt="3" custScaleX="133851">
        <dgm:presLayoutVars>
          <dgm:bulletEnabled val="1"/>
        </dgm:presLayoutVars>
      </dgm:prSet>
      <dgm:spPr/>
    </dgm:pt>
    <dgm:pt modelId="{60A13FE8-9BF1-954C-BB15-4394D2E1FF0D}" type="pres">
      <dgm:prSet presAssocID="{838AD7A8-470F-4048-8A08-1567EB84A626}" presName="spacing" presStyleCnt="0"/>
      <dgm:spPr/>
    </dgm:pt>
    <dgm:pt modelId="{200DA732-5DD0-9F47-BD28-3653C94079A0}" type="pres">
      <dgm:prSet presAssocID="{F985175A-4A06-F84C-A96B-04E9B3053C29}" presName="composite" presStyleCnt="0"/>
      <dgm:spPr/>
    </dgm:pt>
    <dgm:pt modelId="{ABADC83B-53C8-154E-9872-C19DFA547FBA}" type="pres">
      <dgm:prSet presAssocID="{F985175A-4A06-F84C-A96B-04E9B3053C29}" presName="imgShp" presStyleLbl="fgImgPlace1" presStyleIdx="2" presStyleCnt="3" custLinFactNeighborX="-71656" custLinFactNeighborY="-114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39A2A09D-B1FC-4448-8A7B-3E4A7C41367A}" type="pres">
      <dgm:prSet presAssocID="{F985175A-4A06-F84C-A96B-04E9B3053C29}" presName="txShp" presStyleLbl="node1" presStyleIdx="2" presStyleCnt="3" custScaleX="133831">
        <dgm:presLayoutVars>
          <dgm:bulletEnabled val="1"/>
        </dgm:presLayoutVars>
      </dgm:prSet>
      <dgm:spPr/>
    </dgm:pt>
  </dgm:ptLst>
  <dgm:cxnLst>
    <dgm:cxn modelId="{032F300D-E06D-3143-8971-812C2111D361}" srcId="{57D455D8-428A-9F43-A691-EF8F8F5689BD}" destId="{92C01232-065A-014A-965D-E9288E28F34B}" srcOrd="1" destOrd="0" parTransId="{A56A16F5-9883-A745-A5C2-DCDF389A05C6}" sibTransId="{838AD7A8-470F-4048-8A08-1567EB84A626}"/>
    <dgm:cxn modelId="{2B1F1224-9549-E146-B02C-CA759A605711}" srcId="{57D455D8-428A-9F43-A691-EF8F8F5689BD}" destId="{94C4543E-8B7F-CF4D-978A-BB77AA6B98B1}" srcOrd="0" destOrd="0" parTransId="{CE3128F8-293E-BF4B-8436-7533A0C03A4C}" sibTransId="{3C8FACC6-2853-D94E-BEE8-6D7C40D7A6C8}"/>
    <dgm:cxn modelId="{0F3AD537-392A-124E-87DB-76998C889913}" srcId="{57D455D8-428A-9F43-A691-EF8F8F5689BD}" destId="{F985175A-4A06-F84C-A96B-04E9B3053C29}" srcOrd="2" destOrd="0" parTransId="{3A6C4510-4A84-6844-B45D-D4EF2963695F}" sibTransId="{F19AE27C-0FA8-DF46-9A7C-66E399C15731}"/>
    <dgm:cxn modelId="{233AC338-4B0D-3A47-B795-857FE6BB12DB}" type="presOf" srcId="{57D455D8-428A-9F43-A691-EF8F8F5689BD}" destId="{E4D9EFDC-825D-B345-AB14-AE12FBB69B9D}" srcOrd="0" destOrd="0" presId="urn:microsoft.com/office/officeart/2005/8/layout/vList3"/>
    <dgm:cxn modelId="{D6C202B6-9D18-4E47-8DC8-405FC5D5506C}" type="presOf" srcId="{92C01232-065A-014A-965D-E9288E28F34B}" destId="{600B32BE-338D-354F-945F-1972DB549D0F}" srcOrd="0" destOrd="0" presId="urn:microsoft.com/office/officeart/2005/8/layout/vList3"/>
    <dgm:cxn modelId="{76DA6ADE-2B59-5145-8CEB-0E45A0D1F3D2}" type="presOf" srcId="{F985175A-4A06-F84C-A96B-04E9B3053C29}" destId="{39A2A09D-B1FC-4448-8A7B-3E4A7C41367A}" srcOrd="0" destOrd="0" presId="urn:microsoft.com/office/officeart/2005/8/layout/vList3"/>
    <dgm:cxn modelId="{9E663EE2-563F-8B45-B3E0-DE0D677B42FF}" type="presOf" srcId="{94C4543E-8B7F-CF4D-978A-BB77AA6B98B1}" destId="{C6EDA068-6DCD-5B44-A711-56E467C655BB}" srcOrd="0" destOrd="0" presId="urn:microsoft.com/office/officeart/2005/8/layout/vList3"/>
    <dgm:cxn modelId="{E9C8772D-0727-F64D-8242-8B9E37F58438}" type="presParOf" srcId="{E4D9EFDC-825D-B345-AB14-AE12FBB69B9D}" destId="{79566DC5-9EA1-6044-9CE0-52FA8D7D9C4F}" srcOrd="0" destOrd="0" presId="urn:microsoft.com/office/officeart/2005/8/layout/vList3"/>
    <dgm:cxn modelId="{3743F910-6590-9949-9362-2F489F2DE048}" type="presParOf" srcId="{79566DC5-9EA1-6044-9CE0-52FA8D7D9C4F}" destId="{E370F7E1-3417-D347-85AA-C3941A450E3F}" srcOrd="0" destOrd="0" presId="urn:microsoft.com/office/officeart/2005/8/layout/vList3"/>
    <dgm:cxn modelId="{7E7A699F-6FC3-EF41-9CD9-E4C3E781CEDB}" type="presParOf" srcId="{79566DC5-9EA1-6044-9CE0-52FA8D7D9C4F}" destId="{C6EDA068-6DCD-5B44-A711-56E467C655BB}" srcOrd="1" destOrd="0" presId="urn:microsoft.com/office/officeart/2005/8/layout/vList3"/>
    <dgm:cxn modelId="{64A3D68F-4B42-864D-84CB-6C075B8050F8}" type="presParOf" srcId="{E4D9EFDC-825D-B345-AB14-AE12FBB69B9D}" destId="{69B5F443-8C6E-F249-84A2-CA1629DC0B9E}" srcOrd="1" destOrd="0" presId="urn:microsoft.com/office/officeart/2005/8/layout/vList3"/>
    <dgm:cxn modelId="{34422AC7-11C6-6945-A020-0CF1E4C28494}" type="presParOf" srcId="{E4D9EFDC-825D-B345-AB14-AE12FBB69B9D}" destId="{38592B41-025B-104E-AF83-4B3221EF96DD}" srcOrd="2" destOrd="0" presId="urn:microsoft.com/office/officeart/2005/8/layout/vList3"/>
    <dgm:cxn modelId="{EED10489-4DED-CA46-A49F-A3C7AD2F748C}" type="presParOf" srcId="{38592B41-025B-104E-AF83-4B3221EF96DD}" destId="{BFA21859-67FE-0744-B3BE-5E8C851783A7}" srcOrd="0" destOrd="0" presId="urn:microsoft.com/office/officeart/2005/8/layout/vList3"/>
    <dgm:cxn modelId="{DB64D688-0A03-F24F-A18B-97761C9AF335}" type="presParOf" srcId="{38592B41-025B-104E-AF83-4B3221EF96DD}" destId="{600B32BE-338D-354F-945F-1972DB549D0F}" srcOrd="1" destOrd="0" presId="urn:microsoft.com/office/officeart/2005/8/layout/vList3"/>
    <dgm:cxn modelId="{3A9843C2-8C58-6449-B9AD-56DF3A18E126}" type="presParOf" srcId="{E4D9EFDC-825D-B345-AB14-AE12FBB69B9D}" destId="{60A13FE8-9BF1-954C-BB15-4394D2E1FF0D}" srcOrd="3" destOrd="0" presId="urn:microsoft.com/office/officeart/2005/8/layout/vList3"/>
    <dgm:cxn modelId="{BFC84D40-347F-FF4E-B787-F31D1F1367FF}" type="presParOf" srcId="{E4D9EFDC-825D-B345-AB14-AE12FBB69B9D}" destId="{200DA732-5DD0-9F47-BD28-3653C94079A0}" srcOrd="4" destOrd="0" presId="urn:microsoft.com/office/officeart/2005/8/layout/vList3"/>
    <dgm:cxn modelId="{7E22A9C7-E753-A841-AA6D-D884F830150C}" type="presParOf" srcId="{200DA732-5DD0-9F47-BD28-3653C94079A0}" destId="{ABADC83B-53C8-154E-9872-C19DFA547FBA}" srcOrd="0" destOrd="0" presId="urn:microsoft.com/office/officeart/2005/8/layout/vList3"/>
    <dgm:cxn modelId="{C1B26CCF-A4AB-EF4D-804F-8D4E5C2FBB75}" type="presParOf" srcId="{200DA732-5DD0-9F47-BD28-3653C94079A0}" destId="{39A2A09D-B1FC-4448-8A7B-3E4A7C41367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8AF250-C028-6944-BC0B-F23F48DF3317}" type="doc">
      <dgm:prSet loTypeId="urn:microsoft.com/office/officeart/2005/8/layout/vList2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8F74A032-9576-2D40-9099-0C427CF11689}">
      <dgm:prSet phldrT="[Text]" custT="1"/>
      <dgm:spPr/>
      <dgm:t>
        <a:bodyPr/>
        <a:lstStyle/>
        <a:p>
          <a:r>
            <a:rPr lang="en-GB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Multi-injury Detection</a:t>
          </a:r>
        </a:p>
      </dgm:t>
    </dgm:pt>
    <dgm:pt modelId="{8A484799-44C8-ED4D-B604-6A7D023B089B}" type="parTrans" cxnId="{0E763C88-7F51-AA46-AF92-AC50AFC40136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0B9E1A-9435-E247-80F1-B342CD0160A4}" type="sibTrans" cxnId="{0E763C88-7F51-AA46-AF92-AC50AFC40136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B1543C-699C-A74D-843C-AC6FFED63362}">
      <dgm:prSet phldrT="[Text]" custT="1"/>
      <dgm:spPr/>
      <dgm:t>
        <a:bodyPr/>
        <a:lstStyle/>
        <a:p>
          <a:r>
            <a:rPr lang="en-GB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Use of Multi-phasic Study</a:t>
          </a:r>
        </a:p>
      </dgm:t>
    </dgm:pt>
    <dgm:pt modelId="{EE597CEE-6F7A-0848-9ACA-2D6E1DD58385}" type="parTrans" cxnId="{E36CE871-15EE-6E49-B116-A37D63413853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5B6B44-DBD0-9D4E-892C-906816B10986}" type="sibTrans" cxnId="{E36CE871-15EE-6E49-B116-A37D63413853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3EDD9D-20DE-0A4D-9AAF-520020EEB65E}">
      <dgm:prSet phldrT="[Text]" custT="1"/>
      <dgm:spPr/>
      <dgm:t>
        <a:bodyPr/>
        <a:lstStyle/>
        <a:p>
          <a:r>
            <a:rPr lang="en-GB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Automated Grading System</a:t>
          </a:r>
        </a:p>
      </dgm:t>
    </dgm:pt>
    <dgm:pt modelId="{C5197630-82C6-C947-8C60-4CDE23C08E4D}" type="parTrans" cxnId="{148B352C-F7DB-6345-9391-68CA30B72ED1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F755E2-58B9-A64B-8C75-B126D16F2685}" type="sibTrans" cxnId="{148B352C-F7DB-6345-9391-68CA30B72ED1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1B567A-E794-B041-8E22-1D6F78335851}">
      <dgm:prSet phldrT="[Text]" custT="1"/>
      <dgm:spPr/>
      <dgm:t>
        <a:bodyPr/>
        <a:lstStyle/>
        <a:p>
          <a:r>
            <a:rPr lang="en-GB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DSS</a:t>
          </a:r>
        </a:p>
      </dgm:t>
    </dgm:pt>
    <dgm:pt modelId="{FBF4ABEA-C5DD-A043-8D29-49CDD8716FAC}" type="parTrans" cxnId="{53970047-FDFB-E34C-AEE8-C163DB8C057A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F0D980-443B-8C44-8373-2C4B86A1B8A6}" type="sibTrans" cxnId="{53970047-FDFB-E34C-AEE8-C163DB8C057A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8352D3-7D97-F943-BEDF-BF879ABABC15}" type="pres">
      <dgm:prSet presAssocID="{338AF250-C028-6944-BC0B-F23F48DF3317}" presName="linear" presStyleCnt="0">
        <dgm:presLayoutVars>
          <dgm:animLvl val="lvl"/>
          <dgm:resizeHandles val="exact"/>
        </dgm:presLayoutVars>
      </dgm:prSet>
      <dgm:spPr/>
    </dgm:pt>
    <dgm:pt modelId="{A4E04F62-09DD-B54F-A5F1-00C00774E7AE}" type="pres">
      <dgm:prSet presAssocID="{8F74A032-9576-2D40-9099-0C427CF11689}" presName="parentText" presStyleLbl="node1" presStyleIdx="0" presStyleCnt="4" custScaleY="62130">
        <dgm:presLayoutVars>
          <dgm:chMax val="0"/>
          <dgm:bulletEnabled val="1"/>
        </dgm:presLayoutVars>
      </dgm:prSet>
      <dgm:spPr/>
    </dgm:pt>
    <dgm:pt modelId="{FCF2DE0B-C01E-4F48-86A0-032E90C00540}" type="pres">
      <dgm:prSet presAssocID="{780B9E1A-9435-E247-80F1-B342CD0160A4}" presName="spacer" presStyleCnt="0"/>
      <dgm:spPr/>
    </dgm:pt>
    <dgm:pt modelId="{7E84986F-31ED-3B4E-8C92-3D7F9539EABC}" type="pres">
      <dgm:prSet presAssocID="{9EB1543C-699C-A74D-843C-AC6FFED63362}" presName="parentText" presStyleLbl="node1" presStyleIdx="1" presStyleCnt="4" custScaleY="59172">
        <dgm:presLayoutVars>
          <dgm:chMax val="0"/>
          <dgm:bulletEnabled val="1"/>
        </dgm:presLayoutVars>
      </dgm:prSet>
      <dgm:spPr/>
    </dgm:pt>
    <dgm:pt modelId="{0FA3C643-E5B2-0F44-800A-85CB383E99C8}" type="pres">
      <dgm:prSet presAssocID="{DC5B6B44-DBD0-9D4E-892C-906816B10986}" presName="spacer" presStyleCnt="0"/>
      <dgm:spPr/>
    </dgm:pt>
    <dgm:pt modelId="{5B741CD7-A409-0245-B1BB-C75CE64ABDB1}" type="pres">
      <dgm:prSet presAssocID="{D43EDD9D-20DE-0A4D-9AAF-520020EEB65E}" presName="parentText" presStyleLbl="node1" presStyleIdx="2" presStyleCnt="4" custScaleY="59172">
        <dgm:presLayoutVars>
          <dgm:chMax val="0"/>
          <dgm:bulletEnabled val="1"/>
        </dgm:presLayoutVars>
      </dgm:prSet>
      <dgm:spPr/>
    </dgm:pt>
    <dgm:pt modelId="{73AC5768-3635-684F-A10F-7AB6AD167016}" type="pres">
      <dgm:prSet presAssocID="{27F755E2-58B9-A64B-8C75-B126D16F2685}" presName="spacer" presStyleCnt="0"/>
      <dgm:spPr/>
    </dgm:pt>
    <dgm:pt modelId="{1696C1F1-52CA-C841-9B6E-D9D865D87518}" type="pres">
      <dgm:prSet presAssocID="{061B567A-E794-B041-8E22-1D6F78335851}" presName="parentText" presStyleLbl="node1" presStyleIdx="3" presStyleCnt="4" custScaleY="59172">
        <dgm:presLayoutVars>
          <dgm:chMax val="0"/>
          <dgm:bulletEnabled val="1"/>
        </dgm:presLayoutVars>
      </dgm:prSet>
      <dgm:spPr/>
    </dgm:pt>
  </dgm:ptLst>
  <dgm:cxnLst>
    <dgm:cxn modelId="{31BDBA27-8991-4C4E-8BA7-09921148B70D}" type="presOf" srcId="{338AF250-C028-6944-BC0B-F23F48DF3317}" destId="{B38352D3-7D97-F943-BEDF-BF879ABABC15}" srcOrd="0" destOrd="0" presId="urn:microsoft.com/office/officeart/2005/8/layout/vList2"/>
    <dgm:cxn modelId="{148B352C-F7DB-6345-9391-68CA30B72ED1}" srcId="{338AF250-C028-6944-BC0B-F23F48DF3317}" destId="{D43EDD9D-20DE-0A4D-9AAF-520020EEB65E}" srcOrd="2" destOrd="0" parTransId="{C5197630-82C6-C947-8C60-4CDE23C08E4D}" sibTransId="{27F755E2-58B9-A64B-8C75-B126D16F2685}"/>
    <dgm:cxn modelId="{53970047-FDFB-E34C-AEE8-C163DB8C057A}" srcId="{338AF250-C028-6944-BC0B-F23F48DF3317}" destId="{061B567A-E794-B041-8E22-1D6F78335851}" srcOrd="3" destOrd="0" parTransId="{FBF4ABEA-C5DD-A043-8D29-49CDD8716FAC}" sibTransId="{1AF0D980-443B-8C44-8373-2C4B86A1B8A6}"/>
    <dgm:cxn modelId="{E36CE871-15EE-6E49-B116-A37D63413853}" srcId="{338AF250-C028-6944-BC0B-F23F48DF3317}" destId="{9EB1543C-699C-A74D-843C-AC6FFED63362}" srcOrd="1" destOrd="0" parTransId="{EE597CEE-6F7A-0848-9ACA-2D6E1DD58385}" sibTransId="{DC5B6B44-DBD0-9D4E-892C-906816B10986}"/>
    <dgm:cxn modelId="{DBD82076-68D2-C746-AEDA-09C393B9FFBB}" type="presOf" srcId="{D43EDD9D-20DE-0A4D-9AAF-520020EEB65E}" destId="{5B741CD7-A409-0245-B1BB-C75CE64ABDB1}" srcOrd="0" destOrd="0" presId="urn:microsoft.com/office/officeart/2005/8/layout/vList2"/>
    <dgm:cxn modelId="{0E763C88-7F51-AA46-AF92-AC50AFC40136}" srcId="{338AF250-C028-6944-BC0B-F23F48DF3317}" destId="{8F74A032-9576-2D40-9099-0C427CF11689}" srcOrd="0" destOrd="0" parTransId="{8A484799-44C8-ED4D-B604-6A7D023B089B}" sibTransId="{780B9E1A-9435-E247-80F1-B342CD0160A4}"/>
    <dgm:cxn modelId="{1845F9A6-E19E-FD48-B4EA-2CA89A8B0348}" type="presOf" srcId="{9EB1543C-699C-A74D-843C-AC6FFED63362}" destId="{7E84986F-31ED-3B4E-8C92-3D7F9539EABC}" srcOrd="0" destOrd="0" presId="urn:microsoft.com/office/officeart/2005/8/layout/vList2"/>
    <dgm:cxn modelId="{4901ADC4-79A1-A64C-B700-FB0D05D5B2E9}" type="presOf" srcId="{8F74A032-9576-2D40-9099-0C427CF11689}" destId="{A4E04F62-09DD-B54F-A5F1-00C00774E7AE}" srcOrd="0" destOrd="0" presId="urn:microsoft.com/office/officeart/2005/8/layout/vList2"/>
    <dgm:cxn modelId="{7721DDC7-F92B-4644-9102-BBDAD58A4506}" type="presOf" srcId="{061B567A-E794-B041-8E22-1D6F78335851}" destId="{1696C1F1-52CA-C841-9B6E-D9D865D87518}" srcOrd="0" destOrd="0" presId="urn:microsoft.com/office/officeart/2005/8/layout/vList2"/>
    <dgm:cxn modelId="{F045E6E4-DE7F-B34B-BBB3-5220F993A565}" type="presParOf" srcId="{B38352D3-7D97-F943-BEDF-BF879ABABC15}" destId="{A4E04F62-09DD-B54F-A5F1-00C00774E7AE}" srcOrd="0" destOrd="0" presId="urn:microsoft.com/office/officeart/2005/8/layout/vList2"/>
    <dgm:cxn modelId="{E0927A46-35EE-C642-9477-8DF27F389E5F}" type="presParOf" srcId="{B38352D3-7D97-F943-BEDF-BF879ABABC15}" destId="{FCF2DE0B-C01E-4F48-86A0-032E90C00540}" srcOrd="1" destOrd="0" presId="urn:microsoft.com/office/officeart/2005/8/layout/vList2"/>
    <dgm:cxn modelId="{A2CDA19F-0F02-4543-A105-72AC82446A67}" type="presParOf" srcId="{B38352D3-7D97-F943-BEDF-BF879ABABC15}" destId="{7E84986F-31ED-3B4E-8C92-3D7F9539EABC}" srcOrd="2" destOrd="0" presId="urn:microsoft.com/office/officeart/2005/8/layout/vList2"/>
    <dgm:cxn modelId="{3771CDC2-7D53-814C-A6DF-8212B9990079}" type="presParOf" srcId="{B38352D3-7D97-F943-BEDF-BF879ABABC15}" destId="{0FA3C643-E5B2-0F44-800A-85CB383E99C8}" srcOrd="3" destOrd="0" presId="urn:microsoft.com/office/officeart/2005/8/layout/vList2"/>
    <dgm:cxn modelId="{0BC96533-2E39-6044-9D39-A13357BFBDF6}" type="presParOf" srcId="{B38352D3-7D97-F943-BEDF-BF879ABABC15}" destId="{5B741CD7-A409-0245-B1BB-C75CE64ABDB1}" srcOrd="4" destOrd="0" presId="urn:microsoft.com/office/officeart/2005/8/layout/vList2"/>
    <dgm:cxn modelId="{33EB2C4A-E6E3-C54F-B354-161AF22F9C0E}" type="presParOf" srcId="{B38352D3-7D97-F943-BEDF-BF879ABABC15}" destId="{73AC5768-3635-684F-A10F-7AB6AD167016}" srcOrd="5" destOrd="0" presId="urn:microsoft.com/office/officeart/2005/8/layout/vList2"/>
    <dgm:cxn modelId="{3BA33A48-26CF-A44D-8831-93F31D70F4DE}" type="presParOf" srcId="{B38352D3-7D97-F943-BEDF-BF879ABABC15}" destId="{1696C1F1-52CA-C841-9B6E-D9D865D8751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8AF250-C028-6944-BC0B-F23F48DF3317}" type="doc">
      <dgm:prSet loTypeId="urn:microsoft.com/office/officeart/2005/8/layout/vList2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8F74A032-9576-2D40-9099-0C427CF11689}">
      <dgm:prSet phldrT="[Text]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develop an efficient framework to identify and segment the liver and traumatic regions of liver in CT scan.</a:t>
          </a:r>
          <a:endParaRPr lang="en-GB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484799-44C8-ED4D-B604-6A7D023B089B}" type="parTrans" cxnId="{0E763C88-7F51-AA46-AF92-AC50AFC40136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0B9E1A-9435-E247-80F1-B342CD0160A4}" type="sibTrans" cxnId="{0E763C88-7F51-AA46-AF92-AC50AFC40136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3EDD9D-20DE-0A4D-9AAF-520020EEB65E}">
      <dgm:prSet phldrT="[Text]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 an automated module for quantitative assessment and severity grading of liver trauma.</a:t>
          </a:r>
          <a:endParaRPr lang="en-GB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197630-82C6-C947-8C60-4CDE23C08E4D}" type="parTrans" cxnId="{148B352C-F7DB-6345-9391-68CA30B72ED1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F755E2-58B9-A64B-8C75-B126D16F2685}" type="sibTrans" cxnId="{148B352C-F7DB-6345-9391-68CA30B72ED1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1B567A-E794-B041-8E22-1D6F78335851}">
      <dgm:prSet phldrT="[Text]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 an end-to-end pipeline that integrates trauma segmentation and injury grading into an intuitive interface, for accurate and precise assessment of liver trauma. </a:t>
          </a:r>
          <a:endParaRPr lang="en-GB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F4ABEA-C5DD-A043-8D29-49CDD8716FAC}" type="parTrans" cxnId="{53970047-FDFB-E34C-AEE8-C163DB8C057A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F0D980-443B-8C44-8373-2C4B86A1B8A6}" type="sibTrans" cxnId="{53970047-FDFB-E34C-AEE8-C163DB8C057A}">
      <dgm:prSet/>
      <dgm:spPr/>
      <dgm:t>
        <a:bodyPr/>
        <a:lstStyle/>
        <a:p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8352D3-7D97-F943-BEDF-BF879ABABC15}" type="pres">
      <dgm:prSet presAssocID="{338AF250-C028-6944-BC0B-F23F48DF3317}" presName="linear" presStyleCnt="0">
        <dgm:presLayoutVars>
          <dgm:animLvl val="lvl"/>
          <dgm:resizeHandles val="exact"/>
        </dgm:presLayoutVars>
      </dgm:prSet>
      <dgm:spPr/>
    </dgm:pt>
    <dgm:pt modelId="{A4E04F62-09DD-B54F-A5F1-00C00774E7AE}" type="pres">
      <dgm:prSet presAssocID="{8F74A032-9576-2D40-9099-0C427CF11689}" presName="parentText" presStyleLbl="node1" presStyleIdx="0" presStyleCnt="3" custScaleY="78352" custLinFactY="-55717" custLinFactNeighborX="149" custLinFactNeighborY="-100000">
        <dgm:presLayoutVars>
          <dgm:chMax val="0"/>
          <dgm:bulletEnabled val="1"/>
        </dgm:presLayoutVars>
      </dgm:prSet>
      <dgm:spPr/>
    </dgm:pt>
    <dgm:pt modelId="{FCF2DE0B-C01E-4F48-86A0-032E90C00540}" type="pres">
      <dgm:prSet presAssocID="{780B9E1A-9435-E247-80F1-B342CD0160A4}" presName="spacer" presStyleCnt="0"/>
      <dgm:spPr/>
    </dgm:pt>
    <dgm:pt modelId="{5B741CD7-A409-0245-B1BB-C75CE64ABDB1}" type="pres">
      <dgm:prSet presAssocID="{D43EDD9D-20DE-0A4D-9AAF-520020EEB65E}" presName="parentText" presStyleLbl="node1" presStyleIdx="1" presStyleCnt="3" custScaleY="59172" custLinFactNeighborY="-29652">
        <dgm:presLayoutVars>
          <dgm:chMax val="0"/>
          <dgm:bulletEnabled val="1"/>
        </dgm:presLayoutVars>
      </dgm:prSet>
      <dgm:spPr/>
    </dgm:pt>
    <dgm:pt modelId="{73AC5768-3635-684F-A10F-7AB6AD167016}" type="pres">
      <dgm:prSet presAssocID="{27F755E2-58B9-A64B-8C75-B126D16F2685}" presName="spacer" presStyleCnt="0"/>
      <dgm:spPr/>
    </dgm:pt>
    <dgm:pt modelId="{1696C1F1-52CA-C841-9B6E-D9D865D87518}" type="pres">
      <dgm:prSet presAssocID="{061B567A-E794-B041-8E22-1D6F78335851}" presName="parentText" presStyleLbl="node1" presStyleIdx="2" presStyleCnt="3" custScaleY="98316" custLinFactY="54731" custLinFactNeighborX="-52" custLinFactNeighborY="100000">
        <dgm:presLayoutVars>
          <dgm:chMax val="0"/>
          <dgm:bulletEnabled val="1"/>
        </dgm:presLayoutVars>
      </dgm:prSet>
      <dgm:spPr/>
    </dgm:pt>
  </dgm:ptLst>
  <dgm:cxnLst>
    <dgm:cxn modelId="{31BDBA27-8991-4C4E-8BA7-09921148B70D}" type="presOf" srcId="{338AF250-C028-6944-BC0B-F23F48DF3317}" destId="{B38352D3-7D97-F943-BEDF-BF879ABABC15}" srcOrd="0" destOrd="0" presId="urn:microsoft.com/office/officeart/2005/8/layout/vList2"/>
    <dgm:cxn modelId="{148B352C-F7DB-6345-9391-68CA30B72ED1}" srcId="{338AF250-C028-6944-BC0B-F23F48DF3317}" destId="{D43EDD9D-20DE-0A4D-9AAF-520020EEB65E}" srcOrd="1" destOrd="0" parTransId="{C5197630-82C6-C947-8C60-4CDE23C08E4D}" sibTransId="{27F755E2-58B9-A64B-8C75-B126D16F2685}"/>
    <dgm:cxn modelId="{53970047-FDFB-E34C-AEE8-C163DB8C057A}" srcId="{338AF250-C028-6944-BC0B-F23F48DF3317}" destId="{061B567A-E794-B041-8E22-1D6F78335851}" srcOrd="2" destOrd="0" parTransId="{FBF4ABEA-C5DD-A043-8D29-49CDD8716FAC}" sibTransId="{1AF0D980-443B-8C44-8373-2C4B86A1B8A6}"/>
    <dgm:cxn modelId="{DBD82076-68D2-C746-AEDA-09C393B9FFBB}" type="presOf" srcId="{D43EDD9D-20DE-0A4D-9AAF-520020EEB65E}" destId="{5B741CD7-A409-0245-B1BB-C75CE64ABDB1}" srcOrd="0" destOrd="0" presId="urn:microsoft.com/office/officeart/2005/8/layout/vList2"/>
    <dgm:cxn modelId="{0E763C88-7F51-AA46-AF92-AC50AFC40136}" srcId="{338AF250-C028-6944-BC0B-F23F48DF3317}" destId="{8F74A032-9576-2D40-9099-0C427CF11689}" srcOrd="0" destOrd="0" parTransId="{8A484799-44C8-ED4D-B604-6A7D023B089B}" sibTransId="{780B9E1A-9435-E247-80F1-B342CD0160A4}"/>
    <dgm:cxn modelId="{4901ADC4-79A1-A64C-B700-FB0D05D5B2E9}" type="presOf" srcId="{8F74A032-9576-2D40-9099-0C427CF11689}" destId="{A4E04F62-09DD-B54F-A5F1-00C00774E7AE}" srcOrd="0" destOrd="0" presId="urn:microsoft.com/office/officeart/2005/8/layout/vList2"/>
    <dgm:cxn modelId="{7721DDC7-F92B-4644-9102-BBDAD58A4506}" type="presOf" srcId="{061B567A-E794-B041-8E22-1D6F78335851}" destId="{1696C1F1-52CA-C841-9B6E-D9D865D87518}" srcOrd="0" destOrd="0" presId="urn:microsoft.com/office/officeart/2005/8/layout/vList2"/>
    <dgm:cxn modelId="{F045E6E4-DE7F-B34B-BBB3-5220F993A565}" type="presParOf" srcId="{B38352D3-7D97-F943-BEDF-BF879ABABC15}" destId="{A4E04F62-09DD-B54F-A5F1-00C00774E7AE}" srcOrd="0" destOrd="0" presId="urn:microsoft.com/office/officeart/2005/8/layout/vList2"/>
    <dgm:cxn modelId="{E0927A46-35EE-C642-9477-8DF27F389E5F}" type="presParOf" srcId="{B38352D3-7D97-F943-BEDF-BF879ABABC15}" destId="{FCF2DE0B-C01E-4F48-86A0-032E90C00540}" srcOrd="1" destOrd="0" presId="urn:microsoft.com/office/officeart/2005/8/layout/vList2"/>
    <dgm:cxn modelId="{0BC96533-2E39-6044-9D39-A13357BFBDF6}" type="presParOf" srcId="{B38352D3-7D97-F943-BEDF-BF879ABABC15}" destId="{5B741CD7-A409-0245-B1BB-C75CE64ABDB1}" srcOrd="2" destOrd="0" presId="urn:microsoft.com/office/officeart/2005/8/layout/vList2"/>
    <dgm:cxn modelId="{33EB2C4A-E6E3-C54F-B354-161AF22F9C0E}" type="presParOf" srcId="{B38352D3-7D97-F943-BEDF-BF879ABABC15}" destId="{73AC5768-3635-684F-A10F-7AB6AD167016}" srcOrd="3" destOrd="0" presId="urn:microsoft.com/office/officeart/2005/8/layout/vList2"/>
    <dgm:cxn modelId="{3BA33A48-26CF-A44D-8831-93F31D70F4DE}" type="presParOf" srcId="{B38352D3-7D97-F943-BEDF-BF879ABABC15}" destId="{1696C1F1-52CA-C841-9B6E-D9D865D8751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3FC87-0DAA-FE4F-B3DC-59C91B1530E0}">
      <dsp:nvSpPr>
        <dsp:cNvPr id="0" name=""/>
        <dsp:cNvSpPr/>
      </dsp:nvSpPr>
      <dsp:spPr>
        <a:xfrm rot="5400000">
          <a:off x="6630113" y="-2847172"/>
          <a:ext cx="905609" cy="676214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work is reported on detecting and segmenting multiple liver injuries in one study with radiologist level accuracy. </a:t>
          </a:r>
          <a:endParaRPr lang="en-GB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701844" y="125305"/>
        <a:ext cx="6717939" cy="817193"/>
      </dsp:txXfrm>
    </dsp:sp>
    <dsp:sp modelId="{2509E6C5-E558-994C-B4C7-DCDCB4762F21}">
      <dsp:nvSpPr>
        <dsp:cNvPr id="0" name=""/>
        <dsp:cNvSpPr/>
      </dsp:nvSpPr>
      <dsp:spPr>
        <a:xfrm>
          <a:off x="101863" y="2210"/>
          <a:ext cx="3599981" cy="10633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Multi-injury Detection</a:t>
          </a:r>
        </a:p>
      </dsp:txBody>
      <dsp:txXfrm>
        <a:off x="153773" y="54120"/>
        <a:ext cx="3496161" cy="959561"/>
      </dsp:txXfrm>
    </dsp:sp>
    <dsp:sp modelId="{AEC64D76-254D-5C4C-89E0-7E54C22BE44C}">
      <dsp:nvSpPr>
        <dsp:cNvPr id="0" name=""/>
        <dsp:cNvSpPr/>
      </dsp:nvSpPr>
      <dsp:spPr>
        <a:xfrm rot="5400000">
          <a:off x="6657566" y="-1730621"/>
          <a:ext cx="850705" cy="6762147"/>
        </a:xfrm>
        <a:prstGeom prst="round2Same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Current studies are primarily done on single phase CT imaging, while multi-phasic imaging can provide a richer insights to traumatic liver injuries. </a:t>
          </a:r>
          <a:endParaRPr lang="en-GB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701845" y="1266628"/>
        <a:ext cx="6720619" cy="767649"/>
      </dsp:txXfrm>
    </dsp:sp>
    <dsp:sp modelId="{5887623D-96BC-B747-A79F-E37C93CDAE33}">
      <dsp:nvSpPr>
        <dsp:cNvPr id="0" name=""/>
        <dsp:cNvSpPr/>
      </dsp:nvSpPr>
      <dsp:spPr>
        <a:xfrm>
          <a:off x="101863" y="1118761"/>
          <a:ext cx="3599981" cy="1063381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of Multi-phasic Study</a:t>
          </a:r>
        </a:p>
      </dsp:txBody>
      <dsp:txXfrm>
        <a:off x="153773" y="1170671"/>
        <a:ext cx="3496161" cy="959561"/>
      </dsp:txXfrm>
    </dsp:sp>
    <dsp:sp modelId="{E7972576-5D6F-FA4B-903C-6084BEDFFCF5}">
      <dsp:nvSpPr>
        <dsp:cNvPr id="0" name=""/>
        <dsp:cNvSpPr/>
      </dsp:nvSpPr>
      <dsp:spPr>
        <a:xfrm rot="5400000">
          <a:off x="6657566" y="-614071"/>
          <a:ext cx="850705" cy="6762147"/>
        </a:xfrm>
        <a:prstGeom prst="round2Same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Although work has been done on volumetric assessment of liver trauma, very limited work has been carried out on grading the severity of the liver injury. </a:t>
          </a:r>
          <a:endParaRPr lang="en-GB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701845" y="2383178"/>
        <a:ext cx="6720619" cy="767649"/>
      </dsp:txXfrm>
    </dsp:sp>
    <dsp:sp modelId="{A28434E8-C752-4344-82EF-D4F915620887}">
      <dsp:nvSpPr>
        <dsp:cNvPr id="0" name=""/>
        <dsp:cNvSpPr/>
      </dsp:nvSpPr>
      <dsp:spPr>
        <a:xfrm>
          <a:off x="101863" y="2235312"/>
          <a:ext cx="3599981" cy="1063381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Automated Grading System</a:t>
          </a:r>
        </a:p>
      </dsp:txBody>
      <dsp:txXfrm>
        <a:off x="153773" y="2287222"/>
        <a:ext cx="3496161" cy="959561"/>
      </dsp:txXfrm>
    </dsp:sp>
    <dsp:sp modelId="{3A7982CA-9FA5-FF49-8B87-8915B8F21519}">
      <dsp:nvSpPr>
        <dsp:cNvPr id="0" name=""/>
        <dsp:cNvSpPr/>
      </dsp:nvSpPr>
      <dsp:spPr>
        <a:xfrm rot="5400000">
          <a:off x="6657566" y="502479"/>
          <a:ext cx="850705" cy="6762147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There is no major work carried out on designing an intuitive interface to automate the assessment of liver trauma. </a:t>
          </a:r>
          <a:endParaRPr lang="en-GB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701845" y="3499728"/>
        <a:ext cx="6720619" cy="767649"/>
      </dsp:txXfrm>
    </dsp:sp>
    <dsp:sp modelId="{CC229CB6-8123-A641-8FF9-976A0B779F84}">
      <dsp:nvSpPr>
        <dsp:cNvPr id="0" name=""/>
        <dsp:cNvSpPr/>
      </dsp:nvSpPr>
      <dsp:spPr>
        <a:xfrm>
          <a:off x="101863" y="3351862"/>
          <a:ext cx="3599981" cy="1063381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Decision Support System (DSS)</a:t>
          </a:r>
        </a:p>
      </dsp:txBody>
      <dsp:txXfrm>
        <a:off x="153773" y="3403772"/>
        <a:ext cx="3496161" cy="9595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EDA068-6DCD-5B44-A711-56E467C655BB}">
      <dsp:nvSpPr>
        <dsp:cNvPr id="0" name=""/>
        <dsp:cNvSpPr/>
      </dsp:nvSpPr>
      <dsp:spPr>
        <a:xfrm rot="10800000">
          <a:off x="577784" y="181"/>
          <a:ext cx="9360032" cy="1128373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58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develop an efficient framework to identify and segment the liver and traumatic regions of liver in CT scan.</a:t>
          </a:r>
          <a:endParaRPr lang="en-GB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859877" y="181"/>
        <a:ext cx="9077939" cy="1128373"/>
      </dsp:txXfrm>
    </dsp:sp>
    <dsp:sp modelId="{E370F7E1-3417-D347-85AA-C3941A450E3F}">
      <dsp:nvSpPr>
        <dsp:cNvPr id="0" name=""/>
        <dsp:cNvSpPr/>
      </dsp:nvSpPr>
      <dsp:spPr>
        <a:xfrm>
          <a:off x="388629" y="13056"/>
          <a:ext cx="1128373" cy="112837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B32BE-338D-354F-945F-1972DB549D0F}">
      <dsp:nvSpPr>
        <dsp:cNvPr id="0" name=""/>
        <dsp:cNvSpPr/>
      </dsp:nvSpPr>
      <dsp:spPr>
        <a:xfrm rot="10800000">
          <a:off x="577784" y="1451356"/>
          <a:ext cx="9360032" cy="1128373"/>
        </a:xfrm>
        <a:prstGeom prst="homePlat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58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 an automated module for quantitative assessment and severity grading of liver trauma. </a:t>
          </a:r>
          <a:endParaRPr lang="en-GB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859877" y="1451356"/>
        <a:ext cx="9077939" cy="1128373"/>
      </dsp:txXfrm>
    </dsp:sp>
    <dsp:sp modelId="{BFA21859-67FE-0744-B3BE-5E8C851783A7}">
      <dsp:nvSpPr>
        <dsp:cNvPr id="0" name=""/>
        <dsp:cNvSpPr/>
      </dsp:nvSpPr>
      <dsp:spPr>
        <a:xfrm>
          <a:off x="388629" y="1464231"/>
          <a:ext cx="1128373" cy="112837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2A09D-B1FC-4448-8A7B-3E4A7C41367A}">
      <dsp:nvSpPr>
        <dsp:cNvPr id="0" name=""/>
        <dsp:cNvSpPr/>
      </dsp:nvSpPr>
      <dsp:spPr>
        <a:xfrm rot="10800000">
          <a:off x="578483" y="2902532"/>
          <a:ext cx="9358634" cy="1128373"/>
        </a:xfrm>
        <a:prstGeom prst="homePlat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58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 an end-to-end pipeline that integrates trauma segmentation and injury grading into an intuitive interface, for accurate and precise assessment of liver trauma. </a:t>
          </a:r>
          <a:endParaRPr lang="en-GB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860576" y="2902532"/>
        <a:ext cx="9076541" cy="1128373"/>
      </dsp:txXfrm>
    </dsp:sp>
    <dsp:sp modelId="{ABADC83B-53C8-154E-9872-C19DFA547FBA}">
      <dsp:nvSpPr>
        <dsp:cNvPr id="0" name=""/>
        <dsp:cNvSpPr/>
      </dsp:nvSpPr>
      <dsp:spPr>
        <a:xfrm>
          <a:off x="388629" y="2889634"/>
          <a:ext cx="1128373" cy="1128373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04F62-09DD-B54F-A5F1-00C00774E7AE}">
      <dsp:nvSpPr>
        <dsp:cNvPr id="0" name=""/>
        <dsp:cNvSpPr/>
      </dsp:nvSpPr>
      <dsp:spPr>
        <a:xfrm>
          <a:off x="0" y="841442"/>
          <a:ext cx="4726745" cy="75599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Multi-injury Detection</a:t>
          </a:r>
        </a:p>
      </dsp:txBody>
      <dsp:txXfrm>
        <a:off x="36905" y="878347"/>
        <a:ext cx="4652935" cy="682187"/>
      </dsp:txXfrm>
    </dsp:sp>
    <dsp:sp modelId="{7E84986F-31ED-3B4E-8C92-3D7F9539EABC}">
      <dsp:nvSpPr>
        <dsp:cNvPr id="0" name=""/>
        <dsp:cNvSpPr/>
      </dsp:nvSpPr>
      <dsp:spPr>
        <a:xfrm>
          <a:off x="0" y="1784640"/>
          <a:ext cx="4726745" cy="720004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of Multi-phasic Study</a:t>
          </a:r>
        </a:p>
      </dsp:txBody>
      <dsp:txXfrm>
        <a:off x="35148" y="1819788"/>
        <a:ext cx="4656449" cy="649708"/>
      </dsp:txXfrm>
    </dsp:sp>
    <dsp:sp modelId="{5B741CD7-A409-0245-B1BB-C75CE64ABDB1}">
      <dsp:nvSpPr>
        <dsp:cNvPr id="0" name=""/>
        <dsp:cNvSpPr/>
      </dsp:nvSpPr>
      <dsp:spPr>
        <a:xfrm>
          <a:off x="0" y="2691845"/>
          <a:ext cx="4726745" cy="720004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Automated Grading System</a:t>
          </a:r>
        </a:p>
      </dsp:txBody>
      <dsp:txXfrm>
        <a:off x="35148" y="2726993"/>
        <a:ext cx="4656449" cy="649708"/>
      </dsp:txXfrm>
    </dsp:sp>
    <dsp:sp modelId="{1696C1F1-52CA-C841-9B6E-D9D865D87518}">
      <dsp:nvSpPr>
        <dsp:cNvPr id="0" name=""/>
        <dsp:cNvSpPr/>
      </dsp:nvSpPr>
      <dsp:spPr>
        <a:xfrm>
          <a:off x="0" y="3599050"/>
          <a:ext cx="4726745" cy="720004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DSS</a:t>
          </a:r>
        </a:p>
      </dsp:txBody>
      <dsp:txXfrm>
        <a:off x="35148" y="3634198"/>
        <a:ext cx="4656449" cy="6497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04F62-09DD-B54F-A5F1-00C00774E7AE}">
      <dsp:nvSpPr>
        <dsp:cNvPr id="0" name=""/>
        <dsp:cNvSpPr/>
      </dsp:nvSpPr>
      <dsp:spPr>
        <a:xfrm>
          <a:off x="0" y="0"/>
          <a:ext cx="4726745" cy="135857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develop an efficient framework to identify and segment the liver and traumatic regions of liver in CT scan.</a:t>
          </a:r>
          <a:endParaRPr lang="en-GB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320" y="66320"/>
        <a:ext cx="4594105" cy="1225936"/>
      </dsp:txXfrm>
    </dsp:sp>
    <dsp:sp modelId="{5B741CD7-A409-0245-B1BB-C75CE64ABDB1}">
      <dsp:nvSpPr>
        <dsp:cNvPr id="0" name=""/>
        <dsp:cNvSpPr/>
      </dsp:nvSpPr>
      <dsp:spPr>
        <a:xfrm>
          <a:off x="0" y="1839509"/>
          <a:ext cx="4726745" cy="1026006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 an automated module for quantitative assessment and severity grading of liver trauma.</a:t>
          </a:r>
          <a:endParaRPr lang="en-GB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085" y="1889594"/>
        <a:ext cx="4626575" cy="925836"/>
      </dsp:txXfrm>
    </dsp:sp>
    <dsp:sp modelId="{1696C1F1-52CA-C841-9B6E-D9D865D87518}">
      <dsp:nvSpPr>
        <dsp:cNvPr id="0" name=""/>
        <dsp:cNvSpPr/>
      </dsp:nvSpPr>
      <dsp:spPr>
        <a:xfrm>
          <a:off x="0" y="3455757"/>
          <a:ext cx="4726745" cy="17047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 an end-to-end pipeline that integrates trauma segmentation and injury grading into an intuitive interface, for accurate and precise assessment of liver trauma. </a:t>
          </a:r>
          <a:endParaRPr lang="en-GB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219" y="3538976"/>
        <a:ext cx="4560307" cy="1538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0:27:36.327"/>
    </inkml:context>
    <inkml:brush xml:id="br0">
      <inkml:brushProperty name="width" value="0.3" units="cm"/>
      <inkml:brushProperty name="height" value="0.6" units="cm"/>
      <inkml:brushProperty name="color" value="#F7FFFC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0:29:14.529"/>
    </inkml:context>
    <inkml:brush xml:id="br0">
      <inkml:brushProperty name="width" value="0.3" units="cm"/>
      <inkml:brushProperty name="height" value="0.6" units="cm"/>
      <inkml:brushProperty name="color" value="#F7FFFC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0:29:16.661"/>
    </inkml:context>
    <inkml:brush xml:id="br0">
      <inkml:brushProperty name="width" value="0.3" units="cm"/>
      <inkml:brushProperty name="height" value="0.6" units="cm"/>
      <inkml:brushProperty name="color" value="#F7FFFC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0:29:16.721"/>
    </inkml:context>
    <inkml:brush xml:id="br0">
      <inkml:brushProperty name="width" value="0.3" units="cm"/>
      <inkml:brushProperty name="height" value="0.6" units="cm"/>
      <inkml:brushProperty name="color" value="#F7FFFC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0:29:18.716"/>
    </inkml:context>
    <inkml:brush xml:id="br0">
      <inkml:brushProperty name="width" value="0.3" units="cm"/>
      <inkml:brushProperty name="height" value="0.6" units="cm"/>
      <inkml:brushProperty name="color" value="#F7FFFC"/>
      <inkml:brushProperty name="tip" value="rectangle"/>
      <inkml:brushProperty name="rasterOp" value="maskPen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C6DDA-EC43-4BFF-B7B8-190BECB9F21C}" type="datetimeFigureOut">
              <a:rPr lang="en-IN" smtClean="0"/>
              <a:t>04/11/24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323AD-D4C6-4860-8944-ADA84F789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00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323AD-D4C6-4860-8944-ADA84F789B7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59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F3FFD-6421-0BC4-88F2-E8AC00EC0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BA723-4FE8-DFB3-7EC3-BFB537206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EFA2C-D327-A1CC-7115-93AC08207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8CCA-F578-7170-2DD9-3D9AF407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FADA1-F7F4-4450-940B-66608F1F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525969-0A34-DF0B-964B-9E6AD8797D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3" b="9694"/>
          <a:stretch/>
        </p:blipFill>
        <p:spPr>
          <a:xfrm>
            <a:off x="9286875" y="0"/>
            <a:ext cx="2905125" cy="8431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EBE7EC-2AB0-202E-B391-44F7A87EA329}"/>
              </a:ext>
            </a:extLst>
          </p:cNvPr>
          <p:cNvCxnSpPr>
            <a:cxnSpLocks/>
          </p:cNvCxnSpPr>
          <p:nvPr userDrawn="1"/>
        </p:nvCxnSpPr>
        <p:spPr>
          <a:xfrm>
            <a:off x="838200" y="886409"/>
            <a:ext cx="10515600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7C5F899-3DB1-3E07-B77B-1036FF5AB8BF}"/>
              </a:ext>
            </a:extLst>
          </p:cNvPr>
          <p:cNvSpPr/>
          <p:nvPr userDrawn="1"/>
        </p:nvSpPr>
        <p:spPr>
          <a:xfrm>
            <a:off x="0" y="6428792"/>
            <a:ext cx="12192000" cy="42920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    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592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96D0-69C1-A146-4C49-F3E462DF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FE2D8-F99E-CDF8-23DA-D9757CD6F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C3A61-57E3-6142-E438-56E6BB4D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16CB1-B4F4-3FED-ED90-F3CAFA9C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2A5AB-694D-6A36-7AAC-F116E75C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DC8FC3-3B81-1F59-8DD8-39B9112FFB21}"/>
              </a:ext>
            </a:extLst>
          </p:cNvPr>
          <p:cNvCxnSpPr>
            <a:cxnSpLocks/>
          </p:cNvCxnSpPr>
          <p:nvPr userDrawn="1"/>
        </p:nvCxnSpPr>
        <p:spPr>
          <a:xfrm>
            <a:off x="838200" y="886409"/>
            <a:ext cx="10515600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2A70A2C-93DD-FC21-B6C8-35BF51267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3" b="9694"/>
          <a:stretch/>
        </p:blipFill>
        <p:spPr>
          <a:xfrm>
            <a:off x="9286875" y="0"/>
            <a:ext cx="2905125" cy="8431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B48CF8E-9E9A-5AFD-B84A-F6E159B6421A}"/>
              </a:ext>
            </a:extLst>
          </p:cNvPr>
          <p:cNvSpPr/>
          <p:nvPr userDrawn="1"/>
        </p:nvSpPr>
        <p:spPr>
          <a:xfrm>
            <a:off x="0" y="6428792"/>
            <a:ext cx="12192000" cy="42920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    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18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DF38-26EE-1CF3-83A6-89734BCB7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32331-9404-0A87-962D-1ED739D6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F0E6B-0DFE-8A06-415B-292C6BB4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9CC43-C986-7E98-EB2A-09BAEB29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E99AE-DF6D-21E3-EFAD-DEB40CC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8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E5FD-A00E-4A03-DCD0-835AFD41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A4C61-8732-B15B-0B4E-9F1EA1491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45A3E-421A-C9E5-AEFE-5198E4D6A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D9584-8B0D-29B4-39E8-5E1179D4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28F0C-F569-C595-61C3-4B5BA1E3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C42D7-A3CE-ABA2-351A-F729EE92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10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1CE2-A701-0B74-EF99-447685786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E375B-DF98-BD18-7776-CB61F4B2A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47425-43DD-1FE9-773F-C6834E32A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72BD0-84AE-494C-5572-7AD24F3AA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FE251E-763B-E470-9AB0-4FB63D0FA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75951-64E1-103D-6F0D-54554F5C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088D1-62BF-44A7-A712-1AEC049F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49D8C-495B-F0E1-3093-40AC6ADD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73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DD67-8853-D863-D56B-48416106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2F676-7869-E046-8F15-52887D4C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1BE55-527D-258E-166C-26C674A12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5DDD3-504C-C229-F806-4A451A33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14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26099D-4E2C-D6BD-FD83-3A458998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6FEAE-69CB-E862-4C35-0E38E27E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B2282-FD2E-4E61-99EA-9E5B31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10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3ABA-3E9A-8CF4-3218-0ECD9CA8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EF167-A762-D097-AA35-8D0AB9A0B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568E5-7B2B-0B65-0E05-FD22DB537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87988-C3FC-C4E8-4EED-9DAB8A6DA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96F33-517B-13A7-8D6F-E4A19DBD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58ACD-7A84-A622-156C-9F66D049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74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3B68-B5F6-3541-DAAD-03437256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13C991-DFB1-042F-E524-DB71B6806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8B70C-7EAF-75D3-2656-72D9D08F4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EF521-CFA3-5556-769E-3EED465F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7C24-FBBA-B4DD-1B42-CD671017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A4C8B-B562-13D1-004C-17C58407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46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41DA9-AD34-0FFB-5774-9D0B6771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52225-2A8A-087C-E85D-3A8DAB836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0B07-B91A-43C9-8861-178C9842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152B7-F69D-9BA2-DAAC-2ABF2711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8B4FA-6967-AE45-B69D-530FF079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39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28CAE2-907F-24BC-D9CB-F8A24314F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15A29-E9EE-2467-B11B-0B1D08BF2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D7541-B633-9D0E-588A-9CCA0891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A5740-BB89-0D72-449A-B86EA1E3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73FE4-A134-8C0F-E327-86B2CD26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48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8C858-6053-E6E5-BA16-11D1E2A4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0DFCB-2517-751C-FDA1-C6BDC919D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868CF-E733-6B21-54EA-1BD0051A6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331BD-4280-7BF5-84BB-3C22E5359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B5DAE-52BA-8DC8-4B1F-A8521EC9A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20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link.springer.com/chapter/10.1007/978-1-4939-1200-1_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lts.org/insights/couinauds-segmental-anatomy-of-the-liver-and-proposed-classification-of-pediatric-liver-tumors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3-031-72390-2_4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ipal.edu/mu/academics/phd/admissions---phd-program/full-time-phd-with-dr-tma-pai-scholarship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CB6EE5-8B8C-6F79-C7AC-F02C24B6EDB1}"/>
              </a:ext>
            </a:extLst>
          </p:cNvPr>
          <p:cNvSpPr/>
          <p:nvPr/>
        </p:nvSpPr>
        <p:spPr>
          <a:xfrm>
            <a:off x="3241006" y="2662091"/>
            <a:ext cx="57050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Cauvery K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No.: 230900225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Manipal Institute of Technology, Manipal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3ECF9-C73A-48FD-319C-ADCEAF5FCA80}"/>
              </a:ext>
            </a:extLst>
          </p:cNvPr>
          <p:cNvSpPr txBox="1"/>
          <p:nvPr/>
        </p:nvSpPr>
        <p:spPr>
          <a:xfrm flipH="1">
            <a:off x="7124686" y="5377698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Sanjay Singh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(Co-Guide)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Manipal Institute of Technology, Manipal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805A23-E79D-C3AA-0483-FCBF1B532C33}"/>
              </a:ext>
            </a:extLst>
          </p:cNvPr>
          <p:cNvSpPr/>
          <p:nvPr/>
        </p:nvSpPr>
        <p:spPr>
          <a:xfrm>
            <a:off x="177793" y="5434836"/>
            <a:ext cx="47497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Prakashini K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(Co-Guide)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Radiodiagnosis,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Kasturba Medical College, Manipal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B357E-F3D3-9E74-EDA1-3E59F5248E7B}"/>
              </a:ext>
            </a:extLst>
          </p:cNvPr>
          <p:cNvSpPr txBox="1"/>
          <p:nvPr/>
        </p:nvSpPr>
        <p:spPr>
          <a:xfrm>
            <a:off x="2552686" y="2209859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Proposal Presentation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2AC434-5DCE-8421-B231-4354F196EFE2}"/>
              </a:ext>
            </a:extLst>
          </p:cNvPr>
          <p:cNvSpPr txBox="1"/>
          <p:nvPr/>
        </p:nvSpPr>
        <p:spPr>
          <a:xfrm>
            <a:off x="2742190" y="3945320"/>
            <a:ext cx="670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2AEAA8-BF52-6764-0DB0-4EA5E9591E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3" b="9694"/>
          <a:stretch/>
        </p:blipFill>
        <p:spPr>
          <a:xfrm>
            <a:off x="38086" y="30152"/>
            <a:ext cx="2905125" cy="8431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9EAFD0-30F0-67AA-DF85-F53353707270}"/>
              </a:ext>
            </a:extLst>
          </p:cNvPr>
          <p:cNvSpPr/>
          <p:nvPr/>
        </p:nvSpPr>
        <p:spPr>
          <a:xfrm>
            <a:off x="-6000" y="6606000"/>
            <a:ext cx="12192000" cy="252000"/>
          </a:xfrm>
          <a:prstGeom prst="rect">
            <a:avLst/>
          </a:prstGeom>
          <a:solidFill>
            <a:srgbClr val="FD9D39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    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9D8F5-5282-EC7B-6F49-AE55545A6448}"/>
              </a:ext>
            </a:extLst>
          </p:cNvPr>
          <p:cNvSpPr txBox="1"/>
          <p:nvPr/>
        </p:nvSpPr>
        <p:spPr>
          <a:xfrm>
            <a:off x="5291896" y="6578027"/>
            <a:ext cx="1596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 05,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891EB-7439-3E27-A229-497A81D341F1}"/>
              </a:ext>
            </a:extLst>
          </p:cNvPr>
          <p:cNvSpPr txBox="1"/>
          <p:nvPr/>
        </p:nvSpPr>
        <p:spPr>
          <a:xfrm flipH="1">
            <a:off x="3804600" y="4397552"/>
            <a:ext cx="4577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P.C. Siddalingaswamy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(Guide)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Manipal Institute of Technology, Manipal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traight Arrow Connector 2">
            <a:extLst>
              <a:ext uri="{FF2B5EF4-FFF2-40B4-BE49-F238E27FC236}">
                <a16:creationId xmlns:a16="http://schemas.microsoft.com/office/drawing/2014/main" id="{B0663CA5-4518-4996-6023-E05E019E5C33}"/>
              </a:ext>
            </a:extLst>
          </p:cNvPr>
          <p:cNvSpPr/>
          <p:nvPr/>
        </p:nvSpPr>
        <p:spPr>
          <a:xfrm flipV="1">
            <a:off x="1080" y="892216"/>
            <a:ext cx="12184920" cy="6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FD9D3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898CAAB-F096-0002-9EFD-5FCEDB5C8695}"/>
              </a:ext>
            </a:extLst>
          </p:cNvPr>
          <p:cNvSpPr/>
          <p:nvPr/>
        </p:nvSpPr>
        <p:spPr>
          <a:xfrm>
            <a:off x="1871002" y="1032822"/>
            <a:ext cx="8898575" cy="1072080"/>
          </a:xfrm>
          <a:custGeom>
            <a:avLst/>
            <a:gdLst/>
            <a:ahLst/>
            <a:cxnLst/>
            <a:rect l="l" t="t" r="r" b="b"/>
            <a:pathLst>
              <a:path w="26002" h="3002">
                <a:moveTo>
                  <a:pt x="500" y="0"/>
                </a:moveTo>
                <a:lnTo>
                  <a:pt x="500" y="0"/>
                </a:lnTo>
                <a:cubicBezTo>
                  <a:pt x="412" y="0"/>
                  <a:pt x="326" y="23"/>
                  <a:pt x="250" y="67"/>
                </a:cubicBezTo>
                <a:cubicBezTo>
                  <a:pt x="174" y="111"/>
                  <a:pt x="111" y="174"/>
                  <a:pt x="67" y="250"/>
                </a:cubicBezTo>
                <a:cubicBezTo>
                  <a:pt x="23" y="326"/>
                  <a:pt x="0" y="412"/>
                  <a:pt x="0" y="500"/>
                </a:cubicBezTo>
                <a:lnTo>
                  <a:pt x="0" y="2500"/>
                </a:lnTo>
                <a:lnTo>
                  <a:pt x="0" y="2501"/>
                </a:lnTo>
                <a:cubicBezTo>
                  <a:pt x="0" y="2589"/>
                  <a:pt x="23" y="2675"/>
                  <a:pt x="67" y="2751"/>
                </a:cubicBezTo>
                <a:cubicBezTo>
                  <a:pt x="111" y="2827"/>
                  <a:pt x="174" y="2890"/>
                  <a:pt x="250" y="2934"/>
                </a:cubicBezTo>
                <a:cubicBezTo>
                  <a:pt x="326" y="2978"/>
                  <a:pt x="412" y="3001"/>
                  <a:pt x="500" y="3001"/>
                </a:cubicBezTo>
                <a:lnTo>
                  <a:pt x="25500" y="3001"/>
                </a:lnTo>
                <a:lnTo>
                  <a:pt x="25501" y="3001"/>
                </a:lnTo>
                <a:cubicBezTo>
                  <a:pt x="25589" y="3001"/>
                  <a:pt x="25675" y="2978"/>
                  <a:pt x="25751" y="2934"/>
                </a:cubicBezTo>
                <a:cubicBezTo>
                  <a:pt x="25827" y="2890"/>
                  <a:pt x="25890" y="2827"/>
                  <a:pt x="25934" y="2751"/>
                </a:cubicBezTo>
                <a:cubicBezTo>
                  <a:pt x="25978" y="2675"/>
                  <a:pt x="26001" y="2589"/>
                  <a:pt x="26001" y="2501"/>
                </a:cubicBezTo>
                <a:lnTo>
                  <a:pt x="26001" y="500"/>
                </a:lnTo>
                <a:lnTo>
                  <a:pt x="26001" y="500"/>
                </a:lnTo>
                <a:lnTo>
                  <a:pt x="26001" y="500"/>
                </a:lnTo>
                <a:cubicBezTo>
                  <a:pt x="26001" y="412"/>
                  <a:pt x="25978" y="326"/>
                  <a:pt x="25934" y="250"/>
                </a:cubicBezTo>
                <a:cubicBezTo>
                  <a:pt x="25890" y="174"/>
                  <a:pt x="25827" y="111"/>
                  <a:pt x="25751" y="67"/>
                </a:cubicBezTo>
                <a:cubicBezTo>
                  <a:pt x="25675" y="23"/>
                  <a:pt x="25589" y="0"/>
                  <a:pt x="25501" y="0"/>
                </a:cubicBezTo>
                <a:lnTo>
                  <a:pt x="500" y="0"/>
                </a:lnTo>
              </a:path>
            </a:pathLst>
          </a:custGeom>
          <a:solidFill>
            <a:srgbClr val="FD9D39"/>
          </a:solidFill>
          <a:ln w="0">
            <a:noFill/>
          </a:ln>
          <a:effectLst>
            <a:outerShdw blurRad="63360" dist="89604" dir="2700000" rotWithShape="0">
              <a:srgbClr val="666666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 USING CT IMAGES</a:t>
            </a:r>
          </a:p>
        </p:txBody>
      </p:sp>
    </p:spTree>
    <p:extLst>
      <p:ext uri="{BB962C8B-B14F-4D97-AF65-F5344CB8AC3E}">
        <p14:creationId xmlns:p14="http://schemas.microsoft.com/office/powerpoint/2010/main" val="2584328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97160-1185-56BC-1A5A-B42B932E9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84A200A-966B-AAE5-7E69-2B0F6D65000F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C38B786-50DC-1F3D-0011-B517581B13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86611793-5160-877E-8AC0-3930611F6914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0157B06-6E27-2B15-EEF6-EF6B65F914AA}"/>
              </a:ext>
            </a:extLst>
          </p:cNvPr>
          <p:cNvSpPr txBox="1"/>
          <p:nvPr/>
        </p:nvSpPr>
        <p:spPr>
          <a:xfrm>
            <a:off x="6096000" y="190137"/>
            <a:ext cx="5622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99735D-AF7D-3264-3022-5CBDB984C6DB}"/>
              </a:ext>
            </a:extLst>
          </p:cNvPr>
          <p:cNvSpPr txBox="1"/>
          <p:nvPr/>
        </p:nvSpPr>
        <p:spPr>
          <a:xfrm>
            <a:off x="868018" y="880602"/>
            <a:ext cx="10485782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</a:t>
            </a: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Proposed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esearch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nvestigation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Time Plan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Pilot Study/Preliminary Work Done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Expenses and Funding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Work Details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468BC83-FBCB-08B7-6B41-7DCE583F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99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6E7B-E986-2006-250E-12D162AC2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C83047D-158B-6607-FE2B-42B1A9D38232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B426C7E-9087-6CB9-D3B3-75986F397A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6C117594-F961-26F6-45B6-A7549DDFE651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5A4CEC-9CD2-5A9E-3B24-97A141DD9DD0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A4683-B37D-C0ED-0748-B3F128AC2884}"/>
              </a:ext>
            </a:extLst>
          </p:cNvPr>
          <p:cNvSpPr txBox="1"/>
          <p:nvPr/>
        </p:nvSpPr>
        <p:spPr>
          <a:xfrm>
            <a:off x="471422" y="890782"/>
            <a:ext cx="11244235" cy="6044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liver is prone to trauma? [1-8]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argest peritoneal abdominal organ in the human body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and Size: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Situated in the RUQ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~2-3% total body mass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position (falciform, coronary, triangular ligaments)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Fragility: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Covered by thin fibrous capsule (Glisson capsule)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Fragile parenchyma (liver tissue)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Vascularity: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blood supply 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Hepatic artery (25%), Portal vein (75%)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blood flow, haemorrhage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Biliary tree disruption</a:t>
            </a:r>
          </a:p>
        </p:txBody>
      </p:sp>
      <p:pic>
        <p:nvPicPr>
          <p:cNvPr id="4" name="Picture 3" descr="A diagram of the liver&#10;&#10;Description automatically generated">
            <a:extLst>
              <a:ext uri="{FF2B5EF4-FFF2-40B4-BE49-F238E27FC236}">
                <a16:creationId xmlns:a16="http://schemas.microsoft.com/office/drawing/2014/main" id="{8640D90C-2C70-AB38-5780-FA2373C76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873" y="949740"/>
            <a:ext cx="4272108" cy="2090890"/>
          </a:xfrm>
          <a:prstGeom prst="rect">
            <a:avLst/>
          </a:prstGeom>
        </p:spPr>
      </p:pic>
      <p:pic>
        <p:nvPicPr>
          <p:cNvPr id="5" name="Picture 4" descr="A diagram of the human body&#10;&#10;Description automatically generated">
            <a:extLst>
              <a:ext uri="{FF2B5EF4-FFF2-40B4-BE49-F238E27FC236}">
                <a16:creationId xmlns:a16="http://schemas.microsoft.com/office/drawing/2014/main" id="{1D7F584D-C53A-1F49-EB3C-F5DFC29255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959" y="3590895"/>
            <a:ext cx="4076022" cy="2404635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B287B3B-E111-BF0D-86F3-54509A2EEB10}"/>
              </a:ext>
            </a:extLst>
          </p:cNvPr>
          <p:cNvSpPr txBox="1">
            <a:spLocks/>
          </p:cNvSpPr>
          <p:nvPr/>
        </p:nvSpPr>
        <p:spPr>
          <a:xfrm>
            <a:off x="6719178" y="6101383"/>
            <a:ext cx="5306984" cy="499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1.2: Liver segmented along 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Canauid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://ilts.org/insights/couinauds-segmental-anatomy-of-the-liver-and-proposed-classification-of-pediatric-liver-tumors/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562B73-5A40-80C8-1BB8-54770FE8DD7E}"/>
              </a:ext>
            </a:extLst>
          </p:cNvPr>
          <p:cNvSpPr txBox="1">
            <a:spLocks/>
          </p:cNvSpPr>
          <p:nvPr/>
        </p:nvSpPr>
        <p:spPr>
          <a:xfrm>
            <a:off x="7092778" y="3049886"/>
            <a:ext cx="5042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1.1: Liver Anatomy. </a:t>
            </a:r>
          </a:p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://link.springer.com/chapter/10.1007/978-1-4939-1200-1_1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EA01FD0-8C7E-7AFC-58AD-6C75EC91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152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2130D-6CAE-25E2-BF55-BB222901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C46BCF2-D88C-9908-3291-19161C9243A0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1F88EEC-5198-99E1-975D-C95B20AD6D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B4A0AEA0-261A-A8A8-3030-9D46AFC7CBA2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3FA9B30-B20B-2C2B-80F0-39F2BB5A002E}"/>
              </a:ext>
            </a:extLst>
          </p:cNvPr>
          <p:cNvSpPr txBox="1"/>
          <p:nvPr/>
        </p:nvSpPr>
        <p:spPr>
          <a:xfrm>
            <a:off x="3237470" y="190137"/>
            <a:ext cx="8480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Introduction-II: Mechanism of Injury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16712-A794-38D1-CB31-F30BC921C2BA}"/>
              </a:ext>
            </a:extLst>
          </p:cNvPr>
          <p:cNvSpPr txBox="1"/>
          <p:nvPr/>
        </p:nvSpPr>
        <p:spPr>
          <a:xfrm>
            <a:off x="835740" y="948561"/>
            <a:ext cx="10515600" cy="382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of injury [9-12]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Blunt trauma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Acceleration-deceleration, compression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MV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edestrian accidents, falls, sports, fights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Penetrating trauma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Perforating force</a:t>
            </a:r>
          </a:p>
          <a:p>
            <a:pPr lvl="3">
              <a:lnSpc>
                <a:spcPct val="150000"/>
              </a:lnSpc>
            </a:pP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Stabbing, gunshot, shear forces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lobe of the liver most affected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erson holding an object next to a car&#10;&#10;Description automatically generated">
            <a:extLst>
              <a:ext uri="{FF2B5EF4-FFF2-40B4-BE49-F238E27FC236}">
                <a16:creationId xmlns:a16="http://schemas.microsoft.com/office/drawing/2014/main" id="{342C575F-37B7-85C5-A3F4-C679FF8B9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181" y="4807980"/>
            <a:ext cx="8942718" cy="1550151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6A91F1E-18FB-4C2E-060B-7119ECFD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F791721-CC6F-74D4-6317-9CD9E10DFD1B}"/>
              </a:ext>
            </a:extLst>
          </p:cNvPr>
          <p:cNvSpPr txBox="1">
            <a:spLocks/>
          </p:cNvSpPr>
          <p:nvPr/>
        </p:nvSpPr>
        <p:spPr>
          <a:xfrm>
            <a:off x="3440048" y="6349196"/>
            <a:ext cx="5306984" cy="499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1.3: Mechanisms of Injury</a:t>
            </a:r>
          </a:p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:https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en.m.wikipedia.org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/wiki/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File:Common_Blunt_Thoracic_Injuries.png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86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B1451-A4AD-8746-02D1-D3071B8C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D10302-8495-684B-CCF4-9D4023B6C64E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7DB1EF-74A6-5077-5D94-6666B661EB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07DE683D-D6DB-4E61-48A5-B8DD0BF0AC56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291464B-0C7C-7B58-6BC9-C84A3C7785C2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Introduction-III:Statistics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C1FA7-1BBF-BA3A-18AB-248F320E32D1}"/>
              </a:ext>
            </a:extLst>
          </p:cNvPr>
          <p:cNvSpPr txBox="1"/>
          <p:nvPr/>
        </p:nvSpPr>
        <p:spPr>
          <a:xfrm>
            <a:off x="838200" y="899352"/>
            <a:ext cx="10515600" cy="5351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Trauma Statistics [13-17]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LMICs like India contribute to 90% of all the global injury burden </a:t>
            </a:r>
          </a:p>
          <a:p>
            <a:pPr marL="1257300" lvl="2" indent="-342900">
              <a:lnSpc>
                <a:spcPct val="150000"/>
              </a:lnSpc>
              <a:buFont typeface="System Font Regular"/>
              <a:buChar char="-"/>
            </a:pPr>
            <a:r>
              <a:rPr lang="en-IN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RTA main cause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~5% of all trauma admissions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Blunt trauma </a:t>
            </a:r>
          </a:p>
          <a:p>
            <a:pPr marL="1257300" lvl="2" indent="-342900">
              <a:lnSpc>
                <a:spcPct val="150000"/>
              </a:lnSpc>
              <a:buFont typeface="System Font Regular"/>
              <a:buChar char="-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of the abdominal trauma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System Font Regular"/>
              <a:buChar char="-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35-45%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liver trauma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Penetrating trauma</a:t>
            </a:r>
          </a:p>
          <a:p>
            <a:pPr marL="1257300" lvl="2" indent="-342900">
              <a:lnSpc>
                <a:spcPct val="150000"/>
              </a:lnSpc>
              <a:buFont typeface="System Font Regular"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SWs and 30% GSWs</a:t>
            </a:r>
          </a:p>
          <a:p>
            <a:pPr marL="1257300" lvl="2" indent="-342900">
              <a:lnSpc>
                <a:spcPct val="150000"/>
              </a:lnSpc>
              <a:buFont typeface="System Font Regular"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prevalent in countries prone to civil unrest. 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USA, South Africa, Middle East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cause of death in severe abdominal trauma, 10-15% mortality rate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07A9A28-761A-6393-7F2D-96E01B8F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837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4EE26-8F3C-84BD-8EF0-FD368C13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1ED7F5-45B9-13F1-D308-EAB2DF907D6E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B53649-2EAD-774F-CBAB-E6CBE85EC8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8EC1EEC9-D2DF-2179-D870-148BF7882E75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D860FA2-8465-6475-235D-5B87C6BECA72}"/>
              </a:ext>
            </a:extLst>
          </p:cNvPr>
          <p:cNvSpPr txBox="1"/>
          <p:nvPr/>
        </p:nvSpPr>
        <p:spPr>
          <a:xfrm>
            <a:off x="1816444" y="190137"/>
            <a:ext cx="9901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Introduction-IV: Injury Types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AA72797-CCF3-3ECE-67E6-F68EEEEA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5633"/>
            <a:ext cx="10515600" cy="365125"/>
          </a:xfrm>
        </p:spPr>
        <p:txBody>
          <a:bodyPr/>
          <a:lstStyle/>
          <a:p>
            <a:pPr algn="ctr"/>
            <a:r>
              <a:rPr lang="en-I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1.4: Different Liver Injuries Types (a), (b), (c), (d), (e), (f) [18].</a:t>
            </a:r>
          </a:p>
        </p:txBody>
      </p:sp>
      <p:pic>
        <p:nvPicPr>
          <p:cNvPr id="4" name="Main graphic">
            <a:extLst>
              <a:ext uri="{FF2B5EF4-FFF2-40B4-BE49-F238E27FC236}">
                <a16:creationId xmlns:a16="http://schemas.microsoft.com/office/drawing/2014/main" id="{DC751BC3-3635-18C4-50C2-6AFAB08ACC9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45236" y="945613"/>
            <a:ext cx="3035300" cy="2064287"/>
          </a:xfrm>
          <a:prstGeom prst="rect">
            <a:avLst/>
          </a:prstGeom>
          <a:ln>
            <a:noFill/>
          </a:ln>
        </p:spPr>
      </p:pic>
      <p:pic>
        <p:nvPicPr>
          <p:cNvPr id="5" name="Main graphic">
            <a:extLst>
              <a:ext uri="{FF2B5EF4-FFF2-40B4-BE49-F238E27FC236}">
                <a16:creationId xmlns:a16="http://schemas.microsoft.com/office/drawing/2014/main" id="{B9683C21-D6DF-1E9D-4FE0-F9A014FB98B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580107" y="956432"/>
            <a:ext cx="3031783" cy="2042647"/>
          </a:xfrm>
          <a:prstGeom prst="rect">
            <a:avLst/>
          </a:prstGeom>
          <a:ln>
            <a:noFill/>
          </a:ln>
        </p:spPr>
      </p:pic>
      <p:pic>
        <p:nvPicPr>
          <p:cNvPr id="6" name="Main graphic">
            <a:extLst>
              <a:ext uri="{FF2B5EF4-FFF2-40B4-BE49-F238E27FC236}">
                <a16:creationId xmlns:a16="http://schemas.microsoft.com/office/drawing/2014/main" id="{D87146F9-16FA-33F2-1EF9-DCF77AEFA79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307947" y="956432"/>
            <a:ext cx="3038817" cy="2064287"/>
          </a:xfrm>
          <a:prstGeom prst="rect">
            <a:avLst/>
          </a:prstGeom>
          <a:ln>
            <a:noFill/>
          </a:ln>
        </p:spPr>
      </p:pic>
      <p:pic>
        <p:nvPicPr>
          <p:cNvPr id="7" name="Main graphic">
            <a:extLst>
              <a:ext uri="{FF2B5EF4-FFF2-40B4-BE49-F238E27FC236}">
                <a16:creationId xmlns:a16="http://schemas.microsoft.com/office/drawing/2014/main" id="{443A8B1E-E49E-5021-CF5E-14DE849BD012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838200" y="3544599"/>
            <a:ext cx="3035300" cy="2064287"/>
          </a:xfrm>
          <a:prstGeom prst="rect">
            <a:avLst/>
          </a:prstGeom>
          <a:ln>
            <a:noFill/>
          </a:ln>
        </p:spPr>
      </p:pic>
      <p:pic>
        <p:nvPicPr>
          <p:cNvPr id="8" name="Main graphic">
            <a:extLst>
              <a:ext uri="{FF2B5EF4-FFF2-40B4-BE49-F238E27FC236}">
                <a16:creationId xmlns:a16="http://schemas.microsoft.com/office/drawing/2014/main" id="{7CC610E9-6E43-FBEF-EE8D-007796C572C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4580107" y="3533777"/>
            <a:ext cx="3035300" cy="2064287"/>
          </a:xfrm>
          <a:prstGeom prst="rect">
            <a:avLst/>
          </a:prstGeom>
          <a:ln>
            <a:noFill/>
          </a:ln>
        </p:spPr>
      </p:pic>
      <p:pic>
        <p:nvPicPr>
          <p:cNvPr id="11" name="Main graphic">
            <a:extLst>
              <a:ext uri="{FF2B5EF4-FFF2-40B4-BE49-F238E27FC236}">
                <a16:creationId xmlns:a16="http://schemas.microsoft.com/office/drawing/2014/main" id="{6BB26692-0793-C747-BD2A-4853B5E960E4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8307947" y="3542266"/>
            <a:ext cx="3031783" cy="2075109"/>
          </a:xfrm>
          <a:prstGeom prst="rect">
            <a:avLst/>
          </a:prstGeom>
          <a:ln>
            <a:noFill/>
          </a:ln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610EA8F-C00F-E140-3E62-727D4F5A2930}"/>
              </a:ext>
            </a:extLst>
          </p:cNvPr>
          <p:cNvSpPr txBox="1">
            <a:spLocks/>
          </p:cNvSpPr>
          <p:nvPr/>
        </p:nvSpPr>
        <p:spPr>
          <a:xfrm>
            <a:off x="852270" y="3095543"/>
            <a:ext cx="3021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Lacerations (arrow).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B144F25-23D0-CCC3-A2AC-ACF54B3A8A40}"/>
              </a:ext>
            </a:extLst>
          </p:cNvPr>
          <p:cNvSpPr txBox="1">
            <a:spLocks/>
          </p:cNvSpPr>
          <p:nvPr/>
        </p:nvSpPr>
        <p:spPr>
          <a:xfrm>
            <a:off x="4580106" y="3057732"/>
            <a:ext cx="3021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Subcapsular Hematoma (arrow).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E779593-3D4D-AFCE-A77E-0211CF329BE6}"/>
              </a:ext>
            </a:extLst>
          </p:cNvPr>
          <p:cNvSpPr txBox="1">
            <a:spLocks/>
          </p:cNvSpPr>
          <p:nvPr/>
        </p:nvSpPr>
        <p:spPr>
          <a:xfrm>
            <a:off x="8307947" y="3095543"/>
            <a:ext cx="3031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Intraparenchymal Hematoma (arrow), Subcapsular Hematoma (arrowhead).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17343803-2D94-5C00-CD9C-3080D478F365}"/>
              </a:ext>
            </a:extLst>
          </p:cNvPr>
          <p:cNvSpPr txBox="1">
            <a:spLocks/>
          </p:cNvSpPr>
          <p:nvPr/>
        </p:nvSpPr>
        <p:spPr>
          <a:xfrm>
            <a:off x="848753" y="5701901"/>
            <a:ext cx="3031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Hepatic vein injury: Active bleeding within intraparenchymal hematoma.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C5DC5F4B-A3C3-9BA6-D73C-2578D8DE80A2}"/>
              </a:ext>
            </a:extLst>
          </p:cNvPr>
          <p:cNvSpPr txBox="1">
            <a:spLocks/>
          </p:cNvSpPr>
          <p:nvPr/>
        </p:nvSpPr>
        <p:spPr>
          <a:xfrm>
            <a:off x="4417255" y="5598064"/>
            <a:ext cx="3305907" cy="778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(e) Hepatic venous injury: Lacerations extending to Inferior Vana Cava (IVC) and cutoff of right hepatic venous drainage (arrow). </a:t>
            </a:r>
          </a:p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E895484B-0DE4-02DE-E245-9FBA94609022}"/>
              </a:ext>
            </a:extLst>
          </p:cNvPr>
          <p:cNvSpPr txBox="1">
            <a:spLocks/>
          </p:cNvSpPr>
          <p:nvPr/>
        </p:nvSpPr>
        <p:spPr>
          <a:xfrm>
            <a:off x="8222075" y="5701899"/>
            <a:ext cx="3031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(f) Biliary duct injury: Biloma (arrow),         pseudoaneurysm (arrowhead). </a:t>
            </a:r>
          </a:p>
          <a:p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C6B68269-9BA7-6ED2-F75B-1290ED73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C16F14B4-5181-CD39-7537-568BA3123734}"/>
              </a:ext>
            </a:extLst>
          </p:cNvPr>
          <p:cNvSpPr/>
          <p:nvPr/>
        </p:nvSpPr>
        <p:spPr>
          <a:xfrm flipV="1">
            <a:off x="1507525" y="1247827"/>
            <a:ext cx="407775" cy="1728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04CC94BD-7C35-30CB-7FCA-B172B063544E}"/>
              </a:ext>
            </a:extLst>
          </p:cNvPr>
          <p:cNvSpPr/>
          <p:nvPr/>
        </p:nvSpPr>
        <p:spPr>
          <a:xfrm rot="11005416" flipV="1">
            <a:off x="2604304" y="1295297"/>
            <a:ext cx="407775" cy="1728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F4BFD258-67BC-3086-2B29-74731B875531}"/>
              </a:ext>
            </a:extLst>
          </p:cNvPr>
          <p:cNvSpPr/>
          <p:nvPr/>
        </p:nvSpPr>
        <p:spPr>
          <a:xfrm rot="9280016" flipV="1">
            <a:off x="4990236" y="1462687"/>
            <a:ext cx="407775" cy="1728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905AB4B-5E82-B296-1307-37EAB5B5D0C8}"/>
              </a:ext>
            </a:extLst>
          </p:cNvPr>
          <p:cNvSpPr/>
          <p:nvPr/>
        </p:nvSpPr>
        <p:spPr>
          <a:xfrm rot="12574845" flipV="1">
            <a:off x="4992736" y="2184711"/>
            <a:ext cx="407775" cy="1728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8035A04F-F9BF-70BC-619A-870AF709DEAD}"/>
              </a:ext>
            </a:extLst>
          </p:cNvPr>
          <p:cNvSpPr/>
          <p:nvPr/>
        </p:nvSpPr>
        <p:spPr>
          <a:xfrm rot="10800000" flipV="1">
            <a:off x="9862052" y="1537637"/>
            <a:ext cx="407775" cy="1728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E5EF8A46-5CA2-B1C9-A6CE-D0E9620BEE2B}"/>
              </a:ext>
            </a:extLst>
          </p:cNvPr>
          <p:cNvSpPr/>
          <p:nvPr/>
        </p:nvSpPr>
        <p:spPr>
          <a:xfrm rot="10800000" flipV="1">
            <a:off x="9729642" y="4178401"/>
            <a:ext cx="407775" cy="1728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632DFA09-21A1-7D6C-C054-C5F17B624FB6}"/>
              </a:ext>
            </a:extLst>
          </p:cNvPr>
          <p:cNvSpPr/>
          <p:nvPr/>
        </p:nvSpPr>
        <p:spPr>
          <a:xfrm rot="5400000" flipV="1">
            <a:off x="5505089" y="4345983"/>
            <a:ext cx="335283" cy="180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E585E18C-69FE-AA0C-A419-8597EB4D4D71}"/>
              </a:ext>
            </a:extLst>
          </p:cNvPr>
          <p:cNvSpPr/>
          <p:nvPr/>
        </p:nvSpPr>
        <p:spPr>
          <a:xfrm rot="5400000" flipV="1">
            <a:off x="1270182" y="4008509"/>
            <a:ext cx="407775" cy="1728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35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7E8A-80B0-8265-476C-CE73C9AF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141503-C457-B6DB-479E-2BCE01837E26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7C671FC-B11C-01FB-4B2D-C28BA5DCB9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7E257E31-FD89-492E-D25F-A70DBFCAD205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D10C526-C3D0-E9E3-F1AB-5584B8B1A7BE}"/>
              </a:ext>
            </a:extLst>
          </p:cNvPr>
          <p:cNvSpPr txBox="1"/>
          <p:nvPr/>
        </p:nvSpPr>
        <p:spPr>
          <a:xfrm>
            <a:off x="3854548" y="190137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Introduction-V: Injury Grading 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B4939-0F37-72D2-52DC-14C8A9DA40C6}"/>
              </a:ext>
            </a:extLst>
          </p:cNvPr>
          <p:cNvSpPr txBox="1"/>
          <p:nvPr/>
        </p:nvSpPr>
        <p:spPr>
          <a:xfrm>
            <a:off x="393895" y="974690"/>
            <a:ext cx="113244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75000"/>
              <a:buFont typeface="Wingdings" pitchFamily="2" charset="2"/>
              <a:buChar char="v"/>
            </a:pPr>
            <a:r>
              <a:rPr lang="en-IN" b="1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AAST (American Association for the Surgery of Trauma) Liver Injury Scale (2018 revision) [</a:t>
            </a:r>
            <a:r>
              <a:rPr lang="en-IN" b="1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IN" b="1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285750" indent="-285750">
              <a:buClr>
                <a:schemeClr val="tx1"/>
              </a:buClr>
              <a:buSzPct val="75000"/>
              <a:buFont typeface="Wingdings" pitchFamily="2" charset="2"/>
              <a:buChar char="v"/>
            </a:pPr>
            <a:r>
              <a:rPr lang="en-IN" b="1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WSES (World Society of Emergency Surgery) [20,21]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IN" sz="1600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1600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iver trauma classification is based on AAST-OIS anatomic classification + hemodynamic status + associated injuries</a:t>
            </a:r>
            <a:endParaRPr lang="en-IN" sz="1600" b="1" i="0" u="none" strike="noStrike" dirty="0">
              <a:solidFill>
                <a:srgbClr val="3D3D3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6421C2-8C66-BE9B-0A01-389DBBD5D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131879"/>
              </p:ext>
            </p:extLst>
          </p:nvPr>
        </p:nvGraphicFramePr>
        <p:xfrm>
          <a:off x="618805" y="2243049"/>
          <a:ext cx="10949469" cy="464452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40180">
                  <a:extLst>
                    <a:ext uri="{9D8B030D-6E8A-4147-A177-3AD203B41FA5}">
                      <a16:colId xmlns:a16="http://schemas.microsoft.com/office/drawing/2014/main" val="1217969971"/>
                    </a:ext>
                  </a:extLst>
                </a:gridCol>
                <a:gridCol w="7362326">
                  <a:extLst>
                    <a:ext uri="{9D8B030D-6E8A-4147-A177-3AD203B41FA5}">
                      <a16:colId xmlns:a16="http://schemas.microsoft.com/office/drawing/2014/main" val="2591763145"/>
                    </a:ext>
                  </a:extLst>
                </a:gridCol>
                <a:gridCol w="2646963">
                  <a:extLst>
                    <a:ext uri="{9D8B030D-6E8A-4147-A177-3AD203B41FA5}">
                      <a16:colId xmlns:a16="http://schemas.microsoft.com/office/drawing/2014/main" val="103209578"/>
                    </a:ext>
                  </a:extLst>
                </a:gridCol>
              </a:tblGrid>
              <a:tr h="4247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AAST Grade</a:t>
                      </a:r>
                      <a:endParaRPr lang="en-IN" sz="1400" b="1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Imaging Criteria (CT Findings)</a:t>
                      </a:r>
                      <a:endParaRPr lang="en-IN" sz="1400" b="1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400" b="1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WSES Grade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939790"/>
                  </a:ext>
                </a:extLst>
              </a:tr>
              <a:tr h="257133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Subcapsular hematoma &lt;10% surface area 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Grade I – Mild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Hemodynamic status: Stable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529839"/>
                  </a:ext>
                </a:extLst>
              </a:tr>
              <a:tr h="3039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Parenchymal laceration &lt;1 cm depth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435432"/>
                  </a:ext>
                </a:extLst>
              </a:tr>
              <a:tr h="424750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Subcapsular hematoma 10-50% surface area;  intraparenchymal hematoma &lt;10 cm in diameter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757449"/>
                  </a:ext>
                </a:extLst>
              </a:tr>
              <a:tr h="26542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Laceration 1-3 cm in depth and ≤10 cm length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269276"/>
                  </a:ext>
                </a:extLst>
              </a:tr>
              <a:tr h="424750"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III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Subcapsular hematoma &gt;50% surface area; ruptured subcapsular or parenchymal hematoma 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Grade II – Moderate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Hemodynamic status: Stable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54205"/>
                  </a:ext>
                </a:extLst>
              </a:tr>
              <a:tr h="2409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Intrparenchymal</a:t>
                      </a: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hematoma &gt;10 cm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853592"/>
                  </a:ext>
                </a:extLst>
              </a:tr>
              <a:tr h="2454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Laceration &gt;3 cm depth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899207"/>
                  </a:ext>
                </a:extLst>
              </a:tr>
              <a:tr h="42475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 injury in the presence of a liver vascular injury or active bleeding contained within liver parenchyma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933638"/>
                  </a:ext>
                </a:extLst>
              </a:tr>
              <a:tr h="337443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Parenchymal disruption involving 25-75% of a hepatic lobe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Grade III – Severe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Hemodynamic status: Stable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Grade IV – Severe;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AAST Grades: I–V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Hemodynamic status: Unstable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124720"/>
                  </a:ext>
                </a:extLst>
              </a:tr>
              <a:tr h="30484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 bleeding extending beyond the liver parenchyma into the peritoneum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028847"/>
                  </a:ext>
                </a:extLst>
              </a:tr>
              <a:tr h="348101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Parenchymal disruption &gt;75% of hepatic lobe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399267"/>
                  </a:ext>
                </a:extLst>
              </a:tr>
              <a:tr h="58129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Juxtahepatic</a:t>
                      </a: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venous injury to include </a:t>
                      </a:r>
                      <a:r>
                        <a:rPr lang="en-US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retrohepatic</a:t>
                      </a: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vena cava and central major hepatic veins</a:t>
                      </a:r>
                      <a:endParaRPr lang="en-IN" sz="1400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439678"/>
                  </a:ext>
                </a:extLst>
              </a:tr>
            </a:tbl>
          </a:graphicData>
        </a:graphic>
      </p:graphicFrame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74A8D57-0BF3-2AF8-9759-808B663B33E4}"/>
              </a:ext>
            </a:extLst>
          </p:cNvPr>
          <p:cNvSpPr txBox="1">
            <a:spLocks/>
          </p:cNvSpPr>
          <p:nvPr/>
        </p:nvSpPr>
        <p:spPr>
          <a:xfrm>
            <a:off x="3509973" y="1867242"/>
            <a:ext cx="57325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1.1: </a:t>
            </a:r>
            <a:r>
              <a:rPr lang="en-IN" sz="1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Liver Trauma Grading: AAST and WSES Grading System </a:t>
            </a:r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119F1-4C70-E0EE-EF33-3154F01930AF}"/>
              </a:ext>
            </a:extLst>
          </p:cNvPr>
          <p:cNvSpPr txBox="1"/>
          <p:nvPr/>
        </p:nvSpPr>
        <p:spPr>
          <a:xfrm>
            <a:off x="3362178" y="20257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A157E2F-EB21-94E7-E93F-7907F56A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82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3D0C-A95F-9911-AAB1-EF9E5322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4F96D7-D000-B589-B44A-DDA610B04643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697471-AD2A-311B-B8FA-311EE968F5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E05E83EE-F59F-6F0C-94C3-D4B951DEF5D2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666CA3-5E80-730D-A396-9911BF54F239}"/>
              </a:ext>
            </a:extLst>
          </p:cNvPr>
          <p:cNvSpPr txBox="1"/>
          <p:nvPr/>
        </p:nvSpPr>
        <p:spPr>
          <a:xfrm>
            <a:off x="556054" y="102097"/>
            <a:ext cx="11458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Introduction-VI: Imaging Modalities &amp; Why Automation?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F46B1-0B3E-AE5E-7C3D-125A2D190D9C}"/>
              </a:ext>
            </a:extLst>
          </p:cNvPr>
          <p:cNvSpPr txBox="1"/>
          <p:nvPr/>
        </p:nvSpPr>
        <p:spPr>
          <a:xfrm>
            <a:off x="398870" y="990646"/>
            <a:ext cx="8618521" cy="605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75000"/>
              <a:buFont typeface="Wingdings" pitchFamily="2" charset="2"/>
              <a:buChar char="v"/>
            </a:pPr>
            <a:r>
              <a:rPr lang="en-IN" sz="2200" b="1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 Enhanced Ultrasound (CEUS) [18]</a:t>
            </a:r>
          </a:p>
          <a:p>
            <a:pPr marL="914400" lvl="1" indent="-457200">
              <a:buSzPct val="75000"/>
              <a:buFont typeface="Wingdings" pitchFamily="2" charset="2"/>
              <a:buChar char="§"/>
            </a:pPr>
            <a:r>
              <a:rPr lang="en-IN" sz="2200" i="0" u="none" strike="noStrike" dirty="0" err="1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Hemodynalically</a:t>
            </a:r>
            <a:r>
              <a:rPr lang="en-IN" sz="2200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unstable patients</a:t>
            </a:r>
          </a:p>
          <a:p>
            <a:pPr lvl="1">
              <a:buSzPct val="75000"/>
            </a:pPr>
            <a:endParaRPr lang="en-IN" sz="2200" i="0" u="none" strike="noStrike" dirty="0">
              <a:solidFill>
                <a:srgbClr val="3D3D3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75000"/>
              <a:buFont typeface="Wingdings" pitchFamily="2" charset="2"/>
              <a:buChar char="v"/>
            </a:pPr>
            <a:r>
              <a:rPr lang="en-IN" sz="2200" b="1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Contrast-enhanced Computed Tomography (CT) [</a:t>
            </a:r>
            <a:r>
              <a:rPr lang="en-IN" sz="2200" b="1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2200" b="1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sz="2200" b="1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b="1" i="0" u="none" strike="noStrike" dirty="0">
              <a:solidFill>
                <a:srgbClr val="3D3D3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 standard: Sens./Spec.: 98%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of injury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Vascular injuries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injuries</a:t>
            </a:r>
          </a:p>
          <a:p>
            <a:pPr marL="800100" lvl="1" indent="-342900">
              <a:buFont typeface="Wingdings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75000"/>
              <a:buFont typeface="Wingdings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automated assessment? [22]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 limitations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segmentation and grading: time consuming, introduce error for complex injuries.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tools can: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rapid, consistent, and accurate evaluations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burden on radiologist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room with a machine and chairs&#10;&#10;Description automatically generated">
            <a:extLst>
              <a:ext uri="{FF2B5EF4-FFF2-40B4-BE49-F238E27FC236}">
                <a16:creationId xmlns:a16="http://schemas.microsoft.com/office/drawing/2014/main" id="{CA9D75CB-356A-191F-4DFC-87EAB32FD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391" y="1015640"/>
            <a:ext cx="2719453" cy="2661179"/>
          </a:xfrm>
          <a:prstGeom prst="rect">
            <a:avLst/>
          </a:prstGeom>
        </p:spPr>
      </p:pic>
      <p:pic>
        <p:nvPicPr>
          <p:cNvPr id="10" name="Picture 9" descr="Diagram of a beam with text and arrows&#10;&#10;Description automatically generated with medium confidence">
            <a:extLst>
              <a:ext uri="{FF2B5EF4-FFF2-40B4-BE49-F238E27FC236}">
                <a16:creationId xmlns:a16="http://schemas.microsoft.com/office/drawing/2014/main" id="{69195FBC-839A-4143-FAA8-324888365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0" y="3768241"/>
            <a:ext cx="2208628" cy="250309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FA0F87C-738E-D49F-CCE5-E5DF3C1D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EB50162-9128-C1B4-5638-4D580B1686E3}"/>
              </a:ext>
            </a:extLst>
          </p:cNvPr>
          <p:cNvSpPr txBox="1">
            <a:spLocks/>
          </p:cNvSpPr>
          <p:nvPr/>
        </p:nvSpPr>
        <p:spPr>
          <a:xfrm>
            <a:off x="7777702" y="6312659"/>
            <a:ext cx="5306984" cy="499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1.5: CT Scanner</a:t>
            </a:r>
          </a:p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:https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en.wikipedia.org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/wiki/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CT_scan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84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394BF-3ECD-83FC-2CD5-5B411899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CDBA3BF-BEC9-1EFB-5ADB-80F841B9A2DB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BD2185-0B49-75FD-F1B1-CD024E1BC1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0A785AB2-1ABF-CB3A-1853-5BADA9745920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6388AC2-6177-B5E5-26BD-8B319C3C4E0A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5" name="Subtitle 10">
            <a:extLst>
              <a:ext uri="{FF2B5EF4-FFF2-40B4-BE49-F238E27FC236}">
                <a16:creationId xmlns:a16="http://schemas.microsoft.com/office/drawing/2014/main" id="{FB449596-3ED9-6680-0EDA-B55EA708242A}"/>
              </a:ext>
            </a:extLst>
          </p:cNvPr>
          <p:cNvSpPr txBox="1">
            <a:spLocks/>
          </p:cNvSpPr>
          <p:nvPr/>
        </p:nvSpPr>
        <p:spPr>
          <a:xfrm>
            <a:off x="717630" y="1346450"/>
            <a:ext cx="10751820" cy="461933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SzPct val="75000"/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literature review was conducted focusing on [23-42]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trauma segmentation, 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Grading of liver injuries,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segmentation,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Spleen trauma segmentation,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architectures employed in identifying liver tumor.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75000"/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found during literature survey</a:t>
            </a:r>
          </a:p>
          <a:p>
            <a:pPr lvl="1" algn="just">
              <a:buSzPct val="75000"/>
              <a:buFont typeface="Wingdings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segmentation (Public dataset)</a:t>
            </a:r>
          </a:p>
          <a:p>
            <a:pPr lvl="2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CHAOS challenge dataset, </a:t>
            </a:r>
          </a:p>
          <a:p>
            <a:pPr lvl="2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SLIVER07 challenge dataset, </a:t>
            </a:r>
          </a:p>
          <a:p>
            <a:pPr lvl="2" algn="just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marL="914400" lvl="2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trauma segmentation and Grading of injuries</a:t>
            </a:r>
          </a:p>
          <a:p>
            <a:pPr lvl="2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dataset from trauma centers.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ED6D-A49D-F901-D07E-5092145F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2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6548-9A7C-3E81-175C-CFD5681D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141449-B6CE-D4E7-AC01-074EFB35F972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82A89C-96C1-F224-0855-B95E4650CC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598D50D6-14D8-5595-D1E7-582C4ADB9EA1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3118C9E-ACC1-F830-AAFA-E1DE52F7ED77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Review-I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C68A2B-7BF1-4937-0511-BF7EFC6D7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510474"/>
              </p:ext>
            </p:extLst>
          </p:nvPr>
        </p:nvGraphicFramePr>
        <p:xfrm>
          <a:off x="119340" y="978289"/>
          <a:ext cx="11948400" cy="5204040"/>
        </p:xfrm>
        <a:graphic>
          <a:graphicData uri="http://schemas.openxmlformats.org/drawingml/2006/table">
            <a:tbl>
              <a:tblPr/>
              <a:tblGrid>
                <a:gridCol w="210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and reviews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8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deep learning framework for automated detection and quantitative assessment of liver trauma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Farzaneh</a:t>
                      </a:r>
                      <a:r>
                        <a:rPr lang="en-IN" sz="1600" b="0" strike="noStrike" kern="1200" spc="-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 (2022) [23]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automatically detect and segment traumatic regions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 quantitative volumetric measure--</a:t>
                      </a:r>
                      <a:r>
                        <a:rPr lang="en-IN" sz="1600" b="0" strike="noStrike" spc="-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trauma regions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computation of percentage of liver parenchyma disrupted by trauma.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Integrate human domain knowledge during post-processing to improve model's accuracy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portal venous phase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 images considered. 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presence of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artifacts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considered in CT scans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Injuries like subcapsular hematoma and active bleeding not considered.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Added value of deep learning‑based liver parenchymal CT volumetry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 predicting major arterial injury after blunt hepatic trauma: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decision tree analysis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Dreizin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(2021) [24]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Using LPDI in predicting major hepatic arterial injury (MHAI)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Investigate the performance of LPDI in conjunction with volumetric CE through decision tree analysis for predicting MHAI.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Private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 of volumetric CE instead of binary assessment of CE yielded more precise result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Employed classification and regression tree (CART) analyses to generate decision rules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contrast extravasation volume 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was assessed using </a:t>
                      </a: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manual segmentation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mention of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artifacts/noise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removal from CT scans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phase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was used in the study.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Did </a:t>
                      </a: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consider venous hepatic bleeding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as an outcome.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A1968-18F7-6FCA-BBD2-C746C2C5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33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1C42-6DC9-149D-94CB-EBFF1549E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5C07BA-05F5-A6F0-6127-A210498D8ADC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4A906A-8595-383D-E31F-8ADB1CB009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3752F27A-E3C9-A833-517C-F948062EE0C6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EE241DF-20F9-8208-FD4D-DE2F42D1ACBB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Review-II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66ABC9-AA0A-2BAE-D8E7-7F3F959FC6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4416086"/>
              </p:ext>
            </p:extLst>
          </p:nvPr>
        </p:nvGraphicFramePr>
        <p:xfrm>
          <a:off x="119340" y="983807"/>
          <a:ext cx="11948400" cy="5280240"/>
        </p:xfrm>
        <a:graphic>
          <a:graphicData uri="http://schemas.openxmlformats.org/drawingml/2006/table">
            <a:tbl>
              <a:tblPr/>
              <a:tblGrid>
                <a:gridCol w="210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and reviews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8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Automated quantitative assess- </a:t>
                      </a:r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ment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pediatric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blunt hepatic trauma by deep learning-based CT volumetry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Huang</a:t>
                      </a:r>
                      <a:r>
                        <a:rPr lang="en-IN" sz="1600" b="0" strike="noStrike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al.(2022) [25]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and segment trauma regions in paediatric CT scans.</a:t>
                      </a:r>
                    </a:p>
                    <a:p>
                      <a:pPr marL="216000" marR="0" lvl="0" indent="-216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 quantitative volumetric measure--</a:t>
                      </a:r>
                      <a:r>
                        <a:rPr lang="en-IN" sz="1600" b="0" strike="noStrike" spc="-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trauma regions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LPDI and trauma volume used to correlate with AAST grading.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cutoff values for liver trauma volume and LPDI to delineate between low-grade and high-grade injuries. 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 algn="just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Labelling was done using spherical brush tool instead of voxel-wise resulting in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annotations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 algn="just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 used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marR="0" lvl="0" indent="-2160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single-phase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 images considered. 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200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Toward automated interpretable AAST grading for blunt splenic injury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Chen et al (2022) [28]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 automated DL system to predict the AAST grade for blunt splenic injuries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Private,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ABPSA,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SMSD (Medical Segment—</a:t>
                      </a:r>
                      <a:r>
                        <a:rPr lang="en-IN" sz="1600" b="0" strike="noStrike" spc="-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tion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strike="noStrike" spc="-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—thon)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marR="0" indent="-216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Noisy student algorithm used to identify and label injured spleens.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Demonstrated a high level of accuracy in diagnosing high-grade (IV and V) injuries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assessment of PSA and AB is considered rather than volumetric. 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 algn="just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Quantification of vascular injury 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considered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 algn="just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noisy-student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heavily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the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 model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can risk overfitting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marR="0" lvl="0" indent="-2160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grading model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not effective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determining threshold for injury grades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23A992-F3E4-14FE-627E-D251B4F4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29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1771-5F33-0B4D-855E-7CECBB03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101C39-EF09-33DF-1820-2D0E6B48FE2C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2B6325A-BF2C-7E7B-CA7A-1050CFCEDA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7EF22CAB-76F5-A1A0-8279-0D4DB602ED7E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1A7321D-FFB8-325C-833C-C7C49BF033E7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Review-III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F59EAB-AFAD-3207-CE64-11612F5F48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761458"/>
              </p:ext>
            </p:extLst>
          </p:nvPr>
        </p:nvGraphicFramePr>
        <p:xfrm>
          <a:off x="112542" y="978059"/>
          <a:ext cx="11955198" cy="4960320"/>
        </p:xfrm>
        <a:graphic>
          <a:graphicData uri="http://schemas.openxmlformats.org/drawingml/2006/table">
            <a:tbl>
              <a:tblPr/>
              <a:tblGrid>
                <a:gridCol w="211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and reviews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6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External Attention Assisted Multi-Phase Splenic Vascular Injury Segmentation With Limited Data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Zhou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(2021) [29]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develop DL for segmenting splenic vascular injuries from multi-phase CT scans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address 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inter-patient variation (variability in shape, texture, size) and limited data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Private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</a:t>
                      </a:r>
                      <a:r>
                        <a:rPr lang="en-IN" sz="1600" b="0" strike="noStrike" spc="-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CycleGAN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synthetic augmentation necessitates careful hyper-parameter tuning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iterative process to improve learning of splenic vascular injuries depends on the quality of pseudo-labels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study is only </a:t>
                      </a: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to vascular injuries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address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multi-site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 scans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Added complexity 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due to usage of  </a:t>
                      </a:r>
                      <a:r>
                        <a:rPr lang="en-IN" sz="1600" b="1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CycleGAN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external attention mechanism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Effectiveness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synthetic data depends on the </a:t>
                      </a: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balance of real and synthetic data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during training</a:t>
                      </a:r>
                      <a:endParaRPr lang="en-IN" sz="1600" b="1" strike="noStrike" spc="-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IN" sz="1600" b="1" strike="noStrike" spc="-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200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PA-Net: A phase attention network fusing venous and arterial phase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features of CT images for liver tumor segmentation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Liu et al (2023) [32]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 liver tumor segmentation by using multi-phase CT images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feature redundancy and spatial misalignment.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marR="0" indent="-216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Thick layered CT images can make image registration less effective.</a:t>
                      </a:r>
                    </a:p>
                    <a:p>
                      <a:pPr marL="216000" marR="0" indent="-216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 module efficiently fuses multi-phase CT image features and avoids feature redundancy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 algn="just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</a:t>
                      </a:r>
                    </a:p>
                    <a:p>
                      <a:pPr marL="216000" indent="-216000" algn="just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explanation provided as to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process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strike="noStrike" spc="-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effective </a:t>
                      </a: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thick CT scans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FEC02C-C5B6-FD56-98B3-88E4E933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562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D23B-3DED-F28F-6C8E-80AB91A92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389F4DC-1EC9-9408-813F-3BC6D57ECCBF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C8F540E-5684-4F22-B920-55CFA5B344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23F31202-2DCD-0CC0-5CD5-7BA7B5E0B586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B0BD8AD-921E-CF1D-9523-A39B5F42AA91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Review-IV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B43296-EB89-9AE3-E89E-2723AE1E20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5565992"/>
              </p:ext>
            </p:extLst>
          </p:nvPr>
        </p:nvGraphicFramePr>
        <p:xfrm>
          <a:off x="112542" y="978059"/>
          <a:ext cx="11955198" cy="5189220"/>
        </p:xfrm>
        <a:graphic>
          <a:graphicData uri="http://schemas.openxmlformats.org/drawingml/2006/table">
            <a:tbl>
              <a:tblPr/>
              <a:tblGrid>
                <a:gridCol w="211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and reviews</a:t>
                      </a:r>
                      <a:endParaRPr lang="en-IN" sz="1600" b="0" strike="noStrike" spc="-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6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DA-Tran: Multiphase liver tumor segmentation with a domain-adaptive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transformer network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Ni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</a:t>
                      </a: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(2023) [33]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develop domain-adaptive transformer network for liver tumor segmentation</a:t>
                      </a: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Private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Spatial misalignment not prioritized. 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Integration of phase information occurs only at deep level, which limits the model's ability to precisely delineate target boundaries affecting the segmentation.</a:t>
                      </a:r>
                      <a:endParaRPr lang="en-IN" sz="1600" b="0" strike="noStrike" spc="-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computational requirement 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of model’s architecture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Lack of sensitivity 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tumors with blurred margins and small-scale lesions</a:t>
                      </a:r>
                      <a:endParaRPr lang="en-IN" sz="1600" b="1" strike="noStrike" spc="-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CT2Rep: Automated Radiology Report</a:t>
                      </a:r>
                      <a:b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Generation for 3D Medical Imaging</a:t>
                      </a:r>
                    </a:p>
                    <a:p>
                      <a:r>
                        <a:rPr lang="en-IN" sz="16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Hamamci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 (2024) [43]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marR="0" indent="-216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 radiology report generation for chest CT volumes</a:t>
                      </a:r>
                    </a:p>
                    <a:p>
                      <a:pPr marL="216000" marR="0" indent="-216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CT-RATE</a:t>
                      </a:r>
                      <a:endParaRPr lang="en-IN" sz="16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marR="0" lvl="0" indent="-216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‘findings’ in clinical report are used for report generation.</a:t>
                      </a:r>
                    </a:p>
                    <a:p>
                      <a:pPr marL="216000" marR="0" lvl="0" indent="-216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83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Natural language generation (NLG) and clinical efficacy (CE) metrics are employed to evaluate the effectiveness of automated radiology report generation</a:t>
                      </a:r>
                      <a:endParaRPr lang="en-IN" sz="1600" b="0" strike="noStrike" spc="-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 algn="just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only chest CT scans</a:t>
                      </a:r>
                    </a:p>
                    <a:p>
                      <a:pPr marL="216000" indent="-216000" algn="just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Does </a:t>
                      </a: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provide</a:t>
                      </a: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specific details about the steps taken to </a:t>
                      </a:r>
                      <a:r>
                        <a:rPr lang="en-IN" sz="16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process clinical reports</a:t>
                      </a:r>
                      <a:endParaRPr lang="en-IN" sz="1600" b="1" strike="noStrike" spc="-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00" marR="90000">
                    <a:lnL w="10800">
                      <a:solidFill>
                        <a:srgbClr val="000000"/>
                      </a:solidFill>
                    </a:lnL>
                    <a:lnR w="10800">
                      <a:solidFill>
                        <a:srgbClr val="000000"/>
                      </a:solidFill>
                    </a:lnR>
                    <a:lnT w="10800">
                      <a:solidFill>
                        <a:srgbClr val="000000"/>
                      </a:solidFill>
                    </a:lnT>
                    <a:lnB w="108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D8748B8-DD51-EA5E-4785-D55472B3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450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C7037-7145-461F-4C4D-609DC3E1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4FA54D-7FF5-A0D4-E0D6-E6011044A7D2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820033-4391-62BC-2ADC-58FA3299CB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DD38E426-1D94-53BE-5583-3BC32D07B7C8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4F9017D-77FC-1E85-05BC-FB241CBB1B0F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83D2C1C-7117-2400-BE28-AA7C6297E6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426369"/>
              </p:ext>
            </p:extLst>
          </p:nvPr>
        </p:nvGraphicFramePr>
        <p:xfrm>
          <a:off x="813072" y="1378038"/>
          <a:ext cx="10565856" cy="4417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ED60-58EA-DA17-32E0-CCBEC4A0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535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F34C9-D8CF-9266-F48E-AEF56629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7F8F9F7-09DF-DA10-5319-51258C6EBA36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2BD8075-8B76-4439-DACF-250703E755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844BB269-EFBD-F7A4-E73B-9DE7CAB34382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881C265-52E5-6872-A2F6-75656378A574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EF6B0F5-7CC6-397F-A360-CCEC66CA6B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1155315"/>
              </p:ext>
            </p:extLst>
          </p:nvPr>
        </p:nvGraphicFramePr>
        <p:xfrm>
          <a:off x="838199" y="1532586"/>
          <a:ext cx="10515601" cy="4031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F5AE2-9142-5FB9-9E28-FCA3B20B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463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76CA3-0F42-4BAD-615B-F0ECBFA2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4699FE8-2387-4DE4-9289-A489198BBB72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D8F9A3-9AE8-9E8A-F3C2-AAC7497298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3C7E2106-A14A-9D6F-1E38-D802649F6578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4C9A1E1-9B47-33BB-97A5-2EA508C10B87}"/>
              </a:ext>
            </a:extLst>
          </p:cNvPr>
          <p:cNvSpPr txBox="1"/>
          <p:nvPr/>
        </p:nvSpPr>
        <p:spPr>
          <a:xfrm>
            <a:off x="3522689" y="190137"/>
            <a:ext cx="8195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to Objectives Mapping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1A0312F-424A-2F42-478B-F01390DF37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6198453"/>
              </p:ext>
            </p:extLst>
          </p:nvPr>
        </p:nvGraphicFramePr>
        <p:xfrm>
          <a:off x="759655" y="1077195"/>
          <a:ext cx="4726745" cy="5160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130C51-D3C0-FAD2-B9C7-E2C839AF23F1}"/>
              </a:ext>
            </a:extLst>
          </p:cNvPr>
          <p:cNvCxnSpPr>
            <a:cxnSpLocks/>
          </p:cNvCxnSpPr>
          <p:nvPr/>
        </p:nvCxnSpPr>
        <p:spPr>
          <a:xfrm flipV="1">
            <a:off x="5483940" y="1760472"/>
            <a:ext cx="1221660" cy="516395"/>
          </a:xfrm>
          <a:prstGeom prst="straightConnector1">
            <a:avLst/>
          </a:prstGeom>
          <a:ln w="31750">
            <a:prstDash val="dash"/>
            <a:headEnd w="lg" len="lg"/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CF57D8-85AF-F5F4-EC0A-69A019C0DF29}"/>
              </a:ext>
            </a:extLst>
          </p:cNvPr>
          <p:cNvCxnSpPr>
            <a:cxnSpLocks/>
          </p:cNvCxnSpPr>
          <p:nvPr/>
        </p:nvCxnSpPr>
        <p:spPr>
          <a:xfrm flipV="1">
            <a:off x="5486400" y="1861481"/>
            <a:ext cx="1219200" cy="1374088"/>
          </a:xfrm>
          <a:prstGeom prst="straightConnector1">
            <a:avLst/>
          </a:prstGeom>
          <a:ln w="31750">
            <a:solidFill>
              <a:srgbClr val="D17B5C"/>
            </a:solidFill>
            <a:prstDash val="dash"/>
            <a:headEnd w="lg" len="lg"/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0C31B0-BFBB-BAD5-BC53-6EC09061135D}"/>
              </a:ext>
            </a:extLst>
          </p:cNvPr>
          <p:cNvCxnSpPr>
            <a:cxnSpLocks/>
          </p:cNvCxnSpPr>
          <p:nvPr/>
        </p:nvCxnSpPr>
        <p:spPr>
          <a:xfrm flipV="1">
            <a:off x="5486400" y="3429000"/>
            <a:ext cx="1219200" cy="662559"/>
          </a:xfrm>
          <a:prstGeom prst="straightConnector1">
            <a:avLst/>
          </a:prstGeom>
          <a:ln w="31750">
            <a:solidFill>
              <a:srgbClr val="B98A82"/>
            </a:solidFill>
            <a:prstDash val="dash"/>
            <a:headEnd w="lg" len="lg"/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FD83EF-CE4F-3433-361F-F514638D55AB}"/>
              </a:ext>
            </a:extLst>
          </p:cNvPr>
          <p:cNvCxnSpPr>
            <a:cxnSpLocks/>
          </p:cNvCxnSpPr>
          <p:nvPr/>
        </p:nvCxnSpPr>
        <p:spPr>
          <a:xfrm>
            <a:off x="5483940" y="5054704"/>
            <a:ext cx="1221660" cy="248816"/>
          </a:xfrm>
          <a:prstGeom prst="straightConnector1">
            <a:avLst/>
          </a:prstGeom>
          <a:ln w="31750">
            <a:solidFill>
              <a:srgbClr val="A5A5A5"/>
            </a:solidFill>
            <a:prstDash val="dash"/>
            <a:headEnd w="lg" len="lg"/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6F75C0F7-C216-4F48-21C2-41EDC10654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576180"/>
              </p:ext>
            </p:extLst>
          </p:nvPr>
        </p:nvGraphicFramePr>
        <p:xfrm>
          <a:off x="6705600" y="1077195"/>
          <a:ext cx="4726745" cy="5160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B1C0A44E-8F4A-557F-2039-E0D29D0D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234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583D7-691F-0F53-5253-53DEAD50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5647C89-B3BA-6680-DED0-606E059DB3A9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04809CE-21B1-FC25-6840-1F6F34AD8C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E741C3DE-7DB8-D03A-82A5-47769E8AF6EC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91A9BF0-0A82-3F65-7181-E59EF7EA44A6}"/>
              </a:ext>
            </a:extLst>
          </p:cNvPr>
          <p:cNvSpPr txBox="1"/>
          <p:nvPr/>
        </p:nvSpPr>
        <p:spPr>
          <a:xfrm>
            <a:off x="4600136" y="190137"/>
            <a:ext cx="7118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Methodology-Objective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19F85-B934-C94F-7CB6-EC8EF267A071}"/>
              </a:ext>
            </a:extLst>
          </p:cNvPr>
          <p:cNvSpPr txBox="1"/>
          <p:nvPr/>
        </p:nvSpPr>
        <p:spPr>
          <a:xfrm>
            <a:off x="759655" y="998740"/>
            <a:ext cx="10523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- 1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models to identify and segment the liver and traumatic regions of liver in CT scans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790E96F-0857-1A36-EF45-F01566458683}"/>
                  </a:ext>
                </a:extLst>
              </p14:cNvPr>
              <p14:cNvContentPartPr/>
              <p14:nvPr/>
            </p14:nvContentPartPr>
            <p14:xfrm>
              <a:off x="2004148" y="570508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790E96F-0857-1A36-EF45-F015664586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0148" y="5597086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9BA06F6F-7CA2-5629-66D1-34746744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461F82-1511-2DAE-4F21-10906C72DD1D}"/>
              </a:ext>
            </a:extLst>
          </p:cNvPr>
          <p:cNvSpPr txBox="1"/>
          <p:nvPr/>
        </p:nvSpPr>
        <p:spPr>
          <a:xfrm>
            <a:off x="3040851" y="6528685"/>
            <a:ext cx="6105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5.1: Block Diagram of Liver Trauma Segmentation 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liver segmentation module&#10;&#10;Description automatically generated">
            <a:extLst>
              <a:ext uri="{FF2B5EF4-FFF2-40B4-BE49-F238E27FC236}">
                <a16:creationId xmlns:a16="http://schemas.microsoft.com/office/drawing/2014/main" id="{DE805339-68B4-16E6-72A3-BB71BAB4AC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50" y="1706626"/>
            <a:ext cx="11817948" cy="478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36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E876-71BE-FDEF-86C8-44903790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2EC462F-DA7B-C9AF-4425-C39A7A8D6234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7CB7A12-E138-931E-6A01-08F76237D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35C7C68C-BB65-27E3-CD18-05A83EBA1978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85A4D2-4400-79DA-0757-155B12FCE8F9}"/>
              </a:ext>
            </a:extLst>
          </p:cNvPr>
          <p:cNvSpPr txBox="1"/>
          <p:nvPr/>
        </p:nvSpPr>
        <p:spPr>
          <a:xfrm>
            <a:off x="4121834" y="190137"/>
            <a:ext cx="7596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Methodology-Objective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40D61-F333-6FD5-9A91-62E82DECA641}"/>
              </a:ext>
            </a:extLst>
          </p:cNvPr>
          <p:cNvSpPr txBox="1"/>
          <p:nvPr/>
        </p:nvSpPr>
        <p:spPr>
          <a:xfrm>
            <a:off x="759655" y="938152"/>
            <a:ext cx="10719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- 2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module for quantitative assessment and severity grading of liver trauma.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302B29-A131-A180-62C7-2122812829D6}"/>
                  </a:ext>
                </a:extLst>
              </p14:cNvPr>
              <p14:cNvContentPartPr/>
              <p14:nvPr/>
            </p14:nvContentPartPr>
            <p14:xfrm>
              <a:off x="6265108" y="2833006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302B29-A131-A180-62C7-2122812829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11468" y="272536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7C239CB-D5AA-12A3-6296-47E9C5932C0E}"/>
                  </a:ext>
                </a:extLst>
              </p14:cNvPr>
              <p14:cNvContentPartPr/>
              <p14:nvPr/>
            </p14:nvContentPartPr>
            <p14:xfrm>
              <a:off x="4521988" y="292444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7C239CB-D5AA-12A3-6296-47E9C5932C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7988" y="281644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8F97FD-5462-3F2D-F977-D1B12C670C69}"/>
                  </a:ext>
                </a:extLst>
              </p14:cNvPr>
              <p14:cNvContentPartPr/>
              <p14:nvPr/>
            </p14:nvContentPartPr>
            <p14:xfrm>
              <a:off x="4521988" y="292444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8F97FD-5462-3F2D-F977-D1B12C670C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7988" y="281644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D7EBA2F-4C57-A6FC-50C9-55AE7D392E10}"/>
                  </a:ext>
                </a:extLst>
              </p14:cNvPr>
              <p14:cNvContentPartPr/>
              <p14:nvPr/>
            </p14:nvContentPartPr>
            <p14:xfrm>
              <a:off x="2732788" y="351448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D7EBA2F-4C57-A6FC-50C9-55AE7D392E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9148" y="3406846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 descr="A diagram of a medical procedure&#10;&#10;Description automatically generated">
            <a:extLst>
              <a:ext uri="{FF2B5EF4-FFF2-40B4-BE49-F238E27FC236}">
                <a16:creationId xmlns:a16="http://schemas.microsoft.com/office/drawing/2014/main" id="{8272C3EE-ADE9-A2EE-623E-5275264B31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251" y="1646038"/>
            <a:ext cx="6105378" cy="4672598"/>
          </a:xfrm>
          <a:prstGeom prst="rect">
            <a:avLst/>
          </a:prstGeom>
        </p:spPr>
      </p:pic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69AC343-8DDA-35FA-B26F-B0976940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20A569-FCBD-B463-E5BD-48454AFB7F8C}"/>
              </a:ext>
            </a:extLst>
          </p:cNvPr>
          <p:cNvSpPr txBox="1"/>
          <p:nvPr/>
        </p:nvSpPr>
        <p:spPr>
          <a:xfrm>
            <a:off x="3040851" y="6318997"/>
            <a:ext cx="61053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5.2: Block Diagram of Injury Grading Module 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740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D669-5123-0209-F320-65C89083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8F42BFD-58B7-19AB-A900-CFEAEC60C9C0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A6A25A4-F649-FEDD-3602-6FCC5E7282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51CE60CB-5920-D8C4-CF32-4AA3C36435E9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15B961E-BA97-456E-3136-D6684DA6F449}"/>
              </a:ext>
            </a:extLst>
          </p:cNvPr>
          <p:cNvSpPr txBox="1"/>
          <p:nvPr/>
        </p:nvSpPr>
        <p:spPr>
          <a:xfrm>
            <a:off x="3629466" y="190137"/>
            <a:ext cx="8088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Methodology-Objective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737D5-603B-A242-180D-FE1DACA335F4}"/>
              </a:ext>
            </a:extLst>
          </p:cNvPr>
          <p:cNvSpPr txBox="1"/>
          <p:nvPr/>
        </p:nvSpPr>
        <p:spPr>
          <a:xfrm>
            <a:off x="759655" y="938152"/>
            <a:ext cx="10747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- 3: 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end-to-end pipeline that integrates trauma segmentation and injury grading into an intuitive interface, enabling accurate and precise assessment of liver trauma.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7C4CF72-104C-B3D7-822A-D118DE4D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D507F-B79D-F9BE-5A1A-0FD78832DDFB}"/>
              </a:ext>
            </a:extLst>
          </p:cNvPr>
          <p:cNvSpPr txBox="1"/>
          <p:nvPr/>
        </p:nvSpPr>
        <p:spPr>
          <a:xfrm>
            <a:off x="3040851" y="6590470"/>
            <a:ext cx="6105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5.3: Block Diagram of Interface for Model Evaluation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 report&#10;&#10;Description automatically generated">
            <a:extLst>
              <a:ext uri="{FF2B5EF4-FFF2-40B4-BE49-F238E27FC236}">
                <a16:creationId xmlns:a16="http://schemas.microsoft.com/office/drawing/2014/main" id="{EB40D0F0-C56D-81A6-98FB-2B7FD8A39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399" y="1644692"/>
            <a:ext cx="4720281" cy="497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32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4E49E-2C9D-3AE8-3923-D13174E0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4D8532-DB3F-C7E1-0463-F17B27BCC20A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E1E8B9-9794-91DE-974D-C11856FA79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247A559B-D34E-EF0D-FEC5-54DBB5571A2E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146888E-27E9-A460-EFCC-16E5025120F9}"/>
              </a:ext>
            </a:extLst>
          </p:cNvPr>
          <p:cNvSpPr txBox="1"/>
          <p:nvPr/>
        </p:nvSpPr>
        <p:spPr>
          <a:xfrm>
            <a:off x="3516924" y="190137"/>
            <a:ext cx="8201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Methodology-Overall Workflow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E2CF59-2686-F993-B894-C7447EC7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267C62-0B89-940C-4D28-F015534997B4}"/>
              </a:ext>
            </a:extLst>
          </p:cNvPr>
          <p:cNvSpPr txBox="1"/>
          <p:nvPr/>
        </p:nvSpPr>
        <p:spPr>
          <a:xfrm>
            <a:off x="3040851" y="6503971"/>
            <a:ext cx="6105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5.4: Block Diagram of Decision Support System for Liver Trauma Assessment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patient injury&#10;&#10;Description automatically generated">
            <a:extLst>
              <a:ext uri="{FF2B5EF4-FFF2-40B4-BE49-F238E27FC236}">
                <a16:creationId xmlns:a16="http://schemas.microsoft.com/office/drawing/2014/main" id="{6F2CB0F1-45B6-EFE8-899B-BF5C6549C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70" y="1161878"/>
            <a:ext cx="11319518" cy="513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15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2FDD-2492-163A-CC4F-342E1479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89837F-B357-DFF4-8041-E3767FE41FEF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6BC165-1369-191A-C20A-F726F7F3F5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4C2886A7-EF84-48FD-6F1B-44AF02C4B6CB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7941BDB-E9C5-AFA6-5181-82F1D422502B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B1920-BBA1-C512-44E8-13049D8D5CFD}"/>
              </a:ext>
            </a:extLst>
          </p:cNvPr>
          <p:cNvSpPr txBox="1"/>
          <p:nvPr/>
        </p:nvSpPr>
        <p:spPr>
          <a:xfrm>
            <a:off x="838199" y="1950681"/>
            <a:ext cx="10515601" cy="341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>
              <a:buSzPct val="75000"/>
              <a:buFont typeface="Wingdings" pitchFamily="2" charset="2"/>
              <a:buChar char="v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research should result in a decision support system that will provide:</a:t>
            </a:r>
          </a:p>
          <a:p>
            <a:pPr marL="800100" lvl="1" indent="-342900">
              <a:buSzPct val="75000"/>
              <a:buFont typeface="Wingdings" pitchFamily="2" charset="2"/>
              <a:buChar char="§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precise segmentation, quantification, and grading of liver trauma in multi-phase CE-CT scans.</a:t>
            </a:r>
          </a:p>
          <a:p>
            <a:pPr marL="800100" lvl="1" indent="-342900">
              <a:buSzPct val="75000"/>
              <a:buFont typeface="Wingdings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interface that will display trauma details, and generate clinical report</a:t>
            </a:r>
          </a:p>
          <a:p>
            <a:pPr lvl="1">
              <a:buSzPct val="75000"/>
            </a:pP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75000"/>
              <a:buFont typeface="Wingdings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shared in renowned journals, conference proceedings, and potential patents will be explored. 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120AEB7-8354-E405-7E10-9455F2DE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225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4BF7-0720-E391-34D8-56F79A39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6D97B6-E959-AA06-C604-D35D585AB564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113E4C-9C31-3F98-D89D-98A235C01F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FCFD20A9-BFAE-043F-2530-DCFAA0CEFBAD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7D460E4-0F48-B920-819F-B54CDC71579D}"/>
              </a:ext>
            </a:extLst>
          </p:cNvPr>
          <p:cNvSpPr txBox="1"/>
          <p:nvPr/>
        </p:nvSpPr>
        <p:spPr>
          <a:xfrm>
            <a:off x="3953022" y="190137"/>
            <a:ext cx="776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Proposed Research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D5F5A-8A9F-8724-4CA9-78E9EE697AC9}"/>
              </a:ext>
            </a:extLst>
          </p:cNvPr>
          <p:cNvSpPr txBox="1"/>
          <p:nvPr/>
        </p:nvSpPr>
        <p:spPr>
          <a:xfrm>
            <a:off x="838199" y="913028"/>
            <a:ext cx="10515601" cy="5469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in India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on liver trauma are minimal, mainly small-scale and single-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Demographic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shows a higher rate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hemorrhagic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deaths from liver trauma, particularly among young men involved in road accidents.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Complexities of Liver Trauma 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Hepatic vein and bile duct injuries risk secondary complications, underscoring the need for precise, timely diagnosis.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Traditional Assessment: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CT segmentation is time-consuming, subjective, and may not accurately quantify injury severity.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of AI-Powered DSS: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DSS with advanced imaging techniques and AI can enhance assessment accuracy, injury severity identification, and overall patient outcomes.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A889076-D029-E9AC-5281-CD8FB4A5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945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8601-CB46-F301-BB98-937B364F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CEC0B0-7CFC-482F-8B6F-83FB576879F2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F981AA1-8316-072E-0BB2-6EB4CCC297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2E82F9C9-BFEC-80F2-092A-1A944EB62421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61A2F1-7924-76F8-7808-271CF4C51682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Time Plan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002E39-F893-5CAE-C551-B65E89E5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table with a number of text&#10;&#10;Description automatically generated with medium confidence">
            <a:extLst>
              <a:ext uri="{FF2B5EF4-FFF2-40B4-BE49-F238E27FC236}">
                <a16:creationId xmlns:a16="http://schemas.microsoft.com/office/drawing/2014/main" id="{7CAAFD2B-771C-2758-DD38-61D73DF0B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816" y="1018658"/>
            <a:ext cx="9669448" cy="559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42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62F2-CB03-6DE4-00DF-4E8AA46D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04ABFD-FFF3-3B2B-9687-6CD9D47F902F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05CEB0-F616-440D-C75A-ACA81D7A0B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057919EB-8DA7-2F7D-7D00-5B1A5A3103D6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F75608-F311-E04A-7849-594907706E3D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Study: Model &amp;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C97F0-7959-0906-4EA9-5E28FB80EE24}"/>
              </a:ext>
            </a:extLst>
          </p:cNvPr>
          <p:cNvSpPr txBox="1"/>
          <p:nvPr/>
        </p:nvSpPr>
        <p:spPr>
          <a:xfrm>
            <a:off x="838200" y="1451699"/>
            <a:ext cx="10500691" cy="7718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Implemented liver segmentation on CT images of liver tumor taken from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LiTS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dataset using Res32PACUnet model.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4DE10-4E6D-E45A-0D71-BA42EBE411D4}"/>
              </a:ext>
            </a:extLst>
          </p:cNvPr>
          <p:cNvSpPr txBox="1"/>
          <p:nvPr/>
        </p:nvSpPr>
        <p:spPr>
          <a:xfrm>
            <a:off x="838199" y="930119"/>
            <a:ext cx="10500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Segmentation Using Res32PACUNet Model [41]</a:t>
            </a:r>
          </a:p>
        </p:txBody>
      </p:sp>
      <p:pic>
        <p:nvPicPr>
          <p:cNvPr id="6" name="Picture 5" descr="A diagram of a process&#10;&#10;Description automatically generated">
            <a:extLst>
              <a:ext uri="{FF2B5EF4-FFF2-40B4-BE49-F238E27FC236}">
                <a16:creationId xmlns:a16="http://schemas.microsoft.com/office/drawing/2014/main" id="{9DED0AC5-48A5-3973-850F-5E4020EDF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667" y="2234753"/>
            <a:ext cx="8860665" cy="2620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3C5EDF-609C-2184-E1AB-1AD4714136D3}"/>
              </a:ext>
            </a:extLst>
          </p:cNvPr>
          <p:cNvSpPr txBox="1"/>
          <p:nvPr/>
        </p:nvSpPr>
        <p:spPr>
          <a:xfrm>
            <a:off x="838199" y="5126548"/>
            <a:ext cx="10515600" cy="157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Dataset: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LiTS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b="0" i="0" u="none" strike="noStrike" dirty="0">
                <a:solidFill>
                  <a:srgbClr val="3C40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xtracted from </a:t>
            </a:r>
            <a:r>
              <a:rPr lang="en-IN" b="0" i="0" u="none" strike="noStrike" dirty="0" err="1">
                <a:solidFill>
                  <a:srgbClr val="3C40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LiTS</a:t>
            </a:r>
            <a:r>
              <a:rPr lang="en-IN" b="0" i="0" u="none" strike="noStrike" dirty="0">
                <a:solidFill>
                  <a:srgbClr val="3C40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Liver Tumor Segmentation Challenge (LiTS17) organised in conjunction with ISBI 2017 and MICCAI 2017.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Training images: 38523; T</a:t>
            </a:r>
            <a:r>
              <a:rPr lang="en-IN" dirty="0">
                <a:solidFill>
                  <a:srgbClr val="3C404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 images: 3038; Image </a:t>
            </a:r>
            <a:r>
              <a:rPr lang="en-IN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Resized: 256X256, PNG format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743820B-04C3-16BB-79F8-62F0A4C1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4D7D7-324D-1A3A-409F-64333C0F82F9}"/>
              </a:ext>
            </a:extLst>
          </p:cNvPr>
          <p:cNvSpPr txBox="1"/>
          <p:nvPr/>
        </p:nvSpPr>
        <p:spPr>
          <a:xfrm>
            <a:off x="3035856" y="4854910"/>
            <a:ext cx="6105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.1: Workflow of Res32PACUNet </a:t>
            </a:r>
            <a:r>
              <a:rPr lang="en-IN" sz="11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frameowork</a:t>
            </a:r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in pilot study </a:t>
            </a:r>
          </a:p>
        </p:txBody>
      </p:sp>
    </p:spTree>
    <p:extLst>
      <p:ext uri="{BB962C8B-B14F-4D97-AF65-F5344CB8AC3E}">
        <p14:creationId xmlns:p14="http://schemas.microsoft.com/office/powerpoint/2010/main" val="2145840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2C79-717E-C036-3A93-9308AA5B3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814BA5-731E-00EE-1128-442AAB8BCA5A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86CB5C-53FC-9EC3-44C5-734E1C305D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097CA5D2-9E29-BF19-0073-41C20C80F4E1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F08A59B-4DCF-62F0-6E90-2B565669960D}"/>
              </a:ext>
            </a:extLst>
          </p:cNvPr>
          <p:cNvSpPr txBox="1"/>
          <p:nvPr/>
        </p:nvSpPr>
        <p:spPr>
          <a:xfrm>
            <a:off x="838200" y="190137"/>
            <a:ext cx="10880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Study: Network Architecture &amp; Experimental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9796E-8A04-DD42-A98E-3CA99E76DA27}"/>
              </a:ext>
            </a:extLst>
          </p:cNvPr>
          <p:cNvSpPr txBox="1"/>
          <p:nvPr/>
        </p:nvSpPr>
        <p:spPr>
          <a:xfrm>
            <a:off x="838199" y="1375880"/>
            <a:ext cx="10515601" cy="45672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 Architecture</a:t>
            </a:r>
            <a:r>
              <a:rPr lang="en-I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ResNet32PACUNet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 of </a:t>
            </a:r>
            <a:r>
              <a:rPr lang="en-IN" sz="2400" dirty="0" err="1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model-&gt; Residual block as backbone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extraction-&gt; multi-scale-&gt; PAC (Pyramid </a:t>
            </a:r>
            <a:r>
              <a:rPr lang="en-IN" sz="2400" dirty="0" err="1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Atrous</a:t>
            </a: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Convolution)</a:t>
            </a:r>
          </a:p>
          <a:p>
            <a:pPr lvl="1" algn="just">
              <a:lnSpc>
                <a:spcPct val="115000"/>
              </a:lnSpc>
              <a:spcAft>
                <a:spcPts val="600"/>
              </a:spcAft>
            </a:pPr>
            <a:endParaRPr lang="en-IN" sz="2000" dirty="0">
              <a:solidFill>
                <a:srgbClr val="3C4043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n-IN" sz="2800" b="1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r>
              <a:rPr lang="en-IN" sz="28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Training data: 80:20 split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Training: 10 epochs, </a:t>
            </a:r>
            <a:r>
              <a:rPr lang="en-IN" sz="2400" dirty="0" err="1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batchsize</a:t>
            </a: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32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Loss function: Binary cross entropy with logits loss</a:t>
            </a:r>
          </a:p>
          <a:p>
            <a:pPr marL="800100" lvl="1" indent="-342900" algn="just">
              <a:lnSpc>
                <a:spcPct val="115000"/>
              </a:lnSpc>
              <a:spcAft>
                <a:spcPts val="600"/>
              </a:spcAft>
              <a:buFont typeface="System Font Regular"/>
              <a:buChar char="-"/>
            </a:pPr>
            <a:r>
              <a:rPr lang="en-IN" sz="2400" dirty="0">
                <a:solidFill>
                  <a:srgbClr val="3C404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Optimizer: Adam, learning rate: 0.0001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361C0E-9B50-9099-F430-D61021B4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952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94C9B-F6C7-4D2F-77E2-542CA55B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5E53003-3EC9-EF60-CF8E-BCC8368006E3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A39139-D96C-F1B4-CAF2-94BC28A7B5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25F4D10B-91BA-7167-05DB-2EFD5AE5E0C4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C991B4-BB16-7EE7-0CC3-876A12532A89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</a:t>
            </a:r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Study: Results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3F368-7D06-3F5A-811B-0E1C42159FC5}"/>
              </a:ext>
            </a:extLst>
          </p:cNvPr>
          <p:cNvSpPr txBox="1"/>
          <p:nvPr/>
        </p:nvSpPr>
        <p:spPr>
          <a:xfrm>
            <a:off x="838199" y="986411"/>
            <a:ext cx="10515601" cy="12216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led to successful delineation of liver boundaries for each image in the test dataset.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ollage of images of a human body&#10;&#10;Description automatically generated">
            <a:extLst>
              <a:ext uri="{FF2B5EF4-FFF2-40B4-BE49-F238E27FC236}">
                <a16:creationId xmlns:a16="http://schemas.microsoft.com/office/drawing/2014/main" id="{06574EF0-C169-C755-0EB8-D39A5AD72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982909"/>
            <a:ext cx="6798973" cy="44011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A66C9F-E4EB-8280-EB9B-CE2FE25EB993}"/>
              </a:ext>
            </a:extLst>
          </p:cNvPr>
          <p:cNvSpPr txBox="1"/>
          <p:nvPr/>
        </p:nvSpPr>
        <p:spPr>
          <a:xfrm>
            <a:off x="8275749" y="1982909"/>
            <a:ext cx="34426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Similarity Coefficient: 97.64%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98.08%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97.40%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39A71F-7817-4A28-9706-367C4A2E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9D6F6-9EAB-8EA1-D467-C5D46DAED778}"/>
              </a:ext>
            </a:extLst>
          </p:cNvPr>
          <p:cNvSpPr txBox="1"/>
          <p:nvPr/>
        </p:nvSpPr>
        <p:spPr>
          <a:xfrm>
            <a:off x="1184995" y="6434345"/>
            <a:ext cx="6105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.2: Different segmentation masks generated by the Res32PACUNet model </a:t>
            </a:r>
          </a:p>
        </p:txBody>
      </p:sp>
    </p:spTree>
    <p:extLst>
      <p:ext uri="{BB962C8B-B14F-4D97-AF65-F5344CB8AC3E}">
        <p14:creationId xmlns:p14="http://schemas.microsoft.com/office/powerpoint/2010/main" val="1736524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7768-5946-C383-3524-8ECD7F2D2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F905FD-F146-ABDD-91F8-078D7129FBDB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D69B44-8E65-0E71-C2DB-52958D7423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8E4D548A-9F3E-AD5B-40B7-D5EDF165452E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0592D4D-EEB1-3741-CD65-AE783A53686B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Expenses and Funding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84F62-C5EF-E491-671F-EA850CD8D4AD}"/>
              </a:ext>
            </a:extLst>
          </p:cNvPr>
          <p:cNvSpPr txBox="1"/>
          <p:nvPr/>
        </p:nvSpPr>
        <p:spPr>
          <a:xfrm>
            <a:off x="759655" y="1284515"/>
            <a:ext cx="109587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most suitable concepts for research funding will be studied and communicated.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06D747-ABC4-DAE2-C351-D7FB1867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420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3437B-ADDA-F0DA-A08F-C7222AE3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B414F6D-B2CE-44F2-14B1-0BC14C881B71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878A54-6277-67F5-0372-4B9CCBAB70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1ECFA12D-8C57-B03C-ABAD-63BF2EB83985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558891-BA15-A4B2-0050-44BB8011483E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4A8F0F-4653-9193-3E45-3A080A6D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442860"/>
            <a:ext cx="732692" cy="392073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F105B-E33F-30DE-717F-379B207252A3}"/>
              </a:ext>
            </a:extLst>
          </p:cNvPr>
          <p:cNvSpPr txBox="1"/>
          <p:nvPr/>
        </p:nvSpPr>
        <p:spPr>
          <a:xfrm>
            <a:off x="393895" y="913476"/>
            <a:ext cx="1132449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Taghavi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S, Askari R. Liver Trauma -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NCBI Bookshelf @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www.ncbi.nlm.nih.gov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www.ncbi.nlm.nih.gov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books/NBK513236/.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Sibulesky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L. Normal liver anatomy. Clin Liver Dis. 2013;2(SUPPL. 1):2012-4.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 Laing R, Edwards M, Faulkner T, Roberts K. Liver Trauma: Review of Management, and Patient Outcomes at Our Major Trauma Centre. J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Gastrointest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Hepatic Surg. 2022;5(1):67- 76.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 liver @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radiopaedia.org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radiopaedia.org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/articles/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liver?lang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=us.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 Abdel-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Misih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SRZ,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Bloomston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M. Liver Anatomy.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Clin North Am. 2010;90(4):643-53.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Available from: http://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dx.doi.org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/10.1016/j.suc.2010.04.017.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Caseiro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-Alves F, Seco M,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Bernardes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A. Liver Anatomy, Congenital Anomalies, and Normal Variants. In: Hamm B, Ros PR, editors.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Abdom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Imaging. Springer-Verlag Berlin Heidelberg 2013; 2013. p. 983-99.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  Mahadevan V. Anatomy of the liver.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UnitedKingdom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2020;38(8):427-31. Available from: http://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dx.doi.org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/10.1016/j.mpsur.2014.10.004.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Mitra V, Metcalf J. Functional anatomy and blood supply of the liver.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Anaesth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Intensive Care Med. 2012;13(2):52-3. Available from: http://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dx.doi.org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/10.1016/j. mpaic.2011.11.005.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[9]  Saviano A,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Ojetti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Zanza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C, Franceschi F,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Longhitano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Martuscelli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E, et al. Liver Trauma: Management in the Emergency Setting and Medico-Legal Implications.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tics. 2022;12(6):1456.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072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6B05-45B4-F354-9F54-AB42C603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8BB6ED-193F-F4DB-00DB-2F6AB1B15CFF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2B6D837-53DB-33DC-75BB-B0E7590C27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3C10B0B4-DA5B-147C-185D-408A7E057166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6E77CE2-12EA-A605-DEEC-F3DEA75FCD87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2A93D9-0296-659D-E891-0334AB4D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442860"/>
            <a:ext cx="732692" cy="392073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8E822-B92B-0B88-518D-D9D8998EEF73}"/>
              </a:ext>
            </a:extLst>
          </p:cNvPr>
          <p:cNvSpPr txBox="1"/>
          <p:nvPr/>
        </p:nvSpPr>
        <p:spPr>
          <a:xfrm>
            <a:off x="393895" y="907206"/>
            <a:ext cx="1132449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[10]  Roberts R, Sheth RA. Hepatic trauma. [article]. Ann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Med. 2021;9(14):1-9.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[11]  Parks RW,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Chrysos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E, Diamond T. Management of liver trauma. British Journal of Surgery. 1999;86(9):1121-35.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[12]  Badger SA, Barclay R, Campbell P, Mole DJ, Diamond T. Management of liver trauma [@article]. World J Surg. 2009;33(12):2522-37.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[13]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Coccolini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Cremonini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Chiarugi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M. Liver trauma. In: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Gen. Surg. Trauma. Non-traumatic Surg. Emergencies. Springer; 2023. p. 1415-30.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[14]  Pillai AS, Kumar G, Pillai AK. Hepatic Trauma Interventions. In: Semin.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Intervent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 vol. 38. Thieme Medical Publishers, Inc.; 2021. p. 96-104.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[15]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Alanezi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Altoijry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Alanazi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Aljofan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Z,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Altuwaijri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T, Iqbal K, et al. Management and Outcomes of Traumatic Liver Injury: A Retrospective Analysis from a Tertiary Care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Experience. In: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 vol. 12. MDPI; 2024. p. 1-13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[16]  Amato S, Bonnell L, Mohan M, Roy N, Malhotra A. Comparing trauma mortality of injured patients in India and the USA: A risk-adjusted analysis. Trauma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Acute Care Open. 2021;6(1):1-6.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[17]  Sinha Y,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Khajanchi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MU, Prajapati RP,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Dharap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S, Soni KD, Kumar V, et al. Management of liver trauma in urban university hospitals in India: an observational multicentre cohort study. World J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Surg. 2020;15(1):1-7.</a:t>
            </a:r>
          </a:p>
        </p:txBody>
      </p:sp>
    </p:spTree>
    <p:extLst>
      <p:ext uri="{BB962C8B-B14F-4D97-AF65-F5344CB8AC3E}">
        <p14:creationId xmlns:p14="http://schemas.microsoft.com/office/powerpoint/2010/main" val="2355703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F595-8A61-ED02-2B16-C17AE19F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66577A6-29AE-EF64-25CA-1A7B6537D20E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0EE9CE-9D0F-1732-7C6A-212C3B2CEF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AC9EC9CC-8E28-4E5F-23DD-B5FCDDD7DD8B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B7A5148-99DE-1287-1C7A-0924DCD1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442860"/>
            <a:ext cx="732692" cy="392073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E1747-A58F-D5FD-8DB8-B88FCF677A38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93BB7-4019-699B-39BC-ED40372B63B8}"/>
              </a:ext>
            </a:extLst>
          </p:cNvPr>
          <p:cNvSpPr txBox="1"/>
          <p:nvPr/>
        </p:nvSpPr>
        <p:spPr>
          <a:xfrm>
            <a:off x="393895" y="923299"/>
            <a:ext cx="1132449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[18]  Yoon W, Yong YJ, Jae KK, Jeong JS, Hyo SL, Sang SS, et al. CT in blunt liver trauma.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Radiographics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2005;25(1):87-104.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injury-scoring-scale @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www.aast.org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www.aast.org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resources-detail/injury-scoring-scale{#}liver.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CoccoliniF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CatenaF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MooreEE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IvaturyR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BifflW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PeitzmanA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 al. WSES classification and guidelines for liver trauma [article]. World J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Surg. 2016;11(1):1-8. Available from: http://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dx.doi.org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/10.1186/s13017-016-0105-2.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Coccolini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F, Coimbra R, Ordonez C, Kluger Y, Vega F, Moore EE, et al. Liver trauma: WSES 2020 guidelines. World J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Surg. 2020;15:1-15.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[22]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Brunese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MC, Avella P, Cappuccio M,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Spiezia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S, Pacella G, Bianco P, et al. Future Perspectives on Radiomics in Acute Liver Injury and Liver Trauma. J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Med. 2024;14(6):572.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Farzaneh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N, Stein EB,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Soroushmehr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Gryak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J, Najarian K. A deep learning frame- work for automated detection and quantitative assessment of liver trauma. BMC Med Imaging. 2022;22(1):1-13.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/10.1186/ s12880-022-00759-9.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[24]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Dreizin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D, Chen T, Liang Y, Zhou Y, Paes F, Wang Y, et al. Added value of deep learning- based liver parenchymal CT volumetry for predicting major arterial injury after blunt hepatic trauma: a decision tree analysis.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Abdom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2021;46(6):2556-66.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/10.1007/s00261-020-02892-x. </a:t>
            </a:r>
          </a:p>
        </p:txBody>
      </p:sp>
    </p:spTree>
    <p:extLst>
      <p:ext uri="{BB962C8B-B14F-4D97-AF65-F5344CB8AC3E}">
        <p14:creationId xmlns:p14="http://schemas.microsoft.com/office/powerpoint/2010/main" val="3090898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3818-7599-F9C0-1594-21DD9254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9BBE9E4-3647-CB9E-8EC9-333E5453C928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719D26-1315-F70B-AE00-F774730489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0D0BD6E9-AE03-06C6-CFAD-B9FFDB8971E0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AAF635-BEF6-2569-CBC3-93D5EF9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442860"/>
            <a:ext cx="732692" cy="392073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9FA66-DE91-38E2-0DB7-8B0AD930AE09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E10376-4C62-FDBF-8B63-15CE08899CAB}"/>
              </a:ext>
            </a:extLst>
          </p:cNvPr>
          <p:cNvSpPr txBox="1"/>
          <p:nvPr/>
        </p:nvSpPr>
        <p:spPr>
          <a:xfrm>
            <a:off x="393895" y="938289"/>
            <a:ext cx="1132449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[25]  Huang S, Zhou Z, Qian X, Li D, Guo W, Dai Y. Automated quantitative assessment of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pediatric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blunt hepatic trauma by deep learning-based CT volumetry.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Eur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 Med Res. 2022;27(1):1-11.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/10.1186/ s40001-022-00943-1.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[26]  Shen X, Zhou Y, Shi X, Zhang S, Ding S, Ni L, et al. The application of deep learning in abdominal trauma diagnosis by CT imaging. World J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Surg. 2024;19(1):1-9.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[27]  Cheng CT, Lin HH, Hsu CP, Chen HW, Huang JF, Hsieh CH, et al. Deep Learning for Automated Detection and Localization of Traumatic Abdominal Solid Organ Injuries on CT Scans. J Imaging Informatics Med. 2024;37(3):1113-23. Available from: https: 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/10.1007/s10278-024-01038-5.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Chen H,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Unberath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Dreizin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D. Toward automated interpretable AAST grading for blunt splenic injury.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2023;30(1):41-50.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10.1007/s10140-022-02099-1.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Zhou Y,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Dreizin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D, Wang Y, Liu F, Shen W, Yuille AL. External Attention Assisted Multi-Phase Splenic Vascular Injury Segmentation with Limited Data. IEEE Trans Med Imaging. 2022;41(6):1346-57.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[30]  Chen Y, Zheng C, Zhang W, Lin H, Chen W, Zhang G, et al.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MS-FANet:Multi-scalefeature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attention network for liver tumor segmentation.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Med. 2023;163(June):107208.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/10.1016/j.compbiomed.2023.107208.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[31]  Jiang L, Ou J, Liu R, Zou Y, Xie T, Xiao H, et al. RMAU-Net: Residual Multi- Scale Attention U-Net For liver and tumor segmentation in CT images.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Med. 2023;158(March):106838.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/10.1016/j. compbiomed.2023.106838.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111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52815-1831-955F-F4FC-0E23DD61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046587B-508B-77FC-F506-F5079455E6BA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2D37A7-D769-A42D-4FBD-5ECC3BFF98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41A22CAE-E6AA-1C81-1427-A71707895373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60A8B-FDD7-10D2-9EE2-9440DE60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442860"/>
            <a:ext cx="732692" cy="392073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B4E1F-5177-8B55-6EAB-28D556220B3F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BBE3E-26DD-DA9A-9FCF-AE8A9D8775BE}"/>
              </a:ext>
            </a:extLst>
          </p:cNvPr>
          <p:cNvSpPr txBox="1"/>
          <p:nvPr/>
        </p:nvSpPr>
        <p:spPr>
          <a:xfrm>
            <a:off x="393895" y="925061"/>
            <a:ext cx="1132449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[32]  Liu Z, Hou J, Pan X, Zhang R, Shi Z. PA-Net: A phase attention network fusing venous and arterial phase features of CT images for liver tumor segmentation.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Methods Programs Biomed. 2024;244(October 2023):107997.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org/10.1016/j.cmpb.2023.107997.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[33]  Ni Y, Chen G, Feng Z, Cui H, Metaxas D, Zhang S, et al. DA-Tran: Multiphase liver tumor segmentation with a domain-adaptive transformer network. Pattern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2024;149(March 2023):110233.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/10.1016/j. patcog.2023.110233.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[34]  Kuang H, Yang X, Li H, Wei J, Zhang L. Adaptive Multiphase Liver Tumor Segmentation With Multiscale Supervision. IEEE Signal Process Lett. 2024;31:426-30.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[35]  Hu C, Xia T, Cui Y, Zou Q, Wang Y, Xiao W, et al. Trustworthy multi-phase liver tumor segmentation via evidence-based uncertainty. Eng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2024;133(PC):108289.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/10.1016/j.engappai.2024.108289.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[36]  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Kushnure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DT, Tyagi S,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Talbar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SN.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-Net: Lightweight multi-level multiscale network with deep residual learning for automatic liver segmentation in CT images. Biomed Signal Process Control. 2023;80(P1):104305.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 1016/j.bspc.2022.104305.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[37]  Zhou Y, Kong Q, Zhu Y, Su Z. MCFA-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Multiscale Cascaded Feature Attention U-Net for Liver Segmentation.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Irbm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2023;44(4):100789. Available from: https: 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/10.1016/j.irbm.2023.100789.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[38]  Li Y, Zou B, Dai P, Liao M, Bai HX, Jiao Z. AC-E Network: Attentive Context-Enhanced Network for Liver Segmentation. IEEE J Biomed Heal Informatics. 2023;27(8):4052-61. 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654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B1FE-A63B-62BA-E1B1-75258823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94284C-FF49-9664-CB63-96A2981A4EFE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AE260A-4EF9-00AE-31E2-33F8898F69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67C0D7D8-C70E-B7D5-28BE-465AC5E1D2F8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05B43B-55B6-C929-1B86-6D7926F6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442860"/>
            <a:ext cx="732692" cy="392073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B8EA9A-16B5-7E16-94F5-84A09B2A66A0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3D780-806F-2941-A52C-CCF72F1DA87C}"/>
              </a:ext>
            </a:extLst>
          </p:cNvPr>
          <p:cNvSpPr txBox="1"/>
          <p:nvPr/>
        </p:nvSpPr>
        <p:spPr>
          <a:xfrm>
            <a:off x="393895" y="880091"/>
            <a:ext cx="1132449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[39]  Dickson J,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Linsely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Nineta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RJA. An integrated 3D-sparse deep belief net- work with enriched seagull optimization algorithm for liver segmentation. Mul- timed Syst. 2023;29(3):1315-34.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/10.1007/ s00530-023-01056-3.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[40]  Chen Y, Zheng C, Zhou T, Feng L, Liu L, Zeng Q, et al. A deep residual attention-based U-Net with a biplane joint method for liver segmentation from CT scans.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Med. 2023;152(September 2022):106421.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/10. 1016/j.compbiomed.2022.106421.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[41]  Ansari MY, Yang Y, Balakrishnan S,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Abinahed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J, Al-Ansari A,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Warfa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M, et al. A lightweight neural network with multiscale feature enhancement for liver CT segmentation. Sci Rep. 2022;12(1):1-12. 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[42]  Han L, Chen Y, Li J, Zhong B, Lei Y, Sun M. Liver segmentation with 2.5D perpendicular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UNets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Eng. 2021;91(March):107118. Available from: https://</a:t>
            </a:r>
            <a:r>
              <a:rPr lang="en-IN" sz="1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org/10.1016/j.compeleceng.2021.107118.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Hamamci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I.E., Er, S., Menze, B. (2024). CT2Rep: Automated Radiology Report Generation for 3D Medical Imaging. In: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Linguraru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M.G., et al. Medical Image Computing and Computer Assisted Intervention – MICCAI 2024. MICCAI 2024. Lecture Notes in Computer Science, vol 15012. Springer, Cham. 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https://doi.org/10.1007/978-3-031-72390-2_45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72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2BE6-5994-496E-EF11-68E5C7A5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B95E1F0-9C29-CCC1-90E7-1DBB55ABCA48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0229672-2715-55C6-92D0-6751E64DB7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2C1D241A-CBB2-2157-27DE-1F640C463CC1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133314-42BF-D0BC-92D1-CD1A5B17522A}"/>
              </a:ext>
            </a:extLst>
          </p:cNvPr>
          <p:cNvSpPr txBox="1"/>
          <p:nvPr/>
        </p:nvSpPr>
        <p:spPr>
          <a:xfrm>
            <a:off x="6096000" y="190137"/>
            <a:ext cx="5622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Work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428C81-582E-D958-C313-25592D8C3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892264"/>
              </p:ext>
            </p:extLst>
          </p:nvPr>
        </p:nvGraphicFramePr>
        <p:xfrm>
          <a:off x="1465023" y="1817346"/>
          <a:ext cx="9261953" cy="32093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98664">
                  <a:extLst>
                    <a:ext uri="{9D8B030D-6E8A-4147-A177-3AD203B41FA5}">
                      <a16:colId xmlns:a16="http://schemas.microsoft.com/office/drawing/2014/main" val="112095384"/>
                    </a:ext>
                  </a:extLst>
                </a:gridCol>
                <a:gridCol w="5239180">
                  <a:extLst>
                    <a:ext uri="{9D8B030D-6E8A-4147-A177-3AD203B41FA5}">
                      <a16:colId xmlns:a16="http://schemas.microsoft.com/office/drawing/2014/main" val="632834027"/>
                    </a:ext>
                  </a:extLst>
                </a:gridCol>
                <a:gridCol w="1060007">
                  <a:extLst>
                    <a:ext uri="{9D8B030D-6E8A-4147-A177-3AD203B41FA5}">
                      <a16:colId xmlns:a16="http://schemas.microsoft.com/office/drawing/2014/main" val="2582267028"/>
                    </a:ext>
                  </a:extLst>
                </a:gridCol>
                <a:gridCol w="1764102">
                  <a:extLst>
                    <a:ext uri="{9D8B030D-6E8A-4147-A177-3AD203B41FA5}">
                      <a16:colId xmlns:a16="http://schemas.microsoft.com/office/drawing/2014/main" val="4292168148"/>
                    </a:ext>
                  </a:extLst>
                </a:gridCol>
              </a:tblGrid>
              <a:tr h="709954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Course Work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Credits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5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Research Methodology (ARM)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Progress (IP)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2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and Publication Ethics (RPE)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39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Image Processing (Customized-7007)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Be Taken</a:t>
                      </a:r>
                    </a:p>
                    <a:p>
                      <a:pPr algn="l"/>
                      <a:r>
                        <a:rPr lang="en-IN" sz="200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(TBT)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22975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Medical Image Processing (Customized-7008)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Be Taken</a:t>
                      </a:r>
                    </a:p>
                    <a:p>
                      <a:pPr algn="l"/>
                      <a:r>
                        <a:rPr lang="en-IN" sz="200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(TBT)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938823"/>
                  </a:ext>
                </a:extLst>
              </a:tr>
            </a:tbl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959B264-53FF-FE92-B898-557D4111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618632"/>
            <a:ext cx="732692" cy="216301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018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AE99-DF84-C4E3-0773-6E79BA3D3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BA75AB-9AD5-4DFE-B772-E3B9016279ED}"/>
              </a:ext>
            </a:extLst>
          </p:cNvPr>
          <p:cNvGrpSpPr/>
          <p:nvPr/>
        </p:nvGrpSpPr>
        <p:grpSpPr>
          <a:xfrm>
            <a:off x="1080" y="30152"/>
            <a:ext cx="12184920" cy="868184"/>
            <a:chOff x="1080" y="30152"/>
            <a:chExt cx="12184920" cy="8681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64CDFE-C3EC-5F79-E401-D99AB05339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53" r="75162" b="9694"/>
            <a:stretch/>
          </p:blipFill>
          <p:spPr>
            <a:xfrm>
              <a:off x="38086" y="30152"/>
              <a:ext cx="721569" cy="843190"/>
            </a:xfrm>
            <a:prstGeom prst="rect">
              <a:avLst/>
            </a:prstGeom>
          </p:spPr>
        </p:pic>
        <p:sp>
          <p:nvSpPr>
            <p:cNvPr id="12" name="Straight Arrow Connector 2">
              <a:extLst>
                <a:ext uri="{FF2B5EF4-FFF2-40B4-BE49-F238E27FC236}">
                  <a16:creationId xmlns:a16="http://schemas.microsoft.com/office/drawing/2014/main" id="{8551C407-865E-18A5-89F6-A5C8BE5F335A}"/>
                </a:ext>
              </a:extLst>
            </p:cNvPr>
            <p:cNvSpPr/>
            <p:nvPr/>
          </p:nvSpPr>
          <p:spPr>
            <a:xfrm flipV="1">
              <a:off x="1080" y="892216"/>
              <a:ext cx="12184920" cy="61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38100">
              <a:solidFill>
                <a:srgbClr val="FD9D39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EB6BFE7-98C0-39E5-6BFC-30D88C0E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291" y="6442860"/>
            <a:ext cx="732692" cy="392073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0E856-F876-5DDE-54C1-3C847414DDCC}"/>
              </a:ext>
            </a:extLst>
          </p:cNvPr>
          <p:cNvSpPr txBox="1"/>
          <p:nvPr/>
        </p:nvSpPr>
        <p:spPr>
          <a:xfrm>
            <a:off x="3044687" y="2567226"/>
            <a:ext cx="6102626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40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31985</TotalTime>
  <Words>4744</Words>
  <Application>Microsoft Macintosh PowerPoint</Application>
  <PresentationFormat>Widescreen</PresentationFormat>
  <Paragraphs>445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Calibri Light</vt:lpstr>
      <vt:lpstr>Courier New</vt:lpstr>
      <vt:lpstr>System Font Regular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Bhavya B</dc:creator>
  <cp:lastModifiedBy>Cauvery K</cp:lastModifiedBy>
  <cp:revision>842</cp:revision>
  <dcterms:created xsi:type="dcterms:W3CDTF">2024-05-18T05:42:47Z</dcterms:created>
  <dcterms:modified xsi:type="dcterms:W3CDTF">2024-11-04T17:46:52Z</dcterms:modified>
</cp:coreProperties>
</file>