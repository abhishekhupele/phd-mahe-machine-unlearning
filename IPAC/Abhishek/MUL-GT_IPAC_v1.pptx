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7" r:id="rId2"/>
    <p:sldId id="313" r:id="rId3"/>
    <p:sldId id="314" r:id="rId4"/>
    <p:sldId id="315" r:id="rId5"/>
    <p:sldId id="365" r:id="rId6"/>
    <p:sldId id="316" r:id="rId7"/>
    <p:sldId id="361" r:id="rId8"/>
    <p:sldId id="359" r:id="rId9"/>
    <p:sldId id="352" r:id="rId10"/>
    <p:sldId id="354" r:id="rId11"/>
    <p:sldId id="355" r:id="rId12"/>
    <p:sldId id="367" r:id="rId13"/>
    <p:sldId id="319" r:id="rId14"/>
    <p:sldId id="320" r:id="rId15"/>
    <p:sldId id="322" r:id="rId16"/>
    <p:sldId id="323" r:id="rId17"/>
    <p:sldId id="324" r:id="rId18"/>
    <p:sldId id="326" r:id="rId19"/>
    <p:sldId id="327" r:id="rId20"/>
    <p:sldId id="329" r:id="rId21"/>
    <p:sldId id="330" r:id="rId22"/>
    <p:sldId id="332" r:id="rId23"/>
    <p:sldId id="366" r:id="rId24"/>
    <p:sldId id="334" r:id="rId25"/>
    <p:sldId id="342" r:id="rId26"/>
    <p:sldId id="343" r:id="rId27"/>
    <p:sldId id="344" r:id="rId28"/>
    <p:sldId id="345" r:id="rId29"/>
    <p:sldId id="362" r:id="rId30"/>
    <p:sldId id="335" r:id="rId31"/>
    <p:sldId id="35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85"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A5"/>
    <a:srgbClr val="B98A82"/>
    <a:srgbClr val="D17B5C"/>
    <a:srgbClr val="ED7D31"/>
    <a:srgbClr val="D8D8D8"/>
    <a:srgbClr val="FD9D39"/>
    <a:srgbClr val="01A933"/>
    <a:srgbClr val="FF873A"/>
    <a:srgbClr val="4EC58E"/>
    <a:srgbClr val="731A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33" autoAdjust="0"/>
    <p:restoredTop sz="94444" autoAdjust="0"/>
  </p:normalViewPr>
  <p:slideViewPr>
    <p:cSldViewPr snapToGrid="0" showGuides="1">
      <p:cViewPr varScale="1">
        <p:scale>
          <a:sx n="83" d="100"/>
          <a:sy n="83" d="100"/>
        </p:scale>
        <p:origin x="252" y="30"/>
      </p:cViewPr>
      <p:guideLst>
        <p:guide orient="horz" pos="3385"/>
        <p:guide pos="3863"/>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C4CF35-159D-B040-B663-4EE5FA728A8A}" type="doc">
      <dgm:prSet loTypeId="urn:microsoft.com/office/officeart/2005/8/layout/vList5" loCatId="" qsTypeId="urn:microsoft.com/office/officeart/2005/8/quickstyle/simple1" qsCatId="simple" csTypeId="urn:microsoft.com/office/officeart/2005/8/colors/colorful2" csCatId="colorful" phldr="1"/>
      <dgm:spPr/>
      <dgm:t>
        <a:bodyPr/>
        <a:lstStyle/>
        <a:p>
          <a:endParaRPr lang="en-GB"/>
        </a:p>
      </dgm:t>
    </dgm:pt>
    <dgm:pt modelId="{D61BDDC4-021A-334C-AF3B-92FCE0045DDC}">
      <dgm:prSet phldrT="[Text]" custT="1"/>
      <dgm:spPr/>
      <dgm:t>
        <a:bodyPr/>
        <a:lstStyle/>
        <a:p>
          <a:r>
            <a:rPr lang="en-IN" sz="2000" b="1" dirty="0"/>
            <a:t>Game-Theory-Based Balance</a:t>
          </a:r>
          <a:endParaRPr lang="en-GB" sz="2000" dirty="0">
            <a:latin typeface="Times New Roman" panose="02020603050405020304" pitchFamily="18" charset="0"/>
            <a:cs typeface="Times New Roman" panose="02020603050405020304" pitchFamily="18" charset="0"/>
          </a:endParaRPr>
        </a:p>
      </dgm:t>
    </dgm:pt>
    <dgm:pt modelId="{8CF9F419-4236-2D45-8EAC-3B4313354A1B}" type="parTrans" cxnId="{FC060B20-383A-BC46-8391-BAC911F73166}">
      <dgm:prSet/>
      <dgm:spPr/>
      <dgm:t>
        <a:bodyPr/>
        <a:lstStyle/>
        <a:p>
          <a:endParaRPr lang="en-GB">
            <a:latin typeface="Times New Roman" panose="02020603050405020304" pitchFamily="18" charset="0"/>
            <a:cs typeface="Times New Roman" panose="02020603050405020304" pitchFamily="18" charset="0"/>
          </a:endParaRPr>
        </a:p>
      </dgm:t>
    </dgm:pt>
    <dgm:pt modelId="{82C337BF-5EB9-D94B-B919-FB76190BED5F}" type="sibTrans" cxnId="{FC060B20-383A-BC46-8391-BAC911F73166}">
      <dgm:prSet/>
      <dgm:spPr/>
      <dgm:t>
        <a:bodyPr/>
        <a:lstStyle/>
        <a:p>
          <a:endParaRPr lang="en-GB">
            <a:latin typeface="Times New Roman" panose="02020603050405020304" pitchFamily="18" charset="0"/>
            <a:cs typeface="Times New Roman" panose="02020603050405020304" pitchFamily="18" charset="0"/>
          </a:endParaRPr>
        </a:p>
      </dgm:t>
    </dgm:pt>
    <dgm:pt modelId="{9AC3C1B4-FAA8-0B44-8934-51056F222B1D}">
      <dgm:prSet phldrT="[Text]"/>
      <dgm:spPr/>
      <dgm:t>
        <a:bodyPr/>
        <a:lstStyle/>
        <a:p>
          <a:r>
            <a:rPr lang="en-IN" dirty="0"/>
            <a:t>Lack of equilibrium strategies between data providers (privacy, minimal sharing) and model providers (performance, utility).</a:t>
          </a:r>
          <a:endParaRPr lang="en-GB" dirty="0">
            <a:latin typeface="Times New Roman" panose="02020603050405020304" pitchFamily="18" charset="0"/>
            <a:cs typeface="Times New Roman" panose="02020603050405020304" pitchFamily="18" charset="0"/>
          </a:endParaRPr>
        </a:p>
      </dgm:t>
    </dgm:pt>
    <dgm:pt modelId="{56C80B86-2404-144D-A687-81AF58C51ED4}" type="parTrans" cxnId="{49ECBBF4-46D8-3D40-972F-7343F8A859D8}">
      <dgm:prSet/>
      <dgm:spPr/>
      <dgm:t>
        <a:bodyPr/>
        <a:lstStyle/>
        <a:p>
          <a:endParaRPr lang="en-GB">
            <a:latin typeface="Times New Roman" panose="02020603050405020304" pitchFamily="18" charset="0"/>
            <a:cs typeface="Times New Roman" panose="02020603050405020304" pitchFamily="18" charset="0"/>
          </a:endParaRPr>
        </a:p>
      </dgm:t>
    </dgm:pt>
    <dgm:pt modelId="{E978C564-54DD-3845-B714-CD25FD728E83}" type="sibTrans" cxnId="{49ECBBF4-46D8-3D40-972F-7343F8A859D8}">
      <dgm:prSet/>
      <dgm:spPr/>
      <dgm:t>
        <a:bodyPr/>
        <a:lstStyle/>
        <a:p>
          <a:endParaRPr lang="en-GB">
            <a:latin typeface="Times New Roman" panose="02020603050405020304" pitchFamily="18" charset="0"/>
            <a:cs typeface="Times New Roman" panose="02020603050405020304" pitchFamily="18" charset="0"/>
          </a:endParaRPr>
        </a:p>
      </dgm:t>
    </dgm:pt>
    <dgm:pt modelId="{418E91D7-994B-8548-B0CA-DB05AF7DF7BD}">
      <dgm:prSet phldrT="[Text]" custT="1"/>
      <dgm:spPr/>
      <dgm:t>
        <a:bodyPr/>
        <a:lstStyle/>
        <a:p>
          <a:r>
            <a:rPr lang="en-IN" sz="2000" b="1" dirty="0"/>
            <a:t>Feature-Based Unlearning</a:t>
          </a:r>
          <a:endParaRPr lang="en-GB" sz="2000" dirty="0">
            <a:latin typeface="Times New Roman" panose="02020603050405020304" pitchFamily="18" charset="0"/>
            <a:cs typeface="Times New Roman" panose="02020603050405020304" pitchFamily="18" charset="0"/>
          </a:endParaRPr>
        </a:p>
      </dgm:t>
    </dgm:pt>
    <dgm:pt modelId="{1E1B022F-B487-2D42-B62C-7BD722C48649}" type="parTrans" cxnId="{A4693350-DC78-E840-8EED-843BCD583772}">
      <dgm:prSet/>
      <dgm:spPr/>
      <dgm:t>
        <a:bodyPr/>
        <a:lstStyle/>
        <a:p>
          <a:endParaRPr lang="en-GB">
            <a:latin typeface="Times New Roman" panose="02020603050405020304" pitchFamily="18" charset="0"/>
            <a:cs typeface="Times New Roman" panose="02020603050405020304" pitchFamily="18" charset="0"/>
          </a:endParaRPr>
        </a:p>
      </dgm:t>
    </dgm:pt>
    <dgm:pt modelId="{88AB0E77-89E1-2044-836F-565191019A63}" type="sibTrans" cxnId="{A4693350-DC78-E840-8EED-843BCD583772}">
      <dgm:prSet/>
      <dgm:spPr/>
      <dgm:t>
        <a:bodyPr/>
        <a:lstStyle/>
        <a:p>
          <a:endParaRPr lang="en-GB">
            <a:latin typeface="Times New Roman" panose="02020603050405020304" pitchFamily="18" charset="0"/>
            <a:cs typeface="Times New Roman" panose="02020603050405020304" pitchFamily="18" charset="0"/>
          </a:endParaRPr>
        </a:p>
      </dgm:t>
    </dgm:pt>
    <dgm:pt modelId="{43C2D0AA-44C1-CD40-AD9D-A7BF1413A317}">
      <dgm:prSet phldrT="[Text]"/>
      <dgm:spPr/>
      <dgm:t>
        <a:bodyPr/>
        <a:lstStyle/>
        <a:p>
          <a:r>
            <a:rPr lang="en-IN" dirty="0"/>
            <a:t>Limited exploration of feature-aware strategies (feature extraction, generation, selection) integrated into unlearning operations.</a:t>
          </a:r>
          <a:endParaRPr lang="en-GB" dirty="0">
            <a:latin typeface="Times New Roman" panose="02020603050405020304" pitchFamily="18" charset="0"/>
            <a:cs typeface="Times New Roman" panose="02020603050405020304" pitchFamily="18" charset="0"/>
          </a:endParaRPr>
        </a:p>
      </dgm:t>
    </dgm:pt>
    <dgm:pt modelId="{50374D4B-6DF8-0749-94C4-52DAD862232A}" type="parTrans" cxnId="{6EADD451-2D8B-1F4B-82CF-9DDDC9804229}">
      <dgm:prSet/>
      <dgm:spPr/>
      <dgm:t>
        <a:bodyPr/>
        <a:lstStyle/>
        <a:p>
          <a:endParaRPr lang="en-GB">
            <a:latin typeface="Times New Roman" panose="02020603050405020304" pitchFamily="18" charset="0"/>
            <a:cs typeface="Times New Roman" panose="02020603050405020304" pitchFamily="18" charset="0"/>
          </a:endParaRPr>
        </a:p>
      </dgm:t>
    </dgm:pt>
    <dgm:pt modelId="{FBB7887B-F6FA-E246-91AD-70C1D21B4B4E}" type="sibTrans" cxnId="{6EADD451-2D8B-1F4B-82CF-9DDDC9804229}">
      <dgm:prSet/>
      <dgm:spPr/>
      <dgm:t>
        <a:bodyPr/>
        <a:lstStyle/>
        <a:p>
          <a:endParaRPr lang="en-GB">
            <a:latin typeface="Times New Roman" panose="02020603050405020304" pitchFamily="18" charset="0"/>
            <a:cs typeface="Times New Roman" panose="02020603050405020304" pitchFamily="18" charset="0"/>
          </a:endParaRPr>
        </a:p>
      </dgm:t>
    </dgm:pt>
    <dgm:pt modelId="{7B6DF13C-075E-0A48-A56C-CB80BEBBD7FE}">
      <dgm:prSet phldrT="[Text]" custT="1"/>
      <dgm:spPr/>
      <dgm:t>
        <a:bodyPr/>
        <a:lstStyle/>
        <a:p>
          <a:r>
            <a:rPr lang="en-IN" sz="2000" b="1" dirty="0"/>
            <a:t>Adversarial Threats</a:t>
          </a:r>
          <a:endParaRPr lang="en-GB" sz="2000" dirty="0">
            <a:latin typeface="Times New Roman" panose="02020603050405020304" pitchFamily="18" charset="0"/>
            <a:cs typeface="Times New Roman" panose="02020603050405020304" pitchFamily="18" charset="0"/>
          </a:endParaRPr>
        </a:p>
      </dgm:t>
    </dgm:pt>
    <dgm:pt modelId="{B934537E-3ED2-1B42-A827-756391C051E5}" type="parTrans" cxnId="{B6C3A926-8CC5-4E43-B449-685B60629B5A}">
      <dgm:prSet/>
      <dgm:spPr/>
      <dgm:t>
        <a:bodyPr/>
        <a:lstStyle/>
        <a:p>
          <a:endParaRPr lang="en-GB">
            <a:latin typeface="Times New Roman" panose="02020603050405020304" pitchFamily="18" charset="0"/>
            <a:cs typeface="Times New Roman" panose="02020603050405020304" pitchFamily="18" charset="0"/>
          </a:endParaRPr>
        </a:p>
      </dgm:t>
    </dgm:pt>
    <dgm:pt modelId="{1FA96DC1-96DA-C24D-9395-C88D7AC9FCFD}" type="sibTrans" cxnId="{B6C3A926-8CC5-4E43-B449-685B60629B5A}">
      <dgm:prSet/>
      <dgm:spPr/>
      <dgm:t>
        <a:bodyPr/>
        <a:lstStyle/>
        <a:p>
          <a:endParaRPr lang="en-GB">
            <a:latin typeface="Times New Roman" panose="02020603050405020304" pitchFamily="18" charset="0"/>
            <a:cs typeface="Times New Roman" panose="02020603050405020304" pitchFamily="18" charset="0"/>
          </a:endParaRPr>
        </a:p>
      </dgm:t>
    </dgm:pt>
    <dgm:pt modelId="{F7E21EE7-134D-AB48-9724-B9DED266835C}">
      <dgm:prSet phldrT="[Text]"/>
      <dgm:spPr/>
      <dgm:t>
        <a:bodyPr/>
        <a:lstStyle/>
        <a:p>
          <a:r>
            <a:rPr lang="en-IN" dirty="0"/>
            <a:t>Limited integration of broader attack models (membership inference, attribute inference, reconstruction, poisoning) into unlearning frameworks.</a:t>
          </a:r>
          <a:endParaRPr lang="en-GB" dirty="0">
            <a:latin typeface="Times New Roman" panose="02020603050405020304" pitchFamily="18" charset="0"/>
            <a:cs typeface="Times New Roman" panose="02020603050405020304" pitchFamily="18" charset="0"/>
          </a:endParaRPr>
        </a:p>
      </dgm:t>
    </dgm:pt>
    <dgm:pt modelId="{04C7A4FF-FF7B-644E-9253-C72F62A123CC}" type="parTrans" cxnId="{A0DECCF2-3C1F-5144-9E1A-4C158ACEE939}">
      <dgm:prSet/>
      <dgm:spPr/>
      <dgm:t>
        <a:bodyPr/>
        <a:lstStyle/>
        <a:p>
          <a:endParaRPr lang="en-GB">
            <a:latin typeface="Times New Roman" panose="02020603050405020304" pitchFamily="18" charset="0"/>
            <a:cs typeface="Times New Roman" panose="02020603050405020304" pitchFamily="18" charset="0"/>
          </a:endParaRPr>
        </a:p>
      </dgm:t>
    </dgm:pt>
    <dgm:pt modelId="{B2E91BF4-A800-194C-99C6-655B090851FD}" type="sibTrans" cxnId="{A0DECCF2-3C1F-5144-9E1A-4C158ACEE939}">
      <dgm:prSet/>
      <dgm:spPr/>
      <dgm:t>
        <a:bodyPr/>
        <a:lstStyle/>
        <a:p>
          <a:endParaRPr lang="en-GB">
            <a:latin typeface="Times New Roman" panose="02020603050405020304" pitchFamily="18" charset="0"/>
            <a:cs typeface="Times New Roman" panose="02020603050405020304" pitchFamily="18" charset="0"/>
          </a:endParaRPr>
        </a:p>
      </dgm:t>
    </dgm:pt>
    <dgm:pt modelId="{317F5A0D-4DDF-7642-A117-287EFFAC1546}">
      <dgm:prSet phldrT="[Text]" custT="1"/>
      <dgm:spPr/>
      <dgm:t>
        <a:bodyPr/>
        <a:lstStyle/>
        <a:p>
          <a:r>
            <a:rPr lang="en-IN" sz="2000" b="1" dirty="0"/>
            <a:t>Incentive Mechanisms</a:t>
          </a:r>
          <a:endParaRPr lang="en-GB" sz="2000" dirty="0">
            <a:latin typeface="Times New Roman" panose="02020603050405020304" pitchFamily="18" charset="0"/>
            <a:cs typeface="Times New Roman" panose="02020603050405020304" pitchFamily="18" charset="0"/>
          </a:endParaRPr>
        </a:p>
      </dgm:t>
    </dgm:pt>
    <dgm:pt modelId="{65D3563B-9F3E-E942-856C-F17417479E87}" type="parTrans" cxnId="{89331B67-785D-654A-A777-0A7B57C05946}">
      <dgm:prSet/>
      <dgm:spPr/>
      <dgm:t>
        <a:bodyPr/>
        <a:lstStyle/>
        <a:p>
          <a:endParaRPr lang="en-GB">
            <a:latin typeface="Times New Roman" panose="02020603050405020304" pitchFamily="18" charset="0"/>
            <a:cs typeface="Times New Roman" panose="02020603050405020304" pitchFamily="18" charset="0"/>
          </a:endParaRPr>
        </a:p>
      </dgm:t>
    </dgm:pt>
    <dgm:pt modelId="{F1A1FFA6-428D-A840-B2C6-1CA118D92B83}" type="sibTrans" cxnId="{89331B67-785D-654A-A777-0A7B57C05946}">
      <dgm:prSet/>
      <dgm:spPr/>
      <dgm:t>
        <a:bodyPr/>
        <a:lstStyle/>
        <a:p>
          <a:endParaRPr lang="en-GB">
            <a:latin typeface="Times New Roman" panose="02020603050405020304" pitchFamily="18" charset="0"/>
            <a:cs typeface="Times New Roman" panose="02020603050405020304" pitchFamily="18" charset="0"/>
          </a:endParaRPr>
        </a:p>
      </dgm:t>
    </dgm:pt>
    <dgm:pt modelId="{7C62ACCC-E4FF-0546-A346-7C4ABB89C7E7}">
      <dgm:prSet phldrT="[Text]"/>
      <dgm:spPr/>
      <dgm:t>
        <a:bodyPr/>
        <a:lstStyle/>
        <a:p>
          <a:r>
            <a:rPr lang="en-IN" dirty="0"/>
            <a:t>Need for systems that incentivize users to share data responsibly while preventing misuse.</a:t>
          </a:r>
          <a:endParaRPr lang="en-GB" dirty="0">
            <a:latin typeface="Times New Roman" panose="02020603050405020304" pitchFamily="18" charset="0"/>
            <a:cs typeface="Times New Roman" panose="02020603050405020304" pitchFamily="18" charset="0"/>
          </a:endParaRPr>
        </a:p>
      </dgm:t>
    </dgm:pt>
    <dgm:pt modelId="{C3077AE1-B651-8040-B28C-5E254D2AFC12}" type="parTrans" cxnId="{AC321AC2-1F89-8A47-BD5F-7D49C0E9A6DD}">
      <dgm:prSet/>
      <dgm:spPr/>
      <dgm:t>
        <a:bodyPr/>
        <a:lstStyle/>
        <a:p>
          <a:endParaRPr lang="en-GB">
            <a:latin typeface="Times New Roman" panose="02020603050405020304" pitchFamily="18" charset="0"/>
            <a:cs typeface="Times New Roman" panose="02020603050405020304" pitchFamily="18" charset="0"/>
          </a:endParaRPr>
        </a:p>
      </dgm:t>
    </dgm:pt>
    <dgm:pt modelId="{E9DAECA4-AE98-8E41-A96B-38A4B889B59A}" type="sibTrans" cxnId="{AC321AC2-1F89-8A47-BD5F-7D49C0E9A6DD}">
      <dgm:prSet/>
      <dgm:spPr/>
      <dgm:t>
        <a:bodyPr/>
        <a:lstStyle/>
        <a:p>
          <a:endParaRPr lang="en-GB">
            <a:latin typeface="Times New Roman" panose="02020603050405020304" pitchFamily="18" charset="0"/>
            <a:cs typeface="Times New Roman" panose="02020603050405020304" pitchFamily="18" charset="0"/>
          </a:endParaRPr>
        </a:p>
      </dgm:t>
    </dgm:pt>
    <dgm:pt modelId="{C5B77D11-2F3F-3E47-8FD0-E91B151C1214}" type="pres">
      <dgm:prSet presAssocID="{38C4CF35-159D-B040-B663-4EE5FA728A8A}" presName="Name0" presStyleCnt="0">
        <dgm:presLayoutVars>
          <dgm:dir/>
          <dgm:animLvl val="lvl"/>
          <dgm:resizeHandles val="exact"/>
        </dgm:presLayoutVars>
      </dgm:prSet>
      <dgm:spPr/>
    </dgm:pt>
    <dgm:pt modelId="{484235DD-557E-DF46-8A61-284B4D627B50}" type="pres">
      <dgm:prSet presAssocID="{D61BDDC4-021A-334C-AF3B-92FCE0045DDC}" presName="linNode" presStyleCnt="0"/>
      <dgm:spPr/>
    </dgm:pt>
    <dgm:pt modelId="{2509E6C5-E558-994C-B4C7-DCDCB4762F21}" type="pres">
      <dgm:prSet presAssocID="{D61BDDC4-021A-334C-AF3B-92FCE0045DDC}" presName="parentText" presStyleLbl="node1" presStyleIdx="0" presStyleCnt="4" custScaleX="94644">
        <dgm:presLayoutVars>
          <dgm:chMax val="1"/>
          <dgm:bulletEnabled val="1"/>
        </dgm:presLayoutVars>
      </dgm:prSet>
      <dgm:spPr/>
    </dgm:pt>
    <dgm:pt modelId="{0443FC87-0DAA-FE4F-B3DC-59C91B1530E0}" type="pres">
      <dgm:prSet presAssocID="{D61BDDC4-021A-334C-AF3B-92FCE0045DDC}" presName="descendantText" presStyleLbl="alignAccFollowNode1" presStyleIdx="0" presStyleCnt="4" custScaleY="106454">
        <dgm:presLayoutVars>
          <dgm:bulletEnabled val="1"/>
        </dgm:presLayoutVars>
      </dgm:prSet>
      <dgm:spPr/>
    </dgm:pt>
    <dgm:pt modelId="{988A4A4A-8BDF-CA4C-B5FB-20EDC888CF5E}" type="pres">
      <dgm:prSet presAssocID="{82C337BF-5EB9-D94B-B919-FB76190BED5F}" presName="sp" presStyleCnt="0"/>
      <dgm:spPr/>
    </dgm:pt>
    <dgm:pt modelId="{4E9D0C5D-5FC8-1342-B60E-E8436BBDFCAE}" type="pres">
      <dgm:prSet presAssocID="{418E91D7-994B-8548-B0CA-DB05AF7DF7BD}" presName="linNode" presStyleCnt="0"/>
      <dgm:spPr/>
    </dgm:pt>
    <dgm:pt modelId="{5887623D-96BC-B747-A79F-E37C93CDAE33}" type="pres">
      <dgm:prSet presAssocID="{418E91D7-994B-8548-B0CA-DB05AF7DF7BD}" presName="parentText" presStyleLbl="node1" presStyleIdx="1" presStyleCnt="4" custScaleX="94644">
        <dgm:presLayoutVars>
          <dgm:chMax val="1"/>
          <dgm:bulletEnabled val="1"/>
        </dgm:presLayoutVars>
      </dgm:prSet>
      <dgm:spPr/>
    </dgm:pt>
    <dgm:pt modelId="{AEC64D76-254D-5C4C-89E0-7E54C22BE44C}" type="pres">
      <dgm:prSet presAssocID="{418E91D7-994B-8548-B0CA-DB05AF7DF7BD}" presName="descendantText" presStyleLbl="alignAccFollowNode1" presStyleIdx="1" presStyleCnt="4">
        <dgm:presLayoutVars>
          <dgm:bulletEnabled val="1"/>
        </dgm:presLayoutVars>
      </dgm:prSet>
      <dgm:spPr/>
    </dgm:pt>
    <dgm:pt modelId="{2F50449C-EA63-9E43-9A01-B3AF5AA29906}" type="pres">
      <dgm:prSet presAssocID="{88AB0E77-89E1-2044-836F-565191019A63}" presName="sp" presStyleCnt="0"/>
      <dgm:spPr/>
    </dgm:pt>
    <dgm:pt modelId="{DAC403F3-9310-DE42-BF25-35A600EF238C}" type="pres">
      <dgm:prSet presAssocID="{7B6DF13C-075E-0A48-A56C-CB80BEBBD7FE}" presName="linNode" presStyleCnt="0"/>
      <dgm:spPr/>
    </dgm:pt>
    <dgm:pt modelId="{A28434E8-C752-4344-82EF-D4F915620887}" type="pres">
      <dgm:prSet presAssocID="{7B6DF13C-075E-0A48-A56C-CB80BEBBD7FE}" presName="parentText" presStyleLbl="node1" presStyleIdx="2" presStyleCnt="4" custScaleX="94644">
        <dgm:presLayoutVars>
          <dgm:chMax val="1"/>
          <dgm:bulletEnabled val="1"/>
        </dgm:presLayoutVars>
      </dgm:prSet>
      <dgm:spPr/>
    </dgm:pt>
    <dgm:pt modelId="{E7972576-5D6F-FA4B-903C-6084BEDFFCF5}" type="pres">
      <dgm:prSet presAssocID="{7B6DF13C-075E-0A48-A56C-CB80BEBBD7FE}" presName="descendantText" presStyleLbl="alignAccFollowNode1" presStyleIdx="2" presStyleCnt="4">
        <dgm:presLayoutVars>
          <dgm:bulletEnabled val="1"/>
        </dgm:presLayoutVars>
      </dgm:prSet>
      <dgm:spPr/>
    </dgm:pt>
    <dgm:pt modelId="{366D149A-8127-2B49-BE35-18C7BD0000C9}" type="pres">
      <dgm:prSet presAssocID="{1FA96DC1-96DA-C24D-9395-C88D7AC9FCFD}" presName="sp" presStyleCnt="0"/>
      <dgm:spPr/>
    </dgm:pt>
    <dgm:pt modelId="{B9F3DF8B-311C-1E4F-98C1-78A750499395}" type="pres">
      <dgm:prSet presAssocID="{317F5A0D-4DDF-7642-A117-287EFFAC1546}" presName="linNode" presStyleCnt="0"/>
      <dgm:spPr/>
    </dgm:pt>
    <dgm:pt modelId="{CC229CB6-8123-A641-8FF9-976A0B779F84}" type="pres">
      <dgm:prSet presAssocID="{317F5A0D-4DDF-7642-A117-287EFFAC1546}" presName="parentText" presStyleLbl="node1" presStyleIdx="3" presStyleCnt="4" custScaleX="94644">
        <dgm:presLayoutVars>
          <dgm:chMax val="1"/>
          <dgm:bulletEnabled val="1"/>
        </dgm:presLayoutVars>
      </dgm:prSet>
      <dgm:spPr/>
    </dgm:pt>
    <dgm:pt modelId="{3A7982CA-9FA5-FF49-8B87-8915B8F21519}" type="pres">
      <dgm:prSet presAssocID="{317F5A0D-4DDF-7642-A117-287EFFAC1546}" presName="descendantText" presStyleLbl="alignAccFollowNode1" presStyleIdx="3" presStyleCnt="4">
        <dgm:presLayoutVars>
          <dgm:bulletEnabled val="1"/>
        </dgm:presLayoutVars>
      </dgm:prSet>
      <dgm:spPr/>
    </dgm:pt>
  </dgm:ptLst>
  <dgm:cxnLst>
    <dgm:cxn modelId="{816D9A00-44CA-B349-A266-1CA93C82E658}" type="presOf" srcId="{D61BDDC4-021A-334C-AF3B-92FCE0045DDC}" destId="{2509E6C5-E558-994C-B4C7-DCDCB4762F21}" srcOrd="0" destOrd="0" presId="urn:microsoft.com/office/officeart/2005/8/layout/vList5"/>
    <dgm:cxn modelId="{4CBAB50D-030C-354A-A900-097EB61B00D8}" type="presOf" srcId="{38C4CF35-159D-B040-B663-4EE5FA728A8A}" destId="{C5B77D11-2F3F-3E47-8FD0-E91B151C1214}" srcOrd="0" destOrd="0" presId="urn:microsoft.com/office/officeart/2005/8/layout/vList5"/>
    <dgm:cxn modelId="{93EA031F-F7BD-6740-BD83-532FA1E312E6}" type="presOf" srcId="{9AC3C1B4-FAA8-0B44-8934-51056F222B1D}" destId="{0443FC87-0DAA-FE4F-B3DC-59C91B1530E0}" srcOrd="0" destOrd="0" presId="urn:microsoft.com/office/officeart/2005/8/layout/vList5"/>
    <dgm:cxn modelId="{FC060B20-383A-BC46-8391-BAC911F73166}" srcId="{38C4CF35-159D-B040-B663-4EE5FA728A8A}" destId="{D61BDDC4-021A-334C-AF3B-92FCE0045DDC}" srcOrd="0" destOrd="0" parTransId="{8CF9F419-4236-2D45-8EAC-3B4313354A1B}" sibTransId="{82C337BF-5EB9-D94B-B919-FB76190BED5F}"/>
    <dgm:cxn modelId="{B6C3A926-8CC5-4E43-B449-685B60629B5A}" srcId="{38C4CF35-159D-B040-B663-4EE5FA728A8A}" destId="{7B6DF13C-075E-0A48-A56C-CB80BEBBD7FE}" srcOrd="2" destOrd="0" parTransId="{B934537E-3ED2-1B42-A827-756391C051E5}" sibTransId="{1FA96DC1-96DA-C24D-9395-C88D7AC9FCFD}"/>
    <dgm:cxn modelId="{A7300030-CA32-134B-AD69-ECA54AF5C4E1}" type="presOf" srcId="{F7E21EE7-134D-AB48-9724-B9DED266835C}" destId="{E7972576-5D6F-FA4B-903C-6084BEDFFCF5}" srcOrd="0" destOrd="0" presId="urn:microsoft.com/office/officeart/2005/8/layout/vList5"/>
    <dgm:cxn modelId="{5C044042-8534-8C4A-B9A0-1ADE85E40709}" type="presOf" srcId="{7B6DF13C-075E-0A48-A56C-CB80BEBBD7FE}" destId="{A28434E8-C752-4344-82EF-D4F915620887}" srcOrd="0" destOrd="0" presId="urn:microsoft.com/office/officeart/2005/8/layout/vList5"/>
    <dgm:cxn modelId="{D270FB66-8CD8-EF4C-8A47-DB41BD1ECB90}" type="presOf" srcId="{317F5A0D-4DDF-7642-A117-287EFFAC1546}" destId="{CC229CB6-8123-A641-8FF9-976A0B779F84}" srcOrd="0" destOrd="0" presId="urn:microsoft.com/office/officeart/2005/8/layout/vList5"/>
    <dgm:cxn modelId="{89331B67-785D-654A-A777-0A7B57C05946}" srcId="{38C4CF35-159D-B040-B663-4EE5FA728A8A}" destId="{317F5A0D-4DDF-7642-A117-287EFFAC1546}" srcOrd="3" destOrd="0" parTransId="{65D3563B-9F3E-E942-856C-F17417479E87}" sibTransId="{F1A1FFA6-428D-A840-B2C6-1CA118D92B83}"/>
    <dgm:cxn modelId="{A4693350-DC78-E840-8EED-843BCD583772}" srcId="{38C4CF35-159D-B040-B663-4EE5FA728A8A}" destId="{418E91D7-994B-8548-B0CA-DB05AF7DF7BD}" srcOrd="1" destOrd="0" parTransId="{1E1B022F-B487-2D42-B62C-7BD722C48649}" sibTransId="{88AB0E77-89E1-2044-836F-565191019A63}"/>
    <dgm:cxn modelId="{6EADD451-2D8B-1F4B-82CF-9DDDC9804229}" srcId="{418E91D7-994B-8548-B0CA-DB05AF7DF7BD}" destId="{43C2D0AA-44C1-CD40-AD9D-A7BF1413A317}" srcOrd="0" destOrd="0" parTransId="{50374D4B-6DF8-0749-94C4-52DAD862232A}" sibTransId="{FBB7887B-F6FA-E246-91AD-70C1D21B4B4E}"/>
    <dgm:cxn modelId="{7937E182-05EF-C145-8ACF-F8325015D6C6}" type="presOf" srcId="{7C62ACCC-E4FF-0546-A346-7C4ABB89C7E7}" destId="{3A7982CA-9FA5-FF49-8B87-8915B8F21519}" srcOrd="0" destOrd="0" presId="urn:microsoft.com/office/officeart/2005/8/layout/vList5"/>
    <dgm:cxn modelId="{0F07EB83-5D7A-AD44-8006-1D7E659FC174}" type="presOf" srcId="{418E91D7-994B-8548-B0CA-DB05AF7DF7BD}" destId="{5887623D-96BC-B747-A79F-E37C93CDAE33}" srcOrd="0" destOrd="0" presId="urn:microsoft.com/office/officeart/2005/8/layout/vList5"/>
    <dgm:cxn modelId="{AC321AC2-1F89-8A47-BD5F-7D49C0E9A6DD}" srcId="{317F5A0D-4DDF-7642-A117-287EFFAC1546}" destId="{7C62ACCC-E4FF-0546-A346-7C4ABB89C7E7}" srcOrd="0" destOrd="0" parTransId="{C3077AE1-B651-8040-B28C-5E254D2AFC12}" sibTransId="{E9DAECA4-AE98-8E41-A96B-38A4B889B59A}"/>
    <dgm:cxn modelId="{646B19F0-E29E-B440-9E15-A3C82A72876D}" type="presOf" srcId="{43C2D0AA-44C1-CD40-AD9D-A7BF1413A317}" destId="{AEC64D76-254D-5C4C-89E0-7E54C22BE44C}" srcOrd="0" destOrd="0" presId="urn:microsoft.com/office/officeart/2005/8/layout/vList5"/>
    <dgm:cxn modelId="{A0DECCF2-3C1F-5144-9E1A-4C158ACEE939}" srcId="{7B6DF13C-075E-0A48-A56C-CB80BEBBD7FE}" destId="{F7E21EE7-134D-AB48-9724-B9DED266835C}" srcOrd="0" destOrd="0" parTransId="{04C7A4FF-FF7B-644E-9253-C72F62A123CC}" sibTransId="{B2E91BF4-A800-194C-99C6-655B090851FD}"/>
    <dgm:cxn modelId="{49ECBBF4-46D8-3D40-972F-7343F8A859D8}" srcId="{D61BDDC4-021A-334C-AF3B-92FCE0045DDC}" destId="{9AC3C1B4-FAA8-0B44-8934-51056F222B1D}" srcOrd="0" destOrd="0" parTransId="{56C80B86-2404-144D-A687-81AF58C51ED4}" sibTransId="{E978C564-54DD-3845-B714-CD25FD728E83}"/>
    <dgm:cxn modelId="{D091F2F5-7E49-2241-9072-B09B2E75013F}" type="presParOf" srcId="{C5B77D11-2F3F-3E47-8FD0-E91B151C1214}" destId="{484235DD-557E-DF46-8A61-284B4D627B50}" srcOrd="0" destOrd="0" presId="urn:microsoft.com/office/officeart/2005/8/layout/vList5"/>
    <dgm:cxn modelId="{A41859D7-4E8B-454F-A9EF-48194CB87564}" type="presParOf" srcId="{484235DD-557E-DF46-8A61-284B4D627B50}" destId="{2509E6C5-E558-994C-B4C7-DCDCB4762F21}" srcOrd="0" destOrd="0" presId="urn:microsoft.com/office/officeart/2005/8/layout/vList5"/>
    <dgm:cxn modelId="{7D60C9D0-EB06-4146-9BC3-F305B29A7C3D}" type="presParOf" srcId="{484235DD-557E-DF46-8A61-284B4D627B50}" destId="{0443FC87-0DAA-FE4F-B3DC-59C91B1530E0}" srcOrd="1" destOrd="0" presId="urn:microsoft.com/office/officeart/2005/8/layout/vList5"/>
    <dgm:cxn modelId="{180F93EA-903B-2241-862D-5559A2194F2A}" type="presParOf" srcId="{C5B77D11-2F3F-3E47-8FD0-E91B151C1214}" destId="{988A4A4A-8BDF-CA4C-B5FB-20EDC888CF5E}" srcOrd="1" destOrd="0" presId="urn:microsoft.com/office/officeart/2005/8/layout/vList5"/>
    <dgm:cxn modelId="{EA3B59B7-8A3F-5E49-A6D6-FF0CD8A3741A}" type="presParOf" srcId="{C5B77D11-2F3F-3E47-8FD0-E91B151C1214}" destId="{4E9D0C5D-5FC8-1342-B60E-E8436BBDFCAE}" srcOrd="2" destOrd="0" presId="urn:microsoft.com/office/officeart/2005/8/layout/vList5"/>
    <dgm:cxn modelId="{93E4F2E5-C7F2-B840-B581-3D009E96869B}" type="presParOf" srcId="{4E9D0C5D-5FC8-1342-B60E-E8436BBDFCAE}" destId="{5887623D-96BC-B747-A79F-E37C93CDAE33}" srcOrd="0" destOrd="0" presId="urn:microsoft.com/office/officeart/2005/8/layout/vList5"/>
    <dgm:cxn modelId="{DDF190ED-D1EE-044D-AF14-7DDAF9036F49}" type="presParOf" srcId="{4E9D0C5D-5FC8-1342-B60E-E8436BBDFCAE}" destId="{AEC64D76-254D-5C4C-89E0-7E54C22BE44C}" srcOrd="1" destOrd="0" presId="urn:microsoft.com/office/officeart/2005/8/layout/vList5"/>
    <dgm:cxn modelId="{088A3E88-B292-CC48-BF27-EDF35D9B5686}" type="presParOf" srcId="{C5B77D11-2F3F-3E47-8FD0-E91B151C1214}" destId="{2F50449C-EA63-9E43-9A01-B3AF5AA29906}" srcOrd="3" destOrd="0" presId="urn:microsoft.com/office/officeart/2005/8/layout/vList5"/>
    <dgm:cxn modelId="{844146EC-7E7A-0B45-A530-EB19BDF77B8C}" type="presParOf" srcId="{C5B77D11-2F3F-3E47-8FD0-E91B151C1214}" destId="{DAC403F3-9310-DE42-BF25-35A600EF238C}" srcOrd="4" destOrd="0" presId="urn:microsoft.com/office/officeart/2005/8/layout/vList5"/>
    <dgm:cxn modelId="{37258555-2CA9-E948-A6BB-BE0E5DC4E7A6}" type="presParOf" srcId="{DAC403F3-9310-DE42-BF25-35A600EF238C}" destId="{A28434E8-C752-4344-82EF-D4F915620887}" srcOrd="0" destOrd="0" presId="urn:microsoft.com/office/officeart/2005/8/layout/vList5"/>
    <dgm:cxn modelId="{8691E64A-2C05-254B-A242-6AE548917E51}" type="presParOf" srcId="{DAC403F3-9310-DE42-BF25-35A600EF238C}" destId="{E7972576-5D6F-FA4B-903C-6084BEDFFCF5}" srcOrd="1" destOrd="0" presId="urn:microsoft.com/office/officeart/2005/8/layout/vList5"/>
    <dgm:cxn modelId="{C672CE6F-342F-B841-BFC0-4487BB9F7C37}" type="presParOf" srcId="{C5B77D11-2F3F-3E47-8FD0-E91B151C1214}" destId="{366D149A-8127-2B49-BE35-18C7BD0000C9}" srcOrd="5" destOrd="0" presId="urn:microsoft.com/office/officeart/2005/8/layout/vList5"/>
    <dgm:cxn modelId="{37442EB9-70CF-764B-87D8-4C823B0C4201}" type="presParOf" srcId="{C5B77D11-2F3F-3E47-8FD0-E91B151C1214}" destId="{B9F3DF8B-311C-1E4F-98C1-78A750499395}" srcOrd="6" destOrd="0" presId="urn:microsoft.com/office/officeart/2005/8/layout/vList5"/>
    <dgm:cxn modelId="{FE6252AB-99EF-9344-B388-C1C97B1B2F78}" type="presParOf" srcId="{B9F3DF8B-311C-1E4F-98C1-78A750499395}" destId="{CC229CB6-8123-A641-8FF9-976A0B779F84}" srcOrd="0" destOrd="0" presId="urn:microsoft.com/office/officeart/2005/8/layout/vList5"/>
    <dgm:cxn modelId="{989EED5A-A4B2-5949-AE85-7B67D48D08F7}" type="presParOf" srcId="{B9F3DF8B-311C-1E4F-98C1-78A750499395}" destId="{3A7982CA-9FA5-FF49-8B87-8915B8F21519}"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C4CF35-159D-B040-B663-4EE5FA728A8A}" type="doc">
      <dgm:prSet loTypeId="urn:microsoft.com/office/officeart/2005/8/layout/vList5" loCatId="" qsTypeId="urn:microsoft.com/office/officeart/2005/8/quickstyle/simple1" qsCatId="simple" csTypeId="urn:microsoft.com/office/officeart/2005/8/colors/colorful2" csCatId="colorful" phldr="1"/>
      <dgm:spPr/>
      <dgm:t>
        <a:bodyPr/>
        <a:lstStyle/>
        <a:p>
          <a:endParaRPr lang="en-GB"/>
        </a:p>
      </dgm:t>
    </dgm:pt>
    <dgm:pt modelId="{D61BDDC4-021A-334C-AF3B-92FCE0045DDC}">
      <dgm:prSet phldrT="[Text]" custT="1"/>
      <dgm:spPr>
        <a:solidFill>
          <a:schemeClr val="accent2">
            <a:lumMod val="40000"/>
            <a:lumOff val="60000"/>
          </a:schemeClr>
        </a:solidFill>
      </dgm:spPr>
      <dgm:t>
        <a:bodyPr/>
        <a:lstStyle/>
        <a:p>
          <a:r>
            <a:rPr lang="en-IN" sz="2000" b="1" dirty="0"/>
            <a:t>Foundational Models (LLMs)</a:t>
          </a:r>
          <a:endParaRPr lang="en-GB" sz="2000" dirty="0">
            <a:latin typeface="Times New Roman" panose="02020603050405020304" pitchFamily="18" charset="0"/>
            <a:cs typeface="Times New Roman" panose="02020603050405020304" pitchFamily="18" charset="0"/>
          </a:endParaRPr>
        </a:p>
      </dgm:t>
    </dgm:pt>
    <dgm:pt modelId="{8CF9F419-4236-2D45-8EAC-3B4313354A1B}" type="parTrans" cxnId="{FC060B20-383A-BC46-8391-BAC911F73166}">
      <dgm:prSet/>
      <dgm:spPr/>
      <dgm:t>
        <a:bodyPr/>
        <a:lstStyle/>
        <a:p>
          <a:endParaRPr lang="en-GB">
            <a:latin typeface="Times New Roman" panose="02020603050405020304" pitchFamily="18" charset="0"/>
            <a:cs typeface="Times New Roman" panose="02020603050405020304" pitchFamily="18" charset="0"/>
          </a:endParaRPr>
        </a:p>
      </dgm:t>
    </dgm:pt>
    <dgm:pt modelId="{82C337BF-5EB9-D94B-B919-FB76190BED5F}" type="sibTrans" cxnId="{FC060B20-383A-BC46-8391-BAC911F73166}">
      <dgm:prSet/>
      <dgm:spPr/>
      <dgm:t>
        <a:bodyPr/>
        <a:lstStyle/>
        <a:p>
          <a:endParaRPr lang="en-GB">
            <a:latin typeface="Times New Roman" panose="02020603050405020304" pitchFamily="18" charset="0"/>
            <a:cs typeface="Times New Roman" panose="02020603050405020304" pitchFamily="18" charset="0"/>
          </a:endParaRPr>
        </a:p>
      </dgm:t>
    </dgm:pt>
    <dgm:pt modelId="{9AC3C1B4-FAA8-0B44-8934-51056F222B1D}">
      <dgm:prSet phldrT="[Text]"/>
      <dgm:spPr/>
      <dgm:t>
        <a:bodyPr/>
        <a:lstStyle/>
        <a:p>
          <a:r>
            <a:rPr lang="en-IN" dirty="0"/>
            <a:t>Difficulty in applying unlearning to large language models with billions of parameters; contributions of individual data points remain uncertain.</a:t>
          </a:r>
          <a:endParaRPr lang="en-GB" dirty="0">
            <a:latin typeface="Times New Roman" panose="02020603050405020304" pitchFamily="18" charset="0"/>
            <a:cs typeface="Times New Roman" panose="02020603050405020304" pitchFamily="18" charset="0"/>
          </a:endParaRPr>
        </a:p>
      </dgm:t>
    </dgm:pt>
    <dgm:pt modelId="{56C80B86-2404-144D-A687-81AF58C51ED4}" type="parTrans" cxnId="{49ECBBF4-46D8-3D40-972F-7343F8A859D8}">
      <dgm:prSet/>
      <dgm:spPr/>
      <dgm:t>
        <a:bodyPr/>
        <a:lstStyle/>
        <a:p>
          <a:endParaRPr lang="en-GB">
            <a:latin typeface="Times New Roman" panose="02020603050405020304" pitchFamily="18" charset="0"/>
            <a:cs typeface="Times New Roman" panose="02020603050405020304" pitchFamily="18" charset="0"/>
          </a:endParaRPr>
        </a:p>
      </dgm:t>
    </dgm:pt>
    <dgm:pt modelId="{E978C564-54DD-3845-B714-CD25FD728E83}" type="sibTrans" cxnId="{49ECBBF4-46D8-3D40-972F-7343F8A859D8}">
      <dgm:prSet/>
      <dgm:spPr/>
      <dgm:t>
        <a:bodyPr/>
        <a:lstStyle/>
        <a:p>
          <a:endParaRPr lang="en-GB">
            <a:latin typeface="Times New Roman" panose="02020603050405020304" pitchFamily="18" charset="0"/>
            <a:cs typeface="Times New Roman" panose="02020603050405020304" pitchFamily="18" charset="0"/>
          </a:endParaRPr>
        </a:p>
      </dgm:t>
    </dgm:pt>
    <dgm:pt modelId="{418E91D7-994B-8548-B0CA-DB05AF7DF7BD}">
      <dgm:prSet phldrT="[Text]" custT="1"/>
      <dgm:spPr>
        <a:solidFill>
          <a:schemeClr val="accent5">
            <a:lumMod val="20000"/>
            <a:lumOff val="80000"/>
          </a:schemeClr>
        </a:solidFill>
      </dgm:spPr>
      <dgm:t>
        <a:bodyPr/>
        <a:lstStyle/>
        <a:p>
          <a:r>
            <a:rPr lang="en-IN" sz="2000" b="1" dirty="0"/>
            <a:t>Sequential &amp; Dynamic Unlearning</a:t>
          </a:r>
          <a:endParaRPr lang="en-GB" sz="2000" dirty="0">
            <a:latin typeface="Times New Roman" panose="02020603050405020304" pitchFamily="18" charset="0"/>
            <a:cs typeface="Times New Roman" panose="02020603050405020304" pitchFamily="18" charset="0"/>
          </a:endParaRPr>
        </a:p>
      </dgm:t>
    </dgm:pt>
    <dgm:pt modelId="{1E1B022F-B487-2D42-B62C-7BD722C48649}" type="parTrans" cxnId="{A4693350-DC78-E840-8EED-843BCD583772}">
      <dgm:prSet/>
      <dgm:spPr/>
      <dgm:t>
        <a:bodyPr/>
        <a:lstStyle/>
        <a:p>
          <a:endParaRPr lang="en-GB">
            <a:latin typeface="Times New Roman" panose="02020603050405020304" pitchFamily="18" charset="0"/>
            <a:cs typeface="Times New Roman" panose="02020603050405020304" pitchFamily="18" charset="0"/>
          </a:endParaRPr>
        </a:p>
      </dgm:t>
    </dgm:pt>
    <dgm:pt modelId="{88AB0E77-89E1-2044-836F-565191019A63}" type="sibTrans" cxnId="{A4693350-DC78-E840-8EED-843BCD583772}">
      <dgm:prSet/>
      <dgm:spPr/>
      <dgm:t>
        <a:bodyPr/>
        <a:lstStyle/>
        <a:p>
          <a:endParaRPr lang="en-GB">
            <a:latin typeface="Times New Roman" panose="02020603050405020304" pitchFamily="18" charset="0"/>
            <a:cs typeface="Times New Roman" panose="02020603050405020304" pitchFamily="18" charset="0"/>
          </a:endParaRPr>
        </a:p>
      </dgm:t>
    </dgm:pt>
    <dgm:pt modelId="{43C2D0AA-44C1-CD40-AD9D-A7BF1413A317}">
      <dgm:prSet phldrT="[Text]"/>
      <dgm:spPr/>
      <dgm:t>
        <a:bodyPr/>
        <a:lstStyle/>
        <a:p>
          <a:r>
            <a:rPr lang="en-IN" dirty="0"/>
            <a:t>Insufficient research on unlearning in evolving/streaming data ecosystems and sequential deletion requests.</a:t>
          </a:r>
          <a:endParaRPr lang="en-GB" dirty="0">
            <a:latin typeface="Times New Roman" panose="02020603050405020304" pitchFamily="18" charset="0"/>
            <a:cs typeface="Times New Roman" panose="02020603050405020304" pitchFamily="18" charset="0"/>
          </a:endParaRPr>
        </a:p>
      </dgm:t>
    </dgm:pt>
    <dgm:pt modelId="{50374D4B-6DF8-0749-94C4-52DAD862232A}" type="parTrans" cxnId="{6EADD451-2D8B-1F4B-82CF-9DDDC9804229}">
      <dgm:prSet/>
      <dgm:spPr/>
      <dgm:t>
        <a:bodyPr/>
        <a:lstStyle/>
        <a:p>
          <a:endParaRPr lang="en-GB">
            <a:latin typeface="Times New Roman" panose="02020603050405020304" pitchFamily="18" charset="0"/>
            <a:cs typeface="Times New Roman" panose="02020603050405020304" pitchFamily="18" charset="0"/>
          </a:endParaRPr>
        </a:p>
      </dgm:t>
    </dgm:pt>
    <dgm:pt modelId="{FBB7887B-F6FA-E246-91AD-70C1D21B4B4E}" type="sibTrans" cxnId="{6EADD451-2D8B-1F4B-82CF-9DDDC9804229}">
      <dgm:prSet/>
      <dgm:spPr/>
      <dgm:t>
        <a:bodyPr/>
        <a:lstStyle/>
        <a:p>
          <a:endParaRPr lang="en-GB">
            <a:latin typeface="Times New Roman" panose="02020603050405020304" pitchFamily="18" charset="0"/>
            <a:cs typeface="Times New Roman" panose="02020603050405020304" pitchFamily="18" charset="0"/>
          </a:endParaRPr>
        </a:p>
      </dgm:t>
    </dgm:pt>
    <dgm:pt modelId="{C5B77D11-2F3F-3E47-8FD0-E91B151C1214}" type="pres">
      <dgm:prSet presAssocID="{38C4CF35-159D-B040-B663-4EE5FA728A8A}" presName="Name0" presStyleCnt="0">
        <dgm:presLayoutVars>
          <dgm:dir/>
          <dgm:animLvl val="lvl"/>
          <dgm:resizeHandles val="exact"/>
        </dgm:presLayoutVars>
      </dgm:prSet>
      <dgm:spPr/>
    </dgm:pt>
    <dgm:pt modelId="{484235DD-557E-DF46-8A61-284B4D627B50}" type="pres">
      <dgm:prSet presAssocID="{D61BDDC4-021A-334C-AF3B-92FCE0045DDC}" presName="linNode" presStyleCnt="0"/>
      <dgm:spPr/>
    </dgm:pt>
    <dgm:pt modelId="{2509E6C5-E558-994C-B4C7-DCDCB4762F21}" type="pres">
      <dgm:prSet presAssocID="{D61BDDC4-021A-334C-AF3B-92FCE0045DDC}" presName="parentText" presStyleLbl="node1" presStyleIdx="0" presStyleCnt="2" custScaleX="94644">
        <dgm:presLayoutVars>
          <dgm:chMax val="1"/>
          <dgm:bulletEnabled val="1"/>
        </dgm:presLayoutVars>
      </dgm:prSet>
      <dgm:spPr/>
    </dgm:pt>
    <dgm:pt modelId="{0443FC87-0DAA-FE4F-B3DC-59C91B1530E0}" type="pres">
      <dgm:prSet presAssocID="{D61BDDC4-021A-334C-AF3B-92FCE0045DDC}" presName="descendantText" presStyleLbl="alignAccFollowNode1" presStyleIdx="0" presStyleCnt="2" custScaleY="106454" custLinFactNeighborY="-7905">
        <dgm:presLayoutVars>
          <dgm:bulletEnabled val="1"/>
        </dgm:presLayoutVars>
      </dgm:prSet>
      <dgm:spPr/>
    </dgm:pt>
    <dgm:pt modelId="{988A4A4A-8BDF-CA4C-B5FB-20EDC888CF5E}" type="pres">
      <dgm:prSet presAssocID="{82C337BF-5EB9-D94B-B919-FB76190BED5F}" presName="sp" presStyleCnt="0"/>
      <dgm:spPr/>
    </dgm:pt>
    <dgm:pt modelId="{4E9D0C5D-5FC8-1342-B60E-E8436BBDFCAE}" type="pres">
      <dgm:prSet presAssocID="{418E91D7-994B-8548-B0CA-DB05AF7DF7BD}" presName="linNode" presStyleCnt="0"/>
      <dgm:spPr/>
    </dgm:pt>
    <dgm:pt modelId="{5887623D-96BC-B747-A79F-E37C93CDAE33}" type="pres">
      <dgm:prSet presAssocID="{418E91D7-994B-8548-B0CA-DB05AF7DF7BD}" presName="parentText" presStyleLbl="node1" presStyleIdx="1" presStyleCnt="2" custScaleX="94644">
        <dgm:presLayoutVars>
          <dgm:chMax val="1"/>
          <dgm:bulletEnabled val="1"/>
        </dgm:presLayoutVars>
      </dgm:prSet>
      <dgm:spPr/>
    </dgm:pt>
    <dgm:pt modelId="{AEC64D76-254D-5C4C-89E0-7E54C22BE44C}" type="pres">
      <dgm:prSet presAssocID="{418E91D7-994B-8548-B0CA-DB05AF7DF7BD}" presName="descendantText" presStyleLbl="alignAccFollowNode1" presStyleIdx="1" presStyleCnt="2">
        <dgm:presLayoutVars>
          <dgm:bulletEnabled val="1"/>
        </dgm:presLayoutVars>
      </dgm:prSet>
      <dgm:spPr/>
    </dgm:pt>
  </dgm:ptLst>
  <dgm:cxnLst>
    <dgm:cxn modelId="{816D9A00-44CA-B349-A266-1CA93C82E658}" type="presOf" srcId="{D61BDDC4-021A-334C-AF3B-92FCE0045DDC}" destId="{2509E6C5-E558-994C-B4C7-DCDCB4762F21}" srcOrd="0" destOrd="0" presId="urn:microsoft.com/office/officeart/2005/8/layout/vList5"/>
    <dgm:cxn modelId="{4CBAB50D-030C-354A-A900-097EB61B00D8}" type="presOf" srcId="{38C4CF35-159D-B040-B663-4EE5FA728A8A}" destId="{C5B77D11-2F3F-3E47-8FD0-E91B151C1214}" srcOrd="0" destOrd="0" presId="urn:microsoft.com/office/officeart/2005/8/layout/vList5"/>
    <dgm:cxn modelId="{93EA031F-F7BD-6740-BD83-532FA1E312E6}" type="presOf" srcId="{9AC3C1B4-FAA8-0B44-8934-51056F222B1D}" destId="{0443FC87-0DAA-FE4F-B3DC-59C91B1530E0}" srcOrd="0" destOrd="0" presId="urn:microsoft.com/office/officeart/2005/8/layout/vList5"/>
    <dgm:cxn modelId="{FC060B20-383A-BC46-8391-BAC911F73166}" srcId="{38C4CF35-159D-B040-B663-4EE5FA728A8A}" destId="{D61BDDC4-021A-334C-AF3B-92FCE0045DDC}" srcOrd="0" destOrd="0" parTransId="{8CF9F419-4236-2D45-8EAC-3B4313354A1B}" sibTransId="{82C337BF-5EB9-D94B-B919-FB76190BED5F}"/>
    <dgm:cxn modelId="{A4693350-DC78-E840-8EED-843BCD583772}" srcId="{38C4CF35-159D-B040-B663-4EE5FA728A8A}" destId="{418E91D7-994B-8548-B0CA-DB05AF7DF7BD}" srcOrd="1" destOrd="0" parTransId="{1E1B022F-B487-2D42-B62C-7BD722C48649}" sibTransId="{88AB0E77-89E1-2044-836F-565191019A63}"/>
    <dgm:cxn modelId="{6EADD451-2D8B-1F4B-82CF-9DDDC9804229}" srcId="{418E91D7-994B-8548-B0CA-DB05AF7DF7BD}" destId="{43C2D0AA-44C1-CD40-AD9D-A7BF1413A317}" srcOrd="0" destOrd="0" parTransId="{50374D4B-6DF8-0749-94C4-52DAD862232A}" sibTransId="{FBB7887B-F6FA-E246-91AD-70C1D21B4B4E}"/>
    <dgm:cxn modelId="{0F07EB83-5D7A-AD44-8006-1D7E659FC174}" type="presOf" srcId="{418E91D7-994B-8548-B0CA-DB05AF7DF7BD}" destId="{5887623D-96BC-B747-A79F-E37C93CDAE33}" srcOrd="0" destOrd="0" presId="urn:microsoft.com/office/officeart/2005/8/layout/vList5"/>
    <dgm:cxn modelId="{646B19F0-E29E-B440-9E15-A3C82A72876D}" type="presOf" srcId="{43C2D0AA-44C1-CD40-AD9D-A7BF1413A317}" destId="{AEC64D76-254D-5C4C-89E0-7E54C22BE44C}" srcOrd="0" destOrd="0" presId="urn:microsoft.com/office/officeart/2005/8/layout/vList5"/>
    <dgm:cxn modelId="{49ECBBF4-46D8-3D40-972F-7343F8A859D8}" srcId="{D61BDDC4-021A-334C-AF3B-92FCE0045DDC}" destId="{9AC3C1B4-FAA8-0B44-8934-51056F222B1D}" srcOrd="0" destOrd="0" parTransId="{56C80B86-2404-144D-A687-81AF58C51ED4}" sibTransId="{E978C564-54DD-3845-B714-CD25FD728E83}"/>
    <dgm:cxn modelId="{D091F2F5-7E49-2241-9072-B09B2E75013F}" type="presParOf" srcId="{C5B77D11-2F3F-3E47-8FD0-E91B151C1214}" destId="{484235DD-557E-DF46-8A61-284B4D627B50}" srcOrd="0" destOrd="0" presId="urn:microsoft.com/office/officeart/2005/8/layout/vList5"/>
    <dgm:cxn modelId="{A41859D7-4E8B-454F-A9EF-48194CB87564}" type="presParOf" srcId="{484235DD-557E-DF46-8A61-284B4D627B50}" destId="{2509E6C5-E558-994C-B4C7-DCDCB4762F21}" srcOrd="0" destOrd="0" presId="urn:microsoft.com/office/officeart/2005/8/layout/vList5"/>
    <dgm:cxn modelId="{7D60C9D0-EB06-4146-9BC3-F305B29A7C3D}" type="presParOf" srcId="{484235DD-557E-DF46-8A61-284B4D627B50}" destId="{0443FC87-0DAA-FE4F-B3DC-59C91B1530E0}" srcOrd="1" destOrd="0" presId="urn:microsoft.com/office/officeart/2005/8/layout/vList5"/>
    <dgm:cxn modelId="{180F93EA-903B-2241-862D-5559A2194F2A}" type="presParOf" srcId="{C5B77D11-2F3F-3E47-8FD0-E91B151C1214}" destId="{988A4A4A-8BDF-CA4C-B5FB-20EDC888CF5E}" srcOrd="1" destOrd="0" presId="urn:microsoft.com/office/officeart/2005/8/layout/vList5"/>
    <dgm:cxn modelId="{EA3B59B7-8A3F-5E49-A6D6-FF0CD8A3741A}" type="presParOf" srcId="{C5B77D11-2F3F-3E47-8FD0-E91B151C1214}" destId="{4E9D0C5D-5FC8-1342-B60E-E8436BBDFCAE}" srcOrd="2" destOrd="0" presId="urn:microsoft.com/office/officeart/2005/8/layout/vList5"/>
    <dgm:cxn modelId="{93E4F2E5-C7F2-B840-B581-3D009E96869B}" type="presParOf" srcId="{4E9D0C5D-5FC8-1342-B60E-E8436BBDFCAE}" destId="{5887623D-96BC-B747-A79F-E37C93CDAE33}" srcOrd="0" destOrd="0" presId="urn:microsoft.com/office/officeart/2005/8/layout/vList5"/>
    <dgm:cxn modelId="{DDF190ED-D1EE-044D-AF14-7DDAF9036F49}" type="presParOf" srcId="{4E9D0C5D-5FC8-1342-B60E-E8436BBDFCAE}" destId="{AEC64D76-254D-5C4C-89E0-7E54C22BE44C}" srcOrd="1" destOrd="0" presId="urn:microsoft.com/office/officeart/2005/8/layout/vList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7D455D8-428A-9F43-A691-EF8F8F5689BD}" type="doc">
      <dgm:prSet loTypeId="urn:microsoft.com/office/officeart/2005/8/layout/vList3" loCatId="" qsTypeId="urn:microsoft.com/office/officeart/2005/8/quickstyle/simple1" qsCatId="simple" csTypeId="urn:microsoft.com/office/officeart/2005/8/colors/colorful2" csCatId="colorful" phldr="1"/>
      <dgm:spPr/>
      <dgm:t>
        <a:bodyPr/>
        <a:lstStyle/>
        <a:p>
          <a:endParaRPr lang="en-GB"/>
        </a:p>
      </dgm:t>
    </dgm:pt>
    <dgm:pt modelId="{94C4543E-8B7F-CF4D-978A-BB77AA6B98B1}">
      <dgm:prSet phldrT="[Text]" custT="1"/>
      <dgm:spPr/>
      <dgm:t>
        <a:bodyPr/>
        <a:lstStyle/>
        <a:p>
          <a:pPr algn="ctr">
            <a:buNone/>
          </a:pPr>
          <a:r>
            <a:rPr lang="en-IN" sz="2000" dirty="0">
              <a:solidFill>
                <a:srgbClr val="ED7D31"/>
              </a:solidFill>
            </a:rPr>
            <a:t>A Unified Game-Theoretic Machine Unlearning Framework</a:t>
          </a:r>
          <a:br>
            <a:rPr lang="en-IN" sz="2000" dirty="0"/>
          </a:br>
          <a:r>
            <a:rPr lang="en-IN" sz="2000" dirty="0"/>
            <a:t>      </a:t>
          </a:r>
          <a:r>
            <a:rPr lang="en-US" sz="1600" dirty="0"/>
            <a:t>Develop a foundational game-theoretic framework for machine unlearning that integrates multiple                         attack models, fairness/bias tradeoffs, and scalability, aiming for ≥X% accuracy retention with ≥Y% privacy leakage reduction by end of 2027.</a:t>
          </a:r>
          <a:endParaRPr lang="en-GB" sz="1600" dirty="0">
            <a:latin typeface="Times New Roman" panose="02020603050405020304" pitchFamily="18" charset="0"/>
            <a:cs typeface="Times New Roman" panose="02020603050405020304" pitchFamily="18" charset="0"/>
          </a:endParaRPr>
        </a:p>
      </dgm:t>
    </dgm:pt>
    <dgm:pt modelId="{CE3128F8-293E-BF4B-8436-7533A0C03A4C}" type="parTrans" cxnId="{2B1F1224-9549-E146-B02C-CA759A605711}">
      <dgm:prSet/>
      <dgm:spPr/>
      <dgm:t>
        <a:bodyPr/>
        <a:lstStyle/>
        <a:p>
          <a:endParaRPr lang="en-GB">
            <a:latin typeface="Times New Roman" panose="02020603050405020304" pitchFamily="18" charset="0"/>
            <a:cs typeface="Times New Roman" panose="02020603050405020304" pitchFamily="18" charset="0"/>
          </a:endParaRPr>
        </a:p>
      </dgm:t>
    </dgm:pt>
    <dgm:pt modelId="{3C8FACC6-2853-D94E-BEE8-6D7C40D7A6C8}" type="sibTrans" cxnId="{2B1F1224-9549-E146-B02C-CA759A605711}">
      <dgm:prSet/>
      <dgm:spPr/>
      <dgm:t>
        <a:bodyPr/>
        <a:lstStyle/>
        <a:p>
          <a:endParaRPr lang="en-GB">
            <a:latin typeface="Times New Roman" panose="02020603050405020304" pitchFamily="18" charset="0"/>
            <a:cs typeface="Times New Roman" panose="02020603050405020304" pitchFamily="18" charset="0"/>
          </a:endParaRPr>
        </a:p>
      </dgm:t>
    </dgm:pt>
    <dgm:pt modelId="{92C01232-065A-014A-965D-E9288E28F34B}">
      <dgm:prSet phldrT="[Text]" custT="1"/>
      <dgm:spPr/>
      <dgm:t>
        <a:bodyPr/>
        <a:lstStyle/>
        <a:p>
          <a:pPr>
            <a:buNone/>
          </a:pPr>
          <a:r>
            <a:rPr lang="en-US" sz="1200" dirty="0">
              <a:solidFill>
                <a:srgbClr val="D17B5C"/>
              </a:solidFill>
            </a:rPr>
            <a:t>Feature-Aware Game-Theoretic Machine Unlearning </a:t>
          </a:r>
        </a:p>
        <a:p>
          <a:pPr>
            <a:buNone/>
          </a:pPr>
          <a:r>
            <a:rPr lang="en-US" sz="1600" dirty="0"/>
            <a:t>Design a feature-based unlearning framework applied to SISA and other models, balancing utility and privacy by excluding sensitive features with ≤X% accuracy loss, targeting a working draft by 2028.</a:t>
          </a:r>
          <a:endParaRPr lang="en-GB" sz="1600" dirty="0">
            <a:solidFill>
              <a:schemeClr val="tx1"/>
            </a:solidFill>
            <a:latin typeface="Times New Roman" panose="02020603050405020304" pitchFamily="18" charset="0"/>
            <a:cs typeface="Times New Roman" panose="02020603050405020304" pitchFamily="18" charset="0"/>
          </a:endParaRPr>
        </a:p>
      </dgm:t>
    </dgm:pt>
    <dgm:pt modelId="{A56A16F5-9883-A745-A5C2-DCDF389A05C6}" type="parTrans" cxnId="{032F300D-E06D-3143-8971-812C2111D361}">
      <dgm:prSet/>
      <dgm:spPr/>
      <dgm:t>
        <a:bodyPr/>
        <a:lstStyle/>
        <a:p>
          <a:endParaRPr lang="en-GB">
            <a:latin typeface="Times New Roman" panose="02020603050405020304" pitchFamily="18" charset="0"/>
            <a:cs typeface="Times New Roman" panose="02020603050405020304" pitchFamily="18" charset="0"/>
          </a:endParaRPr>
        </a:p>
      </dgm:t>
    </dgm:pt>
    <dgm:pt modelId="{838AD7A8-470F-4048-8A08-1567EB84A626}" type="sibTrans" cxnId="{032F300D-E06D-3143-8971-812C2111D361}">
      <dgm:prSet/>
      <dgm:spPr/>
      <dgm:t>
        <a:bodyPr/>
        <a:lstStyle/>
        <a:p>
          <a:endParaRPr lang="en-GB">
            <a:latin typeface="Times New Roman" panose="02020603050405020304" pitchFamily="18" charset="0"/>
            <a:cs typeface="Times New Roman" panose="02020603050405020304" pitchFamily="18" charset="0"/>
          </a:endParaRPr>
        </a:p>
      </dgm:t>
    </dgm:pt>
    <dgm:pt modelId="{F985175A-4A06-F84C-A96B-04E9B3053C29}">
      <dgm:prSet phldrT="[Text]" custT="1"/>
      <dgm:spPr/>
      <dgm:t>
        <a:bodyPr/>
        <a:lstStyle/>
        <a:p>
          <a:pPr>
            <a:buNone/>
          </a:pPr>
          <a:r>
            <a:rPr lang="en-IN" sz="2000" b="1" dirty="0">
              <a:solidFill>
                <a:srgbClr val="B98A82"/>
              </a:solidFill>
            </a:rPr>
            <a:t>Game-Theoretic Machine Unlearning for Large Language Models</a:t>
          </a:r>
        </a:p>
        <a:p>
          <a:pPr>
            <a:buNone/>
          </a:pPr>
          <a:r>
            <a:rPr lang="en-US" sz="1600" dirty="0"/>
            <a:t>Extend the unified framework to LLMs, ensuring robust unlearning across diverse text domains with ≥X% task accuracy retention and ≥Y% memorization leakage reduction, validated between 2027–2028.</a:t>
          </a:r>
          <a:endParaRPr lang="en-GB" sz="1600" dirty="0">
            <a:solidFill>
              <a:schemeClr val="tx1"/>
            </a:solidFill>
            <a:latin typeface="Times New Roman" panose="02020603050405020304" pitchFamily="18" charset="0"/>
            <a:cs typeface="Times New Roman" panose="02020603050405020304" pitchFamily="18" charset="0"/>
          </a:endParaRPr>
        </a:p>
      </dgm:t>
    </dgm:pt>
    <dgm:pt modelId="{3A6C4510-4A84-6844-B45D-D4EF2963695F}" type="parTrans" cxnId="{0F3AD537-392A-124E-87DB-76998C889913}">
      <dgm:prSet/>
      <dgm:spPr/>
      <dgm:t>
        <a:bodyPr/>
        <a:lstStyle/>
        <a:p>
          <a:endParaRPr lang="en-GB">
            <a:latin typeface="Times New Roman" panose="02020603050405020304" pitchFamily="18" charset="0"/>
            <a:cs typeface="Times New Roman" panose="02020603050405020304" pitchFamily="18" charset="0"/>
          </a:endParaRPr>
        </a:p>
      </dgm:t>
    </dgm:pt>
    <dgm:pt modelId="{F19AE27C-0FA8-DF46-9A7C-66E399C15731}" type="sibTrans" cxnId="{0F3AD537-392A-124E-87DB-76998C889913}">
      <dgm:prSet/>
      <dgm:spPr/>
      <dgm:t>
        <a:bodyPr/>
        <a:lstStyle/>
        <a:p>
          <a:endParaRPr lang="en-GB">
            <a:latin typeface="Times New Roman" panose="02020603050405020304" pitchFamily="18" charset="0"/>
            <a:cs typeface="Times New Roman" panose="02020603050405020304" pitchFamily="18" charset="0"/>
          </a:endParaRPr>
        </a:p>
      </dgm:t>
    </dgm:pt>
    <dgm:pt modelId="{1042AB73-0910-484B-8632-ACA69BB908E3}">
      <dgm:prSet phldrT="[Text]" custT="1"/>
      <dgm:spPr/>
      <dgm:t>
        <a:bodyPr/>
        <a:lstStyle/>
        <a:p>
          <a:pPr>
            <a:buNone/>
          </a:pPr>
          <a:r>
            <a:rPr lang="en-IN" sz="1200" b="1" kern="1200" dirty="0">
              <a:solidFill>
                <a:srgbClr val="A5A5A5"/>
              </a:solidFill>
              <a:latin typeface="Calibri" panose="020F0502020204030204"/>
              <a:ea typeface="+mn-ea"/>
              <a:cs typeface="+mn-cs"/>
            </a:rPr>
            <a:t>Dynamic Extensions of Game-Theoretic Machine Unlearning </a:t>
          </a:r>
        </a:p>
        <a:p>
          <a:pPr>
            <a:buNone/>
          </a:pPr>
          <a:r>
            <a:rPr lang="en-IN" sz="1200" b="1" kern="1200" dirty="0">
              <a:solidFill>
                <a:srgbClr val="A5A5A5"/>
              </a:solidFill>
              <a:latin typeface="Calibri" panose="020F0502020204030204"/>
              <a:ea typeface="+mn-ea"/>
              <a:cs typeface="+mn-cs"/>
            </a:rPr>
            <a:t>for Evolving Data Ecosystems</a:t>
          </a:r>
        </a:p>
        <a:p>
          <a:pPr>
            <a:buNone/>
          </a:pPr>
          <a:r>
            <a:rPr lang="en-US" sz="1600" kern="1200" dirty="0"/>
            <a:t>Adapt the framework to federated, streaming, and human-in-the-loop contexts, achieving ≥90% accuracy retention, ≥30% privacy leakage reduction, and ≤1s unlearning latency, completed within 12 months (2028–2029).</a:t>
          </a:r>
          <a:endParaRPr lang="en-GB" sz="1600" kern="1200" dirty="0">
            <a:solidFill>
              <a:schemeClr val="tx1"/>
            </a:solidFill>
            <a:latin typeface="Times New Roman" panose="02020603050405020304" pitchFamily="18" charset="0"/>
            <a:cs typeface="Times New Roman" panose="02020603050405020304" pitchFamily="18" charset="0"/>
          </a:endParaRPr>
        </a:p>
      </dgm:t>
    </dgm:pt>
    <dgm:pt modelId="{44A66077-7F2B-42E0-9F13-F21D286B6E3B}" type="parTrans" cxnId="{99A58BF9-A42C-4C46-9930-3C40543EFDC0}">
      <dgm:prSet/>
      <dgm:spPr/>
      <dgm:t>
        <a:bodyPr/>
        <a:lstStyle/>
        <a:p>
          <a:endParaRPr lang="en-IN"/>
        </a:p>
      </dgm:t>
    </dgm:pt>
    <dgm:pt modelId="{7895E3B5-67AC-49B7-8F4E-BF11C6CD5BFE}" type="sibTrans" cxnId="{99A58BF9-A42C-4C46-9930-3C40543EFDC0}">
      <dgm:prSet/>
      <dgm:spPr/>
      <dgm:t>
        <a:bodyPr/>
        <a:lstStyle/>
        <a:p>
          <a:endParaRPr lang="en-IN"/>
        </a:p>
      </dgm:t>
    </dgm:pt>
    <dgm:pt modelId="{E4D9EFDC-825D-B345-AB14-AE12FBB69B9D}" type="pres">
      <dgm:prSet presAssocID="{57D455D8-428A-9F43-A691-EF8F8F5689BD}" presName="linearFlow" presStyleCnt="0">
        <dgm:presLayoutVars>
          <dgm:dir/>
          <dgm:resizeHandles val="exact"/>
        </dgm:presLayoutVars>
      </dgm:prSet>
      <dgm:spPr/>
    </dgm:pt>
    <dgm:pt modelId="{79566DC5-9EA1-6044-9CE0-52FA8D7D9C4F}" type="pres">
      <dgm:prSet presAssocID="{94C4543E-8B7F-CF4D-978A-BB77AA6B98B1}" presName="composite" presStyleCnt="0"/>
      <dgm:spPr/>
    </dgm:pt>
    <dgm:pt modelId="{E370F7E1-3417-D347-85AA-C3941A450E3F}" type="pres">
      <dgm:prSet presAssocID="{94C4543E-8B7F-CF4D-978A-BB77AA6B98B1}" presName="imgShp" presStyleLbl="fgImgPlace1" presStyleIdx="0" presStyleCnt="4" custLinFactNeighborX="-71656" custLinFactNeighborY="1141"/>
      <dgm:spPr>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adge 1 with solid fill"/>
        </a:ext>
      </dgm:extLst>
    </dgm:pt>
    <dgm:pt modelId="{C6EDA068-6DCD-5B44-A711-56E467C655BB}" type="pres">
      <dgm:prSet presAssocID="{94C4543E-8B7F-CF4D-978A-BB77AA6B98B1}" presName="txShp" presStyleLbl="node1" presStyleIdx="0" presStyleCnt="4" custScaleX="133851">
        <dgm:presLayoutVars>
          <dgm:bulletEnabled val="1"/>
        </dgm:presLayoutVars>
      </dgm:prSet>
      <dgm:spPr/>
    </dgm:pt>
    <dgm:pt modelId="{69B5F443-8C6E-F249-84A2-CA1629DC0B9E}" type="pres">
      <dgm:prSet presAssocID="{3C8FACC6-2853-D94E-BEE8-6D7C40D7A6C8}" presName="spacing" presStyleCnt="0"/>
      <dgm:spPr/>
    </dgm:pt>
    <dgm:pt modelId="{38592B41-025B-104E-AF83-4B3221EF96DD}" type="pres">
      <dgm:prSet presAssocID="{92C01232-065A-014A-965D-E9288E28F34B}" presName="composite" presStyleCnt="0"/>
      <dgm:spPr/>
    </dgm:pt>
    <dgm:pt modelId="{BFA21859-67FE-0744-B3BE-5E8C851783A7}" type="pres">
      <dgm:prSet presAssocID="{92C01232-065A-014A-965D-E9288E28F34B}" presName="imgShp" presStyleLbl="fgImgPlace1" presStyleIdx="1" presStyleCnt="4" custLinFactNeighborX="-71656" custLinFactNeighborY="1141"/>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dge with solid fill"/>
        </a:ext>
      </dgm:extLst>
    </dgm:pt>
    <dgm:pt modelId="{600B32BE-338D-354F-945F-1972DB549D0F}" type="pres">
      <dgm:prSet presAssocID="{92C01232-065A-014A-965D-E9288E28F34B}" presName="txShp" presStyleLbl="node1" presStyleIdx="1" presStyleCnt="4" custScaleX="133851">
        <dgm:presLayoutVars>
          <dgm:bulletEnabled val="1"/>
        </dgm:presLayoutVars>
      </dgm:prSet>
      <dgm:spPr/>
    </dgm:pt>
    <dgm:pt modelId="{60A13FE8-9BF1-954C-BB15-4394D2E1FF0D}" type="pres">
      <dgm:prSet presAssocID="{838AD7A8-470F-4048-8A08-1567EB84A626}" presName="spacing" presStyleCnt="0"/>
      <dgm:spPr/>
    </dgm:pt>
    <dgm:pt modelId="{200DA732-5DD0-9F47-BD28-3653C94079A0}" type="pres">
      <dgm:prSet presAssocID="{F985175A-4A06-F84C-A96B-04E9B3053C29}" presName="composite" presStyleCnt="0"/>
      <dgm:spPr/>
    </dgm:pt>
    <dgm:pt modelId="{ABADC83B-53C8-154E-9872-C19DFA547FBA}" type="pres">
      <dgm:prSet presAssocID="{F985175A-4A06-F84C-A96B-04E9B3053C29}" presName="imgShp" presStyleLbl="fgImgPlace1" presStyleIdx="2" presStyleCnt="4" custLinFactNeighborX="-71656" custLinFactNeighborY="-114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adge 3 with solid fill"/>
        </a:ext>
      </dgm:extLst>
    </dgm:pt>
    <dgm:pt modelId="{39A2A09D-B1FC-4448-8A7B-3E4A7C41367A}" type="pres">
      <dgm:prSet presAssocID="{F985175A-4A06-F84C-A96B-04E9B3053C29}" presName="txShp" presStyleLbl="node1" presStyleIdx="2" presStyleCnt="4" custScaleX="133831">
        <dgm:presLayoutVars>
          <dgm:bulletEnabled val="1"/>
        </dgm:presLayoutVars>
      </dgm:prSet>
      <dgm:spPr/>
    </dgm:pt>
    <dgm:pt modelId="{B90603BD-AAB1-4BA1-9AD1-A6E7DE21B54F}" type="pres">
      <dgm:prSet presAssocID="{F19AE27C-0FA8-DF46-9A7C-66E399C15731}" presName="spacing" presStyleCnt="0"/>
      <dgm:spPr/>
    </dgm:pt>
    <dgm:pt modelId="{A184A265-B889-4D92-A87F-6E15D0070F9A}" type="pres">
      <dgm:prSet presAssocID="{1042AB73-0910-484B-8632-ACA69BB908E3}" presName="composite" presStyleCnt="0"/>
      <dgm:spPr/>
    </dgm:pt>
    <dgm:pt modelId="{CA87F486-DF9B-4BED-AB5B-E495441EB9D7}" type="pres">
      <dgm:prSet presAssocID="{1042AB73-0910-484B-8632-ACA69BB908E3}" presName="imgShp" presStyleLbl="fgImgPlace1" presStyleIdx="3" presStyleCnt="4" custLinFactNeighborX="-70753" custLinFactNeighborY="2081"/>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adge 3 with solid fill"/>
        </a:ext>
      </dgm:extLst>
    </dgm:pt>
    <dgm:pt modelId="{0B3460A5-0C14-4337-9EFF-60B22B6C22C9}" type="pres">
      <dgm:prSet presAssocID="{1042AB73-0910-484B-8632-ACA69BB908E3}" presName="txShp" presStyleLbl="node1" presStyleIdx="3" presStyleCnt="4" custScaleX="133831" custScaleY="144661">
        <dgm:presLayoutVars>
          <dgm:bulletEnabled val="1"/>
        </dgm:presLayoutVars>
      </dgm:prSet>
      <dgm:spPr/>
    </dgm:pt>
  </dgm:ptLst>
  <dgm:cxnLst>
    <dgm:cxn modelId="{032F300D-E06D-3143-8971-812C2111D361}" srcId="{57D455D8-428A-9F43-A691-EF8F8F5689BD}" destId="{92C01232-065A-014A-965D-E9288E28F34B}" srcOrd="1" destOrd="0" parTransId="{A56A16F5-9883-A745-A5C2-DCDF389A05C6}" sibTransId="{838AD7A8-470F-4048-8A08-1567EB84A626}"/>
    <dgm:cxn modelId="{2B1F1224-9549-E146-B02C-CA759A605711}" srcId="{57D455D8-428A-9F43-A691-EF8F8F5689BD}" destId="{94C4543E-8B7F-CF4D-978A-BB77AA6B98B1}" srcOrd="0" destOrd="0" parTransId="{CE3128F8-293E-BF4B-8436-7533A0C03A4C}" sibTransId="{3C8FACC6-2853-D94E-BEE8-6D7C40D7A6C8}"/>
    <dgm:cxn modelId="{0F3AD537-392A-124E-87DB-76998C889913}" srcId="{57D455D8-428A-9F43-A691-EF8F8F5689BD}" destId="{F985175A-4A06-F84C-A96B-04E9B3053C29}" srcOrd="2" destOrd="0" parTransId="{3A6C4510-4A84-6844-B45D-D4EF2963695F}" sibTransId="{F19AE27C-0FA8-DF46-9A7C-66E399C15731}"/>
    <dgm:cxn modelId="{233AC338-4B0D-3A47-B795-857FE6BB12DB}" type="presOf" srcId="{57D455D8-428A-9F43-A691-EF8F8F5689BD}" destId="{E4D9EFDC-825D-B345-AB14-AE12FBB69B9D}" srcOrd="0" destOrd="0" presId="urn:microsoft.com/office/officeart/2005/8/layout/vList3"/>
    <dgm:cxn modelId="{19C77262-F634-4D6D-AA7E-CC3F96712C72}" type="presOf" srcId="{1042AB73-0910-484B-8632-ACA69BB908E3}" destId="{0B3460A5-0C14-4337-9EFF-60B22B6C22C9}" srcOrd="0" destOrd="0" presId="urn:microsoft.com/office/officeart/2005/8/layout/vList3"/>
    <dgm:cxn modelId="{D6C202B6-9D18-4E47-8DC8-405FC5D5506C}" type="presOf" srcId="{92C01232-065A-014A-965D-E9288E28F34B}" destId="{600B32BE-338D-354F-945F-1972DB549D0F}" srcOrd="0" destOrd="0" presId="urn:microsoft.com/office/officeart/2005/8/layout/vList3"/>
    <dgm:cxn modelId="{76DA6ADE-2B59-5145-8CEB-0E45A0D1F3D2}" type="presOf" srcId="{F985175A-4A06-F84C-A96B-04E9B3053C29}" destId="{39A2A09D-B1FC-4448-8A7B-3E4A7C41367A}" srcOrd="0" destOrd="0" presId="urn:microsoft.com/office/officeart/2005/8/layout/vList3"/>
    <dgm:cxn modelId="{9E663EE2-563F-8B45-B3E0-DE0D677B42FF}" type="presOf" srcId="{94C4543E-8B7F-CF4D-978A-BB77AA6B98B1}" destId="{C6EDA068-6DCD-5B44-A711-56E467C655BB}" srcOrd="0" destOrd="0" presId="urn:microsoft.com/office/officeart/2005/8/layout/vList3"/>
    <dgm:cxn modelId="{99A58BF9-A42C-4C46-9930-3C40543EFDC0}" srcId="{57D455D8-428A-9F43-A691-EF8F8F5689BD}" destId="{1042AB73-0910-484B-8632-ACA69BB908E3}" srcOrd="3" destOrd="0" parTransId="{44A66077-7F2B-42E0-9F13-F21D286B6E3B}" sibTransId="{7895E3B5-67AC-49B7-8F4E-BF11C6CD5BFE}"/>
    <dgm:cxn modelId="{E9C8772D-0727-F64D-8242-8B9E37F58438}" type="presParOf" srcId="{E4D9EFDC-825D-B345-AB14-AE12FBB69B9D}" destId="{79566DC5-9EA1-6044-9CE0-52FA8D7D9C4F}" srcOrd="0" destOrd="0" presId="urn:microsoft.com/office/officeart/2005/8/layout/vList3"/>
    <dgm:cxn modelId="{3743F910-6590-9949-9362-2F489F2DE048}" type="presParOf" srcId="{79566DC5-9EA1-6044-9CE0-52FA8D7D9C4F}" destId="{E370F7E1-3417-D347-85AA-C3941A450E3F}" srcOrd="0" destOrd="0" presId="urn:microsoft.com/office/officeart/2005/8/layout/vList3"/>
    <dgm:cxn modelId="{7E7A699F-6FC3-EF41-9CD9-E4C3E781CEDB}" type="presParOf" srcId="{79566DC5-9EA1-6044-9CE0-52FA8D7D9C4F}" destId="{C6EDA068-6DCD-5B44-A711-56E467C655BB}" srcOrd="1" destOrd="0" presId="urn:microsoft.com/office/officeart/2005/8/layout/vList3"/>
    <dgm:cxn modelId="{64A3D68F-4B42-864D-84CB-6C075B8050F8}" type="presParOf" srcId="{E4D9EFDC-825D-B345-AB14-AE12FBB69B9D}" destId="{69B5F443-8C6E-F249-84A2-CA1629DC0B9E}" srcOrd="1" destOrd="0" presId="urn:microsoft.com/office/officeart/2005/8/layout/vList3"/>
    <dgm:cxn modelId="{34422AC7-11C6-6945-A020-0CF1E4C28494}" type="presParOf" srcId="{E4D9EFDC-825D-B345-AB14-AE12FBB69B9D}" destId="{38592B41-025B-104E-AF83-4B3221EF96DD}" srcOrd="2" destOrd="0" presId="urn:microsoft.com/office/officeart/2005/8/layout/vList3"/>
    <dgm:cxn modelId="{EED10489-4DED-CA46-A49F-A3C7AD2F748C}" type="presParOf" srcId="{38592B41-025B-104E-AF83-4B3221EF96DD}" destId="{BFA21859-67FE-0744-B3BE-5E8C851783A7}" srcOrd="0" destOrd="0" presId="urn:microsoft.com/office/officeart/2005/8/layout/vList3"/>
    <dgm:cxn modelId="{DB64D688-0A03-F24F-A18B-97761C9AF335}" type="presParOf" srcId="{38592B41-025B-104E-AF83-4B3221EF96DD}" destId="{600B32BE-338D-354F-945F-1972DB549D0F}" srcOrd="1" destOrd="0" presId="urn:microsoft.com/office/officeart/2005/8/layout/vList3"/>
    <dgm:cxn modelId="{3A9843C2-8C58-6449-B9AD-56DF3A18E126}" type="presParOf" srcId="{E4D9EFDC-825D-B345-AB14-AE12FBB69B9D}" destId="{60A13FE8-9BF1-954C-BB15-4394D2E1FF0D}" srcOrd="3" destOrd="0" presId="urn:microsoft.com/office/officeart/2005/8/layout/vList3"/>
    <dgm:cxn modelId="{BFC84D40-347F-FF4E-B787-F31D1F1367FF}" type="presParOf" srcId="{E4D9EFDC-825D-B345-AB14-AE12FBB69B9D}" destId="{200DA732-5DD0-9F47-BD28-3653C94079A0}" srcOrd="4" destOrd="0" presId="urn:microsoft.com/office/officeart/2005/8/layout/vList3"/>
    <dgm:cxn modelId="{7E22A9C7-E753-A841-AA6D-D884F830150C}" type="presParOf" srcId="{200DA732-5DD0-9F47-BD28-3653C94079A0}" destId="{ABADC83B-53C8-154E-9872-C19DFA547FBA}" srcOrd="0" destOrd="0" presId="urn:microsoft.com/office/officeart/2005/8/layout/vList3"/>
    <dgm:cxn modelId="{C1B26CCF-A4AB-EF4D-804F-8D4E5C2FBB75}" type="presParOf" srcId="{200DA732-5DD0-9F47-BD28-3653C94079A0}" destId="{39A2A09D-B1FC-4448-8A7B-3E4A7C41367A}" srcOrd="1" destOrd="0" presId="urn:microsoft.com/office/officeart/2005/8/layout/vList3"/>
    <dgm:cxn modelId="{F35E931F-E89B-4101-8CFA-A30022415EF6}" type="presParOf" srcId="{E4D9EFDC-825D-B345-AB14-AE12FBB69B9D}" destId="{B90603BD-AAB1-4BA1-9AD1-A6E7DE21B54F}" srcOrd="5" destOrd="0" presId="urn:microsoft.com/office/officeart/2005/8/layout/vList3"/>
    <dgm:cxn modelId="{F4BA5AB1-FECF-4FB4-BE95-C999920FEF50}" type="presParOf" srcId="{E4D9EFDC-825D-B345-AB14-AE12FBB69B9D}" destId="{A184A265-B889-4D92-A87F-6E15D0070F9A}" srcOrd="6" destOrd="0" presId="urn:microsoft.com/office/officeart/2005/8/layout/vList3"/>
    <dgm:cxn modelId="{F333A787-6558-40F5-9F50-42B1E75240E9}" type="presParOf" srcId="{A184A265-B889-4D92-A87F-6E15D0070F9A}" destId="{CA87F486-DF9B-4BED-AB5B-E495441EB9D7}" srcOrd="0" destOrd="0" presId="urn:microsoft.com/office/officeart/2005/8/layout/vList3"/>
    <dgm:cxn modelId="{10F8492E-749A-41F1-9DFD-C2E420E09FB3}" type="presParOf" srcId="{A184A265-B889-4D92-A87F-6E15D0070F9A}" destId="{0B3460A5-0C14-4337-9EFF-60B22B6C22C9}"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8AF250-C028-6944-BC0B-F23F48DF3317}" type="doc">
      <dgm:prSet loTypeId="urn:microsoft.com/office/officeart/2005/8/layout/vList2" loCatId="icon" qsTypeId="urn:microsoft.com/office/officeart/2005/8/quickstyle/simple1" qsCatId="simple" csTypeId="urn:microsoft.com/office/officeart/2005/8/colors/colorful2" csCatId="colorful" phldr="1"/>
      <dgm:spPr/>
      <dgm:t>
        <a:bodyPr/>
        <a:lstStyle/>
        <a:p>
          <a:endParaRPr lang="en-GB"/>
        </a:p>
      </dgm:t>
    </dgm:pt>
    <dgm:pt modelId="{8F74A032-9576-2D40-9099-0C427CF11689}">
      <dgm:prSet phldrT="[Text]" custT="1"/>
      <dgm:spPr/>
      <dgm:t>
        <a:bodyPr/>
        <a:lstStyle/>
        <a:p>
          <a:r>
            <a:rPr lang="en-IN" sz="2200" b="1" dirty="0"/>
            <a:t>Game-Theory-Based Balance</a:t>
          </a:r>
          <a:endParaRPr lang="en-GB" sz="2200" dirty="0">
            <a:latin typeface="Times New Roman" panose="02020603050405020304" pitchFamily="18" charset="0"/>
            <a:cs typeface="Times New Roman" panose="02020603050405020304" pitchFamily="18" charset="0"/>
          </a:endParaRPr>
        </a:p>
      </dgm:t>
    </dgm:pt>
    <dgm:pt modelId="{8A484799-44C8-ED4D-B604-6A7D023B089B}" type="parTrans" cxnId="{0E763C88-7F51-AA46-AF92-AC50AFC40136}">
      <dgm:prSet/>
      <dgm:spPr/>
      <dgm:t>
        <a:bodyPr/>
        <a:lstStyle/>
        <a:p>
          <a:endParaRPr lang="en-GB">
            <a:latin typeface="Times New Roman" panose="02020603050405020304" pitchFamily="18" charset="0"/>
            <a:cs typeface="Times New Roman" panose="02020603050405020304" pitchFamily="18" charset="0"/>
          </a:endParaRPr>
        </a:p>
      </dgm:t>
    </dgm:pt>
    <dgm:pt modelId="{780B9E1A-9435-E247-80F1-B342CD0160A4}" type="sibTrans" cxnId="{0E763C88-7F51-AA46-AF92-AC50AFC40136}">
      <dgm:prSet/>
      <dgm:spPr/>
      <dgm:t>
        <a:bodyPr/>
        <a:lstStyle/>
        <a:p>
          <a:endParaRPr lang="en-GB">
            <a:latin typeface="Times New Roman" panose="02020603050405020304" pitchFamily="18" charset="0"/>
            <a:cs typeface="Times New Roman" panose="02020603050405020304" pitchFamily="18" charset="0"/>
          </a:endParaRPr>
        </a:p>
      </dgm:t>
    </dgm:pt>
    <dgm:pt modelId="{9EB1543C-699C-A74D-843C-AC6FFED63362}">
      <dgm:prSet phldrT="[Text]" custT="1"/>
      <dgm:spPr/>
      <dgm:t>
        <a:bodyPr/>
        <a:lstStyle/>
        <a:p>
          <a:r>
            <a:rPr lang="en-IN" sz="2200" b="1" dirty="0"/>
            <a:t>Feature-Based Unlearning</a:t>
          </a:r>
          <a:endParaRPr lang="en-GB" sz="2200" dirty="0">
            <a:latin typeface="Times New Roman" panose="02020603050405020304" pitchFamily="18" charset="0"/>
            <a:cs typeface="Times New Roman" panose="02020603050405020304" pitchFamily="18" charset="0"/>
          </a:endParaRPr>
        </a:p>
      </dgm:t>
    </dgm:pt>
    <dgm:pt modelId="{EE597CEE-6F7A-0848-9ACA-2D6E1DD58385}" type="parTrans" cxnId="{E36CE871-15EE-6E49-B116-A37D63413853}">
      <dgm:prSet/>
      <dgm:spPr/>
      <dgm:t>
        <a:bodyPr/>
        <a:lstStyle/>
        <a:p>
          <a:endParaRPr lang="en-GB">
            <a:latin typeface="Times New Roman" panose="02020603050405020304" pitchFamily="18" charset="0"/>
            <a:cs typeface="Times New Roman" panose="02020603050405020304" pitchFamily="18" charset="0"/>
          </a:endParaRPr>
        </a:p>
      </dgm:t>
    </dgm:pt>
    <dgm:pt modelId="{DC5B6B44-DBD0-9D4E-892C-906816B10986}" type="sibTrans" cxnId="{E36CE871-15EE-6E49-B116-A37D63413853}">
      <dgm:prSet/>
      <dgm:spPr/>
      <dgm:t>
        <a:bodyPr/>
        <a:lstStyle/>
        <a:p>
          <a:endParaRPr lang="en-GB">
            <a:latin typeface="Times New Roman" panose="02020603050405020304" pitchFamily="18" charset="0"/>
            <a:cs typeface="Times New Roman" panose="02020603050405020304" pitchFamily="18" charset="0"/>
          </a:endParaRPr>
        </a:p>
      </dgm:t>
    </dgm:pt>
    <dgm:pt modelId="{D43EDD9D-20DE-0A4D-9AAF-520020EEB65E}">
      <dgm:prSet phldrT="[Text]" custT="1"/>
      <dgm:spPr/>
      <dgm:t>
        <a:bodyPr/>
        <a:lstStyle/>
        <a:p>
          <a:r>
            <a:rPr lang="en-IN" sz="2200" b="1" dirty="0"/>
            <a:t>Adversarial Threats</a:t>
          </a:r>
          <a:endParaRPr lang="en-GB" sz="2200" dirty="0">
            <a:latin typeface="Times New Roman" panose="02020603050405020304" pitchFamily="18" charset="0"/>
            <a:cs typeface="Times New Roman" panose="02020603050405020304" pitchFamily="18" charset="0"/>
          </a:endParaRPr>
        </a:p>
      </dgm:t>
    </dgm:pt>
    <dgm:pt modelId="{C5197630-82C6-C947-8C60-4CDE23C08E4D}" type="parTrans" cxnId="{148B352C-F7DB-6345-9391-68CA30B72ED1}">
      <dgm:prSet/>
      <dgm:spPr/>
      <dgm:t>
        <a:bodyPr/>
        <a:lstStyle/>
        <a:p>
          <a:endParaRPr lang="en-GB">
            <a:latin typeface="Times New Roman" panose="02020603050405020304" pitchFamily="18" charset="0"/>
            <a:cs typeface="Times New Roman" panose="02020603050405020304" pitchFamily="18" charset="0"/>
          </a:endParaRPr>
        </a:p>
      </dgm:t>
    </dgm:pt>
    <dgm:pt modelId="{27F755E2-58B9-A64B-8C75-B126D16F2685}" type="sibTrans" cxnId="{148B352C-F7DB-6345-9391-68CA30B72ED1}">
      <dgm:prSet/>
      <dgm:spPr/>
      <dgm:t>
        <a:bodyPr/>
        <a:lstStyle/>
        <a:p>
          <a:endParaRPr lang="en-GB">
            <a:latin typeface="Times New Roman" panose="02020603050405020304" pitchFamily="18" charset="0"/>
            <a:cs typeface="Times New Roman" panose="02020603050405020304" pitchFamily="18" charset="0"/>
          </a:endParaRPr>
        </a:p>
      </dgm:t>
    </dgm:pt>
    <dgm:pt modelId="{061B567A-E794-B041-8E22-1D6F78335851}">
      <dgm:prSet phldrT="[Text]" custT="1"/>
      <dgm:spPr/>
      <dgm:t>
        <a:bodyPr/>
        <a:lstStyle/>
        <a:p>
          <a:r>
            <a:rPr lang="en-IN" sz="2200" b="1" dirty="0"/>
            <a:t>Incentive Mechanisms</a:t>
          </a:r>
          <a:endParaRPr lang="en-GB" sz="2200" dirty="0">
            <a:latin typeface="Times New Roman" panose="02020603050405020304" pitchFamily="18" charset="0"/>
            <a:cs typeface="Times New Roman" panose="02020603050405020304" pitchFamily="18" charset="0"/>
          </a:endParaRPr>
        </a:p>
      </dgm:t>
    </dgm:pt>
    <dgm:pt modelId="{FBF4ABEA-C5DD-A043-8D29-49CDD8716FAC}" type="parTrans" cxnId="{53970047-FDFB-E34C-AEE8-C163DB8C057A}">
      <dgm:prSet/>
      <dgm:spPr/>
      <dgm:t>
        <a:bodyPr/>
        <a:lstStyle/>
        <a:p>
          <a:endParaRPr lang="en-GB">
            <a:latin typeface="Times New Roman" panose="02020603050405020304" pitchFamily="18" charset="0"/>
            <a:cs typeface="Times New Roman" panose="02020603050405020304" pitchFamily="18" charset="0"/>
          </a:endParaRPr>
        </a:p>
      </dgm:t>
    </dgm:pt>
    <dgm:pt modelId="{1AF0D980-443B-8C44-8373-2C4B86A1B8A6}" type="sibTrans" cxnId="{53970047-FDFB-E34C-AEE8-C163DB8C057A}">
      <dgm:prSet/>
      <dgm:spPr/>
      <dgm:t>
        <a:bodyPr/>
        <a:lstStyle/>
        <a:p>
          <a:endParaRPr lang="en-GB">
            <a:latin typeface="Times New Roman" panose="02020603050405020304" pitchFamily="18" charset="0"/>
            <a:cs typeface="Times New Roman" panose="02020603050405020304" pitchFamily="18" charset="0"/>
          </a:endParaRPr>
        </a:p>
      </dgm:t>
    </dgm:pt>
    <dgm:pt modelId="{F72B4CC1-94B7-422A-85EF-323467A31766}">
      <dgm:prSet phldrT="[Text]"/>
      <dgm:spPr/>
      <dgm:t>
        <a:bodyPr/>
        <a:lstStyle/>
        <a:p>
          <a:r>
            <a:rPr lang="en-IN" b="1" dirty="0"/>
            <a:t>Sequential &amp; Dynamic Unlearning</a:t>
          </a:r>
          <a:endParaRPr lang="en-GB" dirty="0">
            <a:latin typeface="Times New Roman" panose="02020603050405020304" pitchFamily="18" charset="0"/>
            <a:cs typeface="Times New Roman" panose="02020603050405020304" pitchFamily="18" charset="0"/>
          </a:endParaRPr>
        </a:p>
      </dgm:t>
    </dgm:pt>
    <dgm:pt modelId="{1864EC64-9A0C-4963-ADD7-88DCDE345F47}" type="parTrans" cxnId="{0096F966-45A6-489E-A043-315D4C026E90}">
      <dgm:prSet/>
      <dgm:spPr/>
      <dgm:t>
        <a:bodyPr/>
        <a:lstStyle/>
        <a:p>
          <a:endParaRPr lang="en-IN"/>
        </a:p>
      </dgm:t>
    </dgm:pt>
    <dgm:pt modelId="{924CE729-BA4B-43A2-A0BA-4FE45B3956EC}" type="sibTrans" cxnId="{0096F966-45A6-489E-A043-315D4C026E90}">
      <dgm:prSet/>
      <dgm:spPr/>
      <dgm:t>
        <a:bodyPr/>
        <a:lstStyle/>
        <a:p>
          <a:endParaRPr lang="en-IN"/>
        </a:p>
      </dgm:t>
    </dgm:pt>
    <dgm:pt modelId="{8C25F368-F0AA-4436-AA91-B1239C9B8F46}">
      <dgm:prSet phldrT="[Text]"/>
      <dgm:spPr/>
      <dgm:t>
        <a:bodyPr/>
        <a:lstStyle/>
        <a:p>
          <a:r>
            <a:rPr lang="en-IN" b="1" dirty="0"/>
            <a:t>Foundational Models (LLMs)</a:t>
          </a:r>
          <a:endParaRPr lang="en-GB" dirty="0">
            <a:latin typeface="Times New Roman" panose="02020603050405020304" pitchFamily="18" charset="0"/>
            <a:cs typeface="Times New Roman" panose="02020603050405020304" pitchFamily="18" charset="0"/>
          </a:endParaRPr>
        </a:p>
      </dgm:t>
    </dgm:pt>
    <dgm:pt modelId="{8A97F509-DB92-49F5-972C-885934337545}" type="parTrans" cxnId="{99BAF419-65A1-4D8E-8955-52AC44F63034}">
      <dgm:prSet/>
      <dgm:spPr/>
      <dgm:t>
        <a:bodyPr/>
        <a:lstStyle/>
        <a:p>
          <a:endParaRPr lang="en-IN"/>
        </a:p>
      </dgm:t>
    </dgm:pt>
    <dgm:pt modelId="{3863100F-2D2B-4D82-9C08-B9AB0870D477}" type="sibTrans" cxnId="{99BAF419-65A1-4D8E-8955-52AC44F63034}">
      <dgm:prSet/>
      <dgm:spPr/>
      <dgm:t>
        <a:bodyPr/>
        <a:lstStyle/>
        <a:p>
          <a:endParaRPr lang="en-IN"/>
        </a:p>
      </dgm:t>
    </dgm:pt>
    <dgm:pt modelId="{B38352D3-7D97-F943-BEDF-BF879ABABC15}" type="pres">
      <dgm:prSet presAssocID="{338AF250-C028-6944-BC0B-F23F48DF3317}" presName="linear" presStyleCnt="0">
        <dgm:presLayoutVars>
          <dgm:animLvl val="lvl"/>
          <dgm:resizeHandles val="exact"/>
        </dgm:presLayoutVars>
      </dgm:prSet>
      <dgm:spPr/>
    </dgm:pt>
    <dgm:pt modelId="{A4E04F62-09DD-B54F-A5F1-00C00774E7AE}" type="pres">
      <dgm:prSet presAssocID="{8F74A032-9576-2D40-9099-0C427CF11689}" presName="parentText" presStyleLbl="node1" presStyleIdx="0" presStyleCnt="6" custScaleY="62130">
        <dgm:presLayoutVars>
          <dgm:chMax val="0"/>
          <dgm:bulletEnabled val="1"/>
        </dgm:presLayoutVars>
      </dgm:prSet>
      <dgm:spPr/>
    </dgm:pt>
    <dgm:pt modelId="{FCF2DE0B-C01E-4F48-86A0-032E90C00540}" type="pres">
      <dgm:prSet presAssocID="{780B9E1A-9435-E247-80F1-B342CD0160A4}" presName="spacer" presStyleCnt="0"/>
      <dgm:spPr/>
    </dgm:pt>
    <dgm:pt modelId="{7E84986F-31ED-3B4E-8C92-3D7F9539EABC}" type="pres">
      <dgm:prSet presAssocID="{9EB1543C-699C-A74D-843C-AC6FFED63362}" presName="parentText" presStyleLbl="node1" presStyleIdx="1" presStyleCnt="6" custScaleY="59172">
        <dgm:presLayoutVars>
          <dgm:chMax val="0"/>
          <dgm:bulletEnabled val="1"/>
        </dgm:presLayoutVars>
      </dgm:prSet>
      <dgm:spPr/>
    </dgm:pt>
    <dgm:pt modelId="{0FA3C643-E5B2-0F44-800A-85CB383E99C8}" type="pres">
      <dgm:prSet presAssocID="{DC5B6B44-DBD0-9D4E-892C-906816B10986}" presName="spacer" presStyleCnt="0"/>
      <dgm:spPr/>
    </dgm:pt>
    <dgm:pt modelId="{5B741CD7-A409-0245-B1BB-C75CE64ABDB1}" type="pres">
      <dgm:prSet presAssocID="{D43EDD9D-20DE-0A4D-9AAF-520020EEB65E}" presName="parentText" presStyleLbl="node1" presStyleIdx="2" presStyleCnt="6" custScaleY="59172">
        <dgm:presLayoutVars>
          <dgm:chMax val="0"/>
          <dgm:bulletEnabled val="1"/>
        </dgm:presLayoutVars>
      </dgm:prSet>
      <dgm:spPr/>
    </dgm:pt>
    <dgm:pt modelId="{73AC5768-3635-684F-A10F-7AB6AD167016}" type="pres">
      <dgm:prSet presAssocID="{27F755E2-58B9-A64B-8C75-B126D16F2685}" presName="spacer" presStyleCnt="0"/>
      <dgm:spPr/>
    </dgm:pt>
    <dgm:pt modelId="{1696C1F1-52CA-C841-9B6E-D9D865D87518}" type="pres">
      <dgm:prSet presAssocID="{061B567A-E794-B041-8E22-1D6F78335851}" presName="parentText" presStyleLbl="node1" presStyleIdx="3" presStyleCnt="6" custScaleY="59172">
        <dgm:presLayoutVars>
          <dgm:chMax val="0"/>
          <dgm:bulletEnabled val="1"/>
        </dgm:presLayoutVars>
      </dgm:prSet>
      <dgm:spPr/>
    </dgm:pt>
    <dgm:pt modelId="{DFFFBED5-6E6B-42FA-BE62-27966EB5963F}" type="pres">
      <dgm:prSet presAssocID="{1AF0D980-443B-8C44-8373-2C4B86A1B8A6}" presName="spacer" presStyleCnt="0"/>
      <dgm:spPr/>
    </dgm:pt>
    <dgm:pt modelId="{9189BD81-23D6-4F41-A2AC-0BEB7D8C5E5A}" type="pres">
      <dgm:prSet presAssocID="{F72B4CC1-94B7-422A-85EF-323467A31766}" presName="parentText" presStyleLbl="node1" presStyleIdx="4" presStyleCnt="6" custScaleY="59172">
        <dgm:presLayoutVars>
          <dgm:chMax val="0"/>
          <dgm:bulletEnabled val="1"/>
        </dgm:presLayoutVars>
      </dgm:prSet>
      <dgm:spPr/>
    </dgm:pt>
    <dgm:pt modelId="{81893C84-4667-436F-B91C-64D4222230F8}" type="pres">
      <dgm:prSet presAssocID="{924CE729-BA4B-43A2-A0BA-4FE45B3956EC}" presName="spacer" presStyleCnt="0"/>
      <dgm:spPr/>
    </dgm:pt>
    <dgm:pt modelId="{82BA55FB-0385-4620-AF75-7A75F6FC5B84}" type="pres">
      <dgm:prSet presAssocID="{8C25F368-F0AA-4436-AA91-B1239C9B8F46}" presName="parentText" presStyleLbl="node1" presStyleIdx="5" presStyleCnt="6" custScaleY="59172">
        <dgm:presLayoutVars>
          <dgm:chMax val="0"/>
          <dgm:bulletEnabled val="1"/>
        </dgm:presLayoutVars>
      </dgm:prSet>
      <dgm:spPr/>
    </dgm:pt>
  </dgm:ptLst>
  <dgm:cxnLst>
    <dgm:cxn modelId="{5A578813-A1CA-4AB4-BFA3-19D6B84A271D}" type="presOf" srcId="{8C25F368-F0AA-4436-AA91-B1239C9B8F46}" destId="{82BA55FB-0385-4620-AF75-7A75F6FC5B84}" srcOrd="0" destOrd="0" presId="urn:microsoft.com/office/officeart/2005/8/layout/vList2"/>
    <dgm:cxn modelId="{99BAF419-65A1-4D8E-8955-52AC44F63034}" srcId="{338AF250-C028-6944-BC0B-F23F48DF3317}" destId="{8C25F368-F0AA-4436-AA91-B1239C9B8F46}" srcOrd="5" destOrd="0" parTransId="{8A97F509-DB92-49F5-972C-885934337545}" sibTransId="{3863100F-2D2B-4D82-9C08-B9AB0870D477}"/>
    <dgm:cxn modelId="{31BDBA27-8991-4C4E-8BA7-09921148B70D}" type="presOf" srcId="{338AF250-C028-6944-BC0B-F23F48DF3317}" destId="{B38352D3-7D97-F943-BEDF-BF879ABABC15}" srcOrd="0" destOrd="0" presId="urn:microsoft.com/office/officeart/2005/8/layout/vList2"/>
    <dgm:cxn modelId="{148B352C-F7DB-6345-9391-68CA30B72ED1}" srcId="{338AF250-C028-6944-BC0B-F23F48DF3317}" destId="{D43EDD9D-20DE-0A4D-9AAF-520020EEB65E}" srcOrd="2" destOrd="0" parTransId="{C5197630-82C6-C947-8C60-4CDE23C08E4D}" sibTransId="{27F755E2-58B9-A64B-8C75-B126D16F2685}"/>
    <dgm:cxn modelId="{0096F966-45A6-489E-A043-315D4C026E90}" srcId="{338AF250-C028-6944-BC0B-F23F48DF3317}" destId="{F72B4CC1-94B7-422A-85EF-323467A31766}" srcOrd="4" destOrd="0" parTransId="{1864EC64-9A0C-4963-ADD7-88DCDE345F47}" sibTransId="{924CE729-BA4B-43A2-A0BA-4FE45B3956EC}"/>
    <dgm:cxn modelId="{53970047-FDFB-E34C-AEE8-C163DB8C057A}" srcId="{338AF250-C028-6944-BC0B-F23F48DF3317}" destId="{061B567A-E794-B041-8E22-1D6F78335851}" srcOrd="3" destOrd="0" parTransId="{FBF4ABEA-C5DD-A043-8D29-49CDD8716FAC}" sibTransId="{1AF0D980-443B-8C44-8373-2C4B86A1B8A6}"/>
    <dgm:cxn modelId="{E36CE871-15EE-6E49-B116-A37D63413853}" srcId="{338AF250-C028-6944-BC0B-F23F48DF3317}" destId="{9EB1543C-699C-A74D-843C-AC6FFED63362}" srcOrd="1" destOrd="0" parTransId="{EE597CEE-6F7A-0848-9ACA-2D6E1DD58385}" sibTransId="{DC5B6B44-DBD0-9D4E-892C-906816B10986}"/>
    <dgm:cxn modelId="{DBD82076-68D2-C746-AEDA-09C393B9FFBB}" type="presOf" srcId="{D43EDD9D-20DE-0A4D-9AAF-520020EEB65E}" destId="{5B741CD7-A409-0245-B1BB-C75CE64ABDB1}" srcOrd="0" destOrd="0" presId="urn:microsoft.com/office/officeart/2005/8/layout/vList2"/>
    <dgm:cxn modelId="{0E763C88-7F51-AA46-AF92-AC50AFC40136}" srcId="{338AF250-C028-6944-BC0B-F23F48DF3317}" destId="{8F74A032-9576-2D40-9099-0C427CF11689}" srcOrd="0" destOrd="0" parTransId="{8A484799-44C8-ED4D-B604-6A7D023B089B}" sibTransId="{780B9E1A-9435-E247-80F1-B342CD0160A4}"/>
    <dgm:cxn modelId="{1845F9A6-E19E-FD48-B4EA-2CA89A8B0348}" type="presOf" srcId="{9EB1543C-699C-A74D-843C-AC6FFED63362}" destId="{7E84986F-31ED-3B4E-8C92-3D7F9539EABC}" srcOrd="0" destOrd="0" presId="urn:microsoft.com/office/officeart/2005/8/layout/vList2"/>
    <dgm:cxn modelId="{4901ADC4-79A1-A64C-B700-FB0D05D5B2E9}" type="presOf" srcId="{8F74A032-9576-2D40-9099-0C427CF11689}" destId="{A4E04F62-09DD-B54F-A5F1-00C00774E7AE}" srcOrd="0" destOrd="0" presId="urn:microsoft.com/office/officeart/2005/8/layout/vList2"/>
    <dgm:cxn modelId="{7721DDC7-F92B-4644-9102-BBDAD58A4506}" type="presOf" srcId="{061B567A-E794-B041-8E22-1D6F78335851}" destId="{1696C1F1-52CA-C841-9B6E-D9D865D87518}" srcOrd="0" destOrd="0" presId="urn:microsoft.com/office/officeart/2005/8/layout/vList2"/>
    <dgm:cxn modelId="{7B689CFB-52C0-4E7B-AA5E-2FAFB10CF668}" type="presOf" srcId="{F72B4CC1-94B7-422A-85EF-323467A31766}" destId="{9189BD81-23D6-4F41-A2AC-0BEB7D8C5E5A}" srcOrd="0" destOrd="0" presId="urn:microsoft.com/office/officeart/2005/8/layout/vList2"/>
    <dgm:cxn modelId="{F045E6E4-DE7F-B34B-BBB3-5220F993A565}" type="presParOf" srcId="{B38352D3-7D97-F943-BEDF-BF879ABABC15}" destId="{A4E04F62-09DD-B54F-A5F1-00C00774E7AE}" srcOrd="0" destOrd="0" presId="urn:microsoft.com/office/officeart/2005/8/layout/vList2"/>
    <dgm:cxn modelId="{E0927A46-35EE-C642-9477-8DF27F389E5F}" type="presParOf" srcId="{B38352D3-7D97-F943-BEDF-BF879ABABC15}" destId="{FCF2DE0B-C01E-4F48-86A0-032E90C00540}" srcOrd="1" destOrd="0" presId="urn:microsoft.com/office/officeart/2005/8/layout/vList2"/>
    <dgm:cxn modelId="{A2CDA19F-0F02-4543-A105-72AC82446A67}" type="presParOf" srcId="{B38352D3-7D97-F943-BEDF-BF879ABABC15}" destId="{7E84986F-31ED-3B4E-8C92-3D7F9539EABC}" srcOrd="2" destOrd="0" presId="urn:microsoft.com/office/officeart/2005/8/layout/vList2"/>
    <dgm:cxn modelId="{3771CDC2-7D53-814C-A6DF-8212B9990079}" type="presParOf" srcId="{B38352D3-7D97-F943-BEDF-BF879ABABC15}" destId="{0FA3C643-E5B2-0F44-800A-85CB383E99C8}" srcOrd="3" destOrd="0" presId="urn:microsoft.com/office/officeart/2005/8/layout/vList2"/>
    <dgm:cxn modelId="{0BC96533-2E39-6044-9D39-A13357BFBDF6}" type="presParOf" srcId="{B38352D3-7D97-F943-BEDF-BF879ABABC15}" destId="{5B741CD7-A409-0245-B1BB-C75CE64ABDB1}" srcOrd="4" destOrd="0" presId="urn:microsoft.com/office/officeart/2005/8/layout/vList2"/>
    <dgm:cxn modelId="{33EB2C4A-E6E3-C54F-B354-161AF22F9C0E}" type="presParOf" srcId="{B38352D3-7D97-F943-BEDF-BF879ABABC15}" destId="{73AC5768-3635-684F-A10F-7AB6AD167016}" srcOrd="5" destOrd="0" presId="urn:microsoft.com/office/officeart/2005/8/layout/vList2"/>
    <dgm:cxn modelId="{3BA33A48-26CF-A44D-8831-93F31D70F4DE}" type="presParOf" srcId="{B38352D3-7D97-F943-BEDF-BF879ABABC15}" destId="{1696C1F1-52CA-C841-9B6E-D9D865D87518}" srcOrd="6" destOrd="0" presId="urn:microsoft.com/office/officeart/2005/8/layout/vList2"/>
    <dgm:cxn modelId="{27A69DA8-33B7-4FE9-BFFD-F41A8C29026A}" type="presParOf" srcId="{B38352D3-7D97-F943-BEDF-BF879ABABC15}" destId="{DFFFBED5-6E6B-42FA-BE62-27966EB5963F}" srcOrd="7" destOrd="0" presId="urn:microsoft.com/office/officeart/2005/8/layout/vList2"/>
    <dgm:cxn modelId="{C1A71493-885B-42BE-9838-FEFD7419D01C}" type="presParOf" srcId="{B38352D3-7D97-F943-BEDF-BF879ABABC15}" destId="{9189BD81-23D6-4F41-A2AC-0BEB7D8C5E5A}" srcOrd="8" destOrd="0" presId="urn:microsoft.com/office/officeart/2005/8/layout/vList2"/>
    <dgm:cxn modelId="{39EFCEAF-6861-4981-9B5B-855134C7BE43}" type="presParOf" srcId="{B38352D3-7D97-F943-BEDF-BF879ABABC15}" destId="{81893C84-4667-436F-B91C-64D4222230F8}" srcOrd="9" destOrd="0" presId="urn:microsoft.com/office/officeart/2005/8/layout/vList2"/>
    <dgm:cxn modelId="{D0B4CED4-2669-43B2-B1C0-4B763564D89E}" type="presParOf" srcId="{B38352D3-7D97-F943-BEDF-BF879ABABC15}" destId="{82BA55FB-0385-4620-AF75-7A75F6FC5B84}"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38AF250-C028-6944-BC0B-F23F48DF3317}" type="doc">
      <dgm:prSet loTypeId="urn:microsoft.com/office/officeart/2005/8/layout/vList2" loCatId="icon" qsTypeId="urn:microsoft.com/office/officeart/2005/8/quickstyle/simple1" qsCatId="simple" csTypeId="urn:microsoft.com/office/officeart/2005/8/colors/colorful2" csCatId="colorful" phldr="1"/>
      <dgm:spPr/>
      <dgm:t>
        <a:bodyPr/>
        <a:lstStyle/>
        <a:p>
          <a:endParaRPr lang="en-GB"/>
        </a:p>
      </dgm:t>
    </dgm:pt>
    <dgm:pt modelId="{8F74A032-9576-2D40-9099-0C427CF11689}">
      <dgm:prSet phldrT="[Text]" custT="1"/>
      <dgm:spPr/>
      <dgm:t>
        <a:bodyPr/>
        <a:lstStyle/>
        <a:p>
          <a:r>
            <a:rPr lang="en-US" sz="1400" dirty="0"/>
            <a:t>Develop a foundational game-theoretic framework for machine unlearning that integrates multiple                         attack models</a:t>
          </a:r>
          <a:endParaRPr lang="en-GB" sz="1400" dirty="0">
            <a:latin typeface="Times New Roman" panose="02020603050405020304" pitchFamily="18" charset="0"/>
            <a:cs typeface="Times New Roman" panose="02020603050405020304" pitchFamily="18" charset="0"/>
          </a:endParaRPr>
        </a:p>
      </dgm:t>
    </dgm:pt>
    <dgm:pt modelId="{8A484799-44C8-ED4D-B604-6A7D023B089B}" type="parTrans" cxnId="{0E763C88-7F51-AA46-AF92-AC50AFC40136}">
      <dgm:prSet/>
      <dgm:spPr/>
      <dgm:t>
        <a:bodyPr/>
        <a:lstStyle/>
        <a:p>
          <a:endParaRPr lang="en-GB">
            <a:latin typeface="Times New Roman" panose="02020603050405020304" pitchFamily="18" charset="0"/>
            <a:cs typeface="Times New Roman" panose="02020603050405020304" pitchFamily="18" charset="0"/>
          </a:endParaRPr>
        </a:p>
      </dgm:t>
    </dgm:pt>
    <dgm:pt modelId="{780B9E1A-9435-E247-80F1-B342CD0160A4}" type="sibTrans" cxnId="{0E763C88-7F51-AA46-AF92-AC50AFC40136}">
      <dgm:prSet/>
      <dgm:spPr/>
      <dgm:t>
        <a:bodyPr/>
        <a:lstStyle/>
        <a:p>
          <a:endParaRPr lang="en-GB">
            <a:latin typeface="Times New Roman" panose="02020603050405020304" pitchFamily="18" charset="0"/>
            <a:cs typeface="Times New Roman" panose="02020603050405020304" pitchFamily="18" charset="0"/>
          </a:endParaRPr>
        </a:p>
      </dgm:t>
    </dgm:pt>
    <dgm:pt modelId="{D43EDD9D-20DE-0A4D-9AAF-520020EEB65E}">
      <dgm:prSet phldrT="[Text]" custT="1"/>
      <dgm:spPr/>
      <dgm:t>
        <a:bodyPr/>
        <a:lstStyle/>
        <a:p>
          <a:r>
            <a:rPr lang="en-US" sz="1400" dirty="0"/>
            <a:t>Design a feature-based unlearning framework applied to SISA and other models, balancing utility and privacy </a:t>
          </a:r>
          <a:endParaRPr lang="en-GB" sz="1400" dirty="0">
            <a:latin typeface="Times New Roman" panose="02020603050405020304" pitchFamily="18" charset="0"/>
            <a:cs typeface="Times New Roman" panose="02020603050405020304" pitchFamily="18" charset="0"/>
          </a:endParaRPr>
        </a:p>
      </dgm:t>
    </dgm:pt>
    <dgm:pt modelId="{C5197630-82C6-C947-8C60-4CDE23C08E4D}" type="parTrans" cxnId="{148B352C-F7DB-6345-9391-68CA30B72ED1}">
      <dgm:prSet/>
      <dgm:spPr/>
      <dgm:t>
        <a:bodyPr/>
        <a:lstStyle/>
        <a:p>
          <a:endParaRPr lang="en-GB">
            <a:latin typeface="Times New Roman" panose="02020603050405020304" pitchFamily="18" charset="0"/>
            <a:cs typeface="Times New Roman" panose="02020603050405020304" pitchFamily="18" charset="0"/>
          </a:endParaRPr>
        </a:p>
      </dgm:t>
    </dgm:pt>
    <dgm:pt modelId="{27F755E2-58B9-A64B-8C75-B126D16F2685}" type="sibTrans" cxnId="{148B352C-F7DB-6345-9391-68CA30B72ED1}">
      <dgm:prSet/>
      <dgm:spPr/>
      <dgm:t>
        <a:bodyPr/>
        <a:lstStyle/>
        <a:p>
          <a:endParaRPr lang="en-GB">
            <a:latin typeface="Times New Roman" panose="02020603050405020304" pitchFamily="18" charset="0"/>
            <a:cs typeface="Times New Roman" panose="02020603050405020304" pitchFamily="18" charset="0"/>
          </a:endParaRPr>
        </a:p>
      </dgm:t>
    </dgm:pt>
    <dgm:pt modelId="{061B567A-E794-B041-8E22-1D6F78335851}">
      <dgm:prSet phldrT="[Text]" custT="1"/>
      <dgm:spPr/>
      <dgm:t>
        <a:bodyPr/>
        <a:lstStyle/>
        <a:p>
          <a:r>
            <a:rPr lang="en-IN" sz="1800" b="1" dirty="0">
              <a:solidFill>
                <a:schemeClr val="tx1"/>
              </a:solidFill>
            </a:rPr>
            <a:t>Unlearning in Large Language Models</a:t>
          </a:r>
          <a:endParaRPr lang="en-GB" sz="1800" dirty="0">
            <a:latin typeface="Times New Roman" panose="02020603050405020304" pitchFamily="18" charset="0"/>
            <a:cs typeface="Times New Roman" panose="02020603050405020304" pitchFamily="18" charset="0"/>
          </a:endParaRPr>
        </a:p>
      </dgm:t>
    </dgm:pt>
    <dgm:pt modelId="{FBF4ABEA-C5DD-A043-8D29-49CDD8716FAC}" type="parTrans" cxnId="{53970047-FDFB-E34C-AEE8-C163DB8C057A}">
      <dgm:prSet/>
      <dgm:spPr/>
      <dgm:t>
        <a:bodyPr/>
        <a:lstStyle/>
        <a:p>
          <a:endParaRPr lang="en-GB">
            <a:latin typeface="Times New Roman" panose="02020603050405020304" pitchFamily="18" charset="0"/>
            <a:cs typeface="Times New Roman" panose="02020603050405020304" pitchFamily="18" charset="0"/>
          </a:endParaRPr>
        </a:p>
      </dgm:t>
    </dgm:pt>
    <dgm:pt modelId="{1AF0D980-443B-8C44-8373-2C4B86A1B8A6}" type="sibTrans" cxnId="{53970047-FDFB-E34C-AEE8-C163DB8C057A}">
      <dgm:prSet/>
      <dgm:spPr/>
      <dgm:t>
        <a:bodyPr/>
        <a:lstStyle/>
        <a:p>
          <a:endParaRPr lang="en-GB">
            <a:latin typeface="Times New Roman" panose="02020603050405020304" pitchFamily="18" charset="0"/>
            <a:cs typeface="Times New Roman" panose="02020603050405020304" pitchFamily="18" charset="0"/>
          </a:endParaRPr>
        </a:p>
      </dgm:t>
    </dgm:pt>
    <dgm:pt modelId="{31513268-C06B-4DE2-B8DE-5773AEA66826}">
      <dgm:prSet/>
      <dgm:spPr/>
      <dgm:t>
        <a:bodyPr/>
        <a:lstStyle/>
        <a:p>
          <a:pPr>
            <a:buNone/>
          </a:pPr>
          <a:r>
            <a:rPr lang="en-IN" b="1" dirty="0">
              <a:solidFill>
                <a:srgbClr val="A5A5A5"/>
              </a:solidFill>
              <a:latin typeface="Calibri" panose="020F0502020204030204"/>
              <a:ea typeface="+mn-ea"/>
              <a:cs typeface="+mn-cs"/>
            </a:rPr>
            <a:t>for Evolving Data Ecosystems</a:t>
          </a:r>
        </a:p>
        <a:p>
          <a:pPr>
            <a:buNone/>
          </a:pPr>
          <a:r>
            <a:rPr lang="en-US" dirty="0"/>
            <a:t>Unlearning framework got federated, streaming, sequential vs dynamic</a:t>
          </a:r>
          <a:endParaRPr lang="en-IN" dirty="0"/>
        </a:p>
      </dgm:t>
    </dgm:pt>
    <dgm:pt modelId="{15B5DB14-3DF1-4A16-B9E2-DC88087FD494}" type="parTrans" cxnId="{B435268D-4E21-4D04-A1F0-DA7FE86D6ABA}">
      <dgm:prSet/>
      <dgm:spPr/>
      <dgm:t>
        <a:bodyPr/>
        <a:lstStyle/>
        <a:p>
          <a:endParaRPr lang="en-IN"/>
        </a:p>
      </dgm:t>
    </dgm:pt>
    <dgm:pt modelId="{21DED1AF-8265-4FA8-8465-E31B4403E455}" type="sibTrans" cxnId="{B435268D-4E21-4D04-A1F0-DA7FE86D6ABA}">
      <dgm:prSet/>
      <dgm:spPr/>
      <dgm:t>
        <a:bodyPr/>
        <a:lstStyle/>
        <a:p>
          <a:endParaRPr lang="en-IN"/>
        </a:p>
      </dgm:t>
    </dgm:pt>
    <dgm:pt modelId="{B38352D3-7D97-F943-BEDF-BF879ABABC15}" type="pres">
      <dgm:prSet presAssocID="{338AF250-C028-6944-BC0B-F23F48DF3317}" presName="linear" presStyleCnt="0">
        <dgm:presLayoutVars>
          <dgm:animLvl val="lvl"/>
          <dgm:resizeHandles val="exact"/>
        </dgm:presLayoutVars>
      </dgm:prSet>
      <dgm:spPr/>
    </dgm:pt>
    <dgm:pt modelId="{A4E04F62-09DD-B54F-A5F1-00C00774E7AE}" type="pres">
      <dgm:prSet presAssocID="{8F74A032-9576-2D40-9099-0C427CF11689}" presName="parentText" presStyleLbl="node1" presStyleIdx="0" presStyleCnt="4" custScaleY="78352" custLinFactY="-55717" custLinFactNeighborX="149" custLinFactNeighborY="-100000">
        <dgm:presLayoutVars>
          <dgm:chMax val="0"/>
          <dgm:bulletEnabled val="1"/>
        </dgm:presLayoutVars>
      </dgm:prSet>
      <dgm:spPr/>
    </dgm:pt>
    <dgm:pt modelId="{FCF2DE0B-C01E-4F48-86A0-032E90C00540}" type="pres">
      <dgm:prSet presAssocID="{780B9E1A-9435-E247-80F1-B342CD0160A4}" presName="spacer" presStyleCnt="0"/>
      <dgm:spPr/>
    </dgm:pt>
    <dgm:pt modelId="{5B741CD7-A409-0245-B1BB-C75CE64ABDB1}" type="pres">
      <dgm:prSet presAssocID="{D43EDD9D-20DE-0A4D-9AAF-520020EEB65E}" presName="parentText" presStyleLbl="node1" presStyleIdx="1" presStyleCnt="4" custScaleY="59172" custLinFactNeighborY="-29652">
        <dgm:presLayoutVars>
          <dgm:chMax val="0"/>
          <dgm:bulletEnabled val="1"/>
        </dgm:presLayoutVars>
      </dgm:prSet>
      <dgm:spPr/>
    </dgm:pt>
    <dgm:pt modelId="{73AC5768-3635-684F-A10F-7AB6AD167016}" type="pres">
      <dgm:prSet presAssocID="{27F755E2-58B9-A64B-8C75-B126D16F2685}" presName="spacer" presStyleCnt="0"/>
      <dgm:spPr/>
    </dgm:pt>
    <dgm:pt modelId="{1696C1F1-52CA-C841-9B6E-D9D865D87518}" type="pres">
      <dgm:prSet presAssocID="{061B567A-E794-B041-8E22-1D6F78335851}" presName="parentText" presStyleLbl="node1" presStyleIdx="2" presStyleCnt="4" custScaleY="98316" custLinFactY="2087" custLinFactNeighborY="100000">
        <dgm:presLayoutVars>
          <dgm:chMax val="0"/>
          <dgm:bulletEnabled val="1"/>
        </dgm:presLayoutVars>
      </dgm:prSet>
      <dgm:spPr/>
    </dgm:pt>
    <dgm:pt modelId="{D6FD60E2-AAD7-484A-BFA5-BD5B9B780CFC}" type="pres">
      <dgm:prSet presAssocID="{1AF0D980-443B-8C44-8373-2C4B86A1B8A6}" presName="spacer" presStyleCnt="0"/>
      <dgm:spPr/>
    </dgm:pt>
    <dgm:pt modelId="{C907FC63-99B8-4DF8-BA04-9408DC83F7DD}" type="pres">
      <dgm:prSet presAssocID="{31513268-C06B-4DE2-B8DE-5773AEA66826}" presName="parentText" presStyleLbl="node1" presStyleIdx="3" presStyleCnt="4">
        <dgm:presLayoutVars>
          <dgm:chMax val="0"/>
          <dgm:bulletEnabled val="1"/>
        </dgm:presLayoutVars>
      </dgm:prSet>
      <dgm:spPr/>
    </dgm:pt>
  </dgm:ptLst>
  <dgm:cxnLst>
    <dgm:cxn modelId="{31BDBA27-8991-4C4E-8BA7-09921148B70D}" type="presOf" srcId="{338AF250-C028-6944-BC0B-F23F48DF3317}" destId="{B38352D3-7D97-F943-BEDF-BF879ABABC15}" srcOrd="0" destOrd="0" presId="urn:microsoft.com/office/officeart/2005/8/layout/vList2"/>
    <dgm:cxn modelId="{148B352C-F7DB-6345-9391-68CA30B72ED1}" srcId="{338AF250-C028-6944-BC0B-F23F48DF3317}" destId="{D43EDD9D-20DE-0A4D-9AAF-520020EEB65E}" srcOrd="1" destOrd="0" parTransId="{C5197630-82C6-C947-8C60-4CDE23C08E4D}" sibTransId="{27F755E2-58B9-A64B-8C75-B126D16F2685}"/>
    <dgm:cxn modelId="{53970047-FDFB-E34C-AEE8-C163DB8C057A}" srcId="{338AF250-C028-6944-BC0B-F23F48DF3317}" destId="{061B567A-E794-B041-8E22-1D6F78335851}" srcOrd="2" destOrd="0" parTransId="{FBF4ABEA-C5DD-A043-8D29-49CDD8716FAC}" sibTransId="{1AF0D980-443B-8C44-8373-2C4B86A1B8A6}"/>
    <dgm:cxn modelId="{DBD82076-68D2-C746-AEDA-09C393B9FFBB}" type="presOf" srcId="{D43EDD9D-20DE-0A4D-9AAF-520020EEB65E}" destId="{5B741CD7-A409-0245-B1BB-C75CE64ABDB1}" srcOrd="0" destOrd="0" presId="urn:microsoft.com/office/officeart/2005/8/layout/vList2"/>
    <dgm:cxn modelId="{0E763C88-7F51-AA46-AF92-AC50AFC40136}" srcId="{338AF250-C028-6944-BC0B-F23F48DF3317}" destId="{8F74A032-9576-2D40-9099-0C427CF11689}" srcOrd="0" destOrd="0" parTransId="{8A484799-44C8-ED4D-B604-6A7D023B089B}" sibTransId="{780B9E1A-9435-E247-80F1-B342CD0160A4}"/>
    <dgm:cxn modelId="{B435268D-4E21-4D04-A1F0-DA7FE86D6ABA}" srcId="{338AF250-C028-6944-BC0B-F23F48DF3317}" destId="{31513268-C06B-4DE2-B8DE-5773AEA66826}" srcOrd="3" destOrd="0" parTransId="{15B5DB14-3DF1-4A16-B9E2-DC88087FD494}" sibTransId="{21DED1AF-8265-4FA8-8465-E31B4403E455}"/>
    <dgm:cxn modelId="{4901ADC4-79A1-A64C-B700-FB0D05D5B2E9}" type="presOf" srcId="{8F74A032-9576-2D40-9099-0C427CF11689}" destId="{A4E04F62-09DD-B54F-A5F1-00C00774E7AE}" srcOrd="0" destOrd="0" presId="urn:microsoft.com/office/officeart/2005/8/layout/vList2"/>
    <dgm:cxn modelId="{7721DDC7-F92B-4644-9102-BBDAD58A4506}" type="presOf" srcId="{061B567A-E794-B041-8E22-1D6F78335851}" destId="{1696C1F1-52CA-C841-9B6E-D9D865D87518}" srcOrd="0" destOrd="0" presId="urn:microsoft.com/office/officeart/2005/8/layout/vList2"/>
    <dgm:cxn modelId="{B2CAFEF9-94EC-4576-B5E2-A722FEB62205}" type="presOf" srcId="{31513268-C06B-4DE2-B8DE-5773AEA66826}" destId="{C907FC63-99B8-4DF8-BA04-9408DC83F7DD}" srcOrd="0" destOrd="0" presId="urn:microsoft.com/office/officeart/2005/8/layout/vList2"/>
    <dgm:cxn modelId="{F045E6E4-DE7F-B34B-BBB3-5220F993A565}" type="presParOf" srcId="{B38352D3-7D97-F943-BEDF-BF879ABABC15}" destId="{A4E04F62-09DD-B54F-A5F1-00C00774E7AE}" srcOrd="0" destOrd="0" presId="urn:microsoft.com/office/officeart/2005/8/layout/vList2"/>
    <dgm:cxn modelId="{E0927A46-35EE-C642-9477-8DF27F389E5F}" type="presParOf" srcId="{B38352D3-7D97-F943-BEDF-BF879ABABC15}" destId="{FCF2DE0B-C01E-4F48-86A0-032E90C00540}" srcOrd="1" destOrd="0" presId="urn:microsoft.com/office/officeart/2005/8/layout/vList2"/>
    <dgm:cxn modelId="{0BC96533-2E39-6044-9D39-A13357BFBDF6}" type="presParOf" srcId="{B38352D3-7D97-F943-BEDF-BF879ABABC15}" destId="{5B741CD7-A409-0245-B1BB-C75CE64ABDB1}" srcOrd="2" destOrd="0" presId="urn:microsoft.com/office/officeart/2005/8/layout/vList2"/>
    <dgm:cxn modelId="{33EB2C4A-E6E3-C54F-B354-161AF22F9C0E}" type="presParOf" srcId="{B38352D3-7D97-F943-BEDF-BF879ABABC15}" destId="{73AC5768-3635-684F-A10F-7AB6AD167016}" srcOrd="3" destOrd="0" presId="urn:microsoft.com/office/officeart/2005/8/layout/vList2"/>
    <dgm:cxn modelId="{3BA33A48-26CF-A44D-8831-93F31D70F4DE}" type="presParOf" srcId="{B38352D3-7D97-F943-BEDF-BF879ABABC15}" destId="{1696C1F1-52CA-C841-9B6E-D9D865D87518}" srcOrd="4" destOrd="0" presId="urn:microsoft.com/office/officeart/2005/8/layout/vList2"/>
    <dgm:cxn modelId="{675457BA-5E11-4527-B6BE-256444374220}" type="presParOf" srcId="{B38352D3-7D97-F943-BEDF-BF879ABABC15}" destId="{D6FD60E2-AAD7-484A-BFA5-BD5B9B780CFC}" srcOrd="5" destOrd="0" presId="urn:microsoft.com/office/officeart/2005/8/layout/vList2"/>
    <dgm:cxn modelId="{3C003E78-E6ED-4AD5-83E5-61B0E67867A6}" type="presParOf" srcId="{B38352D3-7D97-F943-BEDF-BF879ABABC15}" destId="{C907FC63-99B8-4DF8-BA04-9408DC83F7DD}" srcOrd="6"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86EEC13-64BA-4AE7-9ADD-2DBE2BEF9D16}" type="doc">
      <dgm:prSet loTypeId="urn:microsoft.com/office/officeart/2005/8/layout/funnel1" loCatId="relationship" qsTypeId="urn:microsoft.com/office/officeart/2005/8/quickstyle/simple1" qsCatId="simple" csTypeId="urn:microsoft.com/office/officeart/2005/8/colors/colorful2" csCatId="colorful" phldr="1"/>
      <dgm:spPr/>
      <dgm:t>
        <a:bodyPr/>
        <a:lstStyle/>
        <a:p>
          <a:endParaRPr lang="en-IN"/>
        </a:p>
      </dgm:t>
    </dgm:pt>
    <dgm:pt modelId="{6AF3583D-B44D-42BE-A47B-FCE295362E3A}">
      <dgm:prSet phldrT="[Text]" phldr="0"/>
      <dgm:spPr/>
      <dgm:t>
        <a:bodyPr/>
        <a:lstStyle/>
        <a:p>
          <a:r>
            <a:rPr lang="en-IN" dirty="0"/>
            <a:t>Extraction</a:t>
          </a:r>
        </a:p>
      </dgm:t>
    </dgm:pt>
    <dgm:pt modelId="{F6241A2C-19F1-4C4E-8439-31EA5E718CE2}" type="parTrans" cxnId="{31666FCB-B4E3-418C-A67A-180AD832923B}">
      <dgm:prSet/>
      <dgm:spPr/>
      <dgm:t>
        <a:bodyPr/>
        <a:lstStyle/>
        <a:p>
          <a:endParaRPr lang="en-IN"/>
        </a:p>
      </dgm:t>
    </dgm:pt>
    <dgm:pt modelId="{364BE5AA-A3B6-4B71-AF00-AB69470EDB5F}" type="sibTrans" cxnId="{31666FCB-B4E3-418C-A67A-180AD832923B}">
      <dgm:prSet/>
      <dgm:spPr/>
      <dgm:t>
        <a:bodyPr/>
        <a:lstStyle/>
        <a:p>
          <a:endParaRPr lang="en-IN"/>
        </a:p>
      </dgm:t>
    </dgm:pt>
    <dgm:pt modelId="{0C1C9338-DC6D-4D8C-B2E9-4D82C2C5B9D1}">
      <dgm:prSet phldrT="[Text]" phldr="0"/>
      <dgm:spPr/>
      <dgm:t>
        <a:bodyPr/>
        <a:lstStyle/>
        <a:p>
          <a:r>
            <a:rPr lang="en-IN" dirty="0"/>
            <a:t>Generation</a:t>
          </a:r>
        </a:p>
      </dgm:t>
    </dgm:pt>
    <dgm:pt modelId="{270B0283-CEAE-461C-AD04-9246C390B9CB}" type="parTrans" cxnId="{0B9F5F46-1E89-42FB-A795-5C9B8E0DFB59}">
      <dgm:prSet/>
      <dgm:spPr/>
      <dgm:t>
        <a:bodyPr/>
        <a:lstStyle/>
        <a:p>
          <a:endParaRPr lang="en-IN"/>
        </a:p>
      </dgm:t>
    </dgm:pt>
    <dgm:pt modelId="{E6D39D11-298B-44CD-BB03-413AAD7ED911}" type="sibTrans" cxnId="{0B9F5F46-1E89-42FB-A795-5C9B8E0DFB59}">
      <dgm:prSet/>
      <dgm:spPr/>
      <dgm:t>
        <a:bodyPr/>
        <a:lstStyle/>
        <a:p>
          <a:endParaRPr lang="en-IN"/>
        </a:p>
      </dgm:t>
    </dgm:pt>
    <dgm:pt modelId="{E8FA3679-FB1C-450C-B129-4C6CD48B915D}">
      <dgm:prSet phldrT="[Text]" phldr="0"/>
      <dgm:spPr/>
      <dgm:t>
        <a:bodyPr/>
        <a:lstStyle/>
        <a:p>
          <a:r>
            <a:rPr lang="en-IN" dirty="0"/>
            <a:t>Selection</a:t>
          </a:r>
        </a:p>
      </dgm:t>
    </dgm:pt>
    <dgm:pt modelId="{E7B4B0BD-AE28-46CC-8585-C93A80DBF996}" type="parTrans" cxnId="{4F1FF7C1-3AC8-4BAF-A703-92BDB85E0938}">
      <dgm:prSet/>
      <dgm:spPr/>
      <dgm:t>
        <a:bodyPr/>
        <a:lstStyle/>
        <a:p>
          <a:endParaRPr lang="en-IN"/>
        </a:p>
      </dgm:t>
    </dgm:pt>
    <dgm:pt modelId="{1062FE01-98E2-4A2D-A8BB-560539CF8C01}" type="sibTrans" cxnId="{4F1FF7C1-3AC8-4BAF-A703-92BDB85E0938}">
      <dgm:prSet/>
      <dgm:spPr/>
      <dgm:t>
        <a:bodyPr/>
        <a:lstStyle/>
        <a:p>
          <a:endParaRPr lang="en-IN"/>
        </a:p>
      </dgm:t>
    </dgm:pt>
    <dgm:pt modelId="{58C7D7AA-4C01-41B1-B100-B5325E744BA4}">
      <dgm:prSet phldrT="[Text]" phldr="0"/>
      <dgm:spPr/>
      <dgm:t>
        <a:bodyPr/>
        <a:lstStyle/>
        <a:p>
          <a:r>
            <a:rPr lang="en-IN" dirty="0"/>
            <a:t>Feature</a:t>
          </a:r>
        </a:p>
      </dgm:t>
    </dgm:pt>
    <dgm:pt modelId="{5FC7222E-F6D8-41BD-A454-BA06ADA2B427}" type="parTrans" cxnId="{98068582-09E1-44C0-B027-FFB74470EA8C}">
      <dgm:prSet/>
      <dgm:spPr/>
      <dgm:t>
        <a:bodyPr/>
        <a:lstStyle/>
        <a:p>
          <a:endParaRPr lang="en-IN"/>
        </a:p>
      </dgm:t>
    </dgm:pt>
    <dgm:pt modelId="{9965C352-2881-4E4F-B3B6-9FF3A8CF0FF2}" type="sibTrans" cxnId="{98068582-09E1-44C0-B027-FFB74470EA8C}">
      <dgm:prSet/>
      <dgm:spPr/>
      <dgm:t>
        <a:bodyPr/>
        <a:lstStyle/>
        <a:p>
          <a:endParaRPr lang="en-IN"/>
        </a:p>
      </dgm:t>
    </dgm:pt>
    <dgm:pt modelId="{6BAC840E-5598-42E4-B2F5-E6A2EF25FD5D}" type="pres">
      <dgm:prSet presAssocID="{586EEC13-64BA-4AE7-9ADD-2DBE2BEF9D16}" presName="Name0" presStyleCnt="0">
        <dgm:presLayoutVars>
          <dgm:chMax val="4"/>
          <dgm:resizeHandles val="exact"/>
        </dgm:presLayoutVars>
      </dgm:prSet>
      <dgm:spPr/>
    </dgm:pt>
    <dgm:pt modelId="{DFE6B71B-021C-4B1A-BDDD-1DBA76355BDC}" type="pres">
      <dgm:prSet presAssocID="{586EEC13-64BA-4AE7-9ADD-2DBE2BEF9D16}" presName="ellipse" presStyleLbl="trBgShp" presStyleIdx="0" presStyleCnt="1"/>
      <dgm:spPr/>
    </dgm:pt>
    <dgm:pt modelId="{A240C6BA-0160-437B-982B-8EE48F3DBC40}" type="pres">
      <dgm:prSet presAssocID="{586EEC13-64BA-4AE7-9ADD-2DBE2BEF9D16}" presName="arrow1" presStyleLbl="fgShp" presStyleIdx="0" presStyleCnt="1"/>
      <dgm:spPr/>
    </dgm:pt>
    <dgm:pt modelId="{09717FFF-01A6-46DC-B699-D0A4E0762375}" type="pres">
      <dgm:prSet presAssocID="{586EEC13-64BA-4AE7-9ADD-2DBE2BEF9D16}" presName="rectangle" presStyleLbl="revTx" presStyleIdx="0" presStyleCnt="1">
        <dgm:presLayoutVars>
          <dgm:bulletEnabled val="1"/>
        </dgm:presLayoutVars>
      </dgm:prSet>
      <dgm:spPr/>
    </dgm:pt>
    <dgm:pt modelId="{E12ECCEF-965D-481A-90AD-68065F3DA944}" type="pres">
      <dgm:prSet presAssocID="{0C1C9338-DC6D-4D8C-B2E9-4D82C2C5B9D1}" presName="item1" presStyleLbl="node1" presStyleIdx="0" presStyleCnt="3">
        <dgm:presLayoutVars>
          <dgm:bulletEnabled val="1"/>
        </dgm:presLayoutVars>
      </dgm:prSet>
      <dgm:spPr/>
    </dgm:pt>
    <dgm:pt modelId="{5552493B-15A5-4AB3-B3DA-B2C7327B1056}" type="pres">
      <dgm:prSet presAssocID="{E8FA3679-FB1C-450C-B129-4C6CD48B915D}" presName="item2" presStyleLbl="node1" presStyleIdx="1" presStyleCnt="3">
        <dgm:presLayoutVars>
          <dgm:bulletEnabled val="1"/>
        </dgm:presLayoutVars>
      </dgm:prSet>
      <dgm:spPr/>
    </dgm:pt>
    <dgm:pt modelId="{67B1959A-1A74-40A0-8B7D-CE4032885DEB}" type="pres">
      <dgm:prSet presAssocID="{58C7D7AA-4C01-41B1-B100-B5325E744BA4}" presName="item3" presStyleLbl="node1" presStyleIdx="2" presStyleCnt="3">
        <dgm:presLayoutVars>
          <dgm:bulletEnabled val="1"/>
        </dgm:presLayoutVars>
      </dgm:prSet>
      <dgm:spPr/>
    </dgm:pt>
    <dgm:pt modelId="{3757AC3A-F031-47B0-A6F1-FFF174A6B0BC}" type="pres">
      <dgm:prSet presAssocID="{586EEC13-64BA-4AE7-9ADD-2DBE2BEF9D16}" presName="funnel" presStyleLbl="trAlignAcc1" presStyleIdx="0" presStyleCnt="1"/>
      <dgm:spPr/>
    </dgm:pt>
  </dgm:ptLst>
  <dgm:cxnLst>
    <dgm:cxn modelId="{F7C80D0C-20C4-443C-8E91-5B1E69FA28D0}" type="presOf" srcId="{586EEC13-64BA-4AE7-9ADD-2DBE2BEF9D16}" destId="{6BAC840E-5598-42E4-B2F5-E6A2EF25FD5D}" srcOrd="0" destOrd="0" presId="urn:microsoft.com/office/officeart/2005/8/layout/funnel1"/>
    <dgm:cxn modelId="{0B9F5F46-1E89-42FB-A795-5C9B8E0DFB59}" srcId="{586EEC13-64BA-4AE7-9ADD-2DBE2BEF9D16}" destId="{0C1C9338-DC6D-4D8C-B2E9-4D82C2C5B9D1}" srcOrd="1" destOrd="0" parTransId="{270B0283-CEAE-461C-AD04-9246C390B9CB}" sibTransId="{E6D39D11-298B-44CD-BB03-413AAD7ED911}"/>
    <dgm:cxn modelId="{5ED35A53-1F6E-4C2D-8A65-53EB547FD6C5}" type="presOf" srcId="{E8FA3679-FB1C-450C-B129-4C6CD48B915D}" destId="{E12ECCEF-965D-481A-90AD-68065F3DA944}" srcOrd="0" destOrd="0" presId="urn:microsoft.com/office/officeart/2005/8/layout/funnel1"/>
    <dgm:cxn modelId="{98068582-09E1-44C0-B027-FFB74470EA8C}" srcId="{586EEC13-64BA-4AE7-9ADD-2DBE2BEF9D16}" destId="{58C7D7AA-4C01-41B1-B100-B5325E744BA4}" srcOrd="3" destOrd="0" parTransId="{5FC7222E-F6D8-41BD-A454-BA06ADA2B427}" sibTransId="{9965C352-2881-4E4F-B3B6-9FF3A8CF0FF2}"/>
    <dgm:cxn modelId="{70FECDA4-68C8-4127-9CD8-553C8CA378B0}" type="presOf" srcId="{0C1C9338-DC6D-4D8C-B2E9-4D82C2C5B9D1}" destId="{5552493B-15A5-4AB3-B3DA-B2C7327B1056}" srcOrd="0" destOrd="0" presId="urn:microsoft.com/office/officeart/2005/8/layout/funnel1"/>
    <dgm:cxn modelId="{4F1FF7C1-3AC8-4BAF-A703-92BDB85E0938}" srcId="{586EEC13-64BA-4AE7-9ADD-2DBE2BEF9D16}" destId="{E8FA3679-FB1C-450C-B129-4C6CD48B915D}" srcOrd="2" destOrd="0" parTransId="{E7B4B0BD-AE28-46CC-8585-C93A80DBF996}" sibTransId="{1062FE01-98E2-4A2D-A8BB-560539CF8C01}"/>
    <dgm:cxn modelId="{D79288CA-C196-47E8-AB16-2A77E8FAF4A7}" type="presOf" srcId="{58C7D7AA-4C01-41B1-B100-B5325E744BA4}" destId="{09717FFF-01A6-46DC-B699-D0A4E0762375}" srcOrd="0" destOrd="0" presId="urn:microsoft.com/office/officeart/2005/8/layout/funnel1"/>
    <dgm:cxn modelId="{31666FCB-B4E3-418C-A67A-180AD832923B}" srcId="{586EEC13-64BA-4AE7-9ADD-2DBE2BEF9D16}" destId="{6AF3583D-B44D-42BE-A47B-FCE295362E3A}" srcOrd="0" destOrd="0" parTransId="{F6241A2C-19F1-4C4E-8439-31EA5E718CE2}" sibTransId="{364BE5AA-A3B6-4B71-AF00-AB69470EDB5F}"/>
    <dgm:cxn modelId="{4C5F36F4-A994-4958-B7FE-FA87E5241091}" type="presOf" srcId="{6AF3583D-B44D-42BE-A47B-FCE295362E3A}" destId="{67B1959A-1A74-40A0-8B7D-CE4032885DEB}" srcOrd="0" destOrd="0" presId="urn:microsoft.com/office/officeart/2005/8/layout/funnel1"/>
    <dgm:cxn modelId="{F884F42C-4155-4F53-B97D-3215F4A8E533}" type="presParOf" srcId="{6BAC840E-5598-42E4-B2F5-E6A2EF25FD5D}" destId="{DFE6B71B-021C-4B1A-BDDD-1DBA76355BDC}" srcOrd="0" destOrd="0" presId="urn:microsoft.com/office/officeart/2005/8/layout/funnel1"/>
    <dgm:cxn modelId="{4FC84436-410B-4A25-9D2F-1AF1B48D06AD}" type="presParOf" srcId="{6BAC840E-5598-42E4-B2F5-E6A2EF25FD5D}" destId="{A240C6BA-0160-437B-982B-8EE48F3DBC40}" srcOrd="1" destOrd="0" presId="urn:microsoft.com/office/officeart/2005/8/layout/funnel1"/>
    <dgm:cxn modelId="{4D411A88-8B85-4C87-A977-CAA0EBBD42DE}" type="presParOf" srcId="{6BAC840E-5598-42E4-B2F5-E6A2EF25FD5D}" destId="{09717FFF-01A6-46DC-B699-D0A4E0762375}" srcOrd="2" destOrd="0" presId="urn:microsoft.com/office/officeart/2005/8/layout/funnel1"/>
    <dgm:cxn modelId="{0B5298A0-5C20-4F2F-A907-E2F06261C89B}" type="presParOf" srcId="{6BAC840E-5598-42E4-B2F5-E6A2EF25FD5D}" destId="{E12ECCEF-965D-481A-90AD-68065F3DA944}" srcOrd="3" destOrd="0" presId="urn:microsoft.com/office/officeart/2005/8/layout/funnel1"/>
    <dgm:cxn modelId="{FDDC732C-D3AB-4A50-8810-93E73CB051B5}" type="presParOf" srcId="{6BAC840E-5598-42E4-B2F5-E6A2EF25FD5D}" destId="{5552493B-15A5-4AB3-B3DA-B2C7327B1056}" srcOrd="4" destOrd="0" presId="urn:microsoft.com/office/officeart/2005/8/layout/funnel1"/>
    <dgm:cxn modelId="{763B06EC-1FF3-4881-B04A-69886DCC69BB}" type="presParOf" srcId="{6BAC840E-5598-42E4-B2F5-E6A2EF25FD5D}" destId="{67B1959A-1A74-40A0-8B7D-CE4032885DEB}" srcOrd="5" destOrd="0" presId="urn:microsoft.com/office/officeart/2005/8/layout/funnel1"/>
    <dgm:cxn modelId="{B1DDB1BB-9835-4812-A427-C707A93EB6E4}" type="presParOf" srcId="{6BAC840E-5598-42E4-B2F5-E6A2EF25FD5D}" destId="{3757AC3A-F031-47B0-A6F1-FFF174A6B0BC}" srcOrd="6" destOrd="0" presId="urn:microsoft.com/office/officeart/2005/8/layout/funnel1"/>
  </dgm:cxnLst>
  <dgm:bg/>
  <dgm:whole>
    <a:ln>
      <a:solidFill>
        <a:schemeClr val="bg2"/>
      </a:solidFill>
    </a:ln>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E96CEB1-FD86-408E-A370-1897C347C880}" type="doc">
      <dgm:prSet loTypeId="urn:microsoft.com/office/officeart/2009/3/layout/OpposingIdeas" loCatId="relationship" qsTypeId="urn:microsoft.com/office/officeart/2005/8/quickstyle/simple1" qsCatId="simple" csTypeId="urn:microsoft.com/office/officeart/2005/8/colors/colorful5" csCatId="colorful" phldr="1"/>
      <dgm:spPr/>
      <dgm:t>
        <a:bodyPr/>
        <a:lstStyle/>
        <a:p>
          <a:endParaRPr lang="en-IN"/>
        </a:p>
      </dgm:t>
    </dgm:pt>
    <dgm:pt modelId="{9DF798A5-4A9C-42AE-B8E3-D38E3E1340CC}">
      <dgm:prSet phldrT="[Text]" phldr="0"/>
      <dgm:spPr/>
      <dgm:t>
        <a:bodyPr/>
        <a:lstStyle/>
        <a:p>
          <a:r>
            <a:rPr lang="en-IN" dirty="0"/>
            <a:t>Influence</a:t>
          </a:r>
        </a:p>
      </dgm:t>
    </dgm:pt>
    <dgm:pt modelId="{7808E83E-7FBA-4402-A204-01E7B92EC8A3}" type="parTrans" cxnId="{5EA7A0F6-B633-4C36-BF46-D0B4D7C8FEA0}">
      <dgm:prSet/>
      <dgm:spPr/>
      <dgm:t>
        <a:bodyPr/>
        <a:lstStyle/>
        <a:p>
          <a:endParaRPr lang="en-IN"/>
        </a:p>
      </dgm:t>
    </dgm:pt>
    <dgm:pt modelId="{0CB772FF-D5DF-4FCB-8EFF-EC29C297AD5D}" type="sibTrans" cxnId="{5EA7A0F6-B633-4C36-BF46-D0B4D7C8FEA0}">
      <dgm:prSet/>
      <dgm:spPr/>
      <dgm:t>
        <a:bodyPr/>
        <a:lstStyle/>
        <a:p>
          <a:endParaRPr lang="en-IN"/>
        </a:p>
      </dgm:t>
    </dgm:pt>
    <dgm:pt modelId="{1AFFAC45-6F41-403F-9B87-9DD2C1E0BB1F}">
      <dgm:prSet phldrT="[Text]" phldr="0"/>
      <dgm:spPr/>
      <dgm:t>
        <a:bodyPr/>
        <a:lstStyle/>
        <a:p>
          <a:r>
            <a:rPr lang="en-IN" dirty="0"/>
            <a:t>Influence of Sample</a:t>
          </a:r>
        </a:p>
      </dgm:t>
    </dgm:pt>
    <dgm:pt modelId="{191DE969-6016-4A55-A9C9-3CBF3BB8E3D2}" type="parTrans" cxnId="{C4D8B952-F029-49BA-9CF9-22211EB35E2B}">
      <dgm:prSet/>
      <dgm:spPr/>
      <dgm:t>
        <a:bodyPr/>
        <a:lstStyle/>
        <a:p>
          <a:endParaRPr lang="en-IN"/>
        </a:p>
      </dgm:t>
    </dgm:pt>
    <dgm:pt modelId="{4B3169AA-0B4D-470C-BA41-206E0FA1A9F3}" type="sibTrans" cxnId="{C4D8B952-F029-49BA-9CF9-22211EB35E2B}">
      <dgm:prSet/>
      <dgm:spPr/>
      <dgm:t>
        <a:bodyPr/>
        <a:lstStyle/>
        <a:p>
          <a:endParaRPr lang="en-IN"/>
        </a:p>
      </dgm:t>
    </dgm:pt>
    <dgm:pt modelId="{CA56D3DC-6659-42F4-82DE-026A32A3C505}">
      <dgm:prSet phldrT="[Text]" phldr="0"/>
      <dgm:spPr/>
      <dgm:t>
        <a:bodyPr/>
        <a:lstStyle/>
        <a:p>
          <a:r>
            <a:rPr lang="en-IN" dirty="0"/>
            <a:t>Influence</a:t>
          </a:r>
        </a:p>
      </dgm:t>
    </dgm:pt>
    <dgm:pt modelId="{D79879A3-E94F-4B3B-9E3F-91CDC1328CD5}" type="parTrans" cxnId="{E4ABC51F-DBFA-42A0-87F4-D1617A626469}">
      <dgm:prSet/>
      <dgm:spPr/>
      <dgm:t>
        <a:bodyPr/>
        <a:lstStyle/>
        <a:p>
          <a:endParaRPr lang="en-IN"/>
        </a:p>
      </dgm:t>
    </dgm:pt>
    <dgm:pt modelId="{182E19B6-685A-4E13-9599-EDA487C05C99}" type="sibTrans" cxnId="{E4ABC51F-DBFA-42A0-87F4-D1617A626469}">
      <dgm:prSet/>
      <dgm:spPr/>
      <dgm:t>
        <a:bodyPr/>
        <a:lstStyle/>
        <a:p>
          <a:endParaRPr lang="en-IN"/>
        </a:p>
      </dgm:t>
    </dgm:pt>
    <dgm:pt modelId="{B258006D-7221-4BD4-9183-8A70973959F4}">
      <dgm:prSet phldrT="[Text]" phldr="0"/>
      <dgm:spPr/>
      <dgm:t>
        <a:bodyPr/>
        <a:lstStyle/>
        <a:p>
          <a:r>
            <a:rPr lang="en-IN" dirty="0"/>
            <a:t>Influence of  Feature</a:t>
          </a:r>
        </a:p>
      </dgm:t>
    </dgm:pt>
    <dgm:pt modelId="{36B69BC3-7536-451B-959E-38931F63750F}" type="parTrans" cxnId="{E0DE3BB7-5BFF-44B8-996A-F3A84590E90E}">
      <dgm:prSet/>
      <dgm:spPr/>
      <dgm:t>
        <a:bodyPr/>
        <a:lstStyle/>
        <a:p>
          <a:endParaRPr lang="en-IN"/>
        </a:p>
      </dgm:t>
    </dgm:pt>
    <dgm:pt modelId="{2FB522DE-A24F-4541-A913-C3F117DCF951}" type="sibTrans" cxnId="{E0DE3BB7-5BFF-44B8-996A-F3A84590E90E}">
      <dgm:prSet/>
      <dgm:spPr/>
      <dgm:t>
        <a:bodyPr/>
        <a:lstStyle/>
        <a:p>
          <a:endParaRPr lang="en-IN"/>
        </a:p>
      </dgm:t>
    </dgm:pt>
    <dgm:pt modelId="{68A80D52-43F0-4946-ACD5-4EE1CF2576F4}" type="pres">
      <dgm:prSet presAssocID="{8E96CEB1-FD86-408E-A370-1897C347C880}" presName="Name0" presStyleCnt="0">
        <dgm:presLayoutVars>
          <dgm:chMax val="2"/>
          <dgm:dir/>
          <dgm:animOne val="branch"/>
          <dgm:animLvl val="lvl"/>
          <dgm:resizeHandles val="exact"/>
        </dgm:presLayoutVars>
      </dgm:prSet>
      <dgm:spPr/>
    </dgm:pt>
    <dgm:pt modelId="{7B8768B7-8A51-4E0F-ABEE-3CF71C2669BD}" type="pres">
      <dgm:prSet presAssocID="{8E96CEB1-FD86-408E-A370-1897C347C880}" presName="Background" presStyleLbl="node1" presStyleIdx="0" presStyleCnt="1"/>
      <dgm:spPr/>
    </dgm:pt>
    <dgm:pt modelId="{DFC76EFE-8E8C-43D2-9466-BB1682D73BEE}" type="pres">
      <dgm:prSet presAssocID="{8E96CEB1-FD86-408E-A370-1897C347C880}" presName="Divider" presStyleLbl="callout" presStyleIdx="0" presStyleCnt="1"/>
      <dgm:spPr/>
    </dgm:pt>
    <dgm:pt modelId="{C0A9ECE0-D703-404C-AE3A-80AFABD2C7B3}" type="pres">
      <dgm:prSet presAssocID="{8E96CEB1-FD86-408E-A370-1897C347C880}" presName="ChildText1" presStyleLbl="revTx" presStyleIdx="0" presStyleCnt="0">
        <dgm:presLayoutVars>
          <dgm:chMax val="0"/>
          <dgm:chPref val="0"/>
          <dgm:bulletEnabled val="1"/>
        </dgm:presLayoutVars>
      </dgm:prSet>
      <dgm:spPr/>
    </dgm:pt>
    <dgm:pt modelId="{64715656-D76C-4D70-9420-F6C617B706B8}" type="pres">
      <dgm:prSet presAssocID="{8E96CEB1-FD86-408E-A370-1897C347C880}" presName="ChildText2" presStyleLbl="revTx" presStyleIdx="0" presStyleCnt="0">
        <dgm:presLayoutVars>
          <dgm:chMax val="0"/>
          <dgm:chPref val="0"/>
          <dgm:bulletEnabled val="1"/>
        </dgm:presLayoutVars>
      </dgm:prSet>
      <dgm:spPr/>
    </dgm:pt>
    <dgm:pt modelId="{D89ABAA0-8DAF-4E5C-AF22-7EC595633AB8}" type="pres">
      <dgm:prSet presAssocID="{8E96CEB1-FD86-408E-A370-1897C347C880}" presName="ParentText1" presStyleLbl="revTx" presStyleIdx="0" presStyleCnt="0">
        <dgm:presLayoutVars>
          <dgm:chMax val="1"/>
          <dgm:chPref val="1"/>
        </dgm:presLayoutVars>
      </dgm:prSet>
      <dgm:spPr/>
    </dgm:pt>
    <dgm:pt modelId="{B3E6BED8-D75A-4964-86AE-0234122633AA}" type="pres">
      <dgm:prSet presAssocID="{8E96CEB1-FD86-408E-A370-1897C347C880}" presName="ParentShape1" presStyleLbl="alignImgPlace1" presStyleIdx="0" presStyleCnt="2">
        <dgm:presLayoutVars/>
      </dgm:prSet>
      <dgm:spPr/>
    </dgm:pt>
    <dgm:pt modelId="{971B4FDF-32A7-4F3F-A2C0-9BB6BE5102F4}" type="pres">
      <dgm:prSet presAssocID="{8E96CEB1-FD86-408E-A370-1897C347C880}" presName="ParentText2" presStyleLbl="revTx" presStyleIdx="0" presStyleCnt="0">
        <dgm:presLayoutVars>
          <dgm:chMax val="1"/>
          <dgm:chPref val="1"/>
        </dgm:presLayoutVars>
      </dgm:prSet>
      <dgm:spPr/>
    </dgm:pt>
    <dgm:pt modelId="{770E98E5-693C-4665-8BD3-5DEF247B1053}" type="pres">
      <dgm:prSet presAssocID="{8E96CEB1-FD86-408E-A370-1897C347C880}" presName="ParentShape2" presStyleLbl="alignImgPlace1" presStyleIdx="1" presStyleCnt="2">
        <dgm:presLayoutVars/>
      </dgm:prSet>
      <dgm:spPr/>
    </dgm:pt>
  </dgm:ptLst>
  <dgm:cxnLst>
    <dgm:cxn modelId="{E4ABC51F-DBFA-42A0-87F4-D1617A626469}" srcId="{8E96CEB1-FD86-408E-A370-1897C347C880}" destId="{CA56D3DC-6659-42F4-82DE-026A32A3C505}" srcOrd="1" destOrd="0" parTransId="{D79879A3-E94F-4B3B-9E3F-91CDC1328CD5}" sibTransId="{182E19B6-685A-4E13-9599-EDA487C05C99}"/>
    <dgm:cxn modelId="{59CB8F24-DD6B-4922-9E51-D072460A12B8}" type="presOf" srcId="{CA56D3DC-6659-42F4-82DE-026A32A3C505}" destId="{971B4FDF-32A7-4F3F-A2C0-9BB6BE5102F4}" srcOrd="0" destOrd="0" presId="urn:microsoft.com/office/officeart/2009/3/layout/OpposingIdeas"/>
    <dgm:cxn modelId="{B9503B2A-1E77-484F-B27C-72AD1EF70045}" type="presOf" srcId="{CA56D3DC-6659-42F4-82DE-026A32A3C505}" destId="{770E98E5-693C-4665-8BD3-5DEF247B1053}" srcOrd="1" destOrd="0" presId="urn:microsoft.com/office/officeart/2009/3/layout/OpposingIdeas"/>
    <dgm:cxn modelId="{5488E036-0F0B-4607-8667-0F2779208F2A}" type="presOf" srcId="{9DF798A5-4A9C-42AE-B8E3-D38E3E1340CC}" destId="{B3E6BED8-D75A-4964-86AE-0234122633AA}" srcOrd="1" destOrd="0" presId="urn:microsoft.com/office/officeart/2009/3/layout/OpposingIdeas"/>
    <dgm:cxn modelId="{C4D8B952-F029-49BA-9CF9-22211EB35E2B}" srcId="{9DF798A5-4A9C-42AE-B8E3-D38E3E1340CC}" destId="{1AFFAC45-6F41-403F-9B87-9DD2C1E0BB1F}" srcOrd="0" destOrd="0" parTransId="{191DE969-6016-4A55-A9C9-3CBF3BB8E3D2}" sibTransId="{4B3169AA-0B4D-470C-BA41-206E0FA1A9F3}"/>
    <dgm:cxn modelId="{5903EEB2-144C-44AD-B59D-094F0210824E}" type="presOf" srcId="{8E96CEB1-FD86-408E-A370-1897C347C880}" destId="{68A80D52-43F0-4946-ACD5-4EE1CF2576F4}" srcOrd="0" destOrd="0" presId="urn:microsoft.com/office/officeart/2009/3/layout/OpposingIdeas"/>
    <dgm:cxn modelId="{E0DE3BB7-5BFF-44B8-996A-F3A84590E90E}" srcId="{CA56D3DC-6659-42F4-82DE-026A32A3C505}" destId="{B258006D-7221-4BD4-9183-8A70973959F4}" srcOrd="0" destOrd="0" parTransId="{36B69BC3-7536-451B-959E-38931F63750F}" sibTransId="{2FB522DE-A24F-4541-A913-C3F117DCF951}"/>
    <dgm:cxn modelId="{B86C7DC9-C109-4B91-87FA-9436F0B312F4}" type="presOf" srcId="{B258006D-7221-4BD4-9183-8A70973959F4}" destId="{64715656-D76C-4D70-9420-F6C617B706B8}" srcOrd="0" destOrd="0" presId="urn:microsoft.com/office/officeart/2009/3/layout/OpposingIdeas"/>
    <dgm:cxn modelId="{363E25D0-8B72-412C-A538-06B43D862B18}" type="presOf" srcId="{9DF798A5-4A9C-42AE-B8E3-D38E3E1340CC}" destId="{D89ABAA0-8DAF-4E5C-AF22-7EC595633AB8}" srcOrd="0" destOrd="0" presId="urn:microsoft.com/office/officeart/2009/3/layout/OpposingIdeas"/>
    <dgm:cxn modelId="{9E7A7BDC-2473-4D04-A769-72ED6CF31DEC}" type="presOf" srcId="{1AFFAC45-6F41-403F-9B87-9DD2C1E0BB1F}" destId="{C0A9ECE0-D703-404C-AE3A-80AFABD2C7B3}" srcOrd="0" destOrd="0" presId="urn:microsoft.com/office/officeart/2009/3/layout/OpposingIdeas"/>
    <dgm:cxn modelId="{5EA7A0F6-B633-4C36-BF46-D0B4D7C8FEA0}" srcId="{8E96CEB1-FD86-408E-A370-1897C347C880}" destId="{9DF798A5-4A9C-42AE-B8E3-D38E3E1340CC}" srcOrd="0" destOrd="0" parTransId="{7808E83E-7FBA-4402-A204-01E7B92EC8A3}" sibTransId="{0CB772FF-D5DF-4FCB-8EFF-EC29C297AD5D}"/>
    <dgm:cxn modelId="{FB0438E6-4AF9-4577-B31E-5274013A4144}" type="presParOf" srcId="{68A80D52-43F0-4946-ACD5-4EE1CF2576F4}" destId="{7B8768B7-8A51-4E0F-ABEE-3CF71C2669BD}" srcOrd="0" destOrd="0" presId="urn:microsoft.com/office/officeart/2009/3/layout/OpposingIdeas"/>
    <dgm:cxn modelId="{6C155DFF-6AAA-4412-BE01-E4D66E4922D9}" type="presParOf" srcId="{68A80D52-43F0-4946-ACD5-4EE1CF2576F4}" destId="{DFC76EFE-8E8C-43D2-9466-BB1682D73BEE}" srcOrd="1" destOrd="0" presId="urn:microsoft.com/office/officeart/2009/3/layout/OpposingIdeas"/>
    <dgm:cxn modelId="{113D7022-A80A-4D7A-B4B4-34FEE2096A02}" type="presParOf" srcId="{68A80D52-43F0-4946-ACD5-4EE1CF2576F4}" destId="{C0A9ECE0-D703-404C-AE3A-80AFABD2C7B3}" srcOrd="2" destOrd="0" presId="urn:microsoft.com/office/officeart/2009/3/layout/OpposingIdeas"/>
    <dgm:cxn modelId="{30BFC508-1E33-4F07-A6C3-D8056B799731}" type="presParOf" srcId="{68A80D52-43F0-4946-ACD5-4EE1CF2576F4}" destId="{64715656-D76C-4D70-9420-F6C617B706B8}" srcOrd="3" destOrd="0" presId="urn:microsoft.com/office/officeart/2009/3/layout/OpposingIdeas"/>
    <dgm:cxn modelId="{116B109B-C205-4543-8F5F-B8F332B03876}" type="presParOf" srcId="{68A80D52-43F0-4946-ACD5-4EE1CF2576F4}" destId="{D89ABAA0-8DAF-4E5C-AF22-7EC595633AB8}" srcOrd="4" destOrd="0" presId="urn:microsoft.com/office/officeart/2009/3/layout/OpposingIdeas"/>
    <dgm:cxn modelId="{2A831FF3-10FD-4837-A964-250B80C9245E}" type="presParOf" srcId="{68A80D52-43F0-4946-ACD5-4EE1CF2576F4}" destId="{B3E6BED8-D75A-4964-86AE-0234122633AA}" srcOrd="5" destOrd="0" presId="urn:microsoft.com/office/officeart/2009/3/layout/OpposingIdeas"/>
    <dgm:cxn modelId="{4130DE59-5E9B-4C2E-80D5-DF2632A7E6CB}" type="presParOf" srcId="{68A80D52-43F0-4946-ACD5-4EE1CF2576F4}" destId="{971B4FDF-32A7-4F3F-A2C0-9BB6BE5102F4}" srcOrd="6" destOrd="0" presId="urn:microsoft.com/office/officeart/2009/3/layout/OpposingIdeas"/>
    <dgm:cxn modelId="{B51C587E-5A09-4CB4-B6B3-F47619190EB1}" type="presParOf" srcId="{68A80D52-43F0-4946-ACD5-4EE1CF2576F4}" destId="{770E98E5-693C-4665-8BD3-5DEF247B1053}" srcOrd="7" destOrd="0" presId="urn:microsoft.com/office/officeart/2009/3/layout/OpposingIdeas"/>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2FAC3BE-71C6-4BB1-AF7B-AEF5C66870DD}" type="doc">
      <dgm:prSet loTypeId="urn:microsoft.com/office/officeart/2005/8/layout/hierarchy4" loCatId="relationship" qsTypeId="urn:microsoft.com/office/officeart/2005/8/quickstyle/simple1" qsCatId="simple" csTypeId="urn:microsoft.com/office/officeart/2005/8/colors/colorful1" csCatId="colorful" phldr="1"/>
      <dgm:spPr/>
      <dgm:t>
        <a:bodyPr/>
        <a:lstStyle/>
        <a:p>
          <a:endParaRPr lang="en-IN"/>
        </a:p>
      </dgm:t>
    </dgm:pt>
    <dgm:pt modelId="{C0205F5B-C721-48F7-A6BC-123C7BA6AE1C}">
      <dgm:prSet phldrT="[Text]" phldr="0"/>
      <dgm:spPr/>
      <dgm:t>
        <a:bodyPr/>
        <a:lstStyle/>
        <a:p>
          <a:r>
            <a:rPr lang="en-IN" dirty="0"/>
            <a:t>Game-Theoretic Framework </a:t>
          </a:r>
        </a:p>
      </dgm:t>
    </dgm:pt>
    <dgm:pt modelId="{1441FDC1-E316-4E3E-B826-F63CA33B5F26}" type="parTrans" cxnId="{9BBCBA81-0B85-4D74-AAD2-D9784A4FC45B}">
      <dgm:prSet/>
      <dgm:spPr/>
      <dgm:t>
        <a:bodyPr/>
        <a:lstStyle/>
        <a:p>
          <a:endParaRPr lang="en-IN"/>
        </a:p>
      </dgm:t>
    </dgm:pt>
    <dgm:pt modelId="{46247759-01F0-4767-BC38-0B267971A27F}" type="sibTrans" cxnId="{9BBCBA81-0B85-4D74-AAD2-D9784A4FC45B}">
      <dgm:prSet/>
      <dgm:spPr/>
      <dgm:t>
        <a:bodyPr/>
        <a:lstStyle/>
        <a:p>
          <a:endParaRPr lang="en-IN"/>
        </a:p>
      </dgm:t>
    </dgm:pt>
    <dgm:pt modelId="{1464E9A2-585E-4B4D-A9AD-DFB4DA6AE96D}">
      <dgm:prSet phldrT="[Text]"/>
      <dgm:spPr/>
      <dgm:t>
        <a:bodyPr/>
        <a:lstStyle/>
        <a:p>
          <a:pPr>
            <a:buNone/>
          </a:pPr>
          <a:r>
            <a:rPr lang="en-IN" b="1" dirty="0"/>
            <a:t>Game Type:</a:t>
          </a:r>
          <a:r>
            <a:rPr lang="en-IN" dirty="0"/>
            <a:t> Stackelberg game, </a:t>
          </a:r>
          <a:r>
            <a:rPr lang="en-IN" dirty="0" err="1"/>
            <a:t>static,dynamic</a:t>
          </a:r>
          <a:r>
            <a:rPr lang="en-IN" dirty="0"/>
            <a:t> ,etc</a:t>
          </a:r>
        </a:p>
      </dgm:t>
    </dgm:pt>
    <dgm:pt modelId="{AA85F697-BF30-4B72-918C-2C6F7F1C5D38}" type="parTrans" cxnId="{E8A12F04-5B76-4EF2-B44F-7254CFF9502B}">
      <dgm:prSet/>
      <dgm:spPr/>
      <dgm:t>
        <a:bodyPr/>
        <a:lstStyle/>
        <a:p>
          <a:endParaRPr lang="en-IN"/>
        </a:p>
      </dgm:t>
    </dgm:pt>
    <dgm:pt modelId="{A99F1001-B5F6-45EC-A64E-03C7660CBD35}" type="sibTrans" cxnId="{E8A12F04-5B76-4EF2-B44F-7254CFF9502B}">
      <dgm:prSet/>
      <dgm:spPr/>
      <dgm:t>
        <a:bodyPr/>
        <a:lstStyle/>
        <a:p>
          <a:endParaRPr lang="en-IN"/>
        </a:p>
      </dgm:t>
    </dgm:pt>
    <dgm:pt modelId="{125C1EF0-6F8A-4FEE-BF65-10AFDC161563}">
      <dgm:prSet phldrT="[Text]" phldr="0"/>
      <dgm:spPr/>
      <dgm:t>
        <a:bodyPr/>
        <a:lstStyle/>
        <a:p>
          <a:r>
            <a:rPr lang="en-IN" dirty="0"/>
            <a:t>Strategy Space : Feature weights and selection masks </a:t>
          </a:r>
        </a:p>
      </dgm:t>
    </dgm:pt>
    <dgm:pt modelId="{3AA1AFD7-7CBA-424D-843C-E25205568CC1}" type="parTrans" cxnId="{4812052B-AF19-4934-A9CF-1B21A10AE54D}">
      <dgm:prSet/>
      <dgm:spPr/>
      <dgm:t>
        <a:bodyPr/>
        <a:lstStyle/>
        <a:p>
          <a:endParaRPr lang="en-IN"/>
        </a:p>
      </dgm:t>
    </dgm:pt>
    <dgm:pt modelId="{952884A3-D908-4921-8E0E-00E492BF84EA}" type="sibTrans" cxnId="{4812052B-AF19-4934-A9CF-1B21A10AE54D}">
      <dgm:prSet/>
      <dgm:spPr/>
      <dgm:t>
        <a:bodyPr/>
        <a:lstStyle/>
        <a:p>
          <a:endParaRPr lang="en-IN"/>
        </a:p>
      </dgm:t>
    </dgm:pt>
    <dgm:pt modelId="{9C85A26D-DDA4-43F9-8FB0-DEAEA5F364A9}">
      <dgm:prSet phldrT="[Text]" phldr="0"/>
      <dgm:spPr/>
      <dgm:t>
        <a:bodyPr/>
        <a:lstStyle/>
        <a:p>
          <a:r>
            <a:rPr lang="en-IN" dirty="0"/>
            <a:t>Player : </a:t>
          </a:r>
          <a:r>
            <a:rPr lang="en-IN" b="1" dirty="0"/>
            <a:t>Model Provider </a:t>
          </a:r>
          <a:endParaRPr lang="en-IN" dirty="0"/>
        </a:p>
      </dgm:t>
    </dgm:pt>
    <dgm:pt modelId="{21937E37-CAFB-41DA-BEF4-CBAFF6844BB1}" type="parTrans" cxnId="{EFF713E4-EB86-4CBB-BD89-CE4260B4315E}">
      <dgm:prSet/>
      <dgm:spPr/>
      <dgm:t>
        <a:bodyPr/>
        <a:lstStyle/>
        <a:p>
          <a:endParaRPr lang="en-IN"/>
        </a:p>
      </dgm:t>
    </dgm:pt>
    <dgm:pt modelId="{EF5B4A51-142C-475B-9D8B-C32841804006}" type="sibTrans" cxnId="{EFF713E4-EB86-4CBB-BD89-CE4260B4315E}">
      <dgm:prSet/>
      <dgm:spPr/>
      <dgm:t>
        <a:bodyPr/>
        <a:lstStyle/>
        <a:p>
          <a:endParaRPr lang="en-IN"/>
        </a:p>
      </dgm:t>
    </dgm:pt>
    <dgm:pt modelId="{DFB005F4-F16D-4B27-B5BD-0CAC54D87D6A}">
      <dgm:prSet phldrT="[Text]" phldr="0"/>
      <dgm:spPr/>
      <dgm:t>
        <a:bodyPr/>
        <a:lstStyle/>
        <a:p>
          <a:r>
            <a:rPr lang="en-IN" dirty="0"/>
            <a:t>Player : Data Provider</a:t>
          </a:r>
        </a:p>
      </dgm:t>
    </dgm:pt>
    <dgm:pt modelId="{FA06BA44-6370-4AA2-A6AD-EA6516D52987}" type="parTrans" cxnId="{27B40A17-13DD-4E39-BA50-6D9251D8BB6C}">
      <dgm:prSet/>
      <dgm:spPr/>
      <dgm:t>
        <a:bodyPr/>
        <a:lstStyle/>
        <a:p>
          <a:endParaRPr lang="en-IN"/>
        </a:p>
      </dgm:t>
    </dgm:pt>
    <dgm:pt modelId="{D7513C86-8E85-449E-9AB4-385EB0B6FF5C}" type="sibTrans" cxnId="{27B40A17-13DD-4E39-BA50-6D9251D8BB6C}">
      <dgm:prSet/>
      <dgm:spPr/>
      <dgm:t>
        <a:bodyPr/>
        <a:lstStyle/>
        <a:p>
          <a:endParaRPr lang="en-IN"/>
        </a:p>
      </dgm:t>
    </dgm:pt>
    <dgm:pt modelId="{F34E3E42-E8A9-49A7-B910-C5F2FCD7894E}">
      <dgm:prSet phldrT="[Text]" phldr="0"/>
      <dgm:spPr/>
      <dgm:t>
        <a:bodyPr/>
        <a:lstStyle/>
        <a:p>
          <a:r>
            <a:rPr lang="en-IN" dirty="0"/>
            <a:t>Adversary</a:t>
          </a:r>
        </a:p>
      </dgm:t>
    </dgm:pt>
    <dgm:pt modelId="{10298D8E-A5B1-466F-8D49-4601BDBC0BA7}" type="sibTrans" cxnId="{FE186A14-E482-454C-B28F-D9E0D9FF2622}">
      <dgm:prSet/>
      <dgm:spPr/>
      <dgm:t>
        <a:bodyPr/>
        <a:lstStyle/>
        <a:p>
          <a:endParaRPr lang="en-IN"/>
        </a:p>
      </dgm:t>
    </dgm:pt>
    <dgm:pt modelId="{D3511BB5-5DF5-48C6-BFAE-0762267B688E}" type="parTrans" cxnId="{FE186A14-E482-454C-B28F-D9E0D9FF2622}">
      <dgm:prSet/>
      <dgm:spPr/>
      <dgm:t>
        <a:bodyPr/>
        <a:lstStyle/>
        <a:p>
          <a:endParaRPr lang="en-IN"/>
        </a:p>
      </dgm:t>
    </dgm:pt>
    <dgm:pt modelId="{2AAC891F-EDE0-4217-97A2-507FC9C2D6D3}" type="pres">
      <dgm:prSet presAssocID="{72FAC3BE-71C6-4BB1-AF7B-AEF5C66870DD}" presName="Name0" presStyleCnt="0">
        <dgm:presLayoutVars>
          <dgm:chPref val="1"/>
          <dgm:dir/>
          <dgm:animOne val="branch"/>
          <dgm:animLvl val="lvl"/>
          <dgm:resizeHandles/>
        </dgm:presLayoutVars>
      </dgm:prSet>
      <dgm:spPr/>
    </dgm:pt>
    <dgm:pt modelId="{2EFEEBD6-C14B-4CAA-9DCD-A53874D43879}" type="pres">
      <dgm:prSet presAssocID="{C0205F5B-C721-48F7-A6BC-123C7BA6AE1C}" presName="vertOne" presStyleCnt="0"/>
      <dgm:spPr/>
    </dgm:pt>
    <dgm:pt modelId="{93DAA2F0-E50E-43C9-9542-CBB340770DAE}" type="pres">
      <dgm:prSet presAssocID="{C0205F5B-C721-48F7-A6BC-123C7BA6AE1C}" presName="txOne" presStyleLbl="node0" presStyleIdx="0" presStyleCnt="1" custLinFactY="-172" custLinFactNeighborX="-63311" custLinFactNeighborY="-100000">
        <dgm:presLayoutVars>
          <dgm:chPref val="3"/>
        </dgm:presLayoutVars>
      </dgm:prSet>
      <dgm:spPr/>
    </dgm:pt>
    <dgm:pt modelId="{C2E61B1B-A151-4791-B7DC-B63B0C2A9158}" type="pres">
      <dgm:prSet presAssocID="{C0205F5B-C721-48F7-A6BC-123C7BA6AE1C}" presName="parTransOne" presStyleCnt="0"/>
      <dgm:spPr/>
    </dgm:pt>
    <dgm:pt modelId="{5489BA46-CC54-45C9-8D0C-F53C38ECE4B4}" type="pres">
      <dgm:prSet presAssocID="{C0205F5B-C721-48F7-A6BC-123C7BA6AE1C}" presName="horzOne" presStyleCnt="0"/>
      <dgm:spPr/>
    </dgm:pt>
    <dgm:pt modelId="{47F1D6B1-FC3B-4425-BC4C-E011A794D86A}" type="pres">
      <dgm:prSet presAssocID="{1464E9A2-585E-4B4D-A9AD-DFB4DA6AE96D}" presName="vertTwo" presStyleCnt="0"/>
      <dgm:spPr/>
    </dgm:pt>
    <dgm:pt modelId="{B83B3617-3CDB-4FCA-91F2-41B0AF9F2F6E}" type="pres">
      <dgm:prSet presAssocID="{1464E9A2-585E-4B4D-A9AD-DFB4DA6AE96D}" presName="txTwo" presStyleLbl="node2" presStyleIdx="0" presStyleCnt="2">
        <dgm:presLayoutVars>
          <dgm:chPref val="3"/>
        </dgm:presLayoutVars>
      </dgm:prSet>
      <dgm:spPr/>
    </dgm:pt>
    <dgm:pt modelId="{5B8F9F97-D1DE-49C0-BA5B-BCD3C247A91E}" type="pres">
      <dgm:prSet presAssocID="{1464E9A2-585E-4B4D-A9AD-DFB4DA6AE96D}" presName="parTransTwo" presStyleCnt="0"/>
      <dgm:spPr/>
    </dgm:pt>
    <dgm:pt modelId="{A5B5FEA4-DAF2-4FCE-B5B8-5F3F535A54EF}" type="pres">
      <dgm:prSet presAssocID="{1464E9A2-585E-4B4D-A9AD-DFB4DA6AE96D}" presName="horzTwo" presStyleCnt="0"/>
      <dgm:spPr/>
    </dgm:pt>
    <dgm:pt modelId="{34E62553-6822-4F66-8B86-6763862F3B6D}" type="pres">
      <dgm:prSet presAssocID="{125C1EF0-6F8A-4FEE-BF65-10AFDC161563}" presName="vertThree" presStyleCnt="0"/>
      <dgm:spPr/>
    </dgm:pt>
    <dgm:pt modelId="{CE1AEF6B-AF7D-46A7-998D-5C944A0DB194}" type="pres">
      <dgm:prSet presAssocID="{125C1EF0-6F8A-4FEE-BF65-10AFDC161563}" presName="txThree" presStyleLbl="node3" presStyleIdx="0" presStyleCnt="3">
        <dgm:presLayoutVars>
          <dgm:chPref val="3"/>
        </dgm:presLayoutVars>
      </dgm:prSet>
      <dgm:spPr/>
    </dgm:pt>
    <dgm:pt modelId="{D466F751-B064-461D-8D15-6E13A79DBFC9}" type="pres">
      <dgm:prSet presAssocID="{125C1EF0-6F8A-4FEE-BF65-10AFDC161563}" presName="horzThree" presStyleCnt="0"/>
      <dgm:spPr/>
    </dgm:pt>
    <dgm:pt modelId="{21A7FAAB-641C-4974-A180-7CACC7052031}" type="pres">
      <dgm:prSet presAssocID="{952884A3-D908-4921-8E0E-00E492BF84EA}" presName="sibSpaceThree" presStyleCnt="0"/>
      <dgm:spPr/>
    </dgm:pt>
    <dgm:pt modelId="{5E3A03EB-7943-4EF1-BF38-46A56980FD9D}" type="pres">
      <dgm:prSet presAssocID="{F34E3E42-E8A9-49A7-B910-C5F2FCD7894E}" presName="vertThree" presStyleCnt="0"/>
      <dgm:spPr/>
    </dgm:pt>
    <dgm:pt modelId="{A42D9089-B22A-4D7D-B993-93067F58451C}" type="pres">
      <dgm:prSet presAssocID="{F34E3E42-E8A9-49A7-B910-C5F2FCD7894E}" presName="txThree" presStyleLbl="node3" presStyleIdx="1" presStyleCnt="3">
        <dgm:presLayoutVars>
          <dgm:chPref val="3"/>
        </dgm:presLayoutVars>
      </dgm:prSet>
      <dgm:spPr/>
    </dgm:pt>
    <dgm:pt modelId="{7534CD5D-A9C3-435C-BA42-14C5295F7CB3}" type="pres">
      <dgm:prSet presAssocID="{F34E3E42-E8A9-49A7-B910-C5F2FCD7894E}" presName="horzThree" presStyleCnt="0"/>
      <dgm:spPr/>
    </dgm:pt>
    <dgm:pt modelId="{DA31B109-A8C0-4895-ADDA-1A238B5D864C}" type="pres">
      <dgm:prSet presAssocID="{A99F1001-B5F6-45EC-A64E-03C7660CBD35}" presName="sibSpaceTwo" presStyleCnt="0"/>
      <dgm:spPr/>
    </dgm:pt>
    <dgm:pt modelId="{863D4103-1159-4D04-BB4C-B5D2A00B2EE4}" type="pres">
      <dgm:prSet presAssocID="{9C85A26D-DDA4-43F9-8FB0-DEAEA5F364A9}" presName="vertTwo" presStyleCnt="0"/>
      <dgm:spPr/>
    </dgm:pt>
    <dgm:pt modelId="{BDACE347-F15D-4EF6-AB4C-CB7B0A6D4296}" type="pres">
      <dgm:prSet presAssocID="{9C85A26D-DDA4-43F9-8FB0-DEAEA5F364A9}" presName="txTwo" presStyleLbl="node2" presStyleIdx="1" presStyleCnt="2">
        <dgm:presLayoutVars>
          <dgm:chPref val="3"/>
        </dgm:presLayoutVars>
      </dgm:prSet>
      <dgm:spPr/>
    </dgm:pt>
    <dgm:pt modelId="{B158C6F7-3165-494B-A669-4751C17E2630}" type="pres">
      <dgm:prSet presAssocID="{9C85A26D-DDA4-43F9-8FB0-DEAEA5F364A9}" presName="parTransTwo" presStyleCnt="0"/>
      <dgm:spPr/>
    </dgm:pt>
    <dgm:pt modelId="{C93766ED-D34C-4545-8E4B-028713AE63CF}" type="pres">
      <dgm:prSet presAssocID="{9C85A26D-DDA4-43F9-8FB0-DEAEA5F364A9}" presName="horzTwo" presStyleCnt="0"/>
      <dgm:spPr/>
    </dgm:pt>
    <dgm:pt modelId="{0DE0D15D-AAC9-43F2-8F63-50F5FAB12EFE}" type="pres">
      <dgm:prSet presAssocID="{DFB005F4-F16D-4B27-B5BD-0CAC54D87D6A}" presName="vertThree" presStyleCnt="0"/>
      <dgm:spPr/>
    </dgm:pt>
    <dgm:pt modelId="{C5E9B9DE-0D40-4C0B-9D55-ACBE17E1B9EC}" type="pres">
      <dgm:prSet presAssocID="{DFB005F4-F16D-4B27-B5BD-0CAC54D87D6A}" presName="txThree" presStyleLbl="node3" presStyleIdx="2" presStyleCnt="3">
        <dgm:presLayoutVars>
          <dgm:chPref val="3"/>
        </dgm:presLayoutVars>
      </dgm:prSet>
      <dgm:spPr/>
    </dgm:pt>
    <dgm:pt modelId="{BD21490C-0936-4EDE-80DC-CDC9DF77D71C}" type="pres">
      <dgm:prSet presAssocID="{DFB005F4-F16D-4B27-B5BD-0CAC54D87D6A}" presName="horzThree" presStyleCnt="0"/>
      <dgm:spPr/>
    </dgm:pt>
  </dgm:ptLst>
  <dgm:cxnLst>
    <dgm:cxn modelId="{4B8A1B01-4FF8-416B-83DE-31B2919AD33B}" type="presOf" srcId="{C0205F5B-C721-48F7-A6BC-123C7BA6AE1C}" destId="{93DAA2F0-E50E-43C9-9542-CBB340770DAE}" srcOrd="0" destOrd="0" presId="urn:microsoft.com/office/officeart/2005/8/layout/hierarchy4"/>
    <dgm:cxn modelId="{E8A12F04-5B76-4EF2-B44F-7254CFF9502B}" srcId="{C0205F5B-C721-48F7-A6BC-123C7BA6AE1C}" destId="{1464E9A2-585E-4B4D-A9AD-DFB4DA6AE96D}" srcOrd="0" destOrd="0" parTransId="{AA85F697-BF30-4B72-918C-2C6F7F1C5D38}" sibTransId="{A99F1001-B5F6-45EC-A64E-03C7660CBD35}"/>
    <dgm:cxn modelId="{FE186A14-E482-454C-B28F-D9E0D9FF2622}" srcId="{1464E9A2-585E-4B4D-A9AD-DFB4DA6AE96D}" destId="{F34E3E42-E8A9-49A7-B910-C5F2FCD7894E}" srcOrd="1" destOrd="0" parTransId="{D3511BB5-5DF5-48C6-BFAE-0762267B688E}" sibTransId="{10298D8E-A5B1-466F-8D49-4601BDBC0BA7}"/>
    <dgm:cxn modelId="{27B40A17-13DD-4E39-BA50-6D9251D8BB6C}" srcId="{9C85A26D-DDA4-43F9-8FB0-DEAEA5F364A9}" destId="{DFB005F4-F16D-4B27-B5BD-0CAC54D87D6A}" srcOrd="0" destOrd="0" parTransId="{FA06BA44-6370-4AA2-A6AD-EA6516D52987}" sibTransId="{D7513C86-8E85-449E-9AB4-385EB0B6FF5C}"/>
    <dgm:cxn modelId="{4812052B-AF19-4934-A9CF-1B21A10AE54D}" srcId="{1464E9A2-585E-4B4D-A9AD-DFB4DA6AE96D}" destId="{125C1EF0-6F8A-4FEE-BF65-10AFDC161563}" srcOrd="0" destOrd="0" parTransId="{3AA1AFD7-7CBA-424D-843C-E25205568CC1}" sibTransId="{952884A3-D908-4921-8E0E-00E492BF84EA}"/>
    <dgm:cxn modelId="{7005495C-53C4-4D11-A997-EAD90416BBFA}" type="presOf" srcId="{DFB005F4-F16D-4B27-B5BD-0CAC54D87D6A}" destId="{C5E9B9DE-0D40-4C0B-9D55-ACBE17E1B9EC}" srcOrd="0" destOrd="0" presId="urn:microsoft.com/office/officeart/2005/8/layout/hierarchy4"/>
    <dgm:cxn modelId="{58AFD664-3C1C-471B-95C0-3568D989E954}" type="presOf" srcId="{F34E3E42-E8A9-49A7-B910-C5F2FCD7894E}" destId="{A42D9089-B22A-4D7D-B993-93067F58451C}" srcOrd="0" destOrd="0" presId="urn:microsoft.com/office/officeart/2005/8/layout/hierarchy4"/>
    <dgm:cxn modelId="{D8F61965-948E-4749-BF11-7874D21CA661}" type="presOf" srcId="{72FAC3BE-71C6-4BB1-AF7B-AEF5C66870DD}" destId="{2AAC891F-EDE0-4217-97A2-507FC9C2D6D3}" srcOrd="0" destOrd="0" presId="urn:microsoft.com/office/officeart/2005/8/layout/hierarchy4"/>
    <dgm:cxn modelId="{746A3347-4E04-4AAA-A506-4200EF3A31DD}" type="presOf" srcId="{9C85A26D-DDA4-43F9-8FB0-DEAEA5F364A9}" destId="{BDACE347-F15D-4EF6-AB4C-CB7B0A6D4296}" srcOrd="0" destOrd="0" presId="urn:microsoft.com/office/officeart/2005/8/layout/hierarchy4"/>
    <dgm:cxn modelId="{9BBCBA81-0B85-4D74-AAD2-D9784A4FC45B}" srcId="{72FAC3BE-71C6-4BB1-AF7B-AEF5C66870DD}" destId="{C0205F5B-C721-48F7-A6BC-123C7BA6AE1C}" srcOrd="0" destOrd="0" parTransId="{1441FDC1-E316-4E3E-B826-F63CA33B5F26}" sibTransId="{46247759-01F0-4767-BC38-0B267971A27F}"/>
    <dgm:cxn modelId="{A3F31A88-CCF7-4DB2-98F0-8A7071C0897E}" type="presOf" srcId="{1464E9A2-585E-4B4D-A9AD-DFB4DA6AE96D}" destId="{B83B3617-3CDB-4FCA-91F2-41B0AF9F2F6E}" srcOrd="0" destOrd="0" presId="urn:microsoft.com/office/officeart/2005/8/layout/hierarchy4"/>
    <dgm:cxn modelId="{04F1ACC5-69D7-4FD8-972E-97657075397A}" type="presOf" srcId="{125C1EF0-6F8A-4FEE-BF65-10AFDC161563}" destId="{CE1AEF6B-AF7D-46A7-998D-5C944A0DB194}" srcOrd="0" destOrd="0" presId="urn:microsoft.com/office/officeart/2005/8/layout/hierarchy4"/>
    <dgm:cxn modelId="{EFF713E4-EB86-4CBB-BD89-CE4260B4315E}" srcId="{C0205F5B-C721-48F7-A6BC-123C7BA6AE1C}" destId="{9C85A26D-DDA4-43F9-8FB0-DEAEA5F364A9}" srcOrd="1" destOrd="0" parTransId="{21937E37-CAFB-41DA-BEF4-CBAFF6844BB1}" sibTransId="{EF5B4A51-142C-475B-9D8B-C32841804006}"/>
    <dgm:cxn modelId="{CF6AF6B8-16BD-4715-9E73-9EA738102CC3}" type="presParOf" srcId="{2AAC891F-EDE0-4217-97A2-507FC9C2D6D3}" destId="{2EFEEBD6-C14B-4CAA-9DCD-A53874D43879}" srcOrd="0" destOrd="0" presId="urn:microsoft.com/office/officeart/2005/8/layout/hierarchy4"/>
    <dgm:cxn modelId="{AC1104F7-12B8-4DB7-A50B-3E130C371809}" type="presParOf" srcId="{2EFEEBD6-C14B-4CAA-9DCD-A53874D43879}" destId="{93DAA2F0-E50E-43C9-9542-CBB340770DAE}" srcOrd="0" destOrd="0" presId="urn:microsoft.com/office/officeart/2005/8/layout/hierarchy4"/>
    <dgm:cxn modelId="{104C9EAC-BF65-4DF9-B61B-ED4D014BF292}" type="presParOf" srcId="{2EFEEBD6-C14B-4CAA-9DCD-A53874D43879}" destId="{C2E61B1B-A151-4791-B7DC-B63B0C2A9158}" srcOrd="1" destOrd="0" presId="urn:microsoft.com/office/officeart/2005/8/layout/hierarchy4"/>
    <dgm:cxn modelId="{C50B090C-85EB-4074-93BC-B61BDF5A246F}" type="presParOf" srcId="{2EFEEBD6-C14B-4CAA-9DCD-A53874D43879}" destId="{5489BA46-CC54-45C9-8D0C-F53C38ECE4B4}" srcOrd="2" destOrd="0" presId="urn:microsoft.com/office/officeart/2005/8/layout/hierarchy4"/>
    <dgm:cxn modelId="{7072723F-6342-4188-874C-549E1F76DD76}" type="presParOf" srcId="{5489BA46-CC54-45C9-8D0C-F53C38ECE4B4}" destId="{47F1D6B1-FC3B-4425-BC4C-E011A794D86A}" srcOrd="0" destOrd="0" presId="urn:microsoft.com/office/officeart/2005/8/layout/hierarchy4"/>
    <dgm:cxn modelId="{D0DA4079-06D9-41EC-9A00-093A7F154AAB}" type="presParOf" srcId="{47F1D6B1-FC3B-4425-BC4C-E011A794D86A}" destId="{B83B3617-3CDB-4FCA-91F2-41B0AF9F2F6E}" srcOrd="0" destOrd="0" presId="urn:microsoft.com/office/officeart/2005/8/layout/hierarchy4"/>
    <dgm:cxn modelId="{13D3D7BE-10AF-4AA0-A8EC-7219F60CA37C}" type="presParOf" srcId="{47F1D6B1-FC3B-4425-BC4C-E011A794D86A}" destId="{5B8F9F97-D1DE-49C0-BA5B-BCD3C247A91E}" srcOrd="1" destOrd="0" presId="urn:microsoft.com/office/officeart/2005/8/layout/hierarchy4"/>
    <dgm:cxn modelId="{EA0145AF-952C-428F-B913-6B66612D9918}" type="presParOf" srcId="{47F1D6B1-FC3B-4425-BC4C-E011A794D86A}" destId="{A5B5FEA4-DAF2-4FCE-B5B8-5F3F535A54EF}" srcOrd="2" destOrd="0" presId="urn:microsoft.com/office/officeart/2005/8/layout/hierarchy4"/>
    <dgm:cxn modelId="{16F36D50-10BB-4E9A-82C7-0C53DB818A41}" type="presParOf" srcId="{A5B5FEA4-DAF2-4FCE-B5B8-5F3F535A54EF}" destId="{34E62553-6822-4F66-8B86-6763862F3B6D}" srcOrd="0" destOrd="0" presId="urn:microsoft.com/office/officeart/2005/8/layout/hierarchy4"/>
    <dgm:cxn modelId="{CCB645BC-83D1-4D7F-B2CE-CAEE20C3BE38}" type="presParOf" srcId="{34E62553-6822-4F66-8B86-6763862F3B6D}" destId="{CE1AEF6B-AF7D-46A7-998D-5C944A0DB194}" srcOrd="0" destOrd="0" presId="urn:microsoft.com/office/officeart/2005/8/layout/hierarchy4"/>
    <dgm:cxn modelId="{A4F395FE-68B6-4EF2-9967-D6928BA9C22C}" type="presParOf" srcId="{34E62553-6822-4F66-8B86-6763862F3B6D}" destId="{D466F751-B064-461D-8D15-6E13A79DBFC9}" srcOrd="1" destOrd="0" presId="urn:microsoft.com/office/officeart/2005/8/layout/hierarchy4"/>
    <dgm:cxn modelId="{2EEB7445-5160-4445-8245-FBCA03AC458E}" type="presParOf" srcId="{A5B5FEA4-DAF2-4FCE-B5B8-5F3F535A54EF}" destId="{21A7FAAB-641C-4974-A180-7CACC7052031}" srcOrd="1" destOrd="0" presId="urn:microsoft.com/office/officeart/2005/8/layout/hierarchy4"/>
    <dgm:cxn modelId="{75BD5B25-F8B8-44F5-8100-1B0C7F35CB7A}" type="presParOf" srcId="{A5B5FEA4-DAF2-4FCE-B5B8-5F3F535A54EF}" destId="{5E3A03EB-7943-4EF1-BF38-46A56980FD9D}" srcOrd="2" destOrd="0" presId="urn:microsoft.com/office/officeart/2005/8/layout/hierarchy4"/>
    <dgm:cxn modelId="{67BFF2A9-EFBD-42FA-9334-A5A46F3FA011}" type="presParOf" srcId="{5E3A03EB-7943-4EF1-BF38-46A56980FD9D}" destId="{A42D9089-B22A-4D7D-B993-93067F58451C}" srcOrd="0" destOrd="0" presId="urn:microsoft.com/office/officeart/2005/8/layout/hierarchy4"/>
    <dgm:cxn modelId="{F3568CA3-7712-4BAE-BD45-982A4895B5F1}" type="presParOf" srcId="{5E3A03EB-7943-4EF1-BF38-46A56980FD9D}" destId="{7534CD5D-A9C3-435C-BA42-14C5295F7CB3}" srcOrd="1" destOrd="0" presId="urn:microsoft.com/office/officeart/2005/8/layout/hierarchy4"/>
    <dgm:cxn modelId="{237F8B7F-8920-433B-8E20-2BC2F43F8161}" type="presParOf" srcId="{5489BA46-CC54-45C9-8D0C-F53C38ECE4B4}" destId="{DA31B109-A8C0-4895-ADDA-1A238B5D864C}" srcOrd="1" destOrd="0" presId="urn:microsoft.com/office/officeart/2005/8/layout/hierarchy4"/>
    <dgm:cxn modelId="{49076BC8-2E69-4E92-9DD9-0005F12B923A}" type="presParOf" srcId="{5489BA46-CC54-45C9-8D0C-F53C38ECE4B4}" destId="{863D4103-1159-4D04-BB4C-B5D2A00B2EE4}" srcOrd="2" destOrd="0" presId="urn:microsoft.com/office/officeart/2005/8/layout/hierarchy4"/>
    <dgm:cxn modelId="{33E11FCC-5ED2-44C0-8878-C4AAAD478758}" type="presParOf" srcId="{863D4103-1159-4D04-BB4C-B5D2A00B2EE4}" destId="{BDACE347-F15D-4EF6-AB4C-CB7B0A6D4296}" srcOrd="0" destOrd="0" presId="urn:microsoft.com/office/officeart/2005/8/layout/hierarchy4"/>
    <dgm:cxn modelId="{40371CBD-C668-4571-A81E-03115BED927A}" type="presParOf" srcId="{863D4103-1159-4D04-BB4C-B5D2A00B2EE4}" destId="{B158C6F7-3165-494B-A669-4751C17E2630}" srcOrd="1" destOrd="0" presId="urn:microsoft.com/office/officeart/2005/8/layout/hierarchy4"/>
    <dgm:cxn modelId="{37B3DA54-123C-44AD-8186-313BFF391231}" type="presParOf" srcId="{863D4103-1159-4D04-BB4C-B5D2A00B2EE4}" destId="{C93766ED-D34C-4545-8E4B-028713AE63CF}" srcOrd="2" destOrd="0" presId="urn:microsoft.com/office/officeart/2005/8/layout/hierarchy4"/>
    <dgm:cxn modelId="{567DDD84-1088-4F66-8D28-F423A1B43F9E}" type="presParOf" srcId="{C93766ED-D34C-4545-8E4B-028713AE63CF}" destId="{0DE0D15D-AAC9-43F2-8F63-50F5FAB12EFE}" srcOrd="0" destOrd="0" presId="urn:microsoft.com/office/officeart/2005/8/layout/hierarchy4"/>
    <dgm:cxn modelId="{738AE141-B650-4B49-AA9A-D197C5AD7C48}" type="presParOf" srcId="{0DE0D15D-AAC9-43F2-8F63-50F5FAB12EFE}" destId="{C5E9B9DE-0D40-4C0B-9D55-ACBE17E1B9EC}" srcOrd="0" destOrd="0" presId="urn:microsoft.com/office/officeart/2005/8/layout/hierarchy4"/>
    <dgm:cxn modelId="{ECEB5EB5-131E-4B4F-92F0-4E138DFC9680}" type="presParOf" srcId="{0DE0D15D-AAC9-43F2-8F63-50F5FAB12EFE}" destId="{BD21490C-0936-4EDE-80DC-CDC9DF77D71C}" srcOrd="1" destOrd="0" presId="urn:microsoft.com/office/officeart/2005/8/layout/hierarchy4"/>
  </dgm:cxnLst>
  <dgm:bg/>
  <dgm:whole/>
  <dgm:extLst>
    <a:ext uri="http://schemas.microsoft.com/office/drawing/2008/diagram">
      <dsp:dataModelExt xmlns:dsp="http://schemas.microsoft.com/office/drawing/2008/diagram" relId="rId2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5B7D328-C201-46E3-B0A3-FDDC7A164F7F}"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IN"/>
        </a:p>
      </dgm:t>
    </dgm:pt>
    <dgm:pt modelId="{C9D81B65-A086-47FF-98B3-2CA8AFEDE5EC}" type="pres">
      <dgm:prSet presAssocID="{65B7D328-C201-46E3-B0A3-FDDC7A164F7F}" presName="Name0" presStyleCnt="0">
        <dgm:presLayoutVars>
          <dgm:dir/>
          <dgm:animLvl val="lvl"/>
          <dgm:resizeHandles/>
        </dgm:presLayoutVars>
      </dgm:prSet>
      <dgm:spPr/>
    </dgm:pt>
  </dgm:ptLst>
  <dgm:cxnLst>
    <dgm:cxn modelId="{FAF871ED-0956-4637-AA13-5E236FCD1CE7}" type="presOf" srcId="{65B7D328-C201-46E3-B0A3-FDDC7A164F7F}" destId="{C9D81B65-A086-47FF-98B3-2CA8AFEDE5EC}" srcOrd="0" destOrd="0" presId="urn:microsoft.com/office/officeart/2005/8/layout/vList6"/>
  </dgm:cxnLst>
  <dgm:bg/>
  <dgm:whole/>
  <dgm:extLst>
    <a:ext uri="http://schemas.microsoft.com/office/drawing/2008/diagram">
      <dsp:dataModelExt xmlns:dsp="http://schemas.microsoft.com/office/drawing/2008/diagram" relId="rId2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43FC87-0DAA-FE4F-B3DC-59C91B1530E0}">
      <dsp:nvSpPr>
        <dsp:cNvPr id="0" name=""/>
        <dsp:cNvSpPr/>
      </dsp:nvSpPr>
      <dsp:spPr>
        <a:xfrm rot="5400000">
          <a:off x="6470119" y="-2841457"/>
          <a:ext cx="704226" cy="6513267"/>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Lack of equilibrium strategies between data providers (privacy, minimal sharing) and model providers (performance, utility).</a:t>
          </a:r>
          <a:endParaRPr lang="en-GB" sz="1600" kern="1200" dirty="0">
            <a:latin typeface="Times New Roman" panose="02020603050405020304" pitchFamily="18" charset="0"/>
            <a:cs typeface="Times New Roman" panose="02020603050405020304" pitchFamily="18" charset="0"/>
          </a:endParaRPr>
        </a:p>
      </dsp:txBody>
      <dsp:txXfrm rot="-5400000">
        <a:off x="3565599" y="97440"/>
        <a:ext cx="6478890" cy="635472"/>
      </dsp:txXfrm>
    </dsp:sp>
    <dsp:sp modelId="{2509E6C5-E558-994C-B4C7-DCDCB4762F21}">
      <dsp:nvSpPr>
        <dsp:cNvPr id="0" name=""/>
        <dsp:cNvSpPr/>
      </dsp:nvSpPr>
      <dsp:spPr>
        <a:xfrm>
          <a:off x="98114" y="1719"/>
          <a:ext cx="3467484" cy="82691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t>Game-Theory-Based Balance</a:t>
          </a:r>
          <a:endParaRPr lang="en-GB" sz="2000" kern="1200" dirty="0">
            <a:latin typeface="Times New Roman" panose="02020603050405020304" pitchFamily="18" charset="0"/>
            <a:cs typeface="Times New Roman" panose="02020603050405020304" pitchFamily="18" charset="0"/>
          </a:endParaRPr>
        </a:p>
      </dsp:txBody>
      <dsp:txXfrm>
        <a:off x="138481" y="42086"/>
        <a:ext cx="3386750" cy="746180"/>
      </dsp:txXfrm>
    </dsp:sp>
    <dsp:sp modelId="{AEC64D76-254D-5C4C-89E0-7E54C22BE44C}">
      <dsp:nvSpPr>
        <dsp:cNvPr id="0" name=""/>
        <dsp:cNvSpPr/>
      </dsp:nvSpPr>
      <dsp:spPr>
        <a:xfrm rot="5400000">
          <a:off x="6491467" y="-1973197"/>
          <a:ext cx="661531" cy="6513267"/>
        </a:xfrm>
        <a:prstGeom prst="round2SameRect">
          <a:avLst/>
        </a:prstGeom>
        <a:solidFill>
          <a:schemeClr val="accent2">
            <a:tint val="40000"/>
            <a:alpha val="90000"/>
            <a:hueOff val="-283075"/>
            <a:satOff val="-25115"/>
            <a:lumOff val="-256"/>
            <a:alphaOff val="0"/>
          </a:schemeClr>
        </a:solidFill>
        <a:ln w="12700" cap="flat" cmpd="sng" algn="ctr">
          <a:solidFill>
            <a:schemeClr val="accent2">
              <a:tint val="40000"/>
              <a:alpha val="90000"/>
              <a:hueOff val="-283075"/>
              <a:satOff val="-25115"/>
              <a:lumOff val="-2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Limited exploration of feature-aware strategies (feature extraction, generation, selection) integrated into unlearning operations.</a:t>
          </a:r>
          <a:endParaRPr lang="en-GB" sz="1600" kern="1200" dirty="0">
            <a:latin typeface="Times New Roman" panose="02020603050405020304" pitchFamily="18" charset="0"/>
            <a:cs typeface="Times New Roman" panose="02020603050405020304" pitchFamily="18" charset="0"/>
          </a:endParaRPr>
        </a:p>
      </dsp:txBody>
      <dsp:txXfrm rot="-5400000">
        <a:off x="3565600" y="984963"/>
        <a:ext cx="6480974" cy="596945"/>
      </dsp:txXfrm>
    </dsp:sp>
    <dsp:sp modelId="{5887623D-96BC-B747-A79F-E37C93CDAE33}">
      <dsp:nvSpPr>
        <dsp:cNvPr id="0" name=""/>
        <dsp:cNvSpPr/>
      </dsp:nvSpPr>
      <dsp:spPr>
        <a:xfrm>
          <a:off x="98114" y="869979"/>
          <a:ext cx="3467484" cy="826914"/>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t>Feature-Based Unlearning</a:t>
          </a:r>
          <a:endParaRPr lang="en-GB" sz="2000" kern="1200" dirty="0">
            <a:latin typeface="Times New Roman" panose="02020603050405020304" pitchFamily="18" charset="0"/>
            <a:cs typeface="Times New Roman" panose="02020603050405020304" pitchFamily="18" charset="0"/>
          </a:endParaRPr>
        </a:p>
      </dsp:txBody>
      <dsp:txXfrm>
        <a:off x="138481" y="910346"/>
        <a:ext cx="3386750" cy="746180"/>
      </dsp:txXfrm>
    </dsp:sp>
    <dsp:sp modelId="{E7972576-5D6F-FA4B-903C-6084BEDFFCF5}">
      <dsp:nvSpPr>
        <dsp:cNvPr id="0" name=""/>
        <dsp:cNvSpPr/>
      </dsp:nvSpPr>
      <dsp:spPr>
        <a:xfrm rot="5400000">
          <a:off x="6491467" y="-1104937"/>
          <a:ext cx="661531" cy="6513267"/>
        </a:xfrm>
        <a:prstGeom prst="round2SameRect">
          <a:avLst/>
        </a:prstGeom>
        <a:solidFill>
          <a:schemeClr val="accent2">
            <a:tint val="40000"/>
            <a:alpha val="90000"/>
            <a:hueOff val="-566151"/>
            <a:satOff val="-50231"/>
            <a:lumOff val="-513"/>
            <a:alphaOff val="0"/>
          </a:schemeClr>
        </a:solidFill>
        <a:ln w="12700" cap="flat" cmpd="sng" algn="ctr">
          <a:solidFill>
            <a:schemeClr val="accent2">
              <a:tint val="40000"/>
              <a:alpha val="90000"/>
              <a:hueOff val="-566151"/>
              <a:satOff val="-50231"/>
              <a:lumOff val="-5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Limited integration of broader attack models (membership inference, attribute inference, reconstruction, poisoning) into unlearning frameworks.</a:t>
          </a:r>
          <a:endParaRPr lang="en-GB" sz="1600" kern="1200" dirty="0">
            <a:latin typeface="Times New Roman" panose="02020603050405020304" pitchFamily="18" charset="0"/>
            <a:cs typeface="Times New Roman" panose="02020603050405020304" pitchFamily="18" charset="0"/>
          </a:endParaRPr>
        </a:p>
      </dsp:txBody>
      <dsp:txXfrm rot="-5400000">
        <a:off x="3565600" y="1853223"/>
        <a:ext cx="6480974" cy="596945"/>
      </dsp:txXfrm>
    </dsp:sp>
    <dsp:sp modelId="{A28434E8-C752-4344-82EF-D4F915620887}">
      <dsp:nvSpPr>
        <dsp:cNvPr id="0" name=""/>
        <dsp:cNvSpPr/>
      </dsp:nvSpPr>
      <dsp:spPr>
        <a:xfrm>
          <a:off x="98114" y="1738239"/>
          <a:ext cx="3467484" cy="826914"/>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t>Adversarial Threats</a:t>
          </a:r>
          <a:endParaRPr lang="en-GB" sz="2000" kern="1200" dirty="0">
            <a:latin typeface="Times New Roman" panose="02020603050405020304" pitchFamily="18" charset="0"/>
            <a:cs typeface="Times New Roman" panose="02020603050405020304" pitchFamily="18" charset="0"/>
          </a:endParaRPr>
        </a:p>
      </dsp:txBody>
      <dsp:txXfrm>
        <a:off x="138481" y="1778606"/>
        <a:ext cx="3386750" cy="746180"/>
      </dsp:txXfrm>
    </dsp:sp>
    <dsp:sp modelId="{3A7982CA-9FA5-FF49-8B87-8915B8F21519}">
      <dsp:nvSpPr>
        <dsp:cNvPr id="0" name=""/>
        <dsp:cNvSpPr/>
      </dsp:nvSpPr>
      <dsp:spPr>
        <a:xfrm rot="5400000">
          <a:off x="6491467" y="-236677"/>
          <a:ext cx="661531" cy="6513267"/>
        </a:xfrm>
        <a:prstGeom prst="round2Same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Need for systems that incentivize users to share data responsibly while preventing misuse.</a:t>
          </a:r>
          <a:endParaRPr lang="en-GB" sz="1600" kern="1200" dirty="0">
            <a:latin typeface="Times New Roman" panose="02020603050405020304" pitchFamily="18" charset="0"/>
            <a:cs typeface="Times New Roman" panose="02020603050405020304" pitchFamily="18" charset="0"/>
          </a:endParaRPr>
        </a:p>
      </dsp:txBody>
      <dsp:txXfrm rot="-5400000">
        <a:off x="3565600" y="2721483"/>
        <a:ext cx="6480974" cy="596945"/>
      </dsp:txXfrm>
    </dsp:sp>
    <dsp:sp modelId="{CC229CB6-8123-A641-8FF9-976A0B779F84}">
      <dsp:nvSpPr>
        <dsp:cNvPr id="0" name=""/>
        <dsp:cNvSpPr/>
      </dsp:nvSpPr>
      <dsp:spPr>
        <a:xfrm>
          <a:off x="98114" y="2606499"/>
          <a:ext cx="3467484" cy="826914"/>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t>Incentive Mechanisms</a:t>
          </a:r>
          <a:endParaRPr lang="en-GB" sz="2000" kern="1200" dirty="0">
            <a:latin typeface="Times New Roman" panose="02020603050405020304" pitchFamily="18" charset="0"/>
            <a:cs typeface="Times New Roman" panose="02020603050405020304" pitchFamily="18" charset="0"/>
          </a:endParaRPr>
        </a:p>
      </dsp:txBody>
      <dsp:txXfrm>
        <a:off x="138481" y="2646866"/>
        <a:ext cx="3386750" cy="7461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43FC87-0DAA-FE4F-B3DC-59C91B1530E0}">
      <dsp:nvSpPr>
        <dsp:cNvPr id="0" name=""/>
        <dsp:cNvSpPr/>
      </dsp:nvSpPr>
      <dsp:spPr>
        <a:xfrm rot="5400000">
          <a:off x="6452600" y="-2877479"/>
          <a:ext cx="739265" cy="6513267"/>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Difficulty in applying unlearning to large language models with billions of parameters; contributions of individual data points remain uncertain.</a:t>
          </a:r>
          <a:endParaRPr lang="en-GB" sz="1600" kern="1200" dirty="0">
            <a:latin typeface="Times New Roman" panose="02020603050405020304" pitchFamily="18" charset="0"/>
            <a:cs typeface="Times New Roman" panose="02020603050405020304" pitchFamily="18" charset="0"/>
          </a:endParaRPr>
        </a:p>
      </dsp:txBody>
      <dsp:txXfrm rot="-5400000">
        <a:off x="3565599" y="45610"/>
        <a:ext cx="6477179" cy="667089"/>
      </dsp:txXfrm>
    </dsp:sp>
    <dsp:sp modelId="{2509E6C5-E558-994C-B4C7-DCDCB4762F21}">
      <dsp:nvSpPr>
        <dsp:cNvPr id="0" name=""/>
        <dsp:cNvSpPr/>
      </dsp:nvSpPr>
      <dsp:spPr>
        <a:xfrm>
          <a:off x="98114" y="21"/>
          <a:ext cx="3467484" cy="868057"/>
        </a:xfrm>
        <a:prstGeom prst="roundRect">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t>Foundational Models (LLMs)</a:t>
          </a:r>
          <a:endParaRPr lang="en-GB" sz="2000" kern="1200" dirty="0">
            <a:latin typeface="Times New Roman" panose="02020603050405020304" pitchFamily="18" charset="0"/>
            <a:cs typeface="Times New Roman" panose="02020603050405020304" pitchFamily="18" charset="0"/>
          </a:endParaRPr>
        </a:p>
      </dsp:txBody>
      <dsp:txXfrm>
        <a:off x="140489" y="42396"/>
        <a:ext cx="3382734" cy="783307"/>
      </dsp:txXfrm>
    </dsp:sp>
    <dsp:sp modelId="{AEC64D76-254D-5C4C-89E0-7E54C22BE44C}">
      <dsp:nvSpPr>
        <dsp:cNvPr id="0" name=""/>
        <dsp:cNvSpPr/>
      </dsp:nvSpPr>
      <dsp:spPr>
        <a:xfrm rot="5400000">
          <a:off x="6475009" y="-1911123"/>
          <a:ext cx="694445" cy="6513267"/>
        </a:xfrm>
        <a:prstGeom prst="round2Same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Insufficient research on unlearning in evolving/streaming data ecosystems and sequential deletion requests.</a:t>
          </a:r>
          <a:endParaRPr lang="en-GB" sz="1600" kern="1200" dirty="0">
            <a:latin typeface="Times New Roman" panose="02020603050405020304" pitchFamily="18" charset="0"/>
            <a:cs typeface="Times New Roman" panose="02020603050405020304" pitchFamily="18" charset="0"/>
          </a:endParaRPr>
        </a:p>
      </dsp:txBody>
      <dsp:txXfrm rot="-5400000">
        <a:off x="3565598" y="1032188"/>
        <a:ext cx="6479367" cy="626645"/>
      </dsp:txXfrm>
    </dsp:sp>
    <dsp:sp modelId="{5887623D-96BC-B747-A79F-E37C93CDAE33}">
      <dsp:nvSpPr>
        <dsp:cNvPr id="0" name=""/>
        <dsp:cNvSpPr/>
      </dsp:nvSpPr>
      <dsp:spPr>
        <a:xfrm>
          <a:off x="98114" y="911481"/>
          <a:ext cx="3467484" cy="868057"/>
        </a:xfrm>
        <a:prstGeom prst="roundRect">
          <a:avLst/>
        </a:prstGeom>
        <a:solidFill>
          <a:schemeClr val="accent5">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t>Sequential &amp; Dynamic Unlearning</a:t>
          </a:r>
          <a:endParaRPr lang="en-GB" sz="2000" kern="1200" dirty="0">
            <a:latin typeface="Times New Roman" panose="02020603050405020304" pitchFamily="18" charset="0"/>
            <a:cs typeface="Times New Roman" panose="02020603050405020304" pitchFamily="18" charset="0"/>
          </a:endParaRPr>
        </a:p>
      </dsp:txBody>
      <dsp:txXfrm>
        <a:off x="140489" y="953856"/>
        <a:ext cx="3382734" cy="7833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EDA068-6DCD-5B44-A711-56E467C655BB}">
      <dsp:nvSpPr>
        <dsp:cNvPr id="0" name=""/>
        <dsp:cNvSpPr/>
      </dsp:nvSpPr>
      <dsp:spPr>
        <a:xfrm rot="10800000">
          <a:off x="607012" y="2672"/>
          <a:ext cx="9833535" cy="1010166"/>
        </a:xfrm>
        <a:prstGeom prst="homePlat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5455" tIns="76200" rIns="142240" bIns="76200" numCol="1" spcCol="1270" anchor="ctr" anchorCtr="0">
          <a:noAutofit/>
        </a:bodyPr>
        <a:lstStyle/>
        <a:p>
          <a:pPr marL="0" lvl="0" indent="0" algn="ctr" defTabSz="889000">
            <a:lnSpc>
              <a:spcPct val="90000"/>
            </a:lnSpc>
            <a:spcBef>
              <a:spcPct val="0"/>
            </a:spcBef>
            <a:spcAft>
              <a:spcPct val="35000"/>
            </a:spcAft>
            <a:buNone/>
          </a:pPr>
          <a:r>
            <a:rPr lang="en-IN" sz="2000" kern="1200" dirty="0">
              <a:solidFill>
                <a:srgbClr val="ED7D31"/>
              </a:solidFill>
            </a:rPr>
            <a:t>A Unified Game-Theoretic Machine Unlearning Framework</a:t>
          </a:r>
          <a:br>
            <a:rPr lang="en-IN" sz="2000" kern="1200" dirty="0"/>
          </a:br>
          <a:r>
            <a:rPr lang="en-IN" sz="2000" kern="1200" dirty="0"/>
            <a:t>      </a:t>
          </a:r>
          <a:r>
            <a:rPr lang="en-US" sz="1600" kern="1200" dirty="0"/>
            <a:t>Develop a foundational game-theoretic framework for machine unlearning that integrates multiple                         attack models, fairness/bias tradeoffs, and scalability, aiming for ≥X% accuracy retention with ≥Y% privacy leakage reduction by end of 2027.</a:t>
          </a:r>
          <a:endParaRPr lang="en-GB" sz="1600" kern="1200" dirty="0">
            <a:latin typeface="Times New Roman" panose="02020603050405020304" pitchFamily="18" charset="0"/>
            <a:cs typeface="Times New Roman" panose="02020603050405020304" pitchFamily="18" charset="0"/>
          </a:endParaRPr>
        </a:p>
      </dsp:txBody>
      <dsp:txXfrm rot="10800000">
        <a:off x="859553" y="2672"/>
        <a:ext cx="9580994" cy="1010166"/>
      </dsp:txXfrm>
    </dsp:sp>
    <dsp:sp modelId="{E370F7E1-3417-D347-85AA-C3941A450E3F}">
      <dsp:nvSpPr>
        <dsp:cNvPr id="0" name=""/>
        <dsp:cNvSpPr/>
      </dsp:nvSpPr>
      <dsp:spPr>
        <a:xfrm>
          <a:off x="621538" y="14198"/>
          <a:ext cx="1010166" cy="1010166"/>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00B32BE-338D-354F-945F-1972DB549D0F}">
      <dsp:nvSpPr>
        <dsp:cNvPr id="0" name=""/>
        <dsp:cNvSpPr/>
      </dsp:nvSpPr>
      <dsp:spPr>
        <a:xfrm rot="10800000">
          <a:off x="607012" y="1314381"/>
          <a:ext cx="9833535" cy="1010166"/>
        </a:xfrm>
        <a:prstGeom prst="homePlate">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5455" tIns="45720" rIns="85344" bIns="457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D17B5C"/>
              </a:solidFill>
            </a:rPr>
            <a:t>Feature-Aware Game-Theoretic Machine Unlearning </a:t>
          </a:r>
        </a:p>
        <a:p>
          <a:pPr marL="0" lvl="0" indent="0" algn="ctr" defTabSz="533400">
            <a:lnSpc>
              <a:spcPct val="90000"/>
            </a:lnSpc>
            <a:spcBef>
              <a:spcPct val="0"/>
            </a:spcBef>
            <a:spcAft>
              <a:spcPct val="35000"/>
            </a:spcAft>
            <a:buNone/>
          </a:pPr>
          <a:r>
            <a:rPr lang="en-US" sz="1600" kern="1200" dirty="0"/>
            <a:t>Design a feature-based unlearning framework applied to SISA and other models, balancing utility and privacy by excluding sensitive features with ≤X% accuracy loss, targeting a working draft by 2028.</a:t>
          </a:r>
          <a:endParaRPr lang="en-GB" sz="1600" kern="1200" dirty="0">
            <a:solidFill>
              <a:schemeClr val="tx1"/>
            </a:solidFill>
            <a:latin typeface="Times New Roman" panose="02020603050405020304" pitchFamily="18" charset="0"/>
            <a:cs typeface="Times New Roman" panose="02020603050405020304" pitchFamily="18" charset="0"/>
          </a:endParaRPr>
        </a:p>
      </dsp:txBody>
      <dsp:txXfrm rot="10800000">
        <a:off x="859553" y="1314381"/>
        <a:ext cx="9580994" cy="1010166"/>
      </dsp:txXfrm>
    </dsp:sp>
    <dsp:sp modelId="{BFA21859-67FE-0744-B3BE-5E8C851783A7}">
      <dsp:nvSpPr>
        <dsp:cNvPr id="0" name=""/>
        <dsp:cNvSpPr/>
      </dsp:nvSpPr>
      <dsp:spPr>
        <a:xfrm>
          <a:off x="621538" y="1325907"/>
          <a:ext cx="1010166" cy="1010166"/>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A2A09D-B1FC-4448-8A7B-3E4A7C41367A}">
      <dsp:nvSpPr>
        <dsp:cNvPr id="0" name=""/>
        <dsp:cNvSpPr/>
      </dsp:nvSpPr>
      <dsp:spPr>
        <a:xfrm rot="10800000">
          <a:off x="607747" y="2626090"/>
          <a:ext cx="9832065" cy="1010166"/>
        </a:xfrm>
        <a:prstGeom prst="homePlate">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5455" tIns="76200" rIns="14224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rgbClr val="B98A82"/>
              </a:solidFill>
            </a:rPr>
            <a:t>Game-Theoretic Machine Unlearning for Large Language Models</a:t>
          </a:r>
        </a:p>
        <a:p>
          <a:pPr marL="0" lvl="0" indent="0" algn="ctr" defTabSz="889000">
            <a:lnSpc>
              <a:spcPct val="90000"/>
            </a:lnSpc>
            <a:spcBef>
              <a:spcPct val="0"/>
            </a:spcBef>
            <a:spcAft>
              <a:spcPct val="35000"/>
            </a:spcAft>
            <a:buNone/>
          </a:pPr>
          <a:r>
            <a:rPr lang="en-US" sz="1600" kern="1200" dirty="0"/>
            <a:t>Extend the unified framework to LLMs, ensuring robust unlearning across diverse text domains with ≥X% task accuracy retention and ≥Y% memorization leakage reduction, validated between 2027–2028.</a:t>
          </a:r>
          <a:endParaRPr lang="en-GB" sz="1600" kern="1200" dirty="0">
            <a:solidFill>
              <a:schemeClr val="tx1"/>
            </a:solidFill>
            <a:latin typeface="Times New Roman" panose="02020603050405020304" pitchFamily="18" charset="0"/>
            <a:cs typeface="Times New Roman" panose="02020603050405020304" pitchFamily="18" charset="0"/>
          </a:endParaRPr>
        </a:p>
      </dsp:txBody>
      <dsp:txXfrm rot="10800000">
        <a:off x="860288" y="2626090"/>
        <a:ext cx="9579524" cy="1010166"/>
      </dsp:txXfrm>
    </dsp:sp>
    <dsp:sp modelId="{ABADC83B-53C8-154E-9872-C19DFA547FBA}">
      <dsp:nvSpPr>
        <dsp:cNvPr id="0" name=""/>
        <dsp:cNvSpPr/>
      </dsp:nvSpPr>
      <dsp:spPr>
        <a:xfrm>
          <a:off x="621538" y="2614544"/>
          <a:ext cx="1010166" cy="1010166"/>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B3460A5-0C14-4337-9EFF-60B22B6C22C9}">
      <dsp:nvSpPr>
        <dsp:cNvPr id="0" name=""/>
        <dsp:cNvSpPr/>
      </dsp:nvSpPr>
      <dsp:spPr>
        <a:xfrm rot="10800000">
          <a:off x="607747" y="3937799"/>
          <a:ext cx="9832065" cy="1461317"/>
        </a:xfrm>
        <a:prstGeom prst="homePlate">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5455" tIns="45720" rIns="85344" bIns="45720" numCol="1" spcCol="1270" anchor="ctr" anchorCtr="0">
          <a:noAutofit/>
        </a:bodyPr>
        <a:lstStyle/>
        <a:p>
          <a:pPr marL="0" lvl="0" indent="0" algn="ctr" defTabSz="533400">
            <a:lnSpc>
              <a:spcPct val="90000"/>
            </a:lnSpc>
            <a:spcBef>
              <a:spcPct val="0"/>
            </a:spcBef>
            <a:spcAft>
              <a:spcPct val="35000"/>
            </a:spcAft>
            <a:buNone/>
          </a:pPr>
          <a:r>
            <a:rPr lang="en-IN" sz="1200" b="1" kern="1200" dirty="0">
              <a:solidFill>
                <a:srgbClr val="A5A5A5"/>
              </a:solidFill>
              <a:latin typeface="Calibri" panose="020F0502020204030204"/>
              <a:ea typeface="+mn-ea"/>
              <a:cs typeface="+mn-cs"/>
            </a:rPr>
            <a:t>Dynamic Extensions of Game-Theoretic Machine Unlearning </a:t>
          </a:r>
        </a:p>
        <a:p>
          <a:pPr marL="0" lvl="0" indent="0" algn="ctr" defTabSz="533400">
            <a:lnSpc>
              <a:spcPct val="90000"/>
            </a:lnSpc>
            <a:spcBef>
              <a:spcPct val="0"/>
            </a:spcBef>
            <a:spcAft>
              <a:spcPct val="35000"/>
            </a:spcAft>
            <a:buNone/>
          </a:pPr>
          <a:r>
            <a:rPr lang="en-IN" sz="1200" b="1" kern="1200" dirty="0">
              <a:solidFill>
                <a:srgbClr val="A5A5A5"/>
              </a:solidFill>
              <a:latin typeface="Calibri" panose="020F0502020204030204"/>
              <a:ea typeface="+mn-ea"/>
              <a:cs typeface="+mn-cs"/>
            </a:rPr>
            <a:t>for Evolving Data Ecosystems</a:t>
          </a:r>
        </a:p>
        <a:p>
          <a:pPr marL="0" lvl="0" indent="0" algn="ctr" defTabSz="533400">
            <a:lnSpc>
              <a:spcPct val="90000"/>
            </a:lnSpc>
            <a:spcBef>
              <a:spcPct val="0"/>
            </a:spcBef>
            <a:spcAft>
              <a:spcPct val="35000"/>
            </a:spcAft>
            <a:buNone/>
          </a:pPr>
          <a:r>
            <a:rPr lang="en-US" sz="1600" kern="1200" dirty="0"/>
            <a:t>Adapt the framework to federated, streaming, and human-in-the-loop contexts, achieving ≥90% accuracy retention, ≥30% privacy leakage reduction, and ≤1s unlearning latency, completed within 12 months (2028–2029).</a:t>
          </a:r>
          <a:endParaRPr lang="en-GB" sz="1600" kern="1200" dirty="0">
            <a:solidFill>
              <a:schemeClr val="tx1"/>
            </a:solidFill>
            <a:latin typeface="Times New Roman" panose="02020603050405020304" pitchFamily="18" charset="0"/>
            <a:cs typeface="Times New Roman" panose="02020603050405020304" pitchFamily="18" charset="0"/>
          </a:endParaRPr>
        </a:p>
      </dsp:txBody>
      <dsp:txXfrm rot="10800000">
        <a:off x="973076" y="3937799"/>
        <a:ext cx="9466736" cy="1461317"/>
      </dsp:txXfrm>
    </dsp:sp>
    <dsp:sp modelId="{CA87F486-DF9B-4BED-AB5B-E495441EB9D7}">
      <dsp:nvSpPr>
        <dsp:cNvPr id="0" name=""/>
        <dsp:cNvSpPr/>
      </dsp:nvSpPr>
      <dsp:spPr>
        <a:xfrm>
          <a:off x="630659" y="4184396"/>
          <a:ext cx="1010166" cy="1010166"/>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E04F62-09DD-B54F-A5F1-00C00774E7AE}">
      <dsp:nvSpPr>
        <dsp:cNvPr id="0" name=""/>
        <dsp:cNvSpPr/>
      </dsp:nvSpPr>
      <dsp:spPr>
        <a:xfrm>
          <a:off x="0" y="71314"/>
          <a:ext cx="4726745" cy="79089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1" kern="1200" dirty="0"/>
            <a:t>Game-Theory-Based Balance</a:t>
          </a:r>
          <a:endParaRPr lang="en-GB" sz="2200" kern="1200" dirty="0">
            <a:latin typeface="Times New Roman" panose="02020603050405020304" pitchFamily="18" charset="0"/>
            <a:cs typeface="Times New Roman" panose="02020603050405020304" pitchFamily="18" charset="0"/>
          </a:endParaRPr>
        </a:p>
      </dsp:txBody>
      <dsp:txXfrm>
        <a:off x="38608" y="109922"/>
        <a:ext cx="4649529" cy="713674"/>
      </dsp:txXfrm>
    </dsp:sp>
    <dsp:sp modelId="{7E84986F-31ED-3B4E-8C92-3D7F9539EABC}">
      <dsp:nvSpPr>
        <dsp:cNvPr id="0" name=""/>
        <dsp:cNvSpPr/>
      </dsp:nvSpPr>
      <dsp:spPr>
        <a:xfrm>
          <a:off x="0" y="954364"/>
          <a:ext cx="4726745" cy="753235"/>
        </a:xfrm>
        <a:prstGeom prst="round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1" kern="1200" dirty="0"/>
            <a:t>Feature-Based Unlearning</a:t>
          </a:r>
          <a:endParaRPr lang="en-GB" sz="2200" kern="1200" dirty="0">
            <a:latin typeface="Times New Roman" panose="02020603050405020304" pitchFamily="18" charset="0"/>
            <a:cs typeface="Times New Roman" panose="02020603050405020304" pitchFamily="18" charset="0"/>
          </a:endParaRPr>
        </a:p>
      </dsp:txBody>
      <dsp:txXfrm>
        <a:off x="36770" y="991134"/>
        <a:ext cx="4653205" cy="679695"/>
      </dsp:txXfrm>
    </dsp:sp>
    <dsp:sp modelId="{5B741CD7-A409-0245-B1BB-C75CE64ABDB1}">
      <dsp:nvSpPr>
        <dsp:cNvPr id="0" name=""/>
        <dsp:cNvSpPr/>
      </dsp:nvSpPr>
      <dsp:spPr>
        <a:xfrm>
          <a:off x="0" y="1799760"/>
          <a:ext cx="4726745" cy="753235"/>
        </a:xfrm>
        <a:prstGeom prst="round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1" kern="1200" dirty="0"/>
            <a:t>Adversarial Threats</a:t>
          </a:r>
          <a:endParaRPr lang="en-GB" sz="2200" kern="1200" dirty="0">
            <a:latin typeface="Times New Roman" panose="02020603050405020304" pitchFamily="18" charset="0"/>
            <a:cs typeface="Times New Roman" panose="02020603050405020304" pitchFamily="18" charset="0"/>
          </a:endParaRPr>
        </a:p>
      </dsp:txBody>
      <dsp:txXfrm>
        <a:off x="36770" y="1836530"/>
        <a:ext cx="4653205" cy="679695"/>
      </dsp:txXfrm>
    </dsp:sp>
    <dsp:sp modelId="{1696C1F1-52CA-C841-9B6E-D9D865D87518}">
      <dsp:nvSpPr>
        <dsp:cNvPr id="0" name=""/>
        <dsp:cNvSpPr/>
      </dsp:nvSpPr>
      <dsp:spPr>
        <a:xfrm>
          <a:off x="0" y="2645156"/>
          <a:ext cx="4726745" cy="753235"/>
        </a:xfrm>
        <a:prstGeom prst="round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1" kern="1200" dirty="0"/>
            <a:t>Incentive Mechanisms</a:t>
          </a:r>
          <a:endParaRPr lang="en-GB" sz="2200" kern="1200" dirty="0">
            <a:latin typeface="Times New Roman" panose="02020603050405020304" pitchFamily="18" charset="0"/>
            <a:cs typeface="Times New Roman" panose="02020603050405020304" pitchFamily="18" charset="0"/>
          </a:endParaRPr>
        </a:p>
      </dsp:txBody>
      <dsp:txXfrm>
        <a:off x="36770" y="2681926"/>
        <a:ext cx="4653205" cy="679695"/>
      </dsp:txXfrm>
    </dsp:sp>
    <dsp:sp modelId="{9189BD81-23D6-4F41-A2AC-0BEB7D8C5E5A}">
      <dsp:nvSpPr>
        <dsp:cNvPr id="0" name=""/>
        <dsp:cNvSpPr/>
      </dsp:nvSpPr>
      <dsp:spPr>
        <a:xfrm>
          <a:off x="0" y="3490551"/>
          <a:ext cx="4726745" cy="753235"/>
        </a:xfrm>
        <a:prstGeom prst="round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IN" sz="2500" b="1" kern="1200" dirty="0"/>
            <a:t>Sequential &amp; Dynamic Unlearning</a:t>
          </a:r>
          <a:endParaRPr lang="en-GB" sz="2500" kern="1200" dirty="0">
            <a:latin typeface="Times New Roman" panose="02020603050405020304" pitchFamily="18" charset="0"/>
            <a:cs typeface="Times New Roman" panose="02020603050405020304" pitchFamily="18" charset="0"/>
          </a:endParaRPr>
        </a:p>
      </dsp:txBody>
      <dsp:txXfrm>
        <a:off x="36770" y="3527321"/>
        <a:ext cx="4653205" cy="679695"/>
      </dsp:txXfrm>
    </dsp:sp>
    <dsp:sp modelId="{82BA55FB-0385-4620-AF75-7A75F6FC5B84}">
      <dsp:nvSpPr>
        <dsp:cNvPr id="0" name=""/>
        <dsp:cNvSpPr/>
      </dsp:nvSpPr>
      <dsp:spPr>
        <a:xfrm>
          <a:off x="0" y="4335947"/>
          <a:ext cx="4726745" cy="75323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IN" sz="2500" b="1" kern="1200" dirty="0"/>
            <a:t>Foundational Models (LLMs)</a:t>
          </a:r>
          <a:endParaRPr lang="en-GB" sz="2500" kern="1200" dirty="0">
            <a:latin typeface="Times New Roman" panose="02020603050405020304" pitchFamily="18" charset="0"/>
            <a:cs typeface="Times New Roman" panose="02020603050405020304" pitchFamily="18" charset="0"/>
          </a:endParaRPr>
        </a:p>
      </dsp:txBody>
      <dsp:txXfrm>
        <a:off x="36770" y="4372717"/>
        <a:ext cx="4653205" cy="6796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E04F62-09DD-B54F-A5F1-00C00774E7AE}">
      <dsp:nvSpPr>
        <dsp:cNvPr id="0" name=""/>
        <dsp:cNvSpPr/>
      </dsp:nvSpPr>
      <dsp:spPr>
        <a:xfrm>
          <a:off x="0" y="0"/>
          <a:ext cx="4336211" cy="96427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Develop a foundational game-theoretic framework for machine unlearning that integrates multiple                         attack models</a:t>
          </a:r>
          <a:endParaRPr lang="en-GB" sz="1400" kern="1200" dirty="0">
            <a:latin typeface="Times New Roman" panose="02020603050405020304" pitchFamily="18" charset="0"/>
            <a:cs typeface="Times New Roman" panose="02020603050405020304" pitchFamily="18" charset="0"/>
          </a:endParaRPr>
        </a:p>
      </dsp:txBody>
      <dsp:txXfrm>
        <a:off x="47072" y="47072"/>
        <a:ext cx="4242067" cy="870129"/>
      </dsp:txXfrm>
    </dsp:sp>
    <dsp:sp modelId="{5B741CD7-A409-0245-B1BB-C75CE64ABDB1}">
      <dsp:nvSpPr>
        <dsp:cNvPr id="0" name=""/>
        <dsp:cNvSpPr/>
      </dsp:nvSpPr>
      <dsp:spPr>
        <a:xfrm>
          <a:off x="0" y="1138909"/>
          <a:ext cx="4336211" cy="728226"/>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Design a feature-based unlearning framework applied to SISA and other models, balancing utility and privacy </a:t>
          </a:r>
          <a:endParaRPr lang="en-GB" sz="1400" kern="1200" dirty="0">
            <a:latin typeface="Times New Roman" panose="02020603050405020304" pitchFamily="18" charset="0"/>
            <a:cs typeface="Times New Roman" panose="02020603050405020304" pitchFamily="18" charset="0"/>
          </a:endParaRPr>
        </a:p>
      </dsp:txBody>
      <dsp:txXfrm>
        <a:off x="35549" y="1174458"/>
        <a:ext cx="4265113" cy="657128"/>
      </dsp:txXfrm>
    </dsp:sp>
    <dsp:sp modelId="{1696C1F1-52CA-C841-9B6E-D9D865D87518}">
      <dsp:nvSpPr>
        <dsp:cNvPr id="0" name=""/>
        <dsp:cNvSpPr/>
      </dsp:nvSpPr>
      <dsp:spPr>
        <a:xfrm>
          <a:off x="0" y="2025099"/>
          <a:ext cx="4336211" cy="1209968"/>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1" kern="1200" dirty="0">
              <a:solidFill>
                <a:schemeClr val="tx1"/>
              </a:solidFill>
            </a:rPr>
            <a:t>Unlearning in Large Language Models</a:t>
          </a:r>
          <a:endParaRPr lang="en-GB" sz="1800" kern="1200" dirty="0">
            <a:latin typeface="Times New Roman" panose="02020603050405020304" pitchFamily="18" charset="0"/>
            <a:cs typeface="Times New Roman" panose="02020603050405020304" pitchFamily="18" charset="0"/>
          </a:endParaRPr>
        </a:p>
      </dsp:txBody>
      <dsp:txXfrm>
        <a:off x="59066" y="2084165"/>
        <a:ext cx="4218079" cy="1091836"/>
      </dsp:txXfrm>
    </dsp:sp>
    <dsp:sp modelId="{C907FC63-99B8-4DF8-BA04-9408DC83F7DD}">
      <dsp:nvSpPr>
        <dsp:cNvPr id="0" name=""/>
        <dsp:cNvSpPr/>
      </dsp:nvSpPr>
      <dsp:spPr>
        <a:xfrm>
          <a:off x="0" y="3209384"/>
          <a:ext cx="4336211" cy="1230693"/>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kern="1200" dirty="0">
              <a:solidFill>
                <a:srgbClr val="A5A5A5"/>
              </a:solidFill>
              <a:latin typeface="Calibri" panose="020F0502020204030204"/>
              <a:ea typeface="+mn-ea"/>
              <a:cs typeface="+mn-cs"/>
            </a:rPr>
            <a:t>for Evolving Data Ecosystems</a:t>
          </a:r>
        </a:p>
        <a:p>
          <a:pPr marL="0" lvl="0" indent="0" algn="l" defTabSz="889000">
            <a:lnSpc>
              <a:spcPct val="90000"/>
            </a:lnSpc>
            <a:spcBef>
              <a:spcPct val="0"/>
            </a:spcBef>
            <a:spcAft>
              <a:spcPct val="35000"/>
            </a:spcAft>
            <a:buNone/>
          </a:pPr>
          <a:r>
            <a:rPr lang="en-US" sz="2000" kern="1200" dirty="0"/>
            <a:t>Unlearning framework got federated, streaming, sequential vs dynamic</a:t>
          </a:r>
          <a:endParaRPr lang="en-IN" sz="2000" kern="1200" dirty="0"/>
        </a:p>
      </dsp:txBody>
      <dsp:txXfrm>
        <a:off x="60077" y="3269461"/>
        <a:ext cx="4216057" cy="11105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E6B71B-021C-4B1A-BDDD-1DBA76355BDC}">
      <dsp:nvSpPr>
        <dsp:cNvPr id="0" name=""/>
        <dsp:cNvSpPr/>
      </dsp:nvSpPr>
      <dsp:spPr>
        <a:xfrm>
          <a:off x="645646" y="78014"/>
          <a:ext cx="1548281" cy="537697"/>
        </a:xfrm>
        <a:prstGeom prst="ellipse">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40C6BA-0160-437B-982B-8EE48F3DBC40}">
      <dsp:nvSpPr>
        <dsp:cNvPr id="0" name=""/>
        <dsp:cNvSpPr/>
      </dsp:nvSpPr>
      <dsp:spPr>
        <a:xfrm>
          <a:off x="1272160" y="1394653"/>
          <a:ext cx="300054" cy="192034"/>
        </a:xfrm>
        <a:prstGeom prst="downArrow">
          <a:avLst/>
        </a:prstGeom>
        <a:solidFill>
          <a:schemeClr val="accent2">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717FFF-01A6-46DC-B699-D0A4E0762375}">
      <dsp:nvSpPr>
        <dsp:cNvPr id="0" name=""/>
        <dsp:cNvSpPr/>
      </dsp:nvSpPr>
      <dsp:spPr>
        <a:xfrm>
          <a:off x="702057" y="1548281"/>
          <a:ext cx="1440261" cy="360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IN" sz="1200" kern="1200" dirty="0"/>
            <a:t>Feature</a:t>
          </a:r>
        </a:p>
      </dsp:txBody>
      <dsp:txXfrm>
        <a:off x="702057" y="1548281"/>
        <a:ext cx="1440261" cy="360065"/>
      </dsp:txXfrm>
    </dsp:sp>
    <dsp:sp modelId="{E12ECCEF-965D-481A-90AD-68065F3DA944}">
      <dsp:nvSpPr>
        <dsp:cNvPr id="0" name=""/>
        <dsp:cNvSpPr/>
      </dsp:nvSpPr>
      <dsp:spPr>
        <a:xfrm>
          <a:off x="1208549" y="657239"/>
          <a:ext cx="540098" cy="540098"/>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dirty="0"/>
            <a:t>Selection</a:t>
          </a:r>
        </a:p>
      </dsp:txBody>
      <dsp:txXfrm>
        <a:off x="1287645" y="736335"/>
        <a:ext cx="381906" cy="381906"/>
      </dsp:txXfrm>
    </dsp:sp>
    <dsp:sp modelId="{5552493B-15A5-4AB3-B3DA-B2C7327B1056}">
      <dsp:nvSpPr>
        <dsp:cNvPr id="0" name=""/>
        <dsp:cNvSpPr/>
      </dsp:nvSpPr>
      <dsp:spPr>
        <a:xfrm>
          <a:off x="822078" y="252045"/>
          <a:ext cx="540098" cy="540098"/>
        </a:xfrm>
        <a:prstGeom prst="ellipse">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dirty="0"/>
            <a:t>Generation</a:t>
          </a:r>
        </a:p>
      </dsp:txBody>
      <dsp:txXfrm>
        <a:off x="901174" y="331141"/>
        <a:ext cx="381906" cy="381906"/>
      </dsp:txXfrm>
    </dsp:sp>
    <dsp:sp modelId="{67B1959A-1A74-40A0-8B7D-CE4032885DEB}">
      <dsp:nvSpPr>
        <dsp:cNvPr id="0" name=""/>
        <dsp:cNvSpPr/>
      </dsp:nvSpPr>
      <dsp:spPr>
        <a:xfrm>
          <a:off x="1374179" y="121462"/>
          <a:ext cx="540098" cy="540098"/>
        </a:xfrm>
        <a:prstGeom prst="ellipse">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dirty="0"/>
            <a:t>Extraction</a:t>
          </a:r>
        </a:p>
      </dsp:txBody>
      <dsp:txXfrm>
        <a:off x="1453275" y="200558"/>
        <a:ext cx="381906" cy="381906"/>
      </dsp:txXfrm>
    </dsp:sp>
    <dsp:sp modelId="{3757AC3A-F031-47B0-A6F1-FFF174A6B0BC}">
      <dsp:nvSpPr>
        <dsp:cNvPr id="0" name=""/>
        <dsp:cNvSpPr/>
      </dsp:nvSpPr>
      <dsp:spPr>
        <a:xfrm>
          <a:off x="582035" y="12002"/>
          <a:ext cx="1680305" cy="1344244"/>
        </a:xfrm>
        <a:prstGeom prst="funnel">
          <a:avLst/>
        </a:prstGeom>
        <a:solidFill>
          <a:schemeClr val="lt1">
            <a:alpha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8768B7-8A51-4E0F-ABEE-3CF71C2669BD}">
      <dsp:nvSpPr>
        <dsp:cNvPr id="0" name=""/>
        <dsp:cNvSpPr/>
      </dsp:nvSpPr>
      <dsp:spPr>
        <a:xfrm>
          <a:off x="1085798" y="262126"/>
          <a:ext cx="1892402" cy="1017669"/>
        </a:xfrm>
        <a:prstGeom prst="round2DiagRect">
          <a:avLst>
            <a:gd name="adj1" fmla="val 0"/>
            <a:gd name="adj2" fmla="val 166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C76EFE-8E8C-43D2-9466-BB1682D73BEE}">
      <dsp:nvSpPr>
        <dsp:cNvPr id="0" name=""/>
        <dsp:cNvSpPr/>
      </dsp:nvSpPr>
      <dsp:spPr>
        <a:xfrm>
          <a:off x="2031999" y="370061"/>
          <a:ext cx="252" cy="801799"/>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A9ECE0-D703-404C-AE3A-80AFABD2C7B3}">
      <dsp:nvSpPr>
        <dsp:cNvPr id="0" name=""/>
        <dsp:cNvSpPr/>
      </dsp:nvSpPr>
      <dsp:spPr>
        <a:xfrm>
          <a:off x="1148879" y="339223"/>
          <a:ext cx="820040" cy="8634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t>Influence of Sample</a:t>
          </a:r>
        </a:p>
      </dsp:txBody>
      <dsp:txXfrm>
        <a:off x="1148879" y="339223"/>
        <a:ext cx="820040" cy="863476"/>
      </dsp:txXfrm>
    </dsp:sp>
    <dsp:sp modelId="{64715656-D76C-4D70-9420-F6C617B706B8}">
      <dsp:nvSpPr>
        <dsp:cNvPr id="0" name=""/>
        <dsp:cNvSpPr/>
      </dsp:nvSpPr>
      <dsp:spPr>
        <a:xfrm>
          <a:off x="2095080" y="339223"/>
          <a:ext cx="820040" cy="8634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t>Influence of  Feature</a:t>
          </a:r>
        </a:p>
      </dsp:txBody>
      <dsp:txXfrm>
        <a:off x="2095080" y="339223"/>
        <a:ext cx="820040" cy="863476"/>
      </dsp:txXfrm>
    </dsp:sp>
    <dsp:sp modelId="{B3E6BED8-D75A-4964-86AE-0234122633AA}">
      <dsp:nvSpPr>
        <dsp:cNvPr id="0" name=""/>
        <dsp:cNvSpPr/>
      </dsp:nvSpPr>
      <dsp:spPr>
        <a:xfrm rot="16200000">
          <a:off x="373006" y="397392"/>
          <a:ext cx="1110184" cy="315400"/>
        </a:xfrm>
        <a:prstGeom prst="rightArrow">
          <a:avLst>
            <a:gd name="adj1" fmla="val 49830"/>
            <a:gd name="adj2" fmla="val 60660"/>
          </a:avLst>
        </a:prstGeom>
        <a:solidFill>
          <a:schemeClr val="accent5">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r" defTabSz="311150">
            <a:lnSpc>
              <a:spcPct val="90000"/>
            </a:lnSpc>
            <a:spcBef>
              <a:spcPct val="0"/>
            </a:spcBef>
            <a:spcAft>
              <a:spcPct val="35000"/>
            </a:spcAft>
            <a:buNone/>
          </a:pPr>
          <a:r>
            <a:rPr lang="en-IN" sz="700" kern="1200" dirty="0"/>
            <a:t>Influence</a:t>
          </a:r>
        </a:p>
      </dsp:txBody>
      <dsp:txXfrm>
        <a:off x="420674" y="524178"/>
        <a:ext cx="1014848" cy="157164"/>
      </dsp:txXfrm>
    </dsp:sp>
    <dsp:sp modelId="{770E98E5-693C-4665-8BD3-5DEF247B1053}">
      <dsp:nvSpPr>
        <dsp:cNvPr id="0" name=""/>
        <dsp:cNvSpPr/>
      </dsp:nvSpPr>
      <dsp:spPr>
        <a:xfrm rot="5400000">
          <a:off x="2580808" y="829130"/>
          <a:ext cx="1110184" cy="315400"/>
        </a:xfrm>
        <a:prstGeom prst="rightArrow">
          <a:avLst>
            <a:gd name="adj1" fmla="val 49830"/>
            <a:gd name="adj2" fmla="val 60660"/>
          </a:avLst>
        </a:prstGeom>
        <a:solidFill>
          <a:schemeClr val="accent5">
            <a:tint val="50000"/>
            <a:hueOff val="-6685025"/>
            <a:satOff val="-25325"/>
            <a:lumOff val="841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r" defTabSz="311150">
            <a:lnSpc>
              <a:spcPct val="90000"/>
            </a:lnSpc>
            <a:spcBef>
              <a:spcPct val="0"/>
            </a:spcBef>
            <a:spcAft>
              <a:spcPct val="35000"/>
            </a:spcAft>
            <a:buNone/>
          </a:pPr>
          <a:r>
            <a:rPr lang="en-IN" sz="700" kern="1200" dirty="0"/>
            <a:t>Influence</a:t>
          </a:r>
        </a:p>
      </dsp:txBody>
      <dsp:txXfrm>
        <a:off x="2628476" y="860580"/>
        <a:ext cx="1014848" cy="15716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DAA2F0-E50E-43C9-9542-CBB340770DAE}">
      <dsp:nvSpPr>
        <dsp:cNvPr id="0" name=""/>
        <dsp:cNvSpPr/>
      </dsp:nvSpPr>
      <dsp:spPr>
        <a:xfrm>
          <a:off x="0" y="0"/>
          <a:ext cx="3815833" cy="5274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kern="1200" dirty="0"/>
            <a:t>Game-Theoretic Framework </a:t>
          </a:r>
        </a:p>
      </dsp:txBody>
      <dsp:txXfrm>
        <a:off x="15447" y="15447"/>
        <a:ext cx="3784939" cy="496515"/>
      </dsp:txXfrm>
    </dsp:sp>
    <dsp:sp modelId="{B83B3617-3CDB-4FCA-91F2-41B0AF9F2F6E}">
      <dsp:nvSpPr>
        <dsp:cNvPr id="0" name=""/>
        <dsp:cNvSpPr/>
      </dsp:nvSpPr>
      <dsp:spPr>
        <a:xfrm>
          <a:off x="437" y="593545"/>
          <a:ext cx="2492620" cy="52740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b="1" kern="1200" dirty="0"/>
            <a:t>Game Type:</a:t>
          </a:r>
          <a:r>
            <a:rPr lang="en-IN" sz="1300" kern="1200" dirty="0"/>
            <a:t> Stackelberg game, </a:t>
          </a:r>
          <a:r>
            <a:rPr lang="en-IN" sz="1300" kern="1200" dirty="0" err="1"/>
            <a:t>static,dynamic</a:t>
          </a:r>
          <a:r>
            <a:rPr lang="en-IN" sz="1300" kern="1200" dirty="0"/>
            <a:t> ,etc</a:t>
          </a:r>
        </a:p>
      </dsp:txBody>
      <dsp:txXfrm>
        <a:off x="15884" y="608992"/>
        <a:ext cx="2461726" cy="496515"/>
      </dsp:txXfrm>
    </dsp:sp>
    <dsp:sp modelId="{CE1AEF6B-AF7D-46A7-998D-5C944A0DB194}">
      <dsp:nvSpPr>
        <dsp:cNvPr id="0" name=""/>
        <dsp:cNvSpPr/>
      </dsp:nvSpPr>
      <dsp:spPr>
        <a:xfrm>
          <a:off x="437" y="1186703"/>
          <a:ext cx="1220675" cy="52740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Strategy Space : Feature weights and selection masks </a:t>
          </a:r>
        </a:p>
      </dsp:txBody>
      <dsp:txXfrm>
        <a:off x="15884" y="1202150"/>
        <a:ext cx="1189781" cy="496515"/>
      </dsp:txXfrm>
    </dsp:sp>
    <dsp:sp modelId="{A42D9089-B22A-4D7D-B993-93067F58451C}">
      <dsp:nvSpPr>
        <dsp:cNvPr id="0" name=""/>
        <dsp:cNvSpPr/>
      </dsp:nvSpPr>
      <dsp:spPr>
        <a:xfrm>
          <a:off x="1272382" y="1186703"/>
          <a:ext cx="1220675" cy="52740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Adversary</a:t>
          </a:r>
        </a:p>
      </dsp:txBody>
      <dsp:txXfrm>
        <a:off x="1287829" y="1202150"/>
        <a:ext cx="1189781" cy="496515"/>
      </dsp:txXfrm>
    </dsp:sp>
    <dsp:sp modelId="{BDACE347-F15D-4EF6-AB4C-CB7B0A6D4296}">
      <dsp:nvSpPr>
        <dsp:cNvPr id="0" name=""/>
        <dsp:cNvSpPr/>
      </dsp:nvSpPr>
      <dsp:spPr>
        <a:xfrm>
          <a:off x="2595595" y="593545"/>
          <a:ext cx="1220675" cy="52740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Player : </a:t>
          </a:r>
          <a:r>
            <a:rPr lang="en-IN" sz="1300" b="1" kern="1200" dirty="0"/>
            <a:t>Model Provider </a:t>
          </a:r>
          <a:endParaRPr lang="en-IN" sz="1300" kern="1200" dirty="0"/>
        </a:p>
      </dsp:txBody>
      <dsp:txXfrm>
        <a:off x="2611042" y="608992"/>
        <a:ext cx="1189781" cy="496515"/>
      </dsp:txXfrm>
    </dsp:sp>
    <dsp:sp modelId="{C5E9B9DE-0D40-4C0B-9D55-ACBE17E1B9EC}">
      <dsp:nvSpPr>
        <dsp:cNvPr id="0" name=""/>
        <dsp:cNvSpPr/>
      </dsp:nvSpPr>
      <dsp:spPr>
        <a:xfrm>
          <a:off x="2595595" y="1186703"/>
          <a:ext cx="1220675" cy="52740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Player : Data Provider</a:t>
          </a:r>
        </a:p>
      </dsp:txBody>
      <dsp:txXfrm>
        <a:off x="2611042" y="1202150"/>
        <a:ext cx="1189781" cy="49651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7.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parTxLTRAlign" val="r"/>
                <dgm:param type="shpTxLTRAlignCh" val="r"/>
                <dgm:param type="txAnchorVertCh" val="mid"/>
                <dgm:param type="autoTxRot" val="grav"/>
              </dgm:alg>
            </dgm:if>
            <dgm:else name="Name26">
              <dgm:alg type="tx">
                <dgm:param type="parTxLTRAlign" val="l"/>
                <dgm:param type="shpTxLTRAlignCh" val="r"/>
                <dgm:param type="txAnchorVertCh" val="mid"/>
                <dgm:param type="autoTxRot" val="grav"/>
              </dgm:alg>
            </dgm:else>
          </dgm:choose>
          <dgm:choose name="Name27">
            <dgm:if name="Name28" func="var" arg="dir" op="equ" val="norm">
              <dgm:shape xmlns:r="http://schemas.openxmlformats.org/officeDocument/2006/relationships" rot="-90" type="rightArrow" r:blip="" hideGeom="1">
                <dgm:adjLst>
                  <dgm:adj idx="1" val="0.4983"/>
                  <dgm:adj idx="2" val="0.6066"/>
                </dgm:adjLst>
              </dgm:shape>
            </dgm:if>
            <dgm:else name="Name29">
              <dgm:shape xmlns:r="http://schemas.openxmlformats.org/officeDocument/2006/relationships" rot="90" type="leftArrow" r:blip=""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rot="-90" type="rightArrow" r:blip="">
                <dgm:adjLst>
                  <dgm:adj idx="1" val="0.4983"/>
                  <dgm:adj idx="2" val="0.6066"/>
                </dgm:adjLst>
              </dgm:shape>
            </dgm:if>
            <dgm:else name="Name32">
              <dgm:shape xmlns:r="http://schemas.openxmlformats.org/officeDocument/2006/relationships" rot="90" type="leftArrow" r:blip="">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parTxLTRAlign" val="r"/>
                    <dgm:param type="shpTxLTRAlignCh" val="r"/>
                    <dgm:param type="txAnchorVertCh" val="mid"/>
                    <dgm:param type="autoTxRot" val="grav"/>
                  </dgm:alg>
                </dgm:if>
                <dgm:else name="Name37">
                  <dgm:alg type="tx">
                    <dgm:param type="parTxLTRAlign" val="l"/>
                    <dgm:param type="shpTxLTRAlignCh" val="r"/>
                    <dgm:param type="txAnchorVertCh" val="mid"/>
                    <dgm:param type="autoTxRot" val="grav"/>
                  </dgm:alg>
                </dgm:else>
              </dgm:choose>
              <dgm:choose name="Name38">
                <dgm:if name="Name39" func="var" arg="dir" op="equ" val="norm">
                  <dgm:shape xmlns:r="http://schemas.openxmlformats.org/officeDocument/2006/relationships" rot="90" type="rightArrow" r:blip="" hideGeom="1">
                    <dgm:adjLst>
                      <dgm:adj idx="1" val="0.4983"/>
                      <dgm:adj idx="2" val="0.6066"/>
                    </dgm:adjLst>
                  </dgm:shape>
                </dgm:if>
                <dgm:else name="Name40">
                  <dgm:shape xmlns:r="http://schemas.openxmlformats.org/officeDocument/2006/relationships" rot="-90" type="leftArrow" r:blip=""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rot="90" type="rightArrow" r:blip="">
                    <dgm:adjLst>
                      <dgm:adj idx="1" val="0.4983"/>
                      <dgm:adj idx="2" val="0.6066"/>
                    </dgm:adjLst>
                  </dgm:shape>
                </dgm:if>
                <dgm:else name="Name43">
                  <dgm:shape xmlns:r="http://schemas.openxmlformats.org/officeDocument/2006/relationships" rot="-90" type="leftArrow" r:blip="">
                    <dgm:adjLst>
                      <dgm:adj idx="1" val="0.4983"/>
                      <dgm:adj idx="2" val="0.6066"/>
                    </dgm:adjLst>
                  </dgm:shape>
                </dgm:else>
              </dgm:choose>
              <dgm:presOf axis="ch self" ptType="node node" st="2 1" cnt="1 0"/>
            </dgm:layoutNode>
          </dgm:if>
          <dgm:else name="Name44"/>
        </dgm:choose>
      </dgm:if>
      <dgm:else name="Name45"/>
    </dgm:choose>
  </dgm:layoutNode>
</dgm:layoutDef>
</file>

<file path=ppt/diagrams/layout8.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9T10:27:36.327"/>
    </inkml:context>
    <inkml:brush xml:id="br0">
      <inkml:brushProperty name="width" value="0.3" units="cm"/>
      <inkml:brushProperty name="height" value="0.6" units="cm"/>
      <inkml:brushProperty name="color" value="#F7FFFC"/>
      <inkml:brushProperty name="tip" value="rectangle"/>
      <inkml:brushProperty name="rasterOp" value="maskPen"/>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9T10:29:14.529"/>
    </inkml:context>
    <inkml:brush xml:id="br0">
      <inkml:brushProperty name="width" value="0.3" units="cm"/>
      <inkml:brushProperty name="height" value="0.6" units="cm"/>
      <inkml:brushProperty name="color" value="#F7FFFC"/>
      <inkml:brushProperty name="tip" value="rectangle"/>
      <inkml:brushProperty name="rasterOp" value="maskPen"/>
    </inkml:brush>
  </inkml:definitions>
  <inkml:trace contextRef="#ctx0" brushRef="#br0">1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9T10:29:16.661"/>
    </inkml:context>
    <inkml:brush xml:id="br0">
      <inkml:brushProperty name="width" value="0.3" units="cm"/>
      <inkml:brushProperty name="height" value="0.6" units="cm"/>
      <inkml:brushProperty name="color" value="#F7FFFC"/>
      <inkml:brushProperty name="tip" value="rectangle"/>
      <inkml:brushProperty name="rasterOp" value="maskPen"/>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9T10:29:16.721"/>
    </inkml:context>
    <inkml:brush xml:id="br0">
      <inkml:brushProperty name="width" value="0.3" units="cm"/>
      <inkml:brushProperty name="height" value="0.6" units="cm"/>
      <inkml:brushProperty name="color" value="#F7FFFC"/>
      <inkml:brushProperty name="tip" value="rectangle"/>
      <inkml:brushProperty name="rasterOp" value="maskPen"/>
    </inkml:brush>
  </inkml:definitions>
  <inkml:trace contextRef="#ctx0" brushRef="#br0">0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9T10:29:18.716"/>
    </inkml:context>
    <inkml:brush xml:id="br0">
      <inkml:brushProperty name="width" value="0.3" units="cm"/>
      <inkml:brushProperty name="height" value="0.6" units="cm"/>
      <inkml:brushProperty name="color" value="#F7FFFC"/>
      <inkml:brushProperty name="tip" value="rectangle"/>
      <inkml:brushProperty name="rasterOp" value="maskPen"/>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4C6DDA-EC43-4BFF-B7B8-190BECB9F21C}" type="datetimeFigureOut">
              <a:rPr lang="en-IN" smtClean="0"/>
              <a:t>16-03-2026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D323AD-D4C6-4860-8944-ADA84F789B7C}" type="slidenum">
              <a:rPr lang="en-IN" smtClean="0"/>
              <a:t>‹#›</a:t>
            </a:fld>
            <a:endParaRPr lang="en-IN"/>
          </a:p>
        </p:txBody>
      </p:sp>
    </p:spTree>
    <p:extLst>
      <p:ext uri="{BB962C8B-B14F-4D97-AF65-F5344CB8AC3E}">
        <p14:creationId xmlns:p14="http://schemas.microsoft.com/office/powerpoint/2010/main" val="4119007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D323AD-D4C6-4860-8944-ADA84F789B7C}" type="slidenum">
              <a:rPr lang="en-IN" smtClean="0"/>
              <a:t>3</a:t>
            </a:fld>
            <a:endParaRPr lang="en-IN"/>
          </a:p>
        </p:txBody>
      </p:sp>
    </p:spTree>
    <p:extLst>
      <p:ext uri="{BB962C8B-B14F-4D97-AF65-F5344CB8AC3E}">
        <p14:creationId xmlns:p14="http://schemas.microsoft.com/office/powerpoint/2010/main" val="768590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D323AD-D4C6-4860-8944-ADA84F789B7C}" type="slidenum">
              <a:rPr lang="en-IN" smtClean="0"/>
              <a:t>7</a:t>
            </a:fld>
            <a:endParaRPr lang="en-IN"/>
          </a:p>
        </p:txBody>
      </p:sp>
    </p:spTree>
    <p:extLst>
      <p:ext uri="{BB962C8B-B14F-4D97-AF65-F5344CB8AC3E}">
        <p14:creationId xmlns:p14="http://schemas.microsoft.com/office/powerpoint/2010/main" val="3584318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D323AD-D4C6-4860-8944-ADA84F789B7C}" type="slidenum">
              <a:rPr lang="en-IN" smtClean="0"/>
              <a:t>10</a:t>
            </a:fld>
            <a:endParaRPr lang="en-IN"/>
          </a:p>
        </p:txBody>
      </p:sp>
    </p:spTree>
    <p:extLst>
      <p:ext uri="{BB962C8B-B14F-4D97-AF65-F5344CB8AC3E}">
        <p14:creationId xmlns:p14="http://schemas.microsoft.com/office/powerpoint/2010/main" val="1279830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D323AD-D4C6-4860-8944-ADA84F789B7C}" type="slidenum">
              <a:rPr lang="en-IN" smtClean="0"/>
              <a:t>12</a:t>
            </a:fld>
            <a:endParaRPr lang="en-IN"/>
          </a:p>
        </p:txBody>
      </p:sp>
    </p:spTree>
    <p:extLst>
      <p:ext uri="{BB962C8B-B14F-4D97-AF65-F5344CB8AC3E}">
        <p14:creationId xmlns:p14="http://schemas.microsoft.com/office/powerpoint/2010/main" val="3520668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D323AD-D4C6-4860-8944-ADA84F789B7C}" type="slidenum">
              <a:rPr lang="en-IN" smtClean="0"/>
              <a:t>13</a:t>
            </a:fld>
            <a:endParaRPr lang="en-IN"/>
          </a:p>
        </p:txBody>
      </p:sp>
    </p:spTree>
    <p:extLst>
      <p:ext uri="{BB962C8B-B14F-4D97-AF65-F5344CB8AC3E}">
        <p14:creationId xmlns:p14="http://schemas.microsoft.com/office/powerpoint/2010/main" val="3786888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D323AD-D4C6-4860-8944-ADA84F789B7C}" type="slidenum">
              <a:rPr lang="en-IN" smtClean="0"/>
              <a:t>16</a:t>
            </a:fld>
            <a:endParaRPr lang="en-IN"/>
          </a:p>
        </p:txBody>
      </p:sp>
    </p:spTree>
    <p:extLst>
      <p:ext uri="{BB962C8B-B14F-4D97-AF65-F5344CB8AC3E}">
        <p14:creationId xmlns:p14="http://schemas.microsoft.com/office/powerpoint/2010/main" val="1288613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D323AD-D4C6-4860-8944-ADA84F789B7C}" type="slidenum">
              <a:rPr lang="en-IN" smtClean="0"/>
              <a:t>24</a:t>
            </a:fld>
            <a:endParaRPr lang="en-IN"/>
          </a:p>
        </p:txBody>
      </p:sp>
    </p:spTree>
    <p:extLst>
      <p:ext uri="{BB962C8B-B14F-4D97-AF65-F5344CB8AC3E}">
        <p14:creationId xmlns:p14="http://schemas.microsoft.com/office/powerpoint/2010/main" val="31690690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F3FFD-6421-0BC4-88F2-E8AC00EC05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5BA723-4FE8-DFB3-7EC3-BFB5372068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BEFA2C-D327-A1CC-7115-93AC08207FE0}"/>
              </a:ext>
            </a:extLst>
          </p:cNvPr>
          <p:cNvSpPr>
            <a:spLocks noGrp="1"/>
          </p:cNvSpPr>
          <p:nvPr>
            <p:ph type="dt" sz="half" idx="10"/>
          </p:nvPr>
        </p:nvSpPr>
        <p:spPr/>
        <p:txBody>
          <a:bodyPr/>
          <a:lstStyle/>
          <a:p>
            <a:r>
              <a:rPr lang="en-US"/>
              <a:t>222</a:t>
            </a:r>
            <a:endParaRPr lang="en-IN"/>
          </a:p>
        </p:txBody>
      </p:sp>
      <p:sp>
        <p:nvSpPr>
          <p:cNvPr id="5" name="Footer Placeholder 4">
            <a:extLst>
              <a:ext uri="{FF2B5EF4-FFF2-40B4-BE49-F238E27FC236}">
                <a16:creationId xmlns:a16="http://schemas.microsoft.com/office/drawing/2014/main" id="{93408CCA-F578-7170-2DD9-3D9AF4078B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BFADA1-F7F4-4450-940B-66608F1F9771}"/>
              </a:ext>
            </a:extLst>
          </p:cNvPr>
          <p:cNvSpPr>
            <a:spLocks noGrp="1"/>
          </p:cNvSpPr>
          <p:nvPr>
            <p:ph type="sldNum" sz="quarter" idx="12"/>
          </p:nvPr>
        </p:nvSpPr>
        <p:spPr/>
        <p:txBody>
          <a:bodyPr/>
          <a:lstStyle/>
          <a:p>
            <a:fld id="{4A9795D8-83FD-4522-A0A1-E4DAAF0E10D3}" type="slidenum">
              <a:rPr lang="en-IN" smtClean="0"/>
              <a:t>‹#›</a:t>
            </a:fld>
            <a:endParaRPr lang="en-IN"/>
          </a:p>
        </p:txBody>
      </p:sp>
      <p:pic>
        <p:nvPicPr>
          <p:cNvPr id="8" name="Picture 7">
            <a:extLst>
              <a:ext uri="{FF2B5EF4-FFF2-40B4-BE49-F238E27FC236}">
                <a16:creationId xmlns:a16="http://schemas.microsoft.com/office/drawing/2014/main" id="{8D525969-0A34-DF0B-964B-9E6AD8797D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2653" b="9694"/>
          <a:stretch/>
        </p:blipFill>
        <p:spPr>
          <a:xfrm>
            <a:off x="9286875" y="0"/>
            <a:ext cx="2905125" cy="843190"/>
          </a:xfrm>
          <a:prstGeom prst="rect">
            <a:avLst/>
          </a:prstGeom>
        </p:spPr>
      </p:pic>
      <p:cxnSp>
        <p:nvCxnSpPr>
          <p:cNvPr id="11" name="Straight Connector 10">
            <a:extLst>
              <a:ext uri="{FF2B5EF4-FFF2-40B4-BE49-F238E27FC236}">
                <a16:creationId xmlns:a16="http://schemas.microsoft.com/office/drawing/2014/main" id="{E4EBE7EC-2AB0-202E-B391-44F7A87EA329}"/>
              </a:ext>
            </a:extLst>
          </p:cNvPr>
          <p:cNvCxnSpPr>
            <a:cxnSpLocks/>
          </p:cNvCxnSpPr>
          <p:nvPr userDrawn="1"/>
        </p:nvCxnSpPr>
        <p:spPr>
          <a:xfrm>
            <a:off x="838200" y="886409"/>
            <a:ext cx="105156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7C5F899-3DB1-3E07-B77B-1036FF5AB8BF}"/>
              </a:ext>
            </a:extLst>
          </p:cNvPr>
          <p:cNvSpPr/>
          <p:nvPr userDrawn="1"/>
        </p:nvSpPr>
        <p:spPr>
          <a:xfrm>
            <a:off x="0" y="6428792"/>
            <a:ext cx="12192000" cy="429207"/>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ea typeface="Instrument Sans" pitchFamily="34" charset="-122"/>
                <a:cs typeface="Times New Roman" panose="02020603050405020304" pitchFamily="18" charset="0"/>
              </a:rPr>
              <a:t>      </a:t>
            </a:r>
            <a:endParaRPr lang="en-IN" dirty="0">
              <a:solidFill>
                <a:schemeClr val="tx1"/>
              </a:solidFill>
            </a:endParaRPr>
          </a:p>
        </p:txBody>
      </p:sp>
    </p:spTree>
    <p:extLst>
      <p:ext uri="{BB962C8B-B14F-4D97-AF65-F5344CB8AC3E}">
        <p14:creationId xmlns:p14="http://schemas.microsoft.com/office/powerpoint/2010/main" val="31915921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C96D0-69C1-A146-4C49-F3E462DF60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CFE2D8-F99E-CDF8-23DA-D9757CD6FD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FC3A61-57E3-6142-E438-56E6BB4D9218}"/>
              </a:ext>
            </a:extLst>
          </p:cNvPr>
          <p:cNvSpPr>
            <a:spLocks noGrp="1"/>
          </p:cNvSpPr>
          <p:nvPr>
            <p:ph type="dt" sz="half" idx="10"/>
          </p:nvPr>
        </p:nvSpPr>
        <p:spPr/>
        <p:txBody>
          <a:bodyPr/>
          <a:lstStyle/>
          <a:p>
            <a:r>
              <a:rPr lang="en-US"/>
              <a:t>222</a:t>
            </a:r>
            <a:endParaRPr lang="en-IN"/>
          </a:p>
        </p:txBody>
      </p:sp>
      <p:sp>
        <p:nvSpPr>
          <p:cNvPr id="5" name="Footer Placeholder 4">
            <a:extLst>
              <a:ext uri="{FF2B5EF4-FFF2-40B4-BE49-F238E27FC236}">
                <a16:creationId xmlns:a16="http://schemas.microsoft.com/office/drawing/2014/main" id="{DE416CB1-B4F4-3FED-ED90-F3CAFA9CCF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82A5AB-694D-6A36-7AAC-F116E75C749F}"/>
              </a:ext>
            </a:extLst>
          </p:cNvPr>
          <p:cNvSpPr>
            <a:spLocks noGrp="1"/>
          </p:cNvSpPr>
          <p:nvPr>
            <p:ph type="sldNum" sz="quarter" idx="12"/>
          </p:nvPr>
        </p:nvSpPr>
        <p:spPr/>
        <p:txBody>
          <a:bodyPr/>
          <a:lstStyle/>
          <a:p>
            <a:fld id="{4A9795D8-83FD-4522-A0A1-E4DAAF0E10D3}" type="slidenum">
              <a:rPr lang="en-IN" smtClean="0"/>
              <a:t>‹#›</a:t>
            </a:fld>
            <a:endParaRPr lang="en-IN"/>
          </a:p>
        </p:txBody>
      </p:sp>
      <p:cxnSp>
        <p:nvCxnSpPr>
          <p:cNvPr id="7" name="Straight Connector 6">
            <a:extLst>
              <a:ext uri="{FF2B5EF4-FFF2-40B4-BE49-F238E27FC236}">
                <a16:creationId xmlns:a16="http://schemas.microsoft.com/office/drawing/2014/main" id="{82DC8FC3-3B81-1F59-8DD8-39B9112FFB21}"/>
              </a:ext>
            </a:extLst>
          </p:cNvPr>
          <p:cNvCxnSpPr>
            <a:cxnSpLocks/>
          </p:cNvCxnSpPr>
          <p:nvPr userDrawn="1"/>
        </p:nvCxnSpPr>
        <p:spPr>
          <a:xfrm>
            <a:off x="838200" y="886409"/>
            <a:ext cx="105156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C2A70A2C-93DD-FC21-B6C8-35BF512673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2653" b="9694"/>
          <a:stretch/>
        </p:blipFill>
        <p:spPr>
          <a:xfrm>
            <a:off x="9286875" y="0"/>
            <a:ext cx="2905125" cy="843190"/>
          </a:xfrm>
          <a:prstGeom prst="rect">
            <a:avLst/>
          </a:prstGeom>
        </p:spPr>
      </p:pic>
      <p:sp>
        <p:nvSpPr>
          <p:cNvPr id="9" name="Rectangle 8">
            <a:extLst>
              <a:ext uri="{FF2B5EF4-FFF2-40B4-BE49-F238E27FC236}">
                <a16:creationId xmlns:a16="http://schemas.microsoft.com/office/drawing/2014/main" id="{5B48CF8E-9E9A-5AFD-B84A-F6E159B6421A}"/>
              </a:ext>
            </a:extLst>
          </p:cNvPr>
          <p:cNvSpPr/>
          <p:nvPr userDrawn="1"/>
        </p:nvSpPr>
        <p:spPr>
          <a:xfrm>
            <a:off x="0" y="6428792"/>
            <a:ext cx="12192000" cy="429207"/>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ea typeface="Instrument Sans" pitchFamily="34" charset="-122"/>
                <a:cs typeface="Times New Roman" panose="02020603050405020304" pitchFamily="18" charset="0"/>
              </a:rPr>
              <a:t>      </a:t>
            </a:r>
            <a:endParaRPr lang="en-IN" dirty="0">
              <a:solidFill>
                <a:schemeClr val="tx1"/>
              </a:solidFill>
            </a:endParaRPr>
          </a:p>
        </p:txBody>
      </p:sp>
    </p:spTree>
    <p:extLst>
      <p:ext uri="{BB962C8B-B14F-4D97-AF65-F5344CB8AC3E}">
        <p14:creationId xmlns:p14="http://schemas.microsoft.com/office/powerpoint/2010/main" val="438184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CDF38-26EE-1CF3-83A6-89734BCB73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4C32331-9404-0A87-962D-1ED739D6AA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9F0E6B-0DFE-8A06-415B-292C6BB4F4D1}"/>
              </a:ext>
            </a:extLst>
          </p:cNvPr>
          <p:cNvSpPr>
            <a:spLocks noGrp="1"/>
          </p:cNvSpPr>
          <p:nvPr>
            <p:ph type="dt" sz="half" idx="10"/>
          </p:nvPr>
        </p:nvSpPr>
        <p:spPr/>
        <p:txBody>
          <a:bodyPr/>
          <a:lstStyle/>
          <a:p>
            <a:r>
              <a:rPr lang="en-US"/>
              <a:t>222</a:t>
            </a:r>
            <a:endParaRPr lang="en-IN"/>
          </a:p>
        </p:txBody>
      </p:sp>
      <p:sp>
        <p:nvSpPr>
          <p:cNvPr id="5" name="Footer Placeholder 4">
            <a:extLst>
              <a:ext uri="{FF2B5EF4-FFF2-40B4-BE49-F238E27FC236}">
                <a16:creationId xmlns:a16="http://schemas.microsoft.com/office/drawing/2014/main" id="{71B9CC43-C986-7E98-EB2A-09BAEB29B2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7E99AE-DF6D-21E3-EFAD-DEB40CC0FF55}"/>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344382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9E5FD-A00E-4A03-DCD0-835AFD41F8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71A4C61-8732-B15B-0B4E-9F1EA1491E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FE45A3E-421A-C9E5-AEFE-5198E4D6AF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50D9584-8B0D-29B4-39E8-5E1179D49DF7}"/>
              </a:ext>
            </a:extLst>
          </p:cNvPr>
          <p:cNvSpPr>
            <a:spLocks noGrp="1"/>
          </p:cNvSpPr>
          <p:nvPr>
            <p:ph type="dt" sz="half" idx="10"/>
          </p:nvPr>
        </p:nvSpPr>
        <p:spPr/>
        <p:txBody>
          <a:bodyPr/>
          <a:lstStyle/>
          <a:p>
            <a:r>
              <a:rPr lang="en-US"/>
              <a:t>222</a:t>
            </a:r>
            <a:endParaRPr lang="en-IN"/>
          </a:p>
        </p:txBody>
      </p:sp>
      <p:sp>
        <p:nvSpPr>
          <p:cNvPr id="6" name="Footer Placeholder 5">
            <a:extLst>
              <a:ext uri="{FF2B5EF4-FFF2-40B4-BE49-F238E27FC236}">
                <a16:creationId xmlns:a16="http://schemas.microsoft.com/office/drawing/2014/main" id="{74B28F0C-F569-C595-61C3-4B5BA1E327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DC42D7-A3CE-ABA2-351A-F729EE920F79}"/>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3173109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91CE2-A701-0B74-EF99-44768578653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3E375B-DF98-BD18-7776-CB61F4B2A6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947425-43DD-1FE9-773F-C6834E32A7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4D72BD0-84AE-494C-5572-7AD24F3AA4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FE251E-763B-E470-9AB0-4FB63D0FA6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AF75951-64E1-103D-6F0D-54554F5CF917}"/>
              </a:ext>
            </a:extLst>
          </p:cNvPr>
          <p:cNvSpPr>
            <a:spLocks noGrp="1"/>
          </p:cNvSpPr>
          <p:nvPr>
            <p:ph type="dt" sz="half" idx="10"/>
          </p:nvPr>
        </p:nvSpPr>
        <p:spPr/>
        <p:txBody>
          <a:bodyPr/>
          <a:lstStyle/>
          <a:p>
            <a:r>
              <a:rPr lang="en-US"/>
              <a:t>222</a:t>
            </a:r>
            <a:endParaRPr lang="en-IN"/>
          </a:p>
        </p:txBody>
      </p:sp>
      <p:sp>
        <p:nvSpPr>
          <p:cNvPr id="8" name="Footer Placeholder 7">
            <a:extLst>
              <a:ext uri="{FF2B5EF4-FFF2-40B4-BE49-F238E27FC236}">
                <a16:creationId xmlns:a16="http://schemas.microsoft.com/office/drawing/2014/main" id="{CCF088D1-62BF-44A7-A712-1AEC049FAD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0349D8C-495B-F0E1-3093-40AC6ADDF8F6}"/>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2495733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ADD67-8853-D863-D56B-4841610645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9F2F676-7869-E046-8F15-52887D4C50D1}"/>
              </a:ext>
            </a:extLst>
          </p:cNvPr>
          <p:cNvSpPr>
            <a:spLocks noGrp="1"/>
          </p:cNvSpPr>
          <p:nvPr>
            <p:ph type="dt" sz="half" idx="10"/>
          </p:nvPr>
        </p:nvSpPr>
        <p:spPr/>
        <p:txBody>
          <a:bodyPr/>
          <a:lstStyle/>
          <a:p>
            <a:r>
              <a:rPr lang="en-US"/>
              <a:t>222</a:t>
            </a:r>
            <a:endParaRPr lang="en-IN"/>
          </a:p>
        </p:txBody>
      </p:sp>
      <p:sp>
        <p:nvSpPr>
          <p:cNvPr id="4" name="Footer Placeholder 3">
            <a:extLst>
              <a:ext uri="{FF2B5EF4-FFF2-40B4-BE49-F238E27FC236}">
                <a16:creationId xmlns:a16="http://schemas.microsoft.com/office/drawing/2014/main" id="{5D11BE55-527D-258E-166C-26C674A129D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95DDD3-504C-C229-F806-4A451A339FFE}"/>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369014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26099D-4E2C-D6BD-FD83-3A458998D8F9}"/>
              </a:ext>
            </a:extLst>
          </p:cNvPr>
          <p:cNvSpPr>
            <a:spLocks noGrp="1"/>
          </p:cNvSpPr>
          <p:nvPr>
            <p:ph type="dt" sz="half" idx="10"/>
          </p:nvPr>
        </p:nvSpPr>
        <p:spPr/>
        <p:txBody>
          <a:bodyPr/>
          <a:lstStyle/>
          <a:p>
            <a:r>
              <a:rPr lang="en-US"/>
              <a:t>222</a:t>
            </a:r>
            <a:endParaRPr lang="en-IN"/>
          </a:p>
        </p:txBody>
      </p:sp>
      <p:sp>
        <p:nvSpPr>
          <p:cNvPr id="3" name="Footer Placeholder 2">
            <a:extLst>
              <a:ext uri="{FF2B5EF4-FFF2-40B4-BE49-F238E27FC236}">
                <a16:creationId xmlns:a16="http://schemas.microsoft.com/office/drawing/2014/main" id="{2976FEAE-69CB-E862-4C35-0E38E27ED0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FB2282-FD2E-4E61-99EA-9E5B31D0647A}"/>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2655105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53ABA-3E9A-8CF4-3218-0ECD9CA8F9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60EF167-A762-D097-AA35-8D0AB9A0B2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568E5-7B2B-0B65-0E05-FD22DB537A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787988-C3FC-C4E8-4EED-9DAB8A6DAE01}"/>
              </a:ext>
            </a:extLst>
          </p:cNvPr>
          <p:cNvSpPr>
            <a:spLocks noGrp="1"/>
          </p:cNvSpPr>
          <p:nvPr>
            <p:ph type="dt" sz="half" idx="10"/>
          </p:nvPr>
        </p:nvSpPr>
        <p:spPr/>
        <p:txBody>
          <a:bodyPr/>
          <a:lstStyle/>
          <a:p>
            <a:r>
              <a:rPr lang="en-US"/>
              <a:t>222</a:t>
            </a:r>
            <a:endParaRPr lang="en-IN"/>
          </a:p>
        </p:txBody>
      </p:sp>
      <p:sp>
        <p:nvSpPr>
          <p:cNvPr id="6" name="Footer Placeholder 5">
            <a:extLst>
              <a:ext uri="{FF2B5EF4-FFF2-40B4-BE49-F238E27FC236}">
                <a16:creationId xmlns:a16="http://schemas.microsoft.com/office/drawing/2014/main" id="{6DC96F33-517B-13A7-8D6F-E4A19DBD07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C58ACD-7A84-A622-156C-9F66D0492106}"/>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3718748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C3B68-B5F6-3541-DAAD-03437256DC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D13C991-DFB1-042F-E524-DB71B6806B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958B70C-7EAF-75D3-2656-72D9D08F4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EF521-CFA3-5556-769E-3EED465F6E77}"/>
              </a:ext>
            </a:extLst>
          </p:cNvPr>
          <p:cNvSpPr>
            <a:spLocks noGrp="1"/>
          </p:cNvSpPr>
          <p:nvPr>
            <p:ph type="dt" sz="half" idx="10"/>
          </p:nvPr>
        </p:nvSpPr>
        <p:spPr/>
        <p:txBody>
          <a:bodyPr/>
          <a:lstStyle/>
          <a:p>
            <a:r>
              <a:rPr lang="en-US"/>
              <a:t>222</a:t>
            </a:r>
            <a:endParaRPr lang="en-IN"/>
          </a:p>
        </p:txBody>
      </p:sp>
      <p:sp>
        <p:nvSpPr>
          <p:cNvPr id="6" name="Footer Placeholder 5">
            <a:extLst>
              <a:ext uri="{FF2B5EF4-FFF2-40B4-BE49-F238E27FC236}">
                <a16:creationId xmlns:a16="http://schemas.microsoft.com/office/drawing/2014/main" id="{57A87C24-FBBA-B4DD-1B42-CD671017F3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6A4C8B-B562-13D1-004C-17C584071227}"/>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3507465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41DA9-AD34-0FFB-5774-9D0B6771F3F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352225-2A8A-087C-E85D-3A8DAB836F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B90B07-B91A-43C9-8861-178C9842F327}"/>
              </a:ext>
            </a:extLst>
          </p:cNvPr>
          <p:cNvSpPr>
            <a:spLocks noGrp="1"/>
          </p:cNvSpPr>
          <p:nvPr>
            <p:ph type="dt" sz="half" idx="10"/>
          </p:nvPr>
        </p:nvSpPr>
        <p:spPr/>
        <p:txBody>
          <a:bodyPr/>
          <a:lstStyle/>
          <a:p>
            <a:r>
              <a:rPr lang="en-US"/>
              <a:t>222</a:t>
            </a:r>
            <a:endParaRPr lang="en-IN"/>
          </a:p>
        </p:txBody>
      </p:sp>
      <p:sp>
        <p:nvSpPr>
          <p:cNvPr id="5" name="Footer Placeholder 4">
            <a:extLst>
              <a:ext uri="{FF2B5EF4-FFF2-40B4-BE49-F238E27FC236}">
                <a16:creationId xmlns:a16="http://schemas.microsoft.com/office/drawing/2014/main" id="{866152B7-F69D-9BA2-DAAC-2ABF27110D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F8B4FA-6967-AE45-B69D-530FF079FA69}"/>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633392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28CAE2-907F-24BC-D9CB-F8A24314F5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615A29-E9EE-2467-B11B-0B1D08BF2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0D7541-B633-9D0E-588A-9CCA089123B2}"/>
              </a:ext>
            </a:extLst>
          </p:cNvPr>
          <p:cNvSpPr>
            <a:spLocks noGrp="1"/>
          </p:cNvSpPr>
          <p:nvPr>
            <p:ph type="dt" sz="half" idx="10"/>
          </p:nvPr>
        </p:nvSpPr>
        <p:spPr/>
        <p:txBody>
          <a:bodyPr/>
          <a:lstStyle/>
          <a:p>
            <a:r>
              <a:rPr lang="en-US"/>
              <a:t>222</a:t>
            </a:r>
            <a:endParaRPr lang="en-IN"/>
          </a:p>
        </p:txBody>
      </p:sp>
      <p:sp>
        <p:nvSpPr>
          <p:cNvPr id="5" name="Footer Placeholder 4">
            <a:extLst>
              <a:ext uri="{FF2B5EF4-FFF2-40B4-BE49-F238E27FC236}">
                <a16:creationId xmlns:a16="http://schemas.microsoft.com/office/drawing/2014/main" id="{53EA5740-BB89-0D72-449A-B86EA1E3FE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573FE4-A134-8C0F-E327-86B2CD26A361}"/>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3954488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B8C858-6053-E6E5-BA16-11D1E2A4A8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30DFCB-2517-751C-FDA1-C6BDC919DE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6868CF-E733-6B21-54EA-1BD0051A69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222</a:t>
            </a:r>
            <a:endParaRPr lang="en-IN"/>
          </a:p>
        </p:txBody>
      </p:sp>
      <p:sp>
        <p:nvSpPr>
          <p:cNvPr id="5" name="Footer Placeholder 4">
            <a:extLst>
              <a:ext uri="{FF2B5EF4-FFF2-40B4-BE49-F238E27FC236}">
                <a16:creationId xmlns:a16="http://schemas.microsoft.com/office/drawing/2014/main" id="{01D331BD-4280-7BF5-84BB-3C22E53598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E5B5DAE-52BA-8DC8-4B1F-A8521EC9A5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9795D8-83FD-4522-A0A1-E4DAAF0E10D3}" type="slidenum">
              <a:rPr lang="en-IN" smtClean="0"/>
              <a:t>‹#›</a:t>
            </a:fld>
            <a:endParaRPr lang="en-IN"/>
          </a:p>
        </p:txBody>
      </p:sp>
    </p:spTree>
    <p:extLst>
      <p:ext uri="{BB962C8B-B14F-4D97-AF65-F5344CB8AC3E}">
        <p14:creationId xmlns:p14="http://schemas.microsoft.com/office/powerpoint/2010/main" val="1761209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png"/><Relationship Id="rId7"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jpeg"/><Relationship Id="rId11" Type="http://schemas.openxmlformats.org/officeDocument/2006/relationships/image" Target="../media/image16.png"/><Relationship Id="rId5" Type="http://schemas.openxmlformats.org/officeDocument/2006/relationships/image" Target="../media/image10.jpe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jpe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4.jpg"/><Relationship Id="rId5" Type="http://schemas.openxmlformats.org/officeDocument/2006/relationships/image" Target="../media/image220.png"/><Relationship Id="rId4" Type="http://schemas.openxmlformats.org/officeDocument/2006/relationships/customXml" Target="../ink/ink1.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6.xml"/><Relationship Id="rId13" Type="http://schemas.openxmlformats.org/officeDocument/2006/relationships/diagramData" Target="../diagrams/data7.xml"/><Relationship Id="rId18" Type="http://schemas.openxmlformats.org/officeDocument/2006/relationships/image" Target="../media/image26.jpeg"/><Relationship Id="rId26" Type="http://schemas.openxmlformats.org/officeDocument/2006/relationships/diagramQuickStyle" Target="../diagrams/quickStyle9.xml"/><Relationship Id="rId3" Type="http://schemas.openxmlformats.org/officeDocument/2006/relationships/customXml" Target="../ink/ink2.xml"/><Relationship Id="rId21" Type="http://schemas.openxmlformats.org/officeDocument/2006/relationships/diagramQuickStyle" Target="../diagrams/quickStyle8.xml"/><Relationship Id="rId7" Type="http://schemas.openxmlformats.org/officeDocument/2006/relationships/customXml" Target="../ink/ink5.xml"/><Relationship Id="rId12" Type="http://schemas.microsoft.com/office/2007/relationships/diagramDrawing" Target="../diagrams/drawing6.xml"/><Relationship Id="rId17" Type="http://schemas.microsoft.com/office/2007/relationships/diagramDrawing" Target="../diagrams/drawing7.xml"/><Relationship Id="rId25" Type="http://schemas.openxmlformats.org/officeDocument/2006/relationships/diagramLayout" Target="../diagrams/layout9.xml"/><Relationship Id="rId2" Type="http://schemas.openxmlformats.org/officeDocument/2006/relationships/image" Target="../media/image1.png"/><Relationship Id="rId16" Type="http://schemas.openxmlformats.org/officeDocument/2006/relationships/diagramColors" Target="../diagrams/colors7.xml"/><Relationship Id="rId20" Type="http://schemas.openxmlformats.org/officeDocument/2006/relationships/diagramLayout" Target="../diagrams/layout8.xml"/><Relationship Id="rId1" Type="http://schemas.openxmlformats.org/officeDocument/2006/relationships/slideLayout" Target="../slideLayouts/slideLayout7.xml"/><Relationship Id="rId6" Type="http://schemas.openxmlformats.org/officeDocument/2006/relationships/customXml" Target="../ink/ink4.xml"/><Relationship Id="rId11" Type="http://schemas.openxmlformats.org/officeDocument/2006/relationships/diagramColors" Target="../diagrams/colors6.xml"/><Relationship Id="rId24" Type="http://schemas.openxmlformats.org/officeDocument/2006/relationships/diagramData" Target="../diagrams/data9.xml"/><Relationship Id="rId5" Type="http://schemas.openxmlformats.org/officeDocument/2006/relationships/customXml" Target="../ink/ink3.xml"/><Relationship Id="rId15" Type="http://schemas.openxmlformats.org/officeDocument/2006/relationships/diagramQuickStyle" Target="../diagrams/quickStyle7.xml"/><Relationship Id="rId23" Type="http://schemas.microsoft.com/office/2007/relationships/diagramDrawing" Target="../diagrams/drawing8.xml"/><Relationship Id="rId28" Type="http://schemas.microsoft.com/office/2007/relationships/diagramDrawing" Target="../diagrams/drawing9.xml"/><Relationship Id="rId10" Type="http://schemas.openxmlformats.org/officeDocument/2006/relationships/diagramQuickStyle" Target="../diagrams/quickStyle6.xml"/><Relationship Id="rId19" Type="http://schemas.openxmlformats.org/officeDocument/2006/relationships/diagramData" Target="../diagrams/data8.xml"/><Relationship Id="rId4" Type="http://schemas.openxmlformats.org/officeDocument/2006/relationships/image" Target="../media/image220.png"/><Relationship Id="rId9" Type="http://schemas.openxmlformats.org/officeDocument/2006/relationships/diagramLayout" Target="../diagrams/layout6.xml"/><Relationship Id="rId14" Type="http://schemas.openxmlformats.org/officeDocument/2006/relationships/diagramLayout" Target="../diagrams/layout7.xml"/><Relationship Id="rId22" Type="http://schemas.openxmlformats.org/officeDocument/2006/relationships/diagramColors" Target="../diagrams/colors8.xml"/><Relationship Id="rId27" Type="http://schemas.openxmlformats.org/officeDocument/2006/relationships/diagramColors" Target="../diagrams/colors9.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hyperlink" Target="https://arxiv.org/search/cs?searchtype=author&amp;query=Wang,+Y" TargetMode="External"/><Relationship Id="rId3" Type="http://schemas.openxmlformats.org/officeDocument/2006/relationships/hyperlink" Target="https://arxiv.org/search/cs?searchtype=author&amp;query=Geng,+J" TargetMode="External"/><Relationship Id="rId7" Type="http://schemas.openxmlformats.org/officeDocument/2006/relationships/hyperlink" Target="https://arxiv.org/search/cs?searchtype=author&amp;query=Cai,+F" TargetMode="External"/><Relationship Id="rId12" Type="http://schemas.openxmlformats.org/officeDocument/2006/relationships/hyperlink" Target="https://doi.org/10.48550/arXiv.2503.01854"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arxiv.org/search/cs?searchtype=author&amp;query=Chen,+Z" TargetMode="External"/><Relationship Id="rId11" Type="http://schemas.openxmlformats.org/officeDocument/2006/relationships/hyperlink" Target="https://arxiv.org/search/cs?searchtype=author&amp;query=Karray,+F" TargetMode="External"/><Relationship Id="rId5" Type="http://schemas.openxmlformats.org/officeDocument/2006/relationships/hyperlink" Target="https://arxiv.org/search/cs?searchtype=author&amp;query=Woisetschlaeger,+H" TargetMode="External"/><Relationship Id="rId10" Type="http://schemas.openxmlformats.org/officeDocument/2006/relationships/hyperlink" Target="https://arxiv.org/search/cs?searchtype=author&amp;query=Jacobsen,+H" TargetMode="External"/><Relationship Id="rId4" Type="http://schemas.openxmlformats.org/officeDocument/2006/relationships/hyperlink" Target="https://arxiv.org/search/cs?searchtype=author&amp;query=Li,+Q" TargetMode="External"/><Relationship Id="rId9" Type="http://schemas.openxmlformats.org/officeDocument/2006/relationships/hyperlink" Target="https://arxiv.org/search/cs?searchtype=author&amp;query=Nakov,+P"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proceedings.mlr.press/v119/guo20c.html"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arxiv.org/pdf/2312.15910"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meity.gov.in/static/uploads/2024/06/2bf1f0e9f04e6fb4f8fef35e82c42aa5.pdf"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udemy.com/course/responsible-ai-principles-practices-and-applications/?srsltid=AfmBOorcJDN91T-1RxFtCerA13W6GAUedvgXI_K5mlDnzcsPdM9ebOlg"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www.manipal.edu/mu/academics/phd/admissions---phd-program/full-time-phd-with-dr-tma-pai-scholarship.html"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7CB6EE5-8B8C-6F79-C7AC-F02C24B6EDB1}"/>
              </a:ext>
            </a:extLst>
          </p:cNvPr>
          <p:cNvSpPr/>
          <p:nvPr/>
        </p:nvSpPr>
        <p:spPr>
          <a:xfrm>
            <a:off x="3241006" y="2662091"/>
            <a:ext cx="5705061" cy="1200329"/>
          </a:xfrm>
          <a:prstGeom prst="rect">
            <a:avLst/>
          </a:prstGeom>
        </p:spPr>
        <p:txBody>
          <a:bodyPr wrap="square">
            <a:spAutoFit/>
          </a:bodyPr>
          <a:lstStyle/>
          <a:p>
            <a:pPr algn="ctr"/>
            <a:r>
              <a:rPr lang="en-US" b="1" dirty="0">
                <a:latin typeface="Times New Roman" panose="02020603050405020304" pitchFamily="18" charset="0"/>
                <a:cs typeface="Times New Roman" panose="02020603050405020304" pitchFamily="18" charset="0"/>
              </a:rPr>
              <a:t>Abhishek Hupele</a:t>
            </a:r>
          </a:p>
          <a:p>
            <a:pPr algn="ctr"/>
            <a:r>
              <a:rPr lang="en-US" dirty="0">
                <a:latin typeface="Times New Roman" panose="02020603050405020304" pitchFamily="18" charset="0"/>
                <a:cs typeface="Times New Roman" panose="02020603050405020304" pitchFamily="18" charset="0"/>
              </a:rPr>
              <a:t>Reg. No.: 240900465</a:t>
            </a:r>
          </a:p>
          <a:p>
            <a:pPr algn="ctr"/>
            <a:r>
              <a:rPr lang="en-US" dirty="0">
                <a:latin typeface="Times New Roman" panose="02020603050405020304" pitchFamily="18" charset="0"/>
                <a:cs typeface="Times New Roman" panose="02020603050405020304" pitchFamily="18" charset="0"/>
              </a:rPr>
              <a:t>Computer Scientist (PE), Research and Development - EV</a:t>
            </a:r>
          </a:p>
          <a:p>
            <a:pPr algn="ctr"/>
            <a:r>
              <a:rPr lang="en-US" dirty="0" err="1">
                <a:latin typeface="Times New Roman" panose="02020603050405020304" pitchFamily="18" charset="0"/>
                <a:cs typeface="Times New Roman" panose="02020603050405020304" pitchFamily="18" charset="0"/>
              </a:rPr>
              <a:t>EdgeVerve</a:t>
            </a:r>
            <a:r>
              <a:rPr lang="en-US" dirty="0">
                <a:latin typeface="Times New Roman" panose="02020603050405020304" pitchFamily="18" charset="0"/>
                <a:cs typeface="Times New Roman" panose="02020603050405020304" pitchFamily="18" charset="0"/>
              </a:rPr>
              <a:t> Systems Limited, An Infosys Company</a:t>
            </a:r>
          </a:p>
        </p:txBody>
      </p:sp>
      <p:sp>
        <p:nvSpPr>
          <p:cNvPr id="4" name="TextBox 3">
            <a:extLst>
              <a:ext uri="{FF2B5EF4-FFF2-40B4-BE49-F238E27FC236}">
                <a16:creationId xmlns:a16="http://schemas.microsoft.com/office/drawing/2014/main" id="{4C23ECF9-C73A-48FD-319C-ADCEAF5FCA80}"/>
              </a:ext>
            </a:extLst>
          </p:cNvPr>
          <p:cNvSpPr txBox="1"/>
          <p:nvPr/>
        </p:nvSpPr>
        <p:spPr>
          <a:xfrm flipH="1">
            <a:off x="3575399" y="4340869"/>
            <a:ext cx="5029200" cy="1200329"/>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Dr. Sanjay Singh</a:t>
            </a:r>
          </a:p>
          <a:p>
            <a:pPr algn="ctr"/>
            <a:r>
              <a:rPr lang="en-US" dirty="0">
                <a:latin typeface="Times New Roman" panose="02020603050405020304" pitchFamily="18" charset="0"/>
                <a:cs typeface="Times New Roman" panose="02020603050405020304" pitchFamily="18" charset="0"/>
              </a:rPr>
              <a:t>Professor (Guide)</a:t>
            </a:r>
          </a:p>
          <a:p>
            <a:pPr algn="ctr"/>
            <a:r>
              <a:rPr lang="en-US" dirty="0">
                <a:latin typeface="Times New Roman" panose="02020603050405020304" pitchFamily="18" charset="0"/>
                <a:cs typeface="Times New Roman" panose="02020603050405020304" pitchFamily="18" charset="0"/>
              </a:rPr>
              <a:t>Department of ICT,</a:t>
            </a:r>
          </a:p>
          <a:p>
            <a:pPr algn="ctr"/>
            <a:r>
              <a:rPr lang="en-US" dirty="0">
                <a:latin typeface="Times New Roman" panose="02020603050405020304" pitchFamily="18" charset="0"/>
                <a:cs typeface="Times New Roman" panose="02020603050405020304" pitchFamily="18" charset="0"/>
              </a:rPr>
              <a:t>Manipal Institute of Technology, Manipal</a:t>
            </a:r>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8C805A23-E79D-C3AA-0483-FCBF1B532C33}"/>
              </a:ext>
            </a:extLst>
          </p:cNvPr>
          <p:cNvSpPr/>
          <p:nvPr/>
        </p:nvSpPr>
        <p:spPr>
          <a:xfrm>
            <a:off x="-80021" y="5620385"/>
            <a:ext cx="4749786" cy="923330"/>
          </a:xfrm>
          <a:prstGeom prst="rect">
            <a:avLst/>
          </a:prstGeom>
        </p:spPr>
        <p:txBody>
          <a:bodyPr wrap="square">
            <a:spAutoFit/>
          </a:bodyPr>
          <a:lstStyle/>
          <a:p>
            <a:pPr algn="ctr"/>
            <a:r>
              <a:rPr lang="en-US" b="1" dirty="0">
                <a:latin typeface="Times New Roman" panose="02020603050405020304" pitchFamily="18" charset="0"/>
                <a:ea typeface="Times New Roman" panose="02020603050405020304" pitchFamily="18" charset="0"/>
              </a:rPr>
              <a:t>Dr. Naveen Kulkarni (Co-Guide)</a:t>
            </a:r>
            <a:endParaRPr lang="en-US" dirty="0">
              <a:latin typeface="Times New Roman" panose="02020603050405020304" pitchFamily="18" charset="0"/>
              <a:ea typeface="Times New Roman" panose="02020603050405020304" pitchFamily="18" charset="0"/>
            </a:endParaRPr>
          </a:p>
          <a:p>
            <a:pPr algn="ctr"/>
            <a:r>
              <a:rPr lang="en-US" dirty="0">
                <a:latin typeface="Times New Roman" panose="02020603050405020304" pitchFamily="18" charset="0"/>
                <a:ea typeface="Times New Roman" panose="02020603050405020304" pitchFamily="18" charset="0"/>
              </a:rPr>
              <a:t>Director – Product Engineering - AI</a:t>
            </a:r>
          </a:p>
          <a:p>
            <a:pPr algn="ctr"/>
            <a:r>
              <a:rPr lang="en-US" dirty="0" err="1">
                <a:latin typeface="Times New Roman" panose="02020603050405020304" pitchFamily="18" charset="0"/>
                <a:ea typeface="Times New Roman" panose="02020603050405020304" pitchFamily="18" charset="0"/>
              </a:rPr>
              <a:t>EdgeVerve</a:t>
            </a:r>
            <a:r>
              <a:rPr lang="en-US" dirty="0">
                <a:latin typeface="Times New Roman" panose="02020603050405020304" pitchFamily="18" charset="0"/>
                <a:ea typeface="Times New Roman" panose="02020603050405020304" pitchFamily="18" charset="0"/>
              </a:rPr>
              <a:t> Systems Limited</a:t>
            </a:r>
          </a:p>
        </p:txBody>
      </p:sp>
      <p:sp>
        <p:nvSpPr>
          <p:cNvPr id="6" name="TextBox 5">
            <a:extLst>
              <a:ext uri="{FF2B5EF4-FFF2-40B4-BE49-F238E27FC236}">
                <a16:creationId xmlns:a16="http://schemas.microsoft.com/office/drawing/2014/main" id="{0A4B357E-F3D3-9E74-EDA1-3E59F5248E7B}"/>
              </a:ext>
            </a:extLst>
          </p:cNvPr>
          <p:cNvSpPr txBox="1"/>
          <p:nvPr/>
        </p:nvSpPr>
        <p:spPr>
          <a:xfrm>
            <a:off x="2552686" y="2209859"/>
            <a:ext cx="7086600" cy="369332"/>
          </a:xfrm>
          <a:prstGeom prst="rect">
            <a:avLst/>
          </a:prstGeom>
          <a:noFill/>
        </p:spPr>
        <p:txBody>
          <a:bodyPr wrap="square" rtlCol="0">
            <a:spAutoFit/>
          </a:bodyPr>
          <a:lstStyle/>
          <a:p>
            <a:pPr algn="ctr"/>
            <a:r>
              <a:rPr lang="en-IN" dirty="0" err="1">
                <a:latin typeface="Times New Roman" panose="02020603050405020304" pitchFamily="18" charset="0"/>
                <a:cs typeface="Times New Roman" panose="02020603050405020304" pitchFamily="18" charset="0"/>
              </a:rPr>
              <a:t>Ph.D</a:t>
            </a:r>
            <a:r>
              <a:rPr lang="en-IN" dirty="0">
                <a:latin typeface="Times New Roman" panose="02020603050405020304" pitchFamily="18" charset="0"/>
                <a:cs typeface="Times New Roman" panose="02020603050405020304" pitchFamily="18" charset="0"/>
              </a:rPr>
              <a:t> Proposal Presentation by</a:t>
            </a:r>
          </a:p>
        </p:txBody>
      </p:sp>
      <p:sp>
        <p:nvSpPr>
          <p:cNvPr id="7" name="TextBox 6">
            <a:extLst>
              <a:ext uri="{FF2B5EF4-FFF2-40B4-BE49-F238E27FC236}">
                <a16:creationId xmlns:a16="http://schemas.microsoft.com/office/drawing/2014/main" id="{042AC434-5DCE-8421-B231-4354F196EFE2}"/>
              </a:ext>
            </a:extLst>
          </p:cNvPr>
          <p:cNvSpPr txBox="1"/>
          <p:nvPr/>
        </p:nvSpPr>
        <p:spPr>
          <a:xfrm>
            <a:off x="2742190" y="3945320"/>
            <a:ext cx="6702695"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Under the supervision of </a:t>
            </a:r>
          </a:p>
        </p:txBody>
      </p:sp>
      <p:pic>
        <p:nvPicPr>
          <p:cNvPr id="9" name="Picture 8">
            <a:extLst>
              <a:ext uri="{FF2B5EF4-FFF2-40B4-BE49-F238E27FC236}">
                <a16:creationId xmlns:a16="http://schemas.microsoft.com/office/drawing/2014/main" id="{232AEAA8-BF52-6764-0DB0-4EA5E9591E0C}"/>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b="9694"/>
          <a:stretch/>
        </p:blipFill>
        <p:spPr>
          <a:xfrm>
            <a:off x="38086" y="30152"/>
            <a:ext cx="2905125" cy="843190"/>
          </a:xfrm>
          <a:prstGeom prst="rect">
            <a:avLst/>
          </a:prstGeom>
        </p:spPr>
      </p:pic>
      <p:sp>
        <p:nvSpPr>
          <p:cNvPr id="10" name="Rectangle 9">
            <a:extLst>
              <a:ext uri="{FF2B5EF4-FFF2-40B4-BE49-F238E27FC236}">
                <a16:creationId xmlns:a16="http://schemas.microsoft.com/office/drawing/2014/main" id="{E29EAFD0-30F0-67AA-DF85-F53353707270}"/>
              </a:ext>
            </a:extLst>
          </p:cNvPr>
          <p:cNvSpPr/>
          <p:nvPr/>
        </p:nvSpPr>
        <p:spPr>
          <a:xfrm>
            <a:off x="-6000" y="6606000"/>
            <a:ext cx="12192000" cy="252000"/>
          </a:xfrm>
          <a:prstGeom prst="rect">
            <a:avLst/>
          </a:prstGeom>
          <a:solidFill>
            <a:srgbClr val="FD9D39"/>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ea typeface="Instrument Sans" pitchFamily="34" charset="-122"/>
                <a:cs typeface="Times New Roman" panose="02020603050405020304" pitchFamily="18" charset="0"/>
              </a:rPr>
              <a:t>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9B9D8F5-5282-EC7B-6F49-AE55545A6448}"/>
              </a:ext>
            </a:extLst>
          </p:cNvPr>
          <p:cNvSpPr txBox="1"/>
          <p:nvPr/>
        </p:nvSpPr>
        <p:spPr>
          <a:xfrm>
            <a:off x="5291896" y="6578027"/>
            <a:ext cx="1596207" cy="307777"/>
          </a:xfrm>
          <a:prstGeom prst="rect">
            <a:avLst/>
          </a:prstGeom>
          <a:noFill/>
        </p:spPr>
        <p:txBody>
          <a:bodyPr wrap="square" rtlCol="0">
            <a:spAutoFit/>
          </a:bodyPr>
          <a:lstStyle/>
          <a:p>
            <a:pPr algn="ctr"/>
            <a:r>
              <a:rPr lang="en-IN" sz="1400" dirty="0">
                <a:solidFill>
                  <a:schemeClr val="bg1"/>
                </a:solidFill>
                <a:latin typeface="Times New Roman" panose="02020603050405020304" pitchFamily="18" charset="0"/>
                <a:cs typeface="Times New Roman" panose="02020603050405020304" pitchFamily="18" charset="0"/>
              </a:rPr>
              <a:t>Mar 17, 2026</a:t>
            </a:r>
          </a:p>
        </p:txBody>
      </p:sp>
      <p:sp>
        <p:nvSpPr>
          <p:cNvPr id="11" name="TextBox 10">
            <a:extLst>
              <a:ext uri="{FF2B5EF4-FFF2-40B4-BE49-F238E27FC236}">
                <a16:creationId xmlns:a16="http://schemas.microsoft.com/office/drawing/2014/main" id="{DB3891EB-7439-3E27-A229-497A81D341F1}"/>
              </a:ext>
            </a:extLst>
          </p:cNvPr>
          <p:cNvSpPr txBox="1"/>
          <p:nvPr/>
        </p:nvSpPr>
        <p:spPr>
          <a:xfrm flipH="1">
            <a:off x="7522236" y="5434835"/>
            <a:ext cx="4577880" cy="1200329"/>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Dr. P.C. </a:t>
            </a:r>
            <a:r>
              <a:rPr lang="en-US" b="1" dirty="0" err="1">
                <a:latin typeface="Times New Roman" panose="02020603050405020304" pitchFamily="18" charset="0"/>
                <a:cs typeface="Times New Roman" panose="02020603050405020304" pitchFamily="18" charset="0"/>
              </a:rPr>
              <a:t>Siddalingaswamy</a:t>
            </a:r>
            <a:endParaRPr lang="en-US" b="1"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Professor (Co-Guide)</a:t>
            </a:r>
          </a:p>
          <a:p>
            <a:pPr algn="ctr"/>
            <a:r>
              <a:rPr lang="en-US" dirty="0">
                <a:latin typeface="Times New Roman" panose="02020603050405020304" pitchFamily="18" charset="0"/>
                <a:cs typeface="Times New Roman" panose="02020603050405020304" pitchFamily="18" charset="0"/>
              </a:rPr>
              <a:t>Department of CSE,</a:t>
            </a:r>
          </a:p>
          <a:p>
            <a:pPr algn="ctr"/>
            <a:r>
              <a:rPr lang="en-US" dirty="0">
                <a:latin typeface="Times New Roman" panose="02020603050405020304" pitchFamily="18" charset="0"/>
                <a:cs typeface="Times New Roman" panose="02020603050405020304" pitchFamily="18" charset="0"/>
              </a:rPr>
              <a:t>Manipal Institute of Technology, Manipal</a:t>
            </a:r>
            <a:endParaRPr lang="en-IN" dirty="0">
              <a:latin typeface="Times New Roman" panose="02020603050405020304" pitchFamily="18" charset="0"/>
              <a:cs typeface="Times New Roman" panose="02020603050405020304" pitchFamily="18" charset="0"/>
            </a:endParaRPr>
          </a:p>
        </p:txBody>
      </p:sp>
      <p:sp>
        <p:nvSpPr>
          <p:cNvPr id="12" name="Straight Arrow Connector 2">
            <a:extLst>
              <a:ext uri="{FF2B5EF4-FFF2-40B4-BE49-F238E27FC236}">
                <a16:creationId xmlns:a16="http://schemas.microsoft.com/office/drawing/2014/main" id="{B0663CA5-4518-4996-6023-E05E019E5C33}"/>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sp>
        <p:nvSpPr>
          <p:cNvPr id="13" name="Freeform 12">
            <a:extLst>
              <a:ext uri="{FF2B5EF4-FFF2-40B4-BE49-F238E27FC236}">
                <a16:creationId xmlns:a16="http://schemas.microsoft.com/office/drawing/2014/main" id="{3898CAAB-F096-0002-9EFD-5FCEDB5C8695}"/>
              </a:ext>
            </a:extLst>
          </p:cNvPr>
          <p:cNvSpPr/>
          <p:nvPr/>
        </p:nvSpPr>
        <p:spPr>
          <a:xfrm>
            <a:off x="1871002" y="1032822"/>
            <a:ext cx="8898575" cy="1072080"/>
          </a:xfrm>
          <a:custGeom>
            <a:avLst/>
            <a:gdLst/>
            <a:ahLst/>
            <a:cxnLst/>
            <a:rect l="l" t="t" r="r" b="b"/>
            <a:pathLst>
              <a:path w="26002" h="3002">
                <a:moveTo>
                  <a:pt x="500" y="0"/>
                </a:moveTo>
                <a:lnTo>
                  <a:pt x="500" y="0"/>
                </a:lnTo>
                <a:cubicBezTo>
                  <a:pt x="412" y="0"/>
                  <a:pt x="326" y="23"/>
                  <a:pt x="250" y="67"/>
                </a:cubicBezTo>
                <a:cubicBezTo>
                  <a:pt x="174" y="111"/>
                  <a:pt x="111" y="174"/>
                  <a:pt x="67" y="250"/>
                </a:cubicBezTo>
                <a:cubicBezTo>
                  <a:pt x="23" y="326"/>
                  <a:pt x="0" y="412"/>
                  <a:pt x="0" y="500"/>
                </a:cubicBezTo>
                <a:lnTo>
                  <a:pt x="0" y="2500"/>
                </a:lnTo>
                <a:lnTo>
                  <a:pt x="0" y="2501"/>
                </a:lnTo>
                <a:cubicBezTo>
                  <a:pt x="0" y="2589"/>
                  <a:pt x="23" y="2675"/>
                  <a:pt x="67" y="2751"/>
                </a:cubicBezTo>
                <a:cubicBezTo>
                  <a:pt x="111" y="2827"/>
                  <a:pt x="174" y="2890"/>
                  <a:pt x="250" y="2934"/>
                </a:cubicBezTo>
                <a:cubicBezTo>
                  <a:pt x="326" y="2978"/>
                  <a:pt x="412" y="3001"/>
                  <a:pt x="500" y="3001"/>
                </a:cubicBezTo>
                <a:lnTo>
                  <a:pt x="25500" y="3001"/>
                </a:lnTo>
                <a:lnTo>
                  <a:pt x="25501" y="3001"/>
                </a:lnTo>
                <a:cubicBezTo>
                  <a:pt x="25589" y="3001"/>
                  <a:pt x="25675" y="2978"/>
                  <a:pt x="25751" y="2934"/>
                </a:cubicBezTo>
                <a:cubicBezTo>
                  <a:pt x="25827" y="2890"/>
                  <a:pt x="25890" y="2827"/>
                  <a:pt x="25934" y="2751"/>
                </a:cubicBezTo>
                <a:cubicBezTo>
                  <a:pt x="25978" y="2675"/>
                  <a:pt x="26001" y="2589"/>
                  <a:pt x="26001" y="2501"/>
                </a:cubicBezTo>
                <a:lnTo>
                  <a:pt x="26001" y="500"/>
                </a:lnTo>
                <a:lnTo>
                  <a:pt x="26001" y="500"/>
                </a:lnTo>
                <a:lnTo>
                  <a:pt x="26001" y="500"/>
                </a:lnTo>
                <a:cubicBezTo>
                  <a:pt x="26001" y="412"/>
                  <a:pt x="25978" y="326"/>
                  <a:pt x="25934" y="250"/>
                </a:cubicBezTo>
                <a:cubicBezTo>
                  <a:pt x="25890" y="174"/>
                  <a:pt x="25827" y="111"/>
                  <a:pt x="25751" y="67"/>
                </a:cubicBezTo>
                <a:cubicBezTo>
                  <a:pt x="25675" y="23"/>
                  <a:pt x="25589" y="0"/>
                  <a:pt x="25501" y="0"/>
                </a:cubicBezTo>
                <a:lnTo>
                  <a:pt x="500" y="0"/>
                </a:lnTo>
              </a:path>
            </a:pathLst>
          </a:custGeom>
          <a:solidFill>
            <a:srgbClr val="FD9D39"/>
          </a:solidFill>
          <a:ln w="0">
            <a:noFill/>
          </a:ln>
          <a:effectLst>
            <a:outerShdw blurRad="63360" dist="89604" dir="2700000" rotWithShape="0">
              <a:srgbClr val="666666"/>
            </a:outerShdw>
          </a:effectLst>
        </p:spPr>
        <p:style>
          <a:lnRef idx="0">
            <a:scrgbClr r="0" g="0" b="0"/>
          </a:lnRef>
          <a:fillRef idx="0">
            <a:scrgbClr r="0" g="0" b="0"/>
          </a:fillRef>
          <a:effectRef idx="0">
            <a:scrgbClr r="0" g="0" b="0"/>
          </a:effectRef>
          <a:fontRef idx="minor"/>
        </p:style>
        <p:txBody>
          <a:bodyPr anchor="ctr"/>
          <a:lstStyle/>
          <a:p>
            <a:pPr algn="ctr">
              <a:lnSpc>
                <a:spcPct val="115000"/>
              </a:lnSpc>
              <a:spcAft>
                <a:spcPts val="1000"/>
              </a:spcAft>
            </a:pPr>
            <a:r>
              <a:rPr lang="en-US" sz="2000" b="1" dirty="0">
                <a:latin typeface="Cambria" panose="02040503050406030204" pitchFamily="18" charset="0"/>
                <a:ea typeface="MS Mincho" panose="02020609040205080304" pitchFamily="49" charset="-128"/>
                <a:cs typeface="Times New Roman" panose="02020603050405020304" pitchFamily="18" charset="0"/>
              </a:rPr>
              <a:t>Game-Theory-Based Balance: Formalizing the Machine Unlearning Problem as a Game Between Model Provider and Data Provider</a:t>
            </a:r>
          </a:p>
          <a:p>
            <a:pPr algn="ctr">
              <a:lnSpc>
                <a:spcPct val="115000"/>
              </a:lnSpc>
              <a:spcAft>
                <a:spcPts val="1000"/>
              </a:spcAft>
            </a:pPr>
            <a:r>
              <a:rPr lang="en-US" sz="1200" b="1" dirty="0">
                <a:latin typeface="Cambria" panose="02040503050406030204" pitchFamily="18" charset="0"/>
                <a:ea typeface="MS Mincho" panose="02020609040205080304" pitchFamily="49" charset="-128"/>
                <a:cs typeface="Times New Roman" panose="02020603050405020304" pitchFamily="18" charset="0"/>
              </a:rPr>
              <a:t>Machine Unlearning : Addressing the Challenge of Incorrectly Learned Information</a:t>
            </a:r>
            <a:endParaRPr lang="en-US" sz="1200" dirty="0">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584328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97160-1185-56BC-1A5A-B42B932E946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84A200A-966B-AAE5-7E69-2B0F6D65000F}"/>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3C38B786-50DC-1F3D-0011-B517581B137A}"/>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86611793-5160-877E-8AC0-3930611F6914}"/>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10157B06-6E27-2B15-EEF6-EF6B65F914AA}"/>
              </a:ext>
            </a:extLst>
          </p:cNvPr>
          <p:cNvSpPr txBox="1"/>
          <p:nvPr/>
        </p:nvSpPr>
        <p:spPr>
          <a:xfrm>
            <a:off x="6096000" y="190137"/>
            <a:ext cx="5622387" cy="523220"/>
          </a:xfrm>
          <a:prstGeom prst="rect">
            <a:avLst/>
          </a:prstGeom>
          <a:noFill/>
        </p:spPr>
        <p:txBody>
          <a:bodyPr wrap="square" rtlCol="0">
            <a:spAutoFit/>
          </a:bodyPr>
          <a:lstStyle/>
          <a:p>
            <a:pPr algn="r"/>
            <a:r>
              <a:rPr lang="en-IN" sz="2800" b="1" dirty="0">
                <a:latin typeface="Times New Roman" panose="02020603050405020304" pitchFamily="18" charset="0"/>
                <a:cs typeface="Times New Roman" panose="02020603050405020304" pitchFamily="18" charset="0"/>
              </a:rPr>
              <a:t>Presentation Overview</a:t>
            </a:r>
          </a:p>
        </p:txBody>
      </p:sp>
      <p:sp>
        <p:nvSpPr>
          <p:cNvPr id="15" name="TextBox 14">
            <a:extLst>
              <a:ext uri="{FF2B5EF4-FFF2-40B4-BE49-F238E27FC236}">
                <a16:creationId xmlns:a16="http://schemas.microsoft.com/office/drawing/2014/main" id="{4A99735D-AF7D-3264-3022-5CBDB984C6DB}"/>
              </a:ext>
            </a:extLst>
          </p:cNvPr>
          <p:cNvSpPr txBox="1"/>
          <p:nvPr/>
        </p:nvSpPr>
        <p:spPr>
          <a:xfrm>
            <a:off x="868018" y="880602"/>
            <a:ext cx="10485782" cy="5115311"/>
          </a:xfrm>
          <a:prstGeom prst="rect">
            <a:avLst/>
          </a:prstGeom>
          <a:noFill/>
        </p:spPr>
        <p:txBody>
          <a:bodyPr wrap="square" rtlCol="0">
            <a:spAutoFit/>
          </a:bodyPr>
          <a:lstStyle/>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Introduction</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Literature Review</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Research Gaps</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Objectives</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Methodology</a:t>
            </a:r>
            <a:endParaRPr lang="en-IN" sz="20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Expected Outcomes</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Importance </a:t>
            </a:r>
            <a:r>
              <a:rPr lang="en-IN" sz="2000" b="0" dirty="0">
                <a:effectLst/>
                <a:latin typeface="Times New Roman" panose="02020603050405020304" pitchFamily="18" charset="0"/>
                <a:cs typeface="Times New Roman" panose="02020603050405020304" pitchFamily="18" charset="0"/>
              </a:rPr>
              <a:t>of Proposed </a:t>
            </a:r>
            <a:r>
              <a:rPr lang="en-IN" sz="2000" dirty="0">
                <a:latin typeface="Times New Roman" panose="02020603050405020304" pitchFamily="18" charset="0"/>
                <a:cs typeface="Times New Roman" panose="02020603050405020304" pitchFamily="18" charset="0"/>
              </a:rPr>
              <a:t>R</a:t>
            </a:r>
            <a:r>
              <a:rPr lang="en-IN" sz="2000" b="0" dirty="0">
                <a:effectLst/>
                <a:latin typeface="Times New Roman" panose="02020603050405020304" pitchFamily="18" charset="0"/>
                <a:cs typeface="Times New Roman" panose="02020603050405020304" pitchFamily="18" charset="0"/>
              </a:rPr>
              <a:t>esearch </a:t>
            </a:r>
            <a:r>
              <a:rPr lang="en-IN" sz="2000" dirty="0">
                <a:latin typeface="Times New Roman" panose="02020603050405020304" pitchFamily="18" charset="0"/>
                <a:cs typeface="Times New Roman" panose="02020603050405020304" pitchFamily="18" charset="0"/>
              </a:rPr>
              <a:t>I</a:t>
            </a:r>
            <a:r>
              <a:rPr lang="en-IN" sz="2000" b="0" dirty="0">
                <a:effectLst/>
                <a:latin typeface="Times New Roman" panose="02020603050405020304" pitchFamily="18" charset="0"/>
                <a:cs typeface="Times New Roman" panose="02020603050405020304" pitchFamily="18" charset="0"/>
              </a:rPr>
              <a:t>nvestigation</a:t>
            </a:r>
          </a:p>
          <a:p>
            <a:pPr marL="457200" indent="-457200">
              <a:lnSpc>
                <a:spcPct val="150000"/>
              </a:lnSpc>
              <a:buFont typeface="+mj-lt"/>
              <a:buAutoNum type="arabicPeriod"/>
            </a:pPr>
            <a:r>
              <a:rPr lang="en-IN" sz="2000" b="0" dirty="0">
                <a:effectLst/>
                <a:latin typeface="Times New Roman" panose="02020603050405020304" pitchFamily="18" charset="0"/>
                <a:cs typeface="Times New Roman" panose="02020603050405020304" pitchFamily="18" charset="0"/>
              </a:rPr>
              <a:t>Research Time Plan  </a:t>
            </a:r>
          </a:p>
          <a:p>
            <a:pPr marL="457200" indent="-457200">
              <a:lnSpc>
                <a:spcPct val="150000"/>
              </a:lnSpc>
              <a:buFont typeface="+mj-lt"/>
              <a:buAutoNum type="arabicPeriod"/>
            </a:pPr>
            <a:r>
              <a:rPr lang="en-IN" sz="2000" b="0" dirty="0">
                <a:effectLst/>
                <a:latin typeface="Times New Roman" panose="02020603050405020304" pitchFamily="18" charset="0"/>
                <a:cs typeface="Times New Roman" panose="02020603050405020304" pitchFamily="18" charset="0"/>
              </a:rPr>
              <a:t>Pilot Study/Preliminary Work Done </a:t>
            </a:r>
          </a:p>
          <a:p>
            <a:pPr marL="457200" indent="-457200">
              <a:lnSpc>
                <a:spcPct val="150000"/>
              </a:lnSpc>
              <a:buFont typeface="+mj-lt"/>
              <a:buAutoNum type="arabicPeriod"/>
            </a:pPr>
            <a:r>
              <a:rPr lang="en-IN" sz="2000" b="0" dirty="0">
                <a:effectLst/>
                <a:latin typeface="Times New Roman" panose="02020603050405020304" pitchFamily="18" charset="0"/>
                <a:cs typeface="Times New Roman" panose="02020603050405020304" pitchFamily="18" charset="0"/>
              </a:rPr>
              <a:t>References </a:t>
            </a:r>
            <a:endParaRPr lang="en-IN" sz="20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Course Work Details</a:t>
            </a:r>
          </a:p>
        </p:txBody>
      </p:sp>
      <p:sp>
        <p:nvSpPr>
          <p:cNvPr id="18" name="Slide Number Placeholder 5">
            <a:extLst>
              <a:ext uri="{FF2B5EF4-FFF2-40B4-BE49-F238E27FC236}">
                <a16:creationId xmlns:a16="http://schemas.microsoft.com/office/drawing/2014/main" id="{0468BC83-FBCB-08B7-6B41-7DCE583F7395}"/>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5699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96E7B-E986-2006-250E-12D162AC244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C83047D-158B-6607-FE2B-42B1A9D38232}"/>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FB426C7E-9087-6CB9-D3B3-75986F397AC5}"/>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6C117594-F961-26F6-45B6-A7549DDFE651}"/>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5C5A4CEC-9CD2-5A9E-3B24-97A141DD9DD0}"/>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Introduction-I</a:t>
            </a:r>
          </a:p>
        </p:txBody>
      </p:sp>
      <p:sp>
        <p:nvSpPr>
          <p:cNvPr id="3" name="TextBox 2">
            <a:extLst>
              <a:ext uri="{FF2B5EF4-FFF2-40B4-BE49-F238E27FC236}">
                <a16:creationId xmlns:a16="http://schemas.microsoft.com/office/drawing/2014/main" id="{0B1A4683-B37D-C0ED-0748-B3F128AC2884}"/>
              </a:ext>
            </a:extLst>
          </p:cNvPr>
          <p:cNvSpPr txBox="1"/>
          <p:nvPr/>
        </p:nvSpPr>
        <p:spPr>
          <a:xfrm>
            <a:off x="471422" y="890782"/>
            <a:ext cx="11244235" cy="6275051"/>
          </a:xfrm>
          <a:prstGeom prst="rect">
            <a:avLst/>
          </a:prstGeom>
          <a:noFill/>
        </p:spPr>
        <p:txBody>
          <a:bodyPr wrap="square" rtlCol="0">
            <a:spAutoFit/>
          </a:bodyPr>
          <a:lstStyle/>
          <a:p>
            <a:pPr>
              <a:lnSpc>
                <a:spcPct val="150000"/>
              </a:lnSpc>
            </a:pPr>
            <a:r>
              <a:rPr lang="en-US" b="1" dirty="0">
                <a:solidFill>
                  <a:srgbClr val="424242"/>
                </a:solidFill>
                <a:latin typeface="Times New Roman" panose="02020603050405020304" pitchFamily="18" charset="0"/>
                <a:cs typeface="Times New Roman" panose="02020603050405020304" pitchFamily="18" charset="0"/>
              </a:rPr>
              <a:t>Responsible AI: The Foundation</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 Responsible AI (RAI) is about building AI systems that are:</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Fair and unbiased</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Transparent and explainable</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Accountable and auditable</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Privacy-preserving and secure</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 It emphasizes user rights, ethical data use, and compliance with legal frameworks.</a:t>
            </a:r>
            <a:endParaRPr lang="en-IN" dirty="0">
              <a:latin typeface="Times New Roman" panose="02020603050405020304" pitchFamily="18" charset="0"/>
              <a:cs typeface="Times New Roman" panose="02020603050405020304" pitchFamily="18" charset="0"/>
            </a:endParaRPr>
          </a:p>
          <a:p>
            <a:pPr>
              <a:lnSpc>
                <a:spcPct val="150000"/>
              </a:lnSpc>
            </a:pPr>
            <a:r>
              <a:rPr lang="en-US" b="1" dirty="0">
                <a:solidFill>
                  <a:srgbClr val="424242"/>
                </a:solidFill>
                <a:latin typeface="Times New Roman" panose="02020603050405020304" pitchFamily="18" charset="0"/>
                <a:cs typeface="Times New Roman" panose="02020603050405020304" pitchFamily="18" charset="0"/>
              </a:rPr>
              <a:t>Machine Unlearning: A Pillar of Responsible AI </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 Process of removing the influence of specific data from a trained model.</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The “Right to be Forgotten” (GDPR, CCPA), </a:t>
            </a:r>
            <a:r>
              <a:rPr lang="en-US" dirty="0"/>
              <a:t>DPDP Act (India)</a:t>
            </a:r>
            <a:endParaRPr lang="en-US" dirty="0">
              <a:solidFill>
                <a:srgbClr val="424242"/>
              </a:solidFill>
              <a:latin typeface="Times New Roman" panose="02020603050405020304" pitchFamily="18" charset="0"/>
              <a:cs typeface="Times New Roman" panose="02020603050405020304" pitchFamily="18" charset="0"/>
            </a:endParaRP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Ethical data revocation</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Mitigation of bias and adversarial data</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It ensures that AI systems remain compliant, fair, and adaptable.</a:t>
            </a:r>
          </a:p>
          <a:p>
            <a:pPr lvl="2">
              <a:lnSpc>
                <a:spcPct val="150000"/>
              </a:lnSpc>
            </a:pPr>
            <a:endParaRPr lang="en-IN" dirty="0">
              <a:latin typeface="Times New Roman" panose="02020603050405020304" pitchFamily="18" charset="0"/>
              <a:cs typeface="Times New Roman" panose="02020603050405020304" pitchFamily="18" charset="0"/>
            </a:endParaRPr>
          </a:p>
          <a:p>
            <a:pPr marL="1257300" lvl="2" indent="-342900">
              <a:lnSpc>
                <a:spcPct val="150000"/>
              </a:lnSpc>
              <a:buFont typeface="Wingdings" pitchFamily="2" charset="2"/>
              <a:buChar char="§"/>
            </a:pPr>
            <a:endParaRPr lang="en-IN" dirty="0">
              <a:latin typeface="Times New Roman" panose="02020603050405020304" pitchFamily="18" charset="0"/>
              <a:cs typeface="Times New Roman" panose="02020603050405020304" pitchFamily="18" charset="0"/>
            </a:endParaRPr>
          </a:p>
        </p:txBody>
      </p:sp>
      <p:sp>
        <p:nvSpPr>
          <p:cNvPr id="6" name="Footer Placeholder 4">
            <a:extLst>
              <a:ext uri="{FF2B5EF4-FFF2-40B4-BE49-F238E27FC236}">
                <a16:creationId xmlns:a16="http://schemas.microsoft.com/office/drawing/2014/main" id="{EB287B3B-E111-BF0D-86F3-54509A2EEB10}"/>
              </a:ext>
            </a:extLst>
          </p:cNvPr>
          <p:cNvSpPr txBox="1">
            <a:spLocks/>
          </p:cNvSpPr>
          <p:nvPr/>
        </p:nvSpPr>
        <p:spPr>
          <a:xfrm>
            <a:off x="7242514" y="6067772"/>
            <a:ext cx="5306984" cy="49982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dirty="0">
                <a:solidFill>
                  <a:schemeClr val="tx1"/>
                </a:solidFill>
                <a:latin typeface="Times New Roman" panose="02020603050405020304" pitchFamily="18" charset="0"/>
                <a:cs typeface="Times New Roman" panose="02020603050405020304" pitchFamily="18" charset="0"/>
              </a:rPr>
              <a:t>Figure 1.2: Illustration of machine unlearning. </a:t>
            </a:r>
            <a:br>
              <a:rPr lang="en-US" sz="1000" b="1" dirty="0">
                <a:solidFill>
                  <a:schemeClr val="tx1"/>
                </a:solidFill>
                <a:latin typeface="Times New Roman" panose="02020603050405020304" pitchFamily="18" charset="0"/>
                <a:cs typeface="Times New Roman" panose="02020603050405020304" pitchFamily="18" charset="0"/>
              </a:rPr>
            </a:br>
            <a:r>
              <a:rPr lang="en-US" sz="1000" b="1" dirty="0">
                <a:solidFill>
                  <a:schemeClr val="tx1"/>
                </a:solidFill>
                <a:latin typeface="Times New Roman" panose="02020603050405020304" pitchFamily="18" charset="0"/>
                <a:cs typeface="Times New Roman" panose="02020603050405020304" pitchFamily="18" charset="0"/>
              </a:rPr>
              <a:t>(</a:t>
            </a:r>
            <a:r>
              <a:rPr lang="en-US" sz="1000" b="1" dirty="0" err="1">
                <a:solidFill>
                  <a:schemeClr val="tx1"/>
                </a:solidFill>
                <a:latin typeface="Times New Roman" panose="02020603050405020304" pitchFamily="18" charset="0"/>
                <a:cs typeface="Times New Roman" panose="02020603050405020304" pitchFamily="18" charset="0"/>
              </a:rPr>
              <a:t>Source:https</a:t>
            </a:r>
            <a:r>
              <a:rPr lang="en-US" sz="1000" b="1" dirty="0">
                <a:solidFill>
                  <a:schemeClr val="tx1"/>
                </a:solidFill>
                <a:latin typeface="Times New Roman" panose="02020603050405020304" pitchFamily="18" charset="0"/>
                <a:cs typeface="Times New Roman" panose="02020603050405020304" pitchFamily="18" charset="0"/>
              </a:rPr>
              <a:t>://doi.org/10.48550/arXiv.2306.03558)</a:t>
            </a:r>
          </a:p>
          <a:p>
            <a:endParaRPr lang="en-IN" sz="1000" b="1" dirty="0">
              <a:solidFill>
                <a:schemeClr val="tx1"/>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9E562B73-5A40-80C8-1BB8-54770FE8DD7E}"/>
              </a:ext>
            </a:extLst>
          </p:cNvPr>
          <p:cNvSpPr txBox="1">
            <a:spLocks/>
          </p:cNvSpPr>
          <p:nvPr/>
        </p:nvSpPr>
        <p:spPr>
          <a:xfrm>
            <a:off x="7092778" y="3049886"/>
            <a:ext cx="504295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dirty="0">
                <a:solidFill>
                  <a:schemeClr val="tx1"/>
                </a:solidFill>
                <a:latin typeface="Times New Roman" panose="02020603050405020304" pitchFamily="18" charset="0"/>
                <a:cs typeface="Times New Roman" panose="02020603050405020304" pitchFamily="18" charset="0"/>
              </a:rPr>
              <a:t>Figure 1.1: Responsible AI (RAI): </a:t>
            </a:r>
          </a:p>
          <a:p>
            <a:r>
              <a:rPr lang="en-US" sz="1000" b="1" dirty="0">
                <a:solidFill>
                  <a:schemeClr val="tx1"/>
                </a:solidFill>
                <a:latin typeface="Times New Roman" panose="02020603050405020304" pitchFamily="18" charset="0"/>
                <a:cs typeface="Times New Roman" panose="02020603050405020304" pitchFamily="18" charset="0"/>
              </a:rPr>
              <a:t>(</a:t>
            </a:r>
            <a:r>
              <a:rPr lang="en-US" sz="1000" b="1" u="sng" dirty="0" err="1">
                <a:solidFill>
                  <a:schemeClr val="tx1"/>
                </a:solidFill>
                <a:latin typeface="Times New Roman" panose="02020603050405020304" pitchFamily="18" charset="0"/>
                <a:cs typeface="Times New Roman" panose="02020603050405020304" pitchFamily="18" charset="0"/>
              </a:rPr>
              <a:t>Source:https</a:t>
            </a:r>
            <a:r>
              <a:rPr lang="en-US" sz="1000" b="1" u="sng" dirty="0">
                <a:solidFill>
                  <a:schemeClr val="tx1"/>
                </a:solidFill>
                <a:latin typeface="Times New Roman" panose="02020603050405020304" pitchFamily="18" charset="0"/>
                <a:cs typeface="Times New Roman" panose="02020603050405020304" pitchFamily="18" charset="0"/>
              </a:rPr>
              <a:t>://www.linkedin.com/pulse/responsible-ai-rai-imperative-artificial-intelligence-mark-kovarski-iwsxc</a:t>
            </a:r>
            <a:r>
              <a:rPr lang="en-US" sz="1000" b="1" dirty="0">
                <a:solidFill>
                  <a:schemeClr val="tx1"/>
                </a:solidFill>
                <a:latin typeface="Times New Roman" panose="02020603050405020304" pitchFamily="18" charset="0"/>
                <a:cs typeface="Times New Roman" panose="02020603050405020304" pitchFamily="18" charset="0"/>
              </a:rPr>
              <a:t>/)</a:t>
            </a:r>
            <a:endParaRPr lang="en-IN" sz="1000" b="1" dirty="0">
              <a:solidFill>
                <a:schemeClr val="tx1"/>
              </a:solidFill>
              <a:latin typeface="Times New Roman" panose="02020603050405020304" pitchFamily="18" charset="0"/>
              <a:cs typeface="Times New Roman" panose="02020603050405020304" pitchFamily="18" charset="0"/>
            </a:endParaRPr>
          </a:p>
        </p:txBody>
      </p:sp>
      <p:sp>
        <p:nvSpPr>
          <p:cNvPr id="11" name="Slide Number Placeholder 5">
            <a:extLst>
              <a:ext uri="{FF2B5EF4-FFF2-40B4-BE49-F238E27FC236}">
                <a16:creationId xmlns:a16="http://schemas.microsoft.com/office/drawing/2014/main" id="{0EA01FD0-8C7E-7AFC-58AD-6C75EC91BDDD}"/>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3</a:t>
            </a:fld>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1026" name="Picture 2" descr="Responsible AI (RAI): The Imperative of Responsible Artificial Intelligence">
            <a:extLst>
              <a:ext uri="{FF2B5EF4-FFF2-40B4-BE49-F238E27FC236}">
                <a16:creationId xmlns:a16="http://schemas.microsoft.com/office/drawing/2014/main" id="{A031384A-7E35-D89B-2223-E9CB789CE8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23386" y="1014206"/>
            <a:ext cx="3555240" cy="199982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The image illustrates the process of training a machine learning model using a dataset, followed by the retention of learned data and the unlearning of unused data.&#10;&#10;AI-generated content may be incorrect.">
            <a:extLst>
              <a:ext uri="{FF2B5EF4-FFF2-40B4-BE49-F238E27FC236}">
                <a16:creationId xmlns:a16="http://schemas.microsoft.com/office/drawing/2014/main" id="{CA00AB16-BE0A-8FD2-91DA-A56792D9C55F}"/>
              </a:ext>
            </a:extLst>
          </p:cNvPr>
          <p:cNvPicPr>
            <a:picLocks noChangeAspect="1"/>
          </p:cNvPicPr>
          <p:nvPr/>
        </p:nvPicPr>
        <p:blipFill>
          <a:blip r:embed="rId5"/>
          <a:srcRect l="9035" r="11111"/>
          <a:stretch>
            <a:fillRect/>
          </a:stretch>
        </p:blipFill>
        <p:spPr>
          <a:xfrm>
            <a:off x="7850038" y="3857152"/>
            <a:ext cx="4048133" cy="2031814"/>
          </a:xfrm>
          <a:prstGeom prst="rect">
            <a:avLst/>
          </a:prstGeom>
        </p:spPr>
      </p:pic>
    </p:spTree>
    <p:extLst>
      <p:ext uri="{BB962C8B-B14F-4D97-AF65-F5344CB8AC3E}">
        <p14:creationId xmlns:p14="http://schemas.microsoft.com/office/powerpoint/2010/main" val="4126152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2130D-6CAE-25E2-BF55-BB222901C69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4C46BCF2-D88C-9908-3291-19161C9243A0}"/>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21F88EEC-5198-99E1-975D-C95B20AD6DEE}"/>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B4A0AEA0-261A-A8A8-3030-9D46AFC7CBA2}"/>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A3FA9B30-B20B-2C2B-80F0-39F2BB5A002E}"/>
              </a:ext>
            </a:extLst>
          </p:cNvPr>
          <p:cNvSpPr txBox="1"/>
          <p:nvPr/>
        </p:nvSpPr>
        <p:spPr>
          <a:xfrm>
            <a:off x="3237470" y="190137"/>
            <a:ext cx="848091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Introduction-II: Machine Unlearning</a:t>
            </a:r>
          </a:p>
        </p:txBody>
      </p:sp>
      <p:sp>
        <p:nvSpPr>
          <p:cNvPr id="3" name="TextBox 2">
            <a:extLst>
              <a:ext uri="{FF2B5EF4-FFF2-40B4-BE49-F238E27FC236}">
                <a16:creationId xmlns:a16="http://schemas.microsoft.com/office/drawing/2014/main" id="{B5316712-A794-38D1-CB31-F30BC921C2BA}"/>
              </a:ext>
            </a:extLst>
          </p:cNvPr>
          <p:cNvSpPr txBox="1"/>
          <p:nvPr/>
        </p:nvSpPr>
        <p:spPr>
          <a:xfrm>
            <a:off x="835740" y="948561"/>
            <a:ext cx="10515600" cy="5859553"/>
          </a:xfrm>
          <a:prstGeom prst="rect">
            <a:avLst/>
          </a:prstGeom>
          <a:noFill/>
        </p:spPr>
        <p:txBody>
          <a:bodyPr wrap="square" rtlCol="0">
            <a:spAutoFit/>
          </a:bodyPr>
          <a:lstStyle/>
          <a:p>
            <a:pPr>
              <a:lnSpc>
                <a:spcPct val="150000"/>
              </a:lnSpc>
            </a:pPr>
            <a:r>
              <a:rPr lang="en-US" b="1" dirty="0">
                <a:solidFill>
                  <a:srgbClr val="424242"/>
                </a:solidFill>
                <a:latin typeface="Times New Roman" panose="02020603050405020304" pitchFamily="18" charset="0"/>
                <a:cs typeface="Times New Roman" panose="02020603050405020304" pitchFamily="18" charset="0"/>
              </a:rPr>
              <a:t>What is Machine Unlearning?</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Not just data deletion—requires reversing learned representations.</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Can be:</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Exact </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Approximate</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Applied at different granularities:</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Data point, feature, class, user-level</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 DNNs, LLMs, GNNs, SVMs, federated learning.</a:t>
            </a:r>
          </a:p>
          <a:p>
            <a:pPr>
              <a:lnSpc>
                <a:spcPct val="150000"/>
              </a:lnSpc>
            </a:pPr>
            <a:r>
              <a:rPr lang="en-US" b="1" dirty="0">
                <a:solidFill>
                  <a:srgbClr val="424242"/>
                </a:solidFill>
                <a:latin typeface="Times New Roman" panose="02020603050405020304" pitchFamily="18" charset="0"/>
                <a:cs typeface="Times New Roman" panose="02020603050405020304" pitchFamily="18" charset="0"/>
              </a:rPr>
              <a:t>Why Machine Unlearning is Needed</a:t>
            </a:r>
            <a:endParaRPr lang="en-US" dirty="0">
              <a:solidFill>
                <a:srgbClr val="424242"/>
              </a:solidFill>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Legal: GDPR (Article 17), CCPA/CPRA, </a:t>
            </a:r>
            <a:r>
              <a:rPr lang="en-US" dirty="0"/>
              <a:t>DPDP Act (India)</a:t>
            </a:r>
            <a:endParaRPr lang="en-US" dirty="0">
              <a:solidFill>
                <a:srgbClr val="424242"/>
              </a:solidFill>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Ethical: Users should control their data and revoke consent.</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Security: Remove poisoned or adversarial data.</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Maintenance: Update models without full retraining.</a:t>
            </a:r>
          </a:p>
          <a:p>
            <a:pPr>
              <a:lnSpc>
                <a:spcPct val="150000"/>
              </a:lnSpc>
            </a:pPr>
            <a:endParaRPr lang="en-US" dirty="0">
              <a:solidFill>
                <a:srgbClr val="424242"/>
              </a:solidFill>
              <a:latin typeface="Times New Roman" panose="02020603050405020304" pitchFamily="18" charset="0"/>
              <a:cs typeface="Times New Roman" panose="02020603050405020304" pitchFamily="18" charset="0"/>
            </a:endParaRPr>
          </a:p>
        </p:txBody>
      </p:sp>
      <p:sp>
        <p:nvSpPr>
          <p:cNvPr id="8" name="Slide Number Placeholder 5">
            <a:extLst>
              <a:ext uri="{FF2B5EF4-FFF2-40B4-BE49-F238E27FC236}">
                <a16:creationId xmlns:a16="http://schemas.microsoft.com/office/drawing/2014/main" id="{96A91F1E-18FB-4C2E-060B-7119ECFD4DAD}"/>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4</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11" name="Footer Placeholder 4">
            <a:extLst>
              <a:ext uri="{FF2B5EF4-FFF2-40B4-BE49-F238E27FC236}">
                <a16:creationId xmlns:a16="http://schemas.microsoft.com/office/drawing/2014/main" id="{3F791721-CC6F-74D4-6317-9CD9E10DFD1B}"/>
              </a:ext>
            </a:extLst>
          </p:cNvPr>
          <p:cNvSpPr txBox="1">
            <a:spLocks/>
          </p:cNvSpPr>
          <p:nvPr/>
        </p:nvSpPr>
        <p:spPr>
          <a:xfrm>
            <a:off x="6976878" y="6344239"/>
            <a:ext cx="5306984" cy="49982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dirty="0">
                <a:solidFill>
                  <a:schemeClr val="tx1"/>
                </a:solidFill>
                <a:latin typeface="Times New Roman" panose="02020603050405020304" pitchFamily="18" charset="0"/>
                <a:cs typeface="Times New Roman" panose="02020603050405020304" pitchFamily="18" charset="0"/>
              </a:rPr>
              <a:t>Figure 1.4: DPDP vs GDPR: where they align and where they differ</a:t>
            </a:r>
          </a:p>
          <a:p>
            <a:r>
              <a:rPr lang="en-US" sz="1000" b="1" u="sng" dirty="0">
                <a:solidFill>
                  <a:schemeClr val="tx1"/>
                </a:solidFill>
                <a:latin typeface="Times New Roman" panose="02020603050405020304" pitchFamily="18" charset="0"/>
                <a:cs typeface="Times New Roman" panose="02020603050405020304" pitchFamily="18" charset="0"/>
              </a:rPr>
              <a:t>(</a:t>
            </a:r>
            <a:r>
              <a:rPr lang="en-US" sz="1000" b="1" u="sng" dirty="0" err="1">
                <a:solidFill>
                  <a:schemeClr val="tx1"/>
                </a:solidFill>
                <a:latin typeface="Times New Roman" panose="02020603050405020304" pitchFamily="18" charset="0"/>
                <a:cs typeface="Times New Roman" panose="02020603050405020304" pitchFamily="18" charset="0"/>
              </a:rPr>
              <a:t>Source:https</a:t>
            </a:r>
            <a:r>
              <a:rPr lang="en-US" sz="1000" b="1" u="sng" dirty="0">
                <a:solidFill>
                  <a:schemeClr val="tx1"/>
                </a:solidFill>
                <a:latin typeface="Times New Roman" panose="02020603050405020304" pitchFamily="18" charset="0"/>
                <a:cs typeface="Times New Roman" panose="02020603050405020304" pitchFamily="18" charset="0"/>
              </a:rPr>
              <a:t>://singhanialaw.com/digital-personal-data-protection-rules-2025-privacy-competition-corporate-compliance/)</a:t>
            </a:r>
            <a:endParaRPr lang="en-IN" sz="1000" b="1" u="sng" dirty="0">
              <a:solidFill>
                <a:schemeClr val="tx1"/>
              </a:solidFill>
              <a:latin typeface="Times New Roman" panose="02020603050405020304" pitchFamily="18" charset="0"/>
              <a:cs typeface="Times New Roman" panose="02020603050405020304" pitchFamily="18" charset="0"/>
            </a:endParaRPr>
          </a:p>
        </p:txBody>
      </p:sp>
      <p:pic>
        <p:nvPicPr>
          <p:cNvPr id="6" name="Picture 5" descr="The diagram compares Data Privacy Regulations, showing DPDP (Data Privacy Regulation in India) has a narrower scope focused on India and requires consent for processing, while GDPR (General Data Protection Regulation in the EU) has a broader scope for global data, requires consent, legitimate uses, and contractual obligations, with higher penalties for non-compliance.&#10;&#10;AI-generated content may be incorrect.">
            <a:extLst>
              <a:ext uri="{FF2B5EF4-FFF2-40B4-BE49-F238E27FC236}">
                <a16:creationId xmlns:a16="http://schemas.microsoft.com/office/drawing/2014/main" id="{5652C507-99F8-03E4-D7D7-6C7960E0CAF9}"/>
              </a:ext>
            </a:extLst>
          </p:cNvPr>
          <p:cNvPicPr>
            <a:picLocks noChangeAspect="1"/>
          </p:cNvPicPr>
          <p:nvPr/>
        </p:nvPicPr>
        <p:blipFill>
          <a:blip r:embed="rId3"/>
          <a:stretch>
            <a:fillRect/>
          </a:stretch>
        </p:blipFill>
        <p:spPr>
          <a:xfrm>
            <a:off x="7338205" y="4111473"/>
            <a:ext cx="4157932" cy="2166852"/>
          </a:xfrm>
          <a:prstGeom prst="rect">
            <a:avLst/>
          </a:prstGeom>
        </p:spPr>
      </p:pic>
      <p:pic>
        <p:nvPicPr>
          <p:cNvPr id="10" name="Picture 9" descr="The diagram illustrates various aspects of machine unlearning, including unlearning categories, techniques, verification, privacy, and security issues, along with specific applications like anomaly removal and data unlearnability.&#10;&#10;AI-generated content may be incorrect.">
            <a:extLst>
              <a:ext uri="{FF2B5EF4-FFF2-40B4-BE49-F238E27FC236}">
                <a16:creationId xmlns:a16="http://schemas.microsoft.com/office/drawing/2014/main" id="{626143C1-CE7C-B753-B993-DF22BDE586FA}"/>
              </a:ext>
            </a:extLst>
          </p:cNvPr>
          <p:cNvPicPr>
            <a:picLocks noChangeAspect="1"/>
          </p:cNvPicPr>
          <p:nvPr/>
        </p:nvPicPr>
        <p:blipFill>
          <a:blip r:embed="rId4"/>
          <a:stretch>
            <a:fillRect/>
          </a:stretch>
        </p:blipFill>
        <p:spPr>
          <a:xfrm>
            <a:off x="7876613" y="964249"/>
            <a:ext cx="3044429" cy="2675081"/>
          </a:xfrm>
          <a:prstGeom prst="rect">
            <a:avLst/>
          </a:prstGeom>
        </p:spPr>
      </p:pic>
      <p:sp>
        <p:nvSpPr>
          <p:cNvPr id="15" name="Footer Placeholder 4">
            <a:extLst>
              <a:ext uri="{FF2B5EF4-FFF2-40B4-BE49-F238E27FC236}">
                <a16:creationId xmlns:a16="http://schemas.microsoft.com/office/drawing/2014/main" id="{1E32B361-2BD2-2CDD-5363-855550EC785B}"/>
              </a:ext>
            </a:extLst>
          </p:cNvPr>
          <p:cNvSpPr txBox="1">
            <a:spLocks/>
          </p:cNvSpPr>
          <p:nvPr/>
        </p:nvSpPr>
        <p:spPr>
          <a:xfrm>
            <a:off x="6824478" y="3561424"/>
            <a:ext cx="5306984" cy="49982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dirty="0">
                <a:solidFill>
                  <a:schemeClr val="tx1"/>
                </a:solidFill>
                <a:latin typeface="Times New Roman" panose="02020603050405020304" pitchFamily="18" charset="0"/>
                <a:cs typeface="Times New Roman" panose="02020603050405020304" pitchFamily="18" charset="0"/>
              </a:rPr>
              <a:t>Figure 1.3: Taxonomy for machine unlearning </a:t>
            </a:r>
            <a:r>
              <a:rPr lang="en-US" sz="1000" b="1" u="sng" dirty="0">
                <a:solidFill>
                  <a:schemeClr val="tx1"/>
                </a:solidFill>
                <a:latin typeface="Times New Roman" panose="02020603050405020304" pitchFamily="18" charset="0"/>
                <a:cs typeface="Times New Roman" panose="02020603050405020304" pitchFamily="18" charset="0"/>
              </a:rPr>
              <a:t>(Source:</a:t>
            </a:r>
          </a:p>
          <a:p>
            <a:r>
              <a:rPr lang="en-US" sz="1000" b="1" u="sng" dirty="0">
                <a:solidFill>
                  <a:schemeClr val="tx1"/>
                </a:solidFill>
                <a:latin typeface="Times New Roman" panose="02020603050405020304" pitchFamily="18" charset="0"/>
                <a:cs typeface="Times New Roman" panose="02020603050405020304" pitchFamily="18" charset="0"/>
              </a:rPr>
              <a:t>https://doi.org/10.48550/arXiv.2405.07406)</a:t>
            </a:r>
            <a:endParaRPr lang="en-IN" sz="1000" b="1" u="sng"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7867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3941-9AD4-C3E4-0C62-D51A8BB2BCE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AA89E13-B268-E9A8-F3CE-65A91ADD3AB3}"/>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FD24FADA-DEEB-BBAE-2FBA-EFB1B3C29BE4}"/>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5C8C12D6-F54D-B621-058D-9ABDD958B652}"/>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E2E1189C-BFF4-134A-F25E-FF0A0FB6C699}"/>
              </a:ext>
            </a:extLst>
          </p:cNvPr>
          <p:cNvSpPr txBox="1"/>
          <p:nvPr/>
        </p:nvSpPr>
        <p:spPr>
          <a:xfrm>
            <a:off x="5549660" y="190137"/>
            <a:ext cx="616872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Introduction-II</a:t>
            </a:r>
          </a:p>
        </p:txBody>
      </p:sp>
      <p:sp>
        <p:nvSpPr>
          <p:cNvPr id="19" name="Slide Number Placeholder 5">
            <a:extLst>
              <a:ext uri="{FF2B5EF4-FFF2-40B4-BE49-F238E27FC236}">
                <a16:creationId xmlns:a16="http://schemas.microsoft.com/office/drawing/2014/main" id="{FAD6A37C-398A-1CE1-E2F8-A541F3ED57A6}"/>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5</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B7282A4C-FBD5-B3A3-CBA5-2B0376639790}"/>
              </a:ext>
            </a:extLst>
          </p:cNvPr>
          <p:cNvSpPr>
            <a:spLocks noGrp="1"/>
          </p:cNvSpPr>
          <p:nvPr>
            <p:ph type="dt" sz="half" idx="10"/>
          </p:nvPr>
        </p:nvSpPr>
        <p:spPr>
          <a:xfrm>
            <a:off x="3870157" y="5463542"/>
            <a:ext cx="10515600" cy="365125"/>
          </a:xfrm>
        </p:spPr>
        <p:txBody>
          <a:bodyPr/>
          <a:lstStyle/>
          <a:p>
            <a:pPr algn="ctr"/>
            <a:r>
              <a:rPr lang="en-IN" sz="1000" b="1" dirty="0">
                <a:solidFill>
                  <a:schemeClr val="tx1"/>
                </a:solidFill>
                <a:latin typeface="Times New Roman" panose="02020603050405020304" pitchFamily="18" charset="0"/>
                <a:cs typeface="Times New Roman" panose="02020603050405020304" pitchFamily="18" charset="0"/>
              </a:rPr>
              <a:t>Figure 1.6:Anatomy of unlearning..</a:t>
            </a:r>
            <a:br>
              <a:rPr lang="en-IN" sz="1000" b="1" dirty="0">
                <a:solidFill>
                  <a:schemeClr val="tx1"/>
                </a:solidFill>
                <a:latin typeface="Times New Roman" panose="02020603050405020304" pitchFamily="18" charset="0"/>
                <a:cs typeface="Times New Roman" panose="02020603050405020304" pitchFamily="18" charset="0"/>
              </a:rPr>
            </a:br>
            <a:r>
              <a:rPr lang="en-IN" sz="1000" b="1" dirty="0">
                <a:solidFill>
                  <a:schemeClr val="tx1"/>
                </a:solidFill>
                <a:latin typeface="Times New Roman" panose="02020603050405020304" pitchFamily="18" charset="0"/>
                <a:cs typeface="Times New Roman" panose="02020603050405020304" pitchFamily="18" charset="0"/>
              </a:rPr>
              <a:t>(</a:t>
            </a:r>
            <a:r>
              <a:rPr lang="en-IN" sz="1000" b="1" dirty="0" err="1">
                <a:solidFill>
                  <a:schemeClr val="tx1"/>
                </a:solidFill>
                <a:latin typeface="Times New Roman" panose="02020603050405020304" pitchFamily="18" charset="0"/>
                <a:cs typeface="Times New Roman" panose="02020603050405020304" pitchFamily="18" charset="0"/>
              </a:rPr>
              <a:t>source:https</a:t>
            </a:r>
            <a:r>
              <a:rPr lang="en-IN" sz="1000" b="1" dirty="0">
                <a:solidFill>
                  <a:schemeClr val="tx1"/>
                </a:solidFill>
                <a:latin typeface="Times New Roman" panose="02020603050405020304" pitchFamily="18" charset="0"/>
                <a:cs typeface="Times New Roman" panose="02020603050405020304" pitchFamily="18" charset="0"/>
              </a:rPr>
              <a:t>://</a:t>
            </a:r>
            <a:r>
              <a:rPr lang="en-IN" sz="1000" b="1" dirty="0" err="1">
                <a:solidFill>
                  <a:schemeClr val="tx1"/>
                </a:solidFill>
                <a:latin typeface="Times New Roman" panose="02020603050405020304" pitchFamily="18" charset="0"/>
                <a:cs typeface="Times New Roman" panose="02020603050405020304" pitchFamily="18" charset="0"/>
              </a:rPr>
              <a:t>research.google</a:t>
            </a:r>
            <a:r>
              <a:rPr lang="en-IN" sz="1000" b="1" dirty="0">
                <a:solidFill>
                  <a:schemeClr val="tx1"/>
                </a:solidFill>
                <a:latin typeface="Times New Roman" panose="02020603050405020304" pitchFamily="18" charset="0"/>
                <a:cs typeface="Times New Roman" panose="02020603050405020304" pitchFamily="18" charset="0"/>
              </a:rPr>
              <a:t>/blog/announcing-the-first-machine-unlearning-challenge/)</a:t>
            </a:r>
          </a:p>
        </p:txBody>
      </p:sp>
      <p:sp>
        <p:nvSpPr>
          <p:cNvPr id="7" name="Slide Number Placeholder 5">
            <a:extLst>
              <a:ext uri="{FF2B5EF4-FFF2-40B4-BE49-F238E27FC236}">
                <a16:creationId xmlns:a16="http://schemas.microsoft.com/office/drawing/2014/main" id="{E4ADC52E-8283-F071-EAE3-DBC467B6ECEB}"/>
              </a:ext>
            </a:extLst>
          </p:cNvPr>
          <p:cNvSpPr txBox="1">
            <a:spLocks/>
          </p:cNvSpPr>
          <p:nvPr/>
        </p:nvSpPr>
        <p:spPr>
          <a:xfrm>
            <a:off x="11043138" y="6469123"/>
            <a:ext cx="310662"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A9795D8-83FD-4522-A0A1-E4DAAF0E10D3}" type="slidenum">
              <a:rPr lang="en-IN" sz="1400" smtClean="0">
                <a:solidFill>
                  <a:schemeClr val="bg1"/>
                </a:solidFill>
                <a:latin typeface="Times New Roman" panose="02020603050405020304" pitchFamily="18" charset="0"/>
                <a:cs typeface="Times New Roman" panose="02020603050405020304" pitchFamily="18" charset="0"/>
              </a:rPr>
              <a:pPr/>
              <a:t>5</a:t>
            </a:fld>
            <a:endParaRPr lang="en-IN" sz="1400" dirty="0">
              <a:solidFill>
                <a:schemeClr val="bg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70496A6-FBFA-2CBF-D42D-FDC9C983D8AC}"/>
              </a:ext>
            </a:extLst>
          </p:cNvPr>
          <p:cNvPicPr>
            <a:picLocks noChangeAspect="1"/>
          </p:cNvPicPr>
          <p:nvPr/>
        </p:nvPicPr>
        <p:blipFill>
          <a:blip r:embed="rId3"/>
          <a:stretch>
            <a:fillRect/>
          </a:stretch>
        </p:blipFill>
        <p:spPr>
          <a:xfrm>
            <a:off x="713861" y="2133600"/>
            <a:ext cx="4723272" cy="2566788"/>
          </a:xfrm>
          <a:prstGeom prst="rect">
            <a:avLst/>
          </a:prstGeom>
        </p:spPr>
      </p:pic>
      <p:pic>
        <p:nvPicPr>
          <p:cNvPr id="10" name="Picture 9">
            <a:extLst>
              <a:ext uri="{FF2B5EF4-FFF2-40B4-BE49-F238E27FC236}">
                <a16:creationId xmlns:a16="http://schemas.microsoft.com/office/drawing/2014/main" id="{CFF27854-8149-CCE1-00DE-321D0F2F61C1}"/>
              </a:ext>
            </a:extLst>
          </p:cNvPr>
          <p:cNvPicPr>
            <a:picLocks noChangeAspect="1"/>
          </p:cNvPicPr>
          <p:nvPr/>
        </p:nvPicPr>
        <p:blipFill>
          <a:blip r:embed="rId4"/>
          <a:stretch>
            <a:fillRect/>
          </a:stretch>
        </p:blipFill>
        <p:spPr>
          <a:xfrm>
            <a:off x="5524050" y="1807846"/>
            <a:ext cx="5954089" cy="3494313"/>
          </a:xfrm>
          <a:prstGeom prst="rect">
            <a:avLst/>
          </a:prstGeom>
        </p:spPr>
      </p:pic>
      <p:sp>
        <p:nvSpPr>
          <p:cNvPr id="11" name="Date Placeholder 3">
            <a:extLst>
              <a:ext uri="{FF2B5EF4-FFF2-40B4-BE49-F238E27FC236}">
                <a16:creationId xmlns:a16="http://schemas.microsoft.com/office/drawing/2014/main" id="{243A3680-7B0B-C1D9-26EA-DCE1C41A1DA6}"/>
              </a:ext>
            </a:extLst>
          </p:cNvPr>
          <p:cNvSpPr txBox="1">
            <a:spLocks/>
          </p:cNvSpPr>
          <p:nvPr/>
        </p:nvSpPr>
        <p:spPr>
          <a:xfrm>
            <a:off x="-1916230" y="5395064"/>
            <a:ext cx="10515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000" b="1" dirty="0">
                <a:solidFill>
                  <a:schemeClr val="tx1"/>
                </a:solidFill>
                <a:latin typeface="Times New Roman" panose="02020603050405020304" pitchFamily="18" charset="0"/>
                <a:cs typeface="Times New Roman" panose="02020603050405020304" pitchFamily="18" charset="0"/>
              </a:rPr>
              <a:t>Figure 1.5:Anatomy of unlearning..</a:t>
            </a:r>
            <a:br>
              <a:rPr lang="en-IN" sz="1000" b="1" dirty="0">
                <a:solidFill>
                  <a:schemeClr val="tx1"/>
                </a:solidFill>
                <a:latin typeface="Times New Roman" panose="02020603050405020304" pitchFamily="18" charset="0"/>
                <a:cs typeface="Times New Roman" panose="02020603050405020304" pitchFamily="18" charset="0"/>
              </a:rPr>
            </a:br>
            <a:r>
              <a:rPr lang="en-IN" sz="1000" b="1" dirty="0">
                <a:solidFill>
                  <a:schemeClr val="tx1"/>
                </a:solidFill>
                <a:latin typeface="Times New Roman" panose="02020603050405020304" pitchFamily="18" charset="0"/>
                <a:cs typeface="Times New Roman" panose="02020603050405020304" pitchFamily="18" charset="0"/>
              </a:rPr>
              <a:t>(source: https://research.csiro.au/isp/research/privacy_mlai/privacy-and-machine-unlearning/</a:t>
            </a:r>
          </a:p>
        </p:txBody>
      </p:sp>
    </p:spTree>
    <p:extLst>
      <p:ext uri="{BB962C8B-B14F-4D97-AF65-F5344CB8AC3E}">
        <p14:creationId xmlns:p14="http://schemas.microsoft.com/office/powerpoint/2010/main" val="13619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B1451-A4AD-8746-02D1-D3071B8C812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0D10302-8495-684B-CCF4-9D4023B6C64E}"/>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C77DB1EF-74A6-5077-5D94-6666B661EB02}"/>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07DE683D-D6DB-4E61-48A5-B8DD0BF0AC56}"/>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3291464B-0C7C-7B58-6BC9-C84A3C7785C2}"/>
              </a:ext>
            </a:extLst>
          </p:cNvPr>
          <p:cNvSpPr txBox="1"/>
          <p:nvPr/>
        </p:nvSpPr>
        <p:spPr>
          <a:xfrm>
            <a:off x="5549660" y="190137"/>
            <a:ext cx="616872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Introduction-III: Game Theory</a:t>
            </a:r>
          </a:p>
        </p:txBody>
      </p:sp>
      <p:sp>
        <p:nvSpPr>
          <p:cNvPr id="19" name="Slide Number Placeholder 5">
            <a:extLst>
              <a:ext uri="{FF2B5EF4-FFF2-40B4-BE49-F238E27FC236}">
                <a16:creationId xmlns:a16="http://schemas.microsoft.com/office/drawing/2014/main" id="{707A9A28-761A-6393-7F2D-96E01B8F1BB0}"/>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6</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9AFF419-473E-2BFA-0156-A9D5671B4092}"/>
              </a:ext>
            </a:extLst>
          </p:cNvPr>
          <p:cNvSpPr txBox="1"/>
          <p:nvPr/>
        </p:nvSpPr>
        <p:spPr>
          <a:xfrm>
            <a:off x="838199" y="1120262"/>
            <a:ext cx="10609163" cy="3559116"/>
          </a:xfrm>
          <a:prstGeom prst="rect">
            <a:avLst/>
          </a:prstGeom>
          <a:noFill/>
        </p:spPr>
        <p:txBody>
          <a:bodyPr wrap="square">
            <a:spAutoFit/>
          </a:bodyPr>
          <a:lstStyle/>
          <a:p>
            <a:pPr marL="0" marR="0" algn="just">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Game theory is a branch of mathematics and economics that studies strategic interactions between rational decision-makers, often called "players." It provides a framework for analyzing situations where the outcome for each participant depends not only on their own choices, but also on the choices of others.</a:t>
            </a:r>
          </a:p>
          <a:p>
            <a:pPr marL="0" marR="0" algn="just">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Here are some key concepts to understand game theory:</a:t>
            </a:r>
          </a:p>
          <a:p>
            <a:pPr marL="342900" marR="0" lvl="0" indent="-342900" algn="just">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Players</a:t>
            </a:r>
          </a:p>
          <a:p>
            <a:pPr marL="342900" marR="0" lvl="0" indent="-342900" algn="just">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Strategies</a:t>
            </a:r>
          </a:p>
          <a:p>
            <a:pPr marL="342900" marR="0" lvl="0" indent="-342900" algn="just">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Payoffs</a:t>
            </a:r>
          </a:p>
          <a:p>
            <a:pPr marL="342900" marR="0" lvl="0" indent="-342900" algn="just">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Information</a:t>
            </a:r>
          </a:p>
          <a:p>
            <a:pPr marL="342900" marR="0" lvl="0" indent="-342900" algn="just">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Equilibrium</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48C7FDCF-DA2C-76DA-F7F2-3A5BE5EBDAF7}"/>
              </a:ext>
            </a:extLst>
          </p:cNvPr>
          <p:cNvPicPr>
            <a:picLocks noChangeAspect="1"/>
          </p:cNvPicPr>
          <p:nvPr/>
        </p:nvPicPr>
        <p:blipFill>
          <a:blip r:embed="rId3"/>
          <a:stretch>
            <a:fillRect/>
          </a:stretch>
        </p:blipFill>
        <p:spPr>
          <a:xfrm>
            <a:off x="6142780" y="2666239"/>
            <a:ext cx="5338674" cy="3559116"/>
          </a:xfrm>
          <a:prstGeom prst="rect">
            <a:avLst/>
          </a:prstGeom>
        </p:spPr>
      </p:pic>
      <p:sp>
        <p:nvSpPr>
          <p:cNvPr id="6" name="Footer Placeholder 4">
            <a:extLst>
              <a:ext uri="{FF2B5EF4-FFF2-40B4-BE49-F238E27FC236}">
                <a16:creationId xmlns:a16="http://schemas.microsoft.com/office/drawing/2014/main" id="{C7F9C556-73C9-B7A4-B252-BDDF002776EC}"/>
              </a:ext>
            </a:extLst>
          </p:cNvPr>
          <p:cNvSpPr txBox="1">
            <a:spLocks/>
          </p:cNvSpPr>
          <p:nvPr/>
        </p:nvSpPr>
        <p:spPr>
          <a:xfrm>
            <a:off x="4946940" y="5814982"/>
            <a:ext cx="7730353" cy="49982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dirty="0">
                <a:solidFill>
                  <a:schemeClr val="tx1"/>
                </a:solidFill>
                <a:latin typeface="Times New Roman" panose="02020603050405020304" pitchFamily="18" charset="0"/>
                <a:cs typeface="Times New Roman" panose="02020603050405020304" pitchFamily="18" charset="0"/>
              </a:rPr>
              <a:t>Figure 2:Strategic Interactions in Key Game Theory Models</a:t>
            </a:r>
          </a:p>
          <a:p>
            <a:r>
              <a:rPr lang="en-US" sz="1000" b="1" u="sng" dirty="0">
                <a:solidFill>
                  <a:schemeClr val="tx1"/>
                </a:solidFill>
                <a:latin typeface="Times New Roman" panose="02020603050405020304" pitchFamily="18" charset="0"/>
                <a:cs typeface="Times New Roman" panose="02020603050405020304" pitchFamily="18" charset="0"/>
              </a:rPr>
              <a:t>(</a:t>
            </a:r>
            <a:r>
              <a:rPr lang="en-US" sz="1000" b="1" u="sng" dirty="0" err="1">
                <a:solidFill>
                  <a:schemeClr val="tx1"/>
                </a:solidFill>
                <a:latin typeface="Times New Roman" panose="02020603050405020304" pitchFamily="18" charset="0"/>
                <a:cs typeface="Times New Roman" panose="02020603050405020304" pitchFamily="18" charset="0"/>
              </a:rPr>
              <a:t>Source:Created</a:t>
            </a:r>
            <a:r>
              <a:rPr lang="en-US" sz="1000" b="1" u="sng" dirty="0">
                <a:solidFill>
                  <a:schemeClr val="tx1"/>
                </a:solidFill>
                <a:latin typeface="Times New Roman" panose="02020603050405020304" pitchFamily="18" charset="0"/>
                <a:cs typeface="Times New Roman" panose="02020603050405020304" pitchFamily="18" charset="0"/>
              </a:rPr>
              <a:t> by Abhishek Hupele using AI-generated visualizations via Microsoft Copilot (GPT-4))</a:t>
            </a:r>
            <a:endParaRPr lang="en-IN" sz="1000" b="1" u="sng"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837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4EE26-8F3C-84BD-8EF0-FD368C1355F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C41ED7F5-45B9-13F1-D308-EAB2DF907D6E}"/>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EBB53649-2EAD-774F-CBAB-E6CBE85EC8CA}"/>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8EC1EEC9-D2DF-2179-D870-148BF7882E75}"/>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2D860FA2-8465-6475-235D-5B87C6BECA72}"/>
              </a:ext>
            </a:extLst>
          </p:cNvPr>
          <p:cNvSpPr txBox="1"/>
          <p:nvPr/>
        </p:nvSpPr>
        <p:spPr>
          <a:xfrm>
            <a:off x="1816444" y="190137"/>
            <a:ext cx="9901944"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Introduction-IV: Example Cases of PII Misuse</a:t>
            </a:r>
          </a:p>
        </p:txBody>
      </p:sp>
      <p:sp>
        <p:nvSpPr>
          <p:cNvPr id="22" name="Slide Number Placeholder 5">
            <a:extLst>
              <a:ext uri="{FF2B5EF4-FFF2-40B4-BE49-F238E27FC236}">
                <a16:creationId xmlns:a16="http://schemas.microsoft.com/office/drawing/2014/main" id="{C6B68269-9BA7-6ED2-F75B-1290ED738172}"/>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7</a:t>
            </a:fld>
            <a:endParaRPr lang="en-IN" sz="1400" dirty="0">
              <a:solidFill>
                <a:schemeClr val="tx1"/>
              </a:solidFill>
              <a:latin typeface="Times New Roman" panose="02020603050405020304" pitchFamily="18" charset="0"/>
              <a:cs typeface="Times New Roman" panose="02020603050405020304" pitchFamily="18" charset="0"/>
            </a:endParaRPr>
          </a:p>
        </p:txBody>
      </p:sp>
      <p:graphicFrame>
        <p:nvGraphicFramePr>
          <p:cNvPr id="31" name="Table 30">
            <a:extLst>
              <a:ext uri="{FF2B5EF4-FFF2-40B4-BE49-F238E27FC236}">
                <a16:creationId xmlns:a16="http://schemas.microsoft.com/office/drawing/2014/main" id="{B79BA564-DBD8-BAEB-B43A-D804CCD5D7B2}"/>
              </a:ext>
            </a:extLst>
          </p:cNvPr>
          <p:cNvGraphicFramePr>
            <a:graphicFrameLocks noGrp="1"/>
          </p:cNvGraphicFramePr>
          <p:nvPr>
            <p:extLst>
              <p:ext uri="{D42A27DB-BD31-4B8C-83A1-F6EECF244321}">
                <p14:modId xmlns:p14="http://schemas.microsoft.com/office/powerpoint/2010/main" val="2957412306"/>
              </p:ext>
            </p:extLst>
          </p:nvPr>
        </p:nvGraphicFramePr>
        <p:xfrm>
          <a:off x="808645" y="1200560"/>
          <a:ext cx="5707172" cy="5275000"/>
        </p:xfrm>
        <a:graphic>
          <a:graphicData uri="http://schemas.openxmlformats.org/drawingml/2006/table">
            <a:tbl>
              <a:tblPr>
                <a:tableStyleId>{616DA210-FB5B-4158-B5E0-FEB733F419BA}</a:tableStyleId>
              </a:tblPr>
              <a:tblGrid>
                <a:gridCol w="1426793">
                  <a:extLst>
                    <a:ext uri="{9D8B030D-6E8A-4147-A177-3AD203B41FA5}">
                      <a16:colId xmlns:a16="http://schemas.microsoft.com/office/drawing/2014/main" val="2472530210"/>
                    </a:ext>
                  </a:extLst>
                </a:gridCol>
                <a:gridCol w="1426793">
                  <a:extLst>
                    <a:ext uri="{9D8B030D-6E8A-4147-A177-3AD203B41FA5}">
                      <a16:colId xmlns:a16="http://schemas.microsoft.com/office/drawing/2014/main" val="199156018"/>
                    </a:ext>
                  </a:extLst>
                </a:gridCol>
                <a:gridCol w="1426793">
                  <a:extLst>
                    <a:ext uri="{9D8B030D-6E8A-4147-A177-3AD203B41FA5}">
                      <a16:colId xmlns:a16="http://schemas.microsoft.com/office/drawing/2014/main" val="3588051714"/>
                    </a:ext>
                  </a:extLst>
                </a:gridCol>
                <a:gridCol w="1426793">
                  <a:extLst>
                    <a:ext uri="{9D8B030D-6E8A-4147-A177-3AD203B41FA5}">
                      <a16:colId xmlns:a16="http://schemas.microsoft.com/office/drawing/2014/main" val="3906460746"/>
                    </a:ext>
                  </a:extLst>
                </a:gridCol>
              </a:tblGrid>
              <a:tr h="238900">
                <a:tc>
                  <a:txBody>
                    <a:bodyPr/>
                    <a:lstStyle/>
                    <a:p>
                      <a:pPr>
                        <a:buNone/>
                      </a:pPr>
                      <a:r>
                        <a:rPr lang="en-IN" sz="1000"/>
                        <a:t>Case / Year</a:t>
                      </a:r>
                    </a:p>
                  </a:txBody>
                  <a:tcPr marL="49447" marR="49447" marT="24724" marB="24724" anchor="ctr"/>
                </a:tc>
                <a:tc>
                  <a:txBody>
                    <a:bodyPr/>
                    <a:lstStyle/>
                    <a:p>
                      <a:pPr>
                        <a:buNone/>
                      </a:pPr>
                      <a:r>
                        <a:rPr lang="en-IN" sz="1000"/>
                        <a:t>Domain</a:t>
                      </a:r>
                    </a:p>
                  </a:txBody>
                  <a:tcPr marL="49447" marR="49447" marT="24724" marB="24724" anchor="ctr"/>
                </a:tc>
                <a:tc>
                  <a:txBody>
                    <a:bodyPr/>
                    <a:lstStyle/>
                    <a:p>
                      <a:pPr>
                        <a:buNone/>
                      </a:pPr>
                      <a:r>
                        <a:rPr lang="en-IN" sz="1000"/>
                        <a:t>Issue / Violation</a:t>
                      </a:r>
                    </a:p>
                  </a:txBody>
                  <a:tcPr marL="49447" marR="49447" marT="24724" marB="24724" anchor="ctr"/>
                </a:tc>
                <a:tc>
                  <a:txBody>
                    <a:bodyPr/>
                    <a:lstStyle/>
                    <a:p>
                      <a:pPr>
                        <a:buNone/>
                      </a:pPr>
                      <a:r>
                        <a:rPr lang="en-IN" sz="1000" dirty="0"/>
                        <a:t>Impact</a:t>
                      </a:r>
                    </a:p>
                  </a:txBody>
                  <a:tcPr marL="49447" marR="49447" marT="24724" marB="24724" anchor="ctr"/>
                </a:tc>
                <a:extLst>
                  <a:ext uri="{0D108BD9-81ED-4DB2-BD59-A6C34878D82A}">
                    <a16:rowId xmlns:a16="http://schemas.microsoft.com/office/drawing/2014/main" val="1531805933"/>
                  </a:ext>
                </a:extLst>
              </a:tr>
              <a:tr h="599650">
                <a:tc>
                  <a:txBody>
                    <a:bodyPr/>
                    <a:lstStyle/>
                    <a:p>
                      <a:pPr>
                        <a:buNone/>
                      </a:pPr>
                      <a:r>
                        <a:rPr lang="en-IN" sz="1000"/>
                        <a:t>Cambridge Analytica (2018)</a:t>
                      </a:r>
                    </a:p>
                  </a:txBody>
                  <a:tcPr marL="49447" marR="49447" marT="24724" marB="24724" anchor="ctr"/>
                </a:tc>
                <a:tc>
                  <a:txBody>
                    <a:bodyPr/>
                    <a:lstStyle/>
                    <a:p>
                      <a:pPr>
                        <a:buNone/>
                      </a:pPr>
                      <a:r>
                        <a:rPr lang="en-IN" sz="1000"/>
                        <a:t>Social Media / Politics</a:t>
                      </a:r>
                    </a:p>
                  </a:txBody>
                  <a:tcPr marL="49447" marR="49447" marT="24724" marB="24724" anchor="ctr"/>
                </a:tc>
                <a:tc>
                  <a:txBody>
                    <a:bodyPr/>
                    <a:lstStyle/>
                    <a:p>
                      <a:pPr>
                        <a:buNone/>
                      </a:pPr>
                      <a:r>
                        <a:rPr lang="en-US" sz="1000"/>
                        <a:t>Unauthorized use of Facebook data for election profiling</a:t>
                      </a:r>
                    </a:p>
                  </a:txBody>
                  <a:tcPr marL="49447" marR="49447" marT="24724" marB="24724" anchor="ctr"/>
                </a:tc>
                <a:tc>
                  <a:txBody>
                    <a:bodyPr/>
                    <a:lstStyle/>
                    <a:p>
                      <a:pPr>
                        <a:buNone/>
                      </a:pPr>
                      <a:r>
                        <a:rPr lang="en-US" sz="1000"/>
                        <a:t>Manipulation of voter behavior, global privacy concerns</a:t>
                      </a:r>
                    </a:p>
                  </a:txBody>
                  <a:tcPr marL="49447" marR="49447" marT="24724" marB="24724" anchor="ctr"/>
                </a:tc>
                <a:extLst>
                  <a:ext uri="{0D108BD9-81ED-4DB2-BD59-A6C34878D82A}">
                    <a16:rowId xmlns:a16="http://schemas.microsoft.com/office/drawing/2014/main" val="1176205645"/>
                  </a:ext>
                </a:extLst>
              </a:tr>
              <a:tr h="599650">
                <a:tc>
                  <a:txBody>
                    <a:bodyPr/>
                    <a:lstStyle/>
                    <a:p>
                      <a:pPr>
                        <a:buNone/>
                      </a:pPr>
                      <a:r>
                        <a:rPr lang="en-IN" sz="1000"/>
                        <a:t>Apple Card Bias (2019)</a:t>
                      </a:r>
                    </a:p>
                  </a:txBody>
                  <a:tcPr marL="49447" marR="49447" marT="24724" marB="24724" anchor="ctr"/>
                </a:tc>
                <a:tc>
                  <a:txBody>
                    <a:bodyPr/>
                    <a:lstStyle/>
                    <a:p>
                      <a:pPr>
                        <a:buNone/>
                      </a:pPr>
                      <a:r>
                        <a:rPr lang="en-IN" sz="1000"/>
                        <a:t>Finance</a:t>
                      </a:r>
                    </a:p>
                  </a:txBody>
                  <a:tcPr marL="49447" marR="49447" marT="24724" marB="24724" anchor="ctr"/>
                </a:tc>
                <a:tc>
                  <a:txBody>
                    <a:bodyPr/>
                    <a:lstStyle/>
                    <a:p>
                      <a:pPr>
                        <a:buNone/>
                      </a:pPr>
                      <a:r>
                        <a:rPr lang="en-US" sz="1000"/>
                        <a:t>Gender bias in credit limit allocation</a:t>
                      </a:r>
                    </a:p>
                  </a:txBody>
                  <a:tcPr marL="49447" marR="49447" marT="24724" marB="24724" anchor="ctr"/>
                </a:tc>
                <a:tc>
                  <a:txBody>
                    <a:bodyPr/>
                    <a:lstStyle/>
                    <a:p>
                      <a:pPr>
                        <a:buNone/>
                      </a:pPr>
                      <a:r>
                        <a:rPr lang="en-US" sz="1000" dirty="0"/>
                        <a:t>Discrimination against women, regulatory scrutiny</a:t>
                      </a:r>
                    </a:p>
                  </a:txBody>
                  <a:tcPr marL="49447" marR="49447" marT="24724" marB="24724" anchor="ctr"/>
                </a:tc>
                <a:extLst>
                  <a:ext uri="{0D108BD9-81ED-4DB2-BD59-A6C34878D82A}">
                    <a16:rowId xmlns:a16="http://schemas.microsoft.com/office/drawing/2014/main" val="4153835207"/>
                  </a:ext>
                </a:extLst>
              </a:tr>
              <a:tr h="599650">
                <a:tc>
                  <a:txBody>
                    <a:bodyPr/>
                    <a:lstStyle/>
                    <a:p>
                      <a:pPr>
                        <a:buNone/>
                      </a:pPr>
                      <a:r>
                        <a:rPr lang="en-IN" sz="1000"/>
                        <a:t>Amazon Hiring Algorithm (2018)</a:t>
                      </a:r>
                    </a:p>
                  </a:txBody>
                  <a:tcPr marL="49447" marR="49447" marT="24724" marB="24724" anchor="ctr"/>
                </a:tc>
                <a:tc>
                  <a:txBody>
                    <a:bodyPr/>
                    <a:lstStyle/>
                    <a:p>
                      <a:pPr>
                        <a:buNone/>
                      </a:pPr>
                      <a:r>
                        <a:rPr lang="en-IN" sz="1000"/>
                        <a:t>Employment</a:t>
                      </a:r>
                    </a:p>
                  </a:txBody>
                  <a:tcPr marL="49447" marR="49447" marT="24724" marB="24724" anchor="ctr"/>
                </a:tc>
                <a:tc>
                  <a:txBody>
                    <a:bodyPr/>
                    <a:lstStyle/>
                    <a:p>
                      <a:pPr>
                        <a:buNone/>
                      </a:pPr>
                      <a:r>
                        <a:rPr lang="en-US" sz="1000" dirty="0"/>
                        <a:t>Algorithm trained on biased historical data</a:t>
                      </a:r>
                    </a:p>
                  </a:txBody>
                  <a:tcPr marL="49447" marR="49447" marT="24724" marB="24724" anchor="ctr"/>
                </a:tc>
                <a:tc>
                  <a:txBody>
                    <a:bodyPr/>
                    <a:lstStyle/>
                    <a:p>
                      <a:pPr>
                        <a:buNone/>
                      </a:pPr>
                      <a:r>
                        <a:rPr lang="en-IN" sz="1000"/>
                        <a:t>Gender bias in recruitment, reputational damage</a:t>
                      </a:r>
                    </a:p>
                  </a:txBody>
                  <a:tcPr marL="49447" marR="49447" marT="24724" marB="24724" anchor="ctr"/>
                </a:tc>
                <a:extLst>
                  <a:ext uri="{0D108BD9-81ED-4DB2-BD59-A6C34878D82A}">
                    <a16:rowId xmlns:a16="http://schemas.microsoft.com/office/drawing/2014/main" val="323911958"/>
                  </a:ext>
                </a:extLst>
              </a:tr>
              <a:tr h="419275">
                <a:tc>
                  <a:txBody>
                    <a:bodyPr/>
                    <a:lstStyle/>
                    <a:p>
                      <a:pPr>
                        <a:buNone/>
                      </a:pPr>
                      <a:r>
                        <a:rPr lang="en-IN" sz="1000" dirty="0"/>
                        <a:t>Clearview AI (2020)</a:t>
                      </a:r>
                    </a:p>
                  </a:txBody>
                  <a:tcPr marL="49447" marR="49447" marT="24724" marB="24724" anchor="ctr"/>
                </a:tc>
                <a:tc>
                  <a:txBody>
                    <a:bodyPr/>
                    <a:lstStyle/>
                    <a:p>
                      <a:pPr>
                        <a:buNone/>
                      </a:pPr>
                      <a:r>
                        <a:rPr lang="en-IN" sz="1000"/>
                        <a:t>Facial Recognition</a:t>
                      </a:r>
                    </a:p>
                  </a:txBody>
                  <a:tcPr marL="49447" marR="49447" marT="24724" marB="24724" anchor="ctr"/>
                </a:tc>
                <a:tc>
                  <a:txBody>
                    <a:bodyPr/>
                    <a:lstStyle/>
                    <a:p>
                      <a:pPr>
                        <a:buNone/>
                      </a:pPr>
                      <a:r>
                        <a:rPr lang="en-US" sz="1000"/>
                        <a:t>Scraping billions of images without consent</a:t>
                      </a:r>
                    </a:p>
                  </a:txBody>
                  <a:tcPr marL="49447" marR="49447" marT="24724" marB="24724" anchor="ctr"/>
                </a:tc>
                <a:tc>
                  <a:txBody>
                    <a:bodyPr/>
                    <a:lstStyle/>
                    <a:p>
                      <a:pPr>
                        <a:buNone/>
                      </a:pPr>
                      <a:r>
                        <a:rPr lang="en-IN" sz="1000"/>
                        <a:t>Privacy invasion, legal challenges</a:t>
                      </a:r>
                    </a:p>
                  </a:txBody>
                  <a:tcPr marL="49447" marR="49447" marT="24724" marB="24724" anchor="ctr"/>
                </a:tc>
                <a:extLst>
                  <a:ext uri="{0D108BD9-81ED-4DB2-BD59-A6C34878D82A}">
                    <a16:rowId xmlns:a16="http://schemas.microsoft.com/office/drawing/2014/main" val="2420724297"/>
                  </a:ext>
                </a:extLst>
              </a:tr>
              <a:tr h="599650">
                <a:tc>
                  <a:txBody>
                    <a:bodyPr/>
                    <a:lstStyle/>
                    <a:p>
                      <a:pPr>
                        <a:buNone/>
                      </a:pPr>
                      <a:r>
                        <a:rPr lang="en-IN" sz="1000" dirty="0"/>
                        <a:t>Target Pregnancy Prediction (2012)</a:t>
                      </a:r>
                    </a:p>
                  </a:txBody>
                  <a:tcPr marL="49447" marR="49447" marT="24724" marB="24724" anchor="ctr"/>
                </a:tc>
                <a:tc>
                  <a:txBody>
                    <a:bodyPr/>
                    <a:lstStyle/>
                    <a:p>
                      <a:pPr>
                        <a:buNone/>
                      </a:pPr>
                      <a:r>
                        <a:rPr lang="en-IN" sz="1000"/>
                        <a:t>Retail</a:t>
                      </a:r>
                    </a:p>
                  </a:txBody>
                  <a:tcPr marL="49447" marR="49447" marT="24724" marB="24724" anchor="ctr"/>
                </a:tc>
                <a:tc>
                  <a:txBody>
                    <a:bodyPr/>
                    <a:lstStyle/>
                    <a:p>
                      <a:pPr>
                        <a:buNone/>
                      </a:pPr>
                      <a:r>
                        <a:rPr lang="en-US" sz="1000"/>
                        <a:t>Predictive analytics revealed pregnancy status without consent</a:t>
                      </a:r>
                    </a:p>
                  </a:txBody>
                  <a:tcPr marL="49447" marR="49447" marT="24724" marB="24724" anchor="ctr"/>
                </a:tc>
                <a:tc>
                  <a:txBody>
                    <a:bodyPr/>
                    <a:lstStyle/>
                    <a:p>
                      <a:pPr>
                        <a:buNone/>
                      </a:pPr>
                      <a:r>
                        <a:rPr lang="en-US" sz="1000" dirty="0"/>
                        <a:t>Breach of sensitive health information, customer backlash</a:t>
                      </a:r>
                    </a:p>
                  </a:txBody>
                  <a:tcPr marL="49447" marR="49447" marT="24724" marB="24724" anchor="ctr"/>
                </a:tc>
                <a:extLst>
                  <a:ext uri="{0D108BD9-81ED-4DB2-BD59-A6C34878D82A}">
                    <a16:rowId xmlns:a16="http://schemas.microsoft.com/office/drawing/2014/main" val="2033709458"/>
                  </a:ext>
                </a:extLst>
              </a:tr>
              <a:tr h="599650">
                <a:tc>
                  <a:txBody>
                    <a:bodyPr/>
                    <a:lstStyle/>
                    <a:p>
                      <a:pPr>
                        <a:buNone/>
                      </a:pPr>
                      <a:r>
                        <a:rPr lang="en-IN" sz="1000" dirty="0"/>
                        <a:t>Cross-Border GenAI Misuse (2025, Gartner prediction)</a:t>
                      </a:r>
                    </a:p>
                  </a:txBody>
                  <a:tcPr marL="49447" marR="49447" marT="24724" marB="24724" anchor="ctr"/>
                </a:tc>
                <a:tc>
                  <a:txBody>
                    <a:bodyPr/>
                    <a:lstStyle/>
                    <a:p>
                      <a:pPr>
                        <a:buNone/>
                      </a:pPr>
                      <a:r>
                        <a:rPr lang="en-IN" sz="1000"/>
                        <a:t>AI / Global Data</a:t>
                      </a:r>
                    </a:p>
                  </a:txBody>
                  <a:tcPr marL="49447" marR="49447" marT="24724" marB="24724" anchor="ctr"/>
                </a:tc>
                <a:tc>
                  <a:txBody>
                    <a:bodyPr/>
                    <a:lstStyle/>
                    <a:p>
                      <a:pPr>
                        <a:buNone/>
                      </a:pPr>
                      <a:r>
                        <a:rPr lang="en-US" sz="1000"/>
                        <a:t>Generative AI misuse across jurisdictions with weak privacy laws</a:t>
                      </a:r>
                    </a:p>
                  </a:txBody>
                  <a:tcPr marL="49447" marR="49447" marT="24724" marB="24724" anchor="ctr"/>
                </a:tc>
                <a:tc>
                  <a:txBody>
                    <a:bodyPr/>
                    <a:lstStyle/>
                    <a:p>
                      <a:pPr>
                        <a:buNone/>
                      </a:pPr>
                      <a:r>
                        <a:rPr lang="en-US" sz="1000" dirty="0"/>
                        <a:t>Risk of large-scale exploitation of personal data</a:t>
                      </a:r>
                    </a:p>
                  </a:txBody>
                  <a:tcPr marL="49447" marR="49447" marT="24724" marB="24724" anchor="ctr"/>
                </a:tc>
                <a:extLst>
                  <a:ext uri="{0D108BD9-81ED-4DB2-BD59-A6C34878D82A}">
                    <a16:rowId xmlns:a16="http://schemas.microsoft.com/office/drawing/2014/main" val="2732412120"/>
                  </a:ext>
                </a:extLst>
              </a:tr>
              <a:tr h="599650">
                <a:tc>
                  <a:txBody>
                    <a:bodyPr/>
                    <a:lstStyle/>
                    <a:p>
                      <a:pPr>
                        <a:buNone/>
                      </a:pPr>
                      <a:r>
                        <a:rPr lang="en-IN" sz="1000" dirty="0"/>
                        <a:t>Equifax Breach (2017)</a:t>
                      </a:r>
                    </a:p>
                  </a:txBody>
                  <a:tcPr marL="49447" marR="49447" marT="24724" marB="24724" anchor="ctr"/>
                </a:tc>
                <a:tc>
                  <a:txBody>
                    <a:bodyPr/>
                    <a:lstStyle/>
                    <a:p>
                      <a:pPr>
                        <a:buNone/>
                      </a:pPr>
                      <a:r>
                        <a:rPr lang="en-IN" sz="1000"/>
                        <a:t>Finance</a:t>
                      </a:r>
                    </a:p>
                  </a:txBody>
                  <a:tcPr marL="49447" marR="49447" marT="24724" marB="24724" anchor="ctr"/>
                </a:tc>
                <a:tc>
                  <a:txBody>
                    <a:bodyPr/>
                    <a:lstStyle/>
                    <a:p>
                      <a:pPr>
                        <a:buNone/>
                      </a:pPr>
                      <a:r>
                        <a:rPr lang="en-US" sz="1000"/>
                        <a:t>Massive data breach exposing SSNs, birthdates, addresses</a:t>
                      </a:r>
                    </a:p>
                  </a:txBody>
                  <a:tcPr marL="49447" marR="49447" marT="24724" marB="24724" anchor="ctr"/>
                </a:tc>
                <a:tc>
                  <a:txBody>
                    <a:bodyPr/>
                    <a:lstStyle/>
                    <a:p>
                      <a:pPr>
                        <a:buNone/>
                      </a:pPr>
                      <a:r>
                        <a:rPr lang="en-US" sz="1000" dirty="0"/>
                        <a:t>147M+ individuals affected, financial fraud risks</a:t>
                      </a:r>
                    </a:p>
                  </a:txBody>
                  <a:tcPr marL="49447" marR="49447" marT="24724" marB="24724" anchor="ctr"/>
                </a:tc>
                <a:extLst>
                  <a:ext uri="{0D108BD9-81ED-4DB2-BD59-A6C34878D82A}">
                    <a16:rowId xmlns:a16="http://schemas.microsoft.com/office/drawing/2014/main" val="714040673"/>
                  </a:ext>
                </a:extLst>
              </a:tr>
              <a:tr h="419275">
                <a:tc>
                  <a:txBody>
                    <a:bodyPr/>
                    <a:lstStyle/>
                    <a:p>
                      <a:pPr>
                        <a:buNone/>
                      </a:pPr>
                      <a:r>
                        <a:rPr lang="en-IN" sz="1000" dirty="0"/>
                        <a:t>Google Street View (2010)</a:t>
                      </a:r>
                    </a:p>
                  </a:txBody>
                  <a:tcPr marL="49447" marR="49447" marT="24724" marB="24724" anchor="ctr"/>
                </a:tc>
                <a:tc>
                  <a:txBody>
                    <a:bodyPr/>
                    <a:lstStyle/>
                    <a:p>
                      <a:pPr>
                        <a:buNone/>
                      </a:pPr>
                      <a:r>
                        <a:rPr lang="en-IN" sz="1000"/>
                        <a:t>Tech / Mapping</a:t>
                      </a:r>
                    </a:p>
                  </a:txBody>
                  <a:tcPr marL="49447" marR="49447" marT="24724" marB="24724" anchor="ctr"/>
                </a:tc>
                <a:tc>
                  <a:txBody>
                    <a:bodyPr/>
                    <a:lstStyle/>
                    <a:p>
                      <a:pPr>
                        <a:buNone/>
                      </a:pPr>
                      <a:r>
                        <a:rPr lang="en-US" sz="1000"/>
                        <a:t>Collection of Wi-Fi data without consent</a:t>
                      </a:r>
                    </a:p>
                  </a:txBody>
                  <a:tcPr marL="49447" marR="49447" marT="24724" marB="24724" anchor="ctr"/>
                </a:tc>
                <a:tc>
                  <a:txBody>
                    <a:bodyPr/>
                    <a:lstStyle/>
                    <a:p>
                      <a:pPr>
                        <a:buNone/>
                      </a:pPr>
                      <a:r>
                        <a:rPr lang="en-IN" sz="1000" dirty="0"/>
                        <a:t>Regulatory fines, privacy violations</a:t>
                      </a:r>
                    </a:p>
                  </a:txBody>
                  <a:tcPr marL="49447" marR="49447" marT="24724" marB="24724" anchor="ctr"/>
                </a:tc>
                <a:extLst>
                  <a:ext uri="{0D108BD9-81ED-4DB2-BD59-A6C34878D82A}">
                    <a16:rowId xmlns:a16="http://schemas.microsoft.com/office/drawing/2014/main" val="3034351297"/>
                  </a:ext>
                </a:extLst>
              </a:tr>
              <a:tr h="599650">
                <a:tc>
                  <a:txBody>
                    <a:bodyPr/>
                    <a:lstStyle/>
                    <a:p>
                      <a:pPr>
                        <a:buNone/>
                      </a:pPr>
                      <a:r>
                        <a:rPr lang="en-IN" sz="1000" dirty="0"/>
                        <a:t>Aadhaar Data Leak (2018, India)</a:t>
                      </a:r>
                    </a:p>
                  </a:txBody>
                  <a:tcPr marL="49447" marR="49447" marT="24724" marB="24724" anchor="ctr"/>
                </a:tc>
                <a:tc>
                  <a:txBody>
                    <a:bodyPr/>
                    <a:lstStyle/>
                    <a:p>
                      <a:pPr>
                        <a:buNone/>
                      </a:pPr>
                      <a:r>
                        <a:rPr lang="en-IN" sz="1000"/>
                        <a:t>National ID</a:t>
                      </a:r>
                    </a:p>
                  </a:txBody>
                  <a:tcPr marL="49447" marR="49447" marT="24724" marB="24724" anchor="ctr"/>
                </a:tc>
                <a:tc>
                  <a:txBody>
                    <a:bodyPr/>
                    <a:lstStyle/>
                    <a:p>
                      <a:pPr>
                        <a:buNone/>
                      </a:pPr>
                      <a:r>
                        <a:rPr lang="en-US" sz="1000"/>
                        <a:t>Unauthorized access to biometric and demographic data</a:t>
                      </a:r>
                    </a:p>
                  </a:txBody>
                  <a:tcPr marL="49447" marR="49447" marT="24724" marB="24724" anchor="ctr"/>
                </a:tc>
                <a:tc>
                  <a:txBody>
                    <a:bodyPr/>
                    <a:lstStyle/>
                    <a:p>
                      <a:pPr>
                        <a:buNone/>
                      </a:pPr>
                      <a:r>
                        <a:rPr lang="en-US" sz="1000" dirty="0"/>
                        <a:t>Millions exposed, national security concerns</a:t>
                      </a:r>
                    </a:p>
                  </a:txBody>
                  <a:tcPr marL="49447" marR="49447" marT="24724" marB="24724" anchor="ctr"/>
                </a:tc>
                <a:extLst>
                  <a:ext uri="{0D108BD9-81ED-4DB2-BD59-A6C34878D82A}">
                    <a16:rowId xmlns:a16="http://schemas.microsoft.com/office/drawing/2014/main" val="4109080931"/>
                  </a:ext>
                </a:extLst>
              </a:tr>
            </a:tbl>
          </a:graphicData>
        </a:graphic>
      </p:graphicFrame>
      <p:pic>
        <p:nvPicPr>
          <p:cNvPr id="3084" name="Picture 12" descr="undefined">
            <a:extLst>
              <a:ext uri="{FF2B5EF4-FFF2-40B4-BE49-F238E27FC236}">
                <a16:creationId xmlns:a16="http://schemas.microsoft.com/office/drawing/2014/main" id="{A271C491-8E8C-9CA5-E4E3-014189BDBB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198" y="1489496"/>
            <a:ext cx="522746" cy="504527"/>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a:extLst>
              <a:ext uri="{FF2B5EF4-FFF2-40B4-BE49-F238E27FC236}">
                <a16:creationId xmlns:a16="http://schemas.microsoft.com/office/drawing/2014/main" id="{3872F0B9-48BD-3B08-2392-A65721DB0A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8841" y="2133340"/>
            <a:ext cx="696103" cy="391558"/>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a:extLst>
              <a:ext uri="{FF2B5EF4-FFF2-40B4-BE49-F238E27FC236}">
                <a16:creationId xmlns:a16="http://schemas.microsoft.com/office/drawing/2014/main" id="{0C16CEDC-42A8-D19F-55DA-8782FE4F4BF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7367" t="22837" r="25732" b="35633"/>
          <a:stretch>
            <a:fillRect/>
          </a:stretch>
        </p:blipFill>
        <p:spPr bwMode="auto">
          <a:xfrm>
            <a:off x="6515817" y="2585183"/>
            <a:ext cx="1088872" cy="504527"/>
          </a:xfrm>
          <a:prstGeom prst="rect">
            <a:avLst/>
          </a:prstGeom>
          <a:noFill/>
          <a:extLst>
            <a:ext uri="{909E8E84-426E-40DD-AFC4-6F175D3DCCD1}">
              <a14:hiddenFill xmlns:a14="http://schemas.microsoft.com/office/drawing/2010/main">
                <a:solidFill>
                  <a:srgbClr val="FFFFFF"/>
                </a:solidFill>
              </a14:hiddenFill>
            </a:ext>
          </a:extLst>
        </p:spPr>
      </p:pic>
      <p:pic>
        <p:nvPicPr>
          <p:cNvPr id="3090" name="Picture 18">
            <a:extLst>
              <a:ext uri="{FF2B5EF4-FFF2-40B4-BE49-F238E27FC236}">
                <a16:creationId xmlns:a16="http://schemas.microsoft.com/office/drawing/2014/main" id="{2BAFDD51-71CD-BC7B-04EF-3D06923CAEA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6053" t="33732" b="30799"/>
          <a:stretch>
            <a:fillRect/>
          </a:stretch>
        </p:blipFill>
        <p:spPr bwMode="auto">
          <a:xfrm>
            <a:off x="6559070" y="3314968"/>
            <a:ext cx="1431747" cy="304062"/>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a:extLst>
              <a:ext uri="{FF2B5EF4-FFF2-40B4-BE49-F238E27FC236}">
                <a16:creationId xmlns:a16="http://schemas.microsoft.com/office/drawing/2014/main" id="{D13A2D0C-C49C-FE51-0B97-3BC69E4E684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78841" y="3646347"/>
            <a:ext cx="526348" cy="526348"/>
          </a:xfrm>
          <a:prstGeom prst="rect">
            <a:avLst/>
          </a:prstGeom>
          <a:noFill/>
          <a:extLst>
            <a:ext uri="{909E8E84-426E-40DD-AFC4-6F175D3DCCD1}">
              <a14:hiddenFill xmlns:a14="http://schemas.microsoft.com/office/drawing/2010/main">
                <a:solidFill>
                  <a:srgbClr val="FFFFFF"/>
                </a:solidFill>
              </a14:hiddenFill>
            </a:ext>
          </a:extLst>
        </p:spPr>
      </p:pic>
      <p:pic>
        <p:nvPicPr>
          <p:cNvPr id="3096" name="Picture 24">
            <a:extLst>
              <a:ext uri="{FF2B5EF4-FFF2-40B4-BE49-F238E27FC236}">
                <a16:creationId xmlns:a16="http://schemas.microsoft.com/office/drawing/2014/main" id="{A4BD77A0-936F-F694-4FD7-023B8F1230D5}"/>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38336" b="37323"/>
          <a:stretch>
            <a:fillRect/>
          </a:stretch>
        </p:blipFill>
        <p:spPr bwMode="auto">
          <a:xfrm>
            <a:off x="6578841" y="5017569"/>
            <a:ext cx="1714500" cy="417321"/>
          </a:xfrm>
          <a:prstGeom prst="rect">
            <a:avLst/>
          </a:prstGeom>
          <a:noFill/>
          <a:extLst>
            <a:ext uri="{909E8E84-426E-40DD-AFC4-6F175D3DCCD1}">
              <a14:hiddenFill xmlns:a14="http://schemas.microsoft.com/office/drawing/2010/main">
                <a:solidFill>
                  <a:srgbClr val="FFFFFF"/>
                </a:solidFill>
              </a14:hiddenFill>
            </a:ext>
          </a:extLst>
        </p:spPr>
      </p:pic>
      <p:pic>
        <p:nvPicPr>
          <p:cNvPr id="3098" name="Picture 26" descr="The Secret History of the Google Logo">
            <a:extLst>
              <a:ext uri="{FF2B5EF4-FFF2-40B4-BE49-F238E27FC236}">
                <a16:creationId xmlns:a16="http://schemas.microsoft.com/office/drawing/2014/main" id="{B37DCE32-6BF3-376C-9BB8-AFD8EA521BF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78841" y="5434890"/>
            <a:ext cx="761331" cy="417322"/>
          </a:xfrm>
          <a:prstGeom prst="rect">
            <a:avLst/>
          </a:prstGeom>
          <a:noFill/>
          <a:extLst>
            <a:ext uri="{909E8E84-426E-40DD-AFC4-6F175D3DCCD1}">
              <a14:hiddenFill xmlns:a14="http://schemas.microsoft.com/office/drawing/2010/main">
                <a:solidFill>
                  <a:srgbClr val="FFFFFF"/>
                </a:solidFill>
              </a14:hiddenFill>
            </a:ext>
          </a:extLst>
        </p:spPr>
      </p:pic>
      <p:pic>
        <p:nvPicPr>
          <p:cNvPr id="3102" name="Picture 30" descr="Aadhaar - Wikipedia">
            <a:extLst>
              <a:ext uri="{FF2B5EF4-FFF2-40B4-BE49-F238E27FC236}">
                <a16:creationId xmlns:a16="http://schemas.microsoft.com/office/drawing/2014/main" id="{10230213-06D3-F098-725E-8D7E3C2450A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78840" y="5928623"/>
            <a:ext cx="761331" cy="489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4350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66548-9A7C-3E81-175C-CFD5681D39B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7141449-B6CE-D4E7-AC01-074EFB35F972}"/>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0B82A89C-96C1-F224-0855-B95E4650CCFF}"/>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598D50D6-14D8-5595-D1E7-582C4ADB9EA1}"/>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C3118C9E-ACC1-F830-AAFA-E1DE52F7ED77}"/>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Literature Review-I</a:t>
            </a:r>
          </a:p>
        </p:txBody>
      </p:sp>
      <p:graphicFrame>
        <p:nvGraphicFramePr>
          <p:cNvPr id="5" name="Table 4">
            <a:extLst>
              <a:ext uri="{FF2B5EF4-FFF2-40B4-BE49-F238E27FC236}">
                <a16:creationId xmlns:a16="http://schemas.microsoft.com/office/drawing/2014/main" id="{05C68A2B-7BF1-4937-0511-BF7EFC6D741E}"/>
              </a:ext>
            </a:extLst>
          </p:cNvPr>
          <p:cNvGraphicFramePr/>
          <p:nvPr>
            <p:extLst>
              <p:ext uri="{D42A27DB-BD31-4B8C-83A1-F6EECF244321}">
                <p14:modId xmlns:p14="http://schemas.microsoft.com/office/powerpoint/2010/main" val="2597514866"/>
              </p:ext>
            </p:extLst>
          </p:nvPr>
        </p:nvGraphicFramePr>
        <p:xfrm>
          <a:off x="119340" y="978289"/>
          <a:ext cx="11948400" cy="5852160"/>
        </p:xfrm>
        <a:graphic>
          <a:graphicData uri="http://schemas.openxmlformats.org/drawingml/2006/table">
            <a:tbl>
              <a:tblPr/>
              <a:tblGrid>
                <a:gridCol w="1968252">
                  <a:extLst>
                    <a:ext uri="{9D8B030D-6E8A-4147-A177-3AD203B41FA5}">
                      <a16:colId xmlns:a16="http://schemas.microsoft.com/office/drawing/2014/main" val="20000"/>
                    </a:ext>
                  </a:extLst>
                </a:gridCol>
                <a:gridCol w="2254370">
                  <a:extLst>
                    <a:ext uri="{9D8B030D-6E8A-4147-A177-3AD203B41FA5}">
                      <a16:colId xmlns:a16="http://schemas.microsoft.com/office/drawing/2014/main" val="20001"/>
                    </a:ext>
                  </a:extLst>
                </a:gridCol>
                <a:gridCol w="2139351">
                  <a:extLst>
                    <a:ext uri="{9D8B030D-6E8A-4147-A177-3AD203B41FA5}">
                      <a16:colId xmlns:a16="http://schemas.microsoft.com/office/drawing/2014/main" val="20002"/>
                    </a:ext>
                  </a:extLst>
                </a:gridCol>
                <a:gridCol w="2421147">
                  <a:extLst>
                    <a:ext uri="{9D8B030D-6E8A-4147-A177-3AD203B41FA5}">
                      <a16:colId xmlns:a16="http://schemas.microsoft.com/office/drawing/2014/main" val="20003"/>
                    </a:ext>
                  </a:extLst>
                </a:gridCol>
                <a:gridCol w="3165280">
                  <a:extLst>
                    <a:ext uri="{9D8B030D-6E8A-4147-A177-3AD203B41FA5}">
                      <a16:colId xmlns:a16="http://schemas.microsoft.com/office/drawing/2014/main" val="20004"/>
                    </a:ext>
                  </a:extLst>
                </a:gridCol>
              </a:tblGrid>
              <a:tr h="322560">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Publication details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Purpose</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Data </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Key findings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Limitations and reviews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extLst>
                  <a:ext uri="{0D108BD9-81ED-4DB2-BD59-A6C34878D82A}">
                    <a16:rowId xmlns:a16="http://schemas.microsoft.com/office/drawing/2014/main" val="10000"/>
                  </a:ext>
                </a:extLst>
              </a:tr>
              <a:tr h="23389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Machine Unlearning: SISA Training – 42nd IEEE Symposium on Security and Privacy, 2020.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Bourtoule</a:t>
                      </a:r>
                      <a:r>
                        <a:rPr lang="en-IN"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et al., 2020</a:t>
                      </a: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E6E6E6"/>
                    </a:solidFill>
                  </a:tcPr>
                </a:tc>
                <a:tc>
                  <a:txBody>
                    <a:bodyPr/>
                    <a:lstStyle/>
                    <a:p>
                      <a:pPr marL="216000" indent="-216000">
                        <a:lnSpc>
                          <a:spcPct val="100000"/>
                        </a:lnSpc>
                        <a:buClr>
                          <a:srgbClr val="000000"/>
                        </a:buClr>
                        <a:buSzPct val="45000"/>
                        <a:buFont typeface="Wingdings" charset="2"/>
                        <a:buChar char=""/>
                      </a:pPr>
                      <a:r>
                        <a:rPr lang="en-US" sz="1400" dirty="0"/>
                        <a:t>To design a practical framework (Sharded, Isolated, Sliced, Aggregated – SISA) that enables efficient machine unlearning while reducing computational overhead compared to retraining from scratch.</a:t>
                      </a:r>
                      <a:endParaRPr lang="en-IN" sz="14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E6E6E6"/>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dirty="0"/>
                        <a:t>Purchase, SVHN, ImageNet; </a:t>
                      </a: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E6E6E6"/>
                    </a:solidFill>
                  </a:tcPr>
                </a:tc>
                <a:tc>
                  <a:txBody>
                    <a:bodyPr/>
                    <a:lstStyle/>
                    <a:p>
                      <a:pPr marL="285750" indent="-285750">
                        <a:buFont typeface="Arial" panose="020B0604020202020204" pitchFamily="34" charset="0"/>
                        <a:buChar char="•"/>
                      </a:pPr>
                      <a:r>
                        <a:rPr lang="en-US" sz="1400" dirty="0"/>
                        <a:t> 4.63× speed-up on Purchase dataset, 2.45× on SVHN. </a:t>
                      </a:r>
                    </a:p>
                    <a:p>
                      <a:pPr marL="285750" indent="-285750">
                        <a:buFont typeface="Arial" panose="020B0604020202020204" pitchFamily="34" charset="0"/>
                        <a:buChar char="•"/>
                      </a:pPr>
                      <a:r>
                        <a:rPr lang="en-US" sz="1400" dirty="0"/>
                        <a:t>1.36× speed-up on ImageNet with transfer learning. </a:t>
                      </a:r>
                    </a:p>
                    <a:p>
                      <a:pPr marL="285750" indent="-285750">
                        <a:buFont typeface="Arial" panose="020B0604020202020204" pitchFamily="34" charset="0"/>
                        <a:buChar char="•"/>
                      </a:pPr>
                      <a:r>
                        <a:rPr lang="en-US" sz="1400" dirty="0"/>
                        <a:t>Accuracy degradation ≤2% for simple tasks; larger drop (~19% top-5 accuracy) for complex tasks. </a:t>
                      </a:r>
                    </a:p>
                    <a:p>
                      <a:pPr marL="285750" indent="-285750">
                        <a:buFont typeface="Arial" panose="020B0604020202020204" pitchFamily="34" charset="0"/>
                        <a:buChar char="•"/>
                      </a:pPr>
                      <a:r>
                        <a:rPr lang="en-US" sz="1400" dirty="0"/>
                        <a:t>Sharding + slicing effective for sequential and batch unlearning requests.</a:t>
                      </a: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E6E6E6"/>
                    </a:solidFill>
                  </a:tcPr>
                </a:tc>
                <a:tc>
                  <a:txBody>
                    <a:bodyPr/>
                    <a:lstStyle/>
                    <a:p>
                      <a:pPr marL="285750" indent="-285750">
                        <a:buFont typeface="Arial" panose="020B0604020202020204" pitchFamily="34" charset="0"/>
                        <a:buChar char="•"/>
                      </a:pPr>
                      <a:r>
                        <a:rPr lang="en-US" sz="1400" dirty="0"/>
                        <a:t> </a:t>
                      </a:r>
                      <a:r>
                        <a:rPr lang="en-US" sz="1400" dirty="0">
                          <a:solidFill>
                            <a:srgbClr val="FF0000"/>
                          </a:solidFill>
                        </a:rPr>
                        <a:t>Accuracy trade-off </a:t>
                      </a:r>
                      <a:r>
                        <a:rPr lang="en-US" sz="1400" dirty="0"/>
                        <a:t>increases with complex tasks and higher shard counts. </a:t>
                      </a:r>
                    </a:p>
                    <a:p>
                      <a:pPr marL="285750" indent="-285750">
                        <a:buFont typeface="Arial" panose="020B0604020202020204" pitchFamily="34" charset="0"/>
                        <a:buChar char="•"/>
                      </a:pPr>
                      <a:r>
                        <a:rPr lang="en-US" sz="1400" dirty="0"/>
                        <a:t>Requires </a:t>
                      </a:r>
                      <a:r>
                        <a:rPr lang="en-US" sz="1400" dirty="0">
                          <a:solidFill>
                            <a:srgbClr val="FF0000"/>
                          </a:solidFill>
                        </a:rPr>
                        <a:t>additional storage </a:t>
                      </a:r>
                      <a:r>
                        <a:rPr lang="en-US" sz="1400" dirty="0"/>
                        <a:t>for slicing checkpoints. </a:t>
                      </a:r>
                    </a:p>
                    <a:p>
                      <a:pPr marL="285750" indent="-285750">
                        <a:buFont typeface="Arial" panose="020B0604020202020204" pitchFamily="34" charset="0"/>
                        <a:buChar char="•"/>
                      </a:pPr>
                      <a:r>
                        <a:rPr lang="en-US" sz="1400" dirty="0"/>
                        <a:t>Performance gains diminish if unlearning requests exceed ~3× number of shards. </a:t>
                      </a:r>
                    </a:p>
                    <a:p>
                      <a:pPr marL="285750" indent="-285750">
                        <a:buFont typeface="Arial" panose="020B0604020202020204" pitchFamily="34" charset="0"/>
                        <a:buChar char="•"/>
                      </a:pPr>
                      <a:r>
                        <a:rPr lang="en-US" sz="1400" dirty="0"/>
                        <a:t>Stronger guarantees than differential privacy, but still </a:t>
                      </a:r>
                      <a:r>
                        <a:rPr lang="en-US" sz="1400" dirty="0">
                          <a:solidFill>
                            <a:srgbClr val="FF0000"/>
                          </a:solidFill>
                        </a:rPr>
                        <a:t>challenging for very large foundational models</a:t>
                      </a:r>
                      <a:r>
                        <a:rPr lang="en-US" sz="1400" dirty="0"/>
                        <a:t>.</a:t>
                      </a: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E6E6E6"/>
                    </a:solidFill>
                  </a:tcPr>
                </a:tc>
                <a:extLst>
                  <a:ext uri="{0D108BD9-81ED-4DB2-BD59-A6C34878D82A}">
                    <a16:rowId xmlns:a16="http://schemas.microsoft.com/office/drawing/2014/main" val="10001"/>
                  </a:ext>
                </a:extLst>
              </a:tr>
              <a:tr h="2095200">
                <a:tc>
                  <a:txBody>
                    <a:bodyPr/>
                    <a:lstStyle/>
                    <a:p>
                      <a:r>
                        <a:rPr lang="en-IN" sz="1400" i="1" dirty="0"/>
                        <a:t>Membership Inference via Backdooring (MIB) – </a:t>
                      </a:r>
                      <a:r>
                        <a:rPr lang="en-IN" sz="1400" i="1" dirty="0" err="1"/>
                        <a:t>arXiv</a:t>
                      </a:r>
                      <a:r>
                        <a:rPr lang="en-IN" sz="1400" i="1" dirty="0"/>
                        <a:t> preprint, June 2022</a:t>
                      </a:r>
                    </a:p>
                    <a:p>
                      <a:r>
                        <a:rPr lang="en-IN" sz="1400" i="1" dirty="0"/>
                        <a:t>Hu et al., 2022</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16000" indent="-216000">
                        <a:lnSpc>
                          <a:spcPct val="100000"/>
                        </a:lnSpc>
                        <a:buClr>
                          <a:srgbClr val="000000"/>
                        </a:buClr>
                        <a:buSzPct val="45000"/>
                        <a:buFont typeface="Wingdings" charset="2"/>
                        <a:buChar char=""/>
                      </a:pPr>
                      <a:r>
                        <a:rPr lang="en-US" sz="1400" dirty="0"/>
                        <a:t>To enable data owners to detect whether their data was used to train a model without consent, using backdoor triggers and hypothesis testing as a membership inference mechanism.</a:t>
                      </a:r>
                      <a:endParaRPr lang="en-IN" sz="14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dirty="0"/>
                        <a:t>CIFAR-10, Location-30, Purchase-100. </a:t>
                      </a:r>
                      <a:endParaRPr lang="en-IN" sz="1400" b="0"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US" sz="1400" dirty="0"/>
                        <a:t>Effective membership inference with only </a:t>
                      </a:r>
                      <a:r>
                        <a:rPr lang="en-US" sz="1400" b="1" dirty="0"/>
                        <a:t>0.1% marked samples</a:t>
                      </a:r>
                      <a:r>
                        <a:rPr lang="en-US" sz="1400" dirty="0"/>
                        <a:t>. </a:t>
                      </a:r>
                    </a:p>
                    <a:p>
                      <a:pPr marL="285750" indent="-285750">
                        <a:buFont typeface="Arial" panose="020B0604020202020204" pitchFamily="34" charset="0"/>
                        <a:buChar char="•"/>
                      </a:pPr>
                      <a:r>
                        <a:rPr lang="en-US" sz="1400" dirty="0"/>
                        <a:t>Achieved high ASR (Attack Success Rate): 39.6% (CIFAR-10), 68.9% (Location-30), 87.2% (Purchase-100). </a:t>
                      </a:r>
                    </a:p>
                    <a:p>
                      <a:pPr marL="285750" indent="-285750">
                        <a:buFont typeface="Arial" panose="020B0604020202020204" pitchFamily="34" charset="0"/>
                        <a:buChar char="•"/>
                      </a:pPr>
                      <a:r>
                        <a:rPr lang="en-US" sz="1400" dirty="0"/>
                        <a:t>Requires only black-box access and ~30 queries for statistical guarantees.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US" sz="1400" dirty="0"/>
                        <a:t>Performance depends on trigger design (pattern, size, location). </a:t>
                      </a:r>
                    </a:p>
                    <a:p>
                      <a:pPr marL="285750" indent="-285750">
                        <a:buFont typeface="Arial" panose="020B0604020202020204" pitchFamily="34" charset="0"/>
                        <a:buChar char="•"/>
                      </a:pPr>
                      <a:r>
                        <a:rPr lang="en-US" sz="1400" dirty="0"/>
                        <a:t>Small triggers may fail to activate backdoors. </a:t>
                      </a:r>
                    </a:p>
                    <a:p>
                      <a:pPr marL="285750" indent="-285750">
                        <a:buFont typeface="Arial" panose="020B0604020202020204" pitchFamily="34" charset="0"/>
                        <a:buChar char="•"/>
                      </a:pPr>
                      <a:r>
                        <a:rPr lang="en-US" sz="1400" dirty="0"/>
                        <a:t>Assumes data owners can proactively mark data before release.</a:t>
                      </a:r>
                    </a:p>
                    <a:p>
                      <a:pPr marL="285750" indent="-285750">
                        <a:buFont typeface="Arial" panose="020B0604020202020204" pitchFamily="34" charset="0"/>
                        <a:buChar char="•"/>
                      </a:pPr>
                      <a:r>
                        <a:rPr lang="en-US" sz="1400" dirty="0">
                          <a:solidFill>
                            <a:schemeClr val="tx1"/>
                          </a:solidFill>
                        </a:rPr>
                        <a:t>Focused on classification tasks</a:t>
                      </a:r>
                      <a:r>
                        <a:rPr lang="en-US" sz="1400" dirty="0"/>
                        <a:t>; </a:t>
                      </a:r>
                      <a:r>
                        <a:rPr lang="en-US" sz="1400" dirty="0">
                          <a:solidFill>
                            <a:srgbClr val="FF0000"/>
                          </a:solidFill>
                        </a:rPr>
                        <a:t>extension to other ML domains remains open</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extLst>
                  <a:ext uri="{0D108BD9-81ED-4DB2-BD59-A6C34878D82A}">
                    <a16:rowId xmlns:a16="http://schemas.microsoft.com/office/drawing/2014/main" val="10002"/>
                  </a:ext>
                </a:extLst>
              </a:tr>
            </a:tbl>
          </a:graphicData>
        </a:graphic>
      </p:graphicFrame>
      <p:sp>
        <p:nvSpPr>
          <p:cNvPr id="6" name="Slide Number Placeholder 5">
            <a:extLst>
              <a:ext uri="{FF2B5EF4-FFF2-40B4-BE49-F238E27FC236}">
                <a16:creationId xmlns:a16="http://schemas.microsoft.com/office/drawing/2014/main" id="{D51A1968-18F7-6FCA-BBD2-C746C2C556FB}"/>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8</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0337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A1C42-6DC9-149D-94CB-EBFF1549EE6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E5C07BA-05F5-A6F0-6127-A210498D8ADC}"/>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B14A906A-8595-383D-E31F-8ADB1CB009BD}"/>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3752F27A-E3C9-A833-517C-F948062EE0C6}"/>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5EE241DF-20F9-8208-FD4D-DE2F42D1ACBB}"/>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Literature Review-II</a:t>
            </a:r>
          </a:p>
        </p:txBody>
      </p:sp>
      <p:graphicFrame>
        <p:nvGraphicFramePr>
          <p:cNvPr id="3" name="Table 2">
            <a:extLst>
              <a:ext uri="{FF2B5EF4-FFF2-40B4-BE49-F238E27FC236}">
                <a16:creationId xmlns:a16="http://schemas.microsoft.com/office/drawing/2014/main" id="{D566ABC9-AA0A-2BAE-D8E7-7F3F959FC61E}"/>
              </a:ext>
            </a:extLst>
          </p:cNvPr>
          <p:cNvGraphicFramePr/>
          <p:nvPr>
            <p:extLst>
              <p:ext uri="{D42A27DB-BD31-4B8C-83A1-F6EECF244321}">
                <p14:modId xmlns:p14="http://schemas.microsoft.com/office/powerpoint/2010/main" val="3129762048"/>
              </p:ext>
            </p:extLst>
          </p:nvPr>
        </p:nvGraphicFramePr>
        <p:xfrm>
          <a:off x="119340" y="983807"/>
          <a:ext cx="11948400" cy="5090160"/>
        </p:xfrm>
        <a:graphic>
          <a:graphicData uri="http://schemas.openxmlformats.org/drawingml/2006/table">
            <a:tbl>
              <a:tblPr/>
              <a:tblGrid>
                <a:gridCol w="1887739">
                  <a:extLst>
                    <a:ext uri="{9D8B030D-6E8A-4147-A177-3AD203B41FA5}">
                      <a16:colId xmlns:a16="http://schemas.microsoft.com/office/drawing/2014/main" val="20000"/>
                    </a:ext>
                  </a:extLst>
                </a:gridCol>
                <a:gridCol w="2150853">
                  <a:extLst>
                    <a:ext uri="{9D8B030D-6E8A-4147-A177-3AD203B41FA5}">
                      <a16:colId xmlns:a16="http://schemas.microsoft.com/office/drawing/2014/main" val="20001"/>
                    </a:ext>
                  </a:extLst>
                </a:gridCol>
                <a:gridCol w="1535502">
                  <a:extLst>
                    <a:ext uri="{9D8B030D-6E8A-4147-A177-3AD203B41FA5}">
                      <a16:colId xmlns:a16="http://schemas.microsoft.com/office/drawing/2014/main" val="20002"/>
                    </a:ext>
                  </a:extLst>
                </a:gridCol>
                <a:gridCol w="2721026">
                  <a:extLst>
                    <a:ext uri="{9D8B030D-6E8A-4147-A177-3AD203B41FA5}">
                      <a16:colId xmlns:a16="http://schemas.microsoft.com/office/drawing/2014/main" val="20003"/>
                    </a:ext>
                  </a:extLst>
                </a:gridCol>
                <a:gridCol w="3653280">
                  <a:extLst>
                    <a:ext uri="{9D8B030D-6E8A-4147-A177-3AD203B41FA5}">
                      <a16:colId xmlns:a16="http://schemas.microsoft.com/office/drawing/2014/main" val="20004"/>
                    </a:ext>
                  </a:extLst>
                </a:gridCol>
              </a:tblGrid>
              <a:tr h="322560">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Publication details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Purpose</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Data </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Key findings</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Limitations and reviews</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932508">
                <a:tc>
                  <a:txBody>
                    <a:bodyPr/>
                    <a:lstStyle/>
                    <a:p>
                      <a:r>
                        <a:rPr lang="en-IN" sz="1200" i="1" dirty="0"/>
                        <a:t>Game-Theoretic Machine Unlearning: Mitigating Extra Privacy Leakage – </a:t>
                      </a:r>
                      <a:r>
                        <a:rPr lang="en-IN" sz="1200" i="1" dirty="0" err="1"/>
                        <a:t>arXiv</a:t>
                      </a:r>
                      <a:r>
                        <a:rPr lang="en-IN" sz="1200" i="1" dirty="0"/>
                        <a:t> preprint, Nov 2024. </a:t>
                      </a:r>
                    </a:p>
                    <a:p>
                      <a:r>
                        <a:rPr lang="en-IN" sz="1200" i="1" dirty="0"/>
                        <a:t>Liu et al.</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16000" indent="-216000">
                        <a:lnSpc>
                          <a:spcPct val="100000"/>
                        </a:lnSpc>
                        <a:buClr>
                          <a:srgbClr val="000000"/>
                        </a:buClr>
                        <a:buSzPct val="45000"/>
                        <a:buFont typeface="Wingdings" charset="2"/>
                        <a:buChar char=""/>
                      </a:pPr>
                      <a:r>
                        <a:rPr lang="en-US" sz="1200" dirty="0"/>
                        <a:t>To design a game-theoretic unlearning algorithm that balances utility (model performance) and privacy (mitigating leakage) by modeling the interaction between unlearning and privacy modules as a Stackelberg game.</a:t>
                      </a:r>
                      <a:endParaRPr lang="en-IN" sz="12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r>
                        <a:rPr lang="en-IN" sz="1200" b="0" i="0" u="none" strike="noStrike" kern="1200" baseline="0" dirty="0">
                          <a:solidFill>
                            <a:schemeClr val="tx1"/>
                          </a:solidFill>
                          <a:latin typeface="+mn-lt"/>
                          <a:ea typeface="+mn-ea"/>
                          <a:cs typeface="+mn-cs"/>
                        </a:rPr>
                        <a:t>Adult (MLP),</a:t>
                      </a:r>
                    </a:p>
                    <a:p>
                      <a:r>
                        <a:rPr lang="en-IN" sz="1200" b="0" i="0" u="none" strike="noStrike" kern="1200" baseline="0" dirty="0">
                          <a:solidFill>
                            <a:schemeClr val="tx1"/>
                          </a:solidFill>
                          <a:latin typeface="+mn-lt"/>
                          <a:ea typeface="+mn-ea"/>
                          <a:cs typeface="+mn-cs"/>
                        </a:rPr>
                        <a:t>MNIST (Resnet18),</a:t>
                      </a:r>
                    </a:p>
                    <a:p>
                      <a:r>
                        <a:rPr lang="en-IN" sz="1200" b="0" i="0" u="none" strike="noStrike" kern="1200" baseline="0" dirty="0">
                          <a:solidFill>
                            <a:schemeClr val="tx1"/>
                          </a:solidFill>
                          <a:latin typeface="+mn-lt"/>
                          <a:ea typeface="+mn-ea"/>
                          <a:cs typeface="+mn-cs"/>
                        </a:rPr>
                        <a:t>CIFAR10 (</a:t>
                      </a:r>
                      <a:r>
                        <a:rPr lang="en-IN" sz="1200" b="0" i="0" u="none" strike="noStrike" kern="1200" baseline="0" dirty="0" err="1">
                          <a:solidFill>
                            <a:schemeClr val="tx1"/>
                          </a:solidFill>
                          <a:latin typeface="+mn-lt"/>
                          <a:ea typeface="+mn-ea"/>
                          <a:cs typeface="+mn-cs"/>
                        </a:rPr>
                        <a:t>Densenet</a:t>
                      </a:r>
                      <a:r>
                        <a:rPr lang="en-IN" sz="1200" b="0" i="0" u="none" strike="noStrike" kern="1200" baseline="0" dirty="0">
                          <a:solidFill>
                            <a:schemeClr val="tx1"/>
                          </a:solidFill>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SVHN (</a:t>
                      </a:r>
                      <a:r>
                        <a:rPr lang="en-IN" sz="1200" b="0" i="0" u="none" strike="noStrike" kern="1200" baseline="0" dirty="0" err="1">
                          <a:solidFill>
                            <a:schemeClr val="tx1"/>
                          </a:solidFill>
                          <a:latin typeface="+mn-lt"/>
                          <a:ea typeface="+mn-ea"/>
                          <a:cs typeface="+mn-cs"/>
                        </a:rPr>
                        <a:t>Densenet</a:t>
                      </a:r>
                      <a:r>
                        <a:rPr lang="en-IN" sz="1200" b="0" i="0" u="none" strike="noStrike" kern="1200" baseline="0" dirty="0">
                          <a:solidFill>
                            <a:schemeClr val="tx1"/>
                          </a:solidFill>
                          <a:latin typeface="+mn-lt"/>
                          <a:ea typeface="+mn-ea"/>
                          <a:cs typeface="+mn-cs"/>
                        </a:rPr>
                        <a:t>)</a:t>
                      </a:r>
                    </a:p>
                    <a:p>
                      <a:endParaRPr lang="en-IN" sz="12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buFont typeface="Arial" panose="020B0604020202020204" pitchFamily="34" charset="0"/>
                        <a:buChar char="•"/>
                      </a:pPr>
                      <a:r>
                        <a:rPr lang="en-US" sz="1200" dirty="0"/>
                        <a:t>Introduced </a:t>
                      </a:r>
                      <a:r>
                        <a:rPr lang="en-US" sz="1200" b="1" dirty="0"/>
                        <a:t>privacy attack advantage</a:t>
                      </a:r>
                      <a:r>
                        <a:rPr lang="en-US" sz="1200" dirty="0"/>
                        <a:t> metric to quantify leakage.</a:t>
                      </a:r>
                    </a:p>
                    <a:p>
                      <a:pPr marL="285750" indent="-285750">
                        <a:buFont typeface="Arial" panose="020B0604020202020204" pitchFamily="34" charset="0"/>
                        <a:buChar char="•"/>
                      </a:pPr>
                      <a:r>
                        <a:rPr lang="en-US" sz="1200" dirty="0"/>
                        <a:t>Achieved unlearned models statistically similar to retrained ones. </a:t>
                      </a:r>
                    </a:p>
                    <a:p>
                      <a:pPr marL="285750" indent="-285750">
                        <a:buFont typeface="Arial" panose="020B0604020202020204" pitchFamily="34" charset="0"/>
                        <a:buChar char="•"/>
                      </a:pPr>
                      <a:r>
                        <a:rPr lang="en-US" sz="1200" dirty="0"/>
                        <a:t>Reduced membership inference attack success by aligning outputs of original vs. unlearned models. </a:t>
                      </a:r>
                    </a:p>
                    <a:p>
                      <a:pPr marL="285750" indent="-285750">
                        <a:buFont typeface="Arial" panose="020B0604020202020204" pitchFamily="34" charset="0"/>
                        <a:buChar char="•"/>
                      </a:pPr>
                      <a:r>
                        <a:rPr lang="en-US" sz="1200" dirty="0"/>
                        <a:t>Demonstrated equilibrium strategies between unlearning and privacy modules.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buFont typeface="Arial" panose="020B0604020202020204" pitchFamily="34" charset="0"/>
                        <a:buChar char="•"/>
                      </a:pPr>
                      <a:r>
                        <a:rPr lang="en-US" sz="1200" dirty="0"/>
                        <a:t>Relies on alternative retrained models, which may weaken performance compared to full retraining. </a:t>
                      </a:r>
                    </a:p>
                    <a:p>
                      <a:pPr marL="285750" indent="-285750">
                        <a:buFont typeface="Arial" panose="020B0604020202020204" pitchFamily="34" charset="0"/>
                        <a:buChar char="•"/>
                      </a:pPr>
                      <a:r>
                        <a:rPr lang="en-US" sz="1200" dirty="0"/>
                        <a:t>Additional complexity in modeling attacker-defender dynamics. </a:t>
                      </a:r>
                    </a:p>
                    <a:p>
                      <a:pPr marL="285750" indent="-285750">
                        <a:buFont typeface="Arial" panose="020B0604020202020204" pitchFamily="34" charset="0"/>
                        <a:buChar char="•"/>
                      </a:pPr>
                      <a:r>
                        <a:rPr lang="en-US" sz="1200" dirty="0"/>
                        <a:t>Focused on classification tasks; </a:t>
                      </a:r>
                      <a:r>
                        <a:rPr lang="en-US" sz="1200" dirty="0">
                          <a:solidFill>
                            <a:srgbClr val="FF0000"/>
                          </a:solidFill>
                        </a:rPr>
                        <a:t>extension to LLMs and federated settings remains open</a:t>
                      </a:r>
                      <a:r>
                        <a:rPr lang="en-US" sz="1200" dirty="0"/>
                        <a:t>. </a:t>
                      </a:r>
                    </a:p>
                    <a:p>
                      <a:pPr marL="285750" indent="-285750">
                        <a:buFont typeface="Arial" panose="020B0604020202020204" pitchFamily="34" charset="0"/>
                        <a:buChar char="•"/>
                      </a:pPr>
                      <a:r>
                        <a:rPr lang="en-US" sz="1200" dirty="0"/>
                        <a:t>Requires careful tuning of loss functions to avoid over-unlearning.</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extLst>
                  <a:ext uri="{0D108BD9-81ED-4DB2-BD59-A6C34878D82A}">
                    <a16:rowId xmlns:a16="http://schemas.microsoft.com/office/drawing/2014/main" val="10001"/>
                  </a:ext>
                </a:extLst>
              </a:tr>
              <a:tr h="2095200">
                <a:tc>
                  <a:txBody>
                    <a:bodyPr/>
                    <a:lstStyle/>
                    <a:p>
                      <a:r>
                        <a:rPr lang="en-IN" sz="1200" i="1" dirty="0" err="1"/>
                        <a:t>MLPro</a:t>
                      </a:r>
                      <a:r>
                        <a:rPr lang="en-IN" sz="1200" i="1" dirty="0"/>
                        <a:t>-GT: Game Theory and Dynamic Games </a:t>
                      </a:r>
                      <a:r>
                        <a:rPr lang="en-IN" sz="1200" i="1" dirty="0" err="1"/>
                        <a:t>Modeling</a:t>
                      </a:r>
                      <a:r>
                        <a:rPr lang="en-IN" sz="1200" i="1" dirty="0"/>
                        <a:t> in Python – </a:t>
                      </a:r>
                      <a:r>
                        <a:rPr lang="en-IN" sz="1200" i="1" dirty="0" err="1"/>
                        <a:t>SoftwareX</a:t>
                      </a:r>
                      <a:r>
                        <a:rPr lang="en-IN" sz="1200" i="1" dirty="0"/>
                        <a:t>, Vol. 28, 2024. </a:t>
                      </a:r>
                      <a:r>
                        <a:rPr lang="en-IN" sz="1200" i="1" dirty="0" err="1"/>
                        <a:t>Yuwono</a:t>
                      </a:r>
                      <a:r>
                        <a:rPr lang="en-IN" sz="1200" i="1" dirty="0"/>
                        <a:t> et al.</a:t>
                      </a:r>
                    </a:p>
                  </a:txBody>
                  <a:tcPr marL="90000" marR="90000">
                    <a:lnL w="10800">
                      <a:solidFill>
                        <a:srgbClr val="000000"/>
                      </a:solidFill>
                    </a:lnL>
                    <a:lnR w="10800">
                      <a:solidFill>
                        <a:srgbClr val="000000"/>
                      </a:solidFill>
                    </a:lnR>
                    <a:lnT w="10800" cap="flat" cmpd="sng" algn="ctr">
                      <a:solidFill>
                        <a:srgbClr val="000000"/>
                      </a:solidFill>
                      <a:prstDash val="solid"/>
                      <a:round/>
                      <a:headEnd type="none" w="med" len="med"/>
                      <a:tailEnd type="none" w="med" len="med"/>
                    </a:lnT>
                    <a:lnB w="10800">
                      <a:solidFill>
                        <a:srgbClr val="000000"/>
                      </a:solidFill>
                    </a:lnB>
                    <a:solidFill>
                      <a:srgbClr val="FFFFFF"/>
                    </a:solidFill>
                  </a:tcPr>
                </a:tc>
                <a:tc>
                  <a:txBody>
                    <a:bodyPr/>
                    <a:lstStyle/>
                    <a:p>
                      <a:pPr marL="216000" indent="-216000">
                        <a:lnSpc>
                          <a:spcPct val="100000"/>
                        </a:lnSpc>
                        <a:buClr>
                          <a:srgbClr val="000000"/>
                        </a:buClr>
                        <a:buSzPct val="45000"/>
                        <a:buFont typeface="Wingdings" charset="2"/>
                        <a:buChar char=""/>
                      </a:pPr>
                      <a:r>
                        <a:rPr lang="en-US" sz="1200" dirty="0"/>
                        <a:t>To provide a standardized, modular, and open-source Python framework for modeling both native and dynamic game theory, lowering entry barriers for students and enabling reproducible research.</a:t>
                      </a:r>
                      <a:endParaRPr lang="en-IN" sz="12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cap="flat" cmpd="sng" algn="ctr">
                      <a:solidFill>
                        <a:srgbClr val="000000"/>
                      </a:solidFill>
                      <a:prstDash val="solid"/>
                      <a:round/>
                      <a:headEnd type="none" w="med" len="med"/>
                      <a:tailEnd type="none" w="med" len="med"/>
                    </a:lnT>
                    <a:lnB w="10800">
                      <a:solidFill>
                        <a:srgbClr val="000000"/>
                      </a:solidFill>
                    </a:lnB>
                    <a:solidFill>
                      <a:srgbClr val="FFFFFF"/>
                    </a:solidFill>
                  </a:tcPr>
                </a:tc>
                <a:tc>
                  <a:txBody>
                    <a:bodyPr/>
                    <a:lstStyle/>
                    <a:p>
                      <a:pPr algn="just">
                        <a:lnSpc>
                          <a:spcPct val="100000"/>
                        </a:lnSpc>
                        <a:buNone/>
                      </a:pPr>
                      <a:r>
                        <a:rPr lang="en-IN" sz="1200" dirty="0" err="1"/>
                        <a:t>MLPro</a:t>
                      </a:r>
                      <a:r>
                        <a:rPr lang="en-IN" sz="1200" dirty="0"/>
                        <a:t> v1.9.0; Python-based; integrates with libraries like NumPy, Torch, SciPy, Matplotlib. Available via GitHub and </a:t>
                      </a:r>
                      <a:r>
                        <a:rPr lang="en-IN" sz="1200" dirty="0" err="1"/>
                        <a:t>PyPI</a:t>
                      </a:r>
                      <a:r>
                        <a:rPr lang="en-IN" sz="1200" dirty="0"/>
                        <a:t> under Apache-2.0 license.</a:t>
                      </a:r>
                      <a:endParaRPr lang="en-IN" sz="12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cap="flat" cmpd="sng" algn="ctr">
                      <a:solidFill>
                        <a:srgbClr val="000000"/>
                      </a:solidFill>
                      <a:prstDash val="solid"/>
                      <a:round/>
                      <a:headEnd type="none" w="med" len="med"/>
                      <a:tailEnd type="none" w="med" len="med"/>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IN" sz="1200" dirty="0"/>
                        <a:t>-First framework to support </a:t>
                      </a:r>
                      <a:r>
                        <a:rPr lang="en-IN" sz="1200" b="1" dirty="0"/>
                        <a:t>dynamic games</a:t>
                      </a:r>
                      <a:r>
                        <a:rPr lang="en-IN" sz="1200" dirty="0"/>
                        <a:t> (e.g., Stackelberg, potential games). </a:t>
                      </a:r>
                    </a:p>
                    <a:p>
                      <a:pPr marL="285750" indent="-285750">
                        <a:buFont typeface="Arial" panose="020B0604020202020204" pitchFamily="34" charset="0"/>
                        <a:buChar char="•"/>
                      </a:pPr>
                      <a:r>
                        <a:rPr lang="en-IN" sz="1200" dirty="0"/>
                        <a:t>Offers standardized templates for GT components (players, payoffs, solvers). </a:t>
                      </a:r>
                    </a:p>
                    <a:p>
                      <a:pPr marL="285750" indent="-285750">
                        <a:buFont typeface="Arial" panose="020B0604020202020204" pitchFamily="34" charset="0"/>
                        <a:buChar char="•"/>
                      </a:pPr>
                      <a:r>
                        <a:rPr lang="en-IN" sz="1200" dirty="0"/>
                        <a:t>Enables integration with reinforcement learning and industrial control systems.</a:t>
                      </a:r>
                    </a:p>
                    <a:p>
                      <a:pPr marL="285750" indent="-285750">
                        <a:buFont typeface="Arial" panose="020B0604020202020204" pitchFamily="34" charset="0"/>
                        <a:buChar char="•"/>
                      </a:pPr>
                      <a:r>
                        <a:rPr lang="en-IN" sz="1200" dirty="0"/>
                        <a:t>Validated through examples like Prisoner’s Dilemma, Rock-Paper-Scissors, supply-demand, and routing problems.</a:t>
                      </a:r>
                    </a:p>
                  </a:txBody>
                  <a:tcPr marL="90000" marR="90000">
                    <a:lnL w="10800">
                      <a:solidFill>
                        <a:srgbClr val="000000"/>
                      </a:solidFill>
                    </a:lnL>
                    <a:lnR w="10800">
                      <a:solidFill>
                        <a:srgbClr val="000000"/>
                      </a:solidFill>
                    </a:lnR>
                    <a:lnT w="10800" cap="flat" cmpd="sng" algn="ctr">
                      <a:solidFill>
                        <a:srgbClr val="000000"/>
                      </a:solidFill>
                      <a:prstDash val="solid"/>
                      <a:round/>
                      <a:headEnd type="none" w="med" len="med"/>
                      <a:tailEnd type="none" w="med" len="med"/>
                    </a:lnT>
                    <a:lnB w="10800">
                      <a:solidFill>
                        <a:srgbClr val="000000"/>
                      </a:solidFill>
                    </a:lnB>
                    <a:solidFill>
                      <a:srgbClr val="FFFFFF"/>
                    </a:solidFill>
                  </a:tcPr>
                </a:tc>
                <a:tc>
                  <a:txBody>
                    <a:bodyPr/>
                    <a:lstStyle/>
                    <a:p>
                      <a:pPr marL="171450" indent="-171450">
                        <a:buFont typeface="Arial" panose="020B0604020202020204" pitchFamily="34" charset="0"/>
                        <a:buChar char="•"/>
                      </a:pPr>
                      <a:r>
                        <a:rPr lang="en-US" sz="1200" dirty="0">
                          <a:solidFill>
                            <a:srgbClr val="FF0000"/>
                          </a:solidFill>
                        </a:rPr>
                        <a:t>Still evolving</a:t>
                      </a:r>
                      <a:r>
                        <a:rPr lang="en-US" sz="1200" dirty="0"/>
                        <a:t>; limited pool of prebuilt dynamic games compared to native GT. </a:t>
                      </a:r>
                    </a:p>
                    <a:p>
                      <a:pPr marL="171450" indent="-171450">
                        <a:buFont typeface="Arial" panose="020B0604020202020204" pitchFamily="34" charset="0"/>
                        <a:buChar char="•"/>
                      </a:pPr>
                      <a:r>
                        <a:rPr lang="en-US" sz="1200" dirty="0"/>
                        <a:t>Requires familiarity with </a:t>
                      </a:r>
                      <a:r>
                        <a:rPr lang="en-US" sz="1200" dirty="0" err="1"/>
                        <a:t>MLPro</a:t>
                      </a:r>
                      <a:r>
                        <a:rPr lang="en-US" sz="1200" dirty="0"/>
                        <a:t> ecosystem. </a:t>
                      </a:r>
                    </a:p>
                    <a:p>
                      <a:pPr marL="171450" indent="-171450">
                        <a:buFont typeface="Arial" panose="020B0604020202020204" pitchFamily="34" charset="0"/>
                        <a:buChar char="•"/>
                      </a:pPr>
                      <a:r>
                        <a:rPr lang="en-US" sz="1200" dirty="0"/>
                        <a:t>Future work aims to expand third-party integration (e.g., </a:t>
                      </a:r>
                      <a:r>
                        <a:rPr lang="en-US" sz="1200" dirty="0" err="1"/>
                        <a:t>NashPy</a:t>
                      </a:r>
                      <a:r>
                        <a:rPr lang="en-US" sz="1200" dirty="0"/>
                        <a:t>) and </a:t>
                      </a:r>
                      <a:r>
                        <a:rPr lang="en-US" sz="1200" dirty="0">
                          <a:solidFill>
                            <a:srgbClr val="FF0000"/>
                          </a:solidFill>
                        </a:rPr>
                        <a:t>add more solvers/game types.</a:t>
                      </a:r>
                    </a:p>
                  </a:txBody>
                  <a:tcPr marL="90000" marR="90000">
                    <a:lnL w="10800">
                      <a:solidFill>
                        <a:srgbClr val="000000"/>
                      </a:solidFill>
                    </a:lnL>
                    <a:lnR w="10800">
                      <a:solidFill>
                        <a:srgbClr val="000000"/>
                      </a:solidFill>
                    </a:lnR>
                    <a:lnT w="10800" cap="flat" cmpd="sng" algn="ctr">
                      <a:solidFill>
                        <a:srgbClr val="000000"/>
                      </a:solidFill>
                      <a:prstDash val="solid"/>
                      <a:round/>
                      <a:headEnd type="none" w="med" len="med"/>
                      <a:tailEnd type="none" w="med" len="med"/>
                    </a:lnT>
                    <a:lnB w="10800">
                      <a:solidFill>
                        <a:srgbClr val="000000"/>
                      </a:solidFill>
                    </a:lnB>
                    <a:solidFill>
                      <a:srgbClr val="FFFFFF"/>
                    </a:solidFill>
                  </a:tcPr>
                </a:tc>
                <a:extLst>
                  <a:ext uri="{0D108BD9-81ED-4DB2-BD59-A6C34878D82A}">
                    <a16:rowId xmlns:a16="http://schemas.microsoft.com/office/drawing/2014/main" val="10002"/>
                  </a:ext>
                </a:extLst>
              </a:tr>
            </a:tbl>
          </a:graphicData>
        </a:graphic>
      </p:graphicFrame>
      <p:sp>
        <p:nvSpPr>
          <p:cNvPr id="4" name="Slide Number Placeholder 5">
            <a:extLst>
              <a:ext uri="{FF2B5EF4-FFF2-40B4-BE49-F238E27FC236}">
                <a16:creationId xmlns:a16="http://schemas.microsoft.com/office/drawing/2014/main" id="{A423A992-F3E4-14FE-627E-D251B4F4F569}"/>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9</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8029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1771-5F33-0B4D-855E-7CECBB03130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3101C39-EF09-33DF-1820-2D0E6B48FE2C}"/>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92B6325A-BF2C-7E7B-CA7A-1050CFCEDAC5}"/>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7EF22CAB-76F5-A1A0-8279-0D4DB602ED7E}"/>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91A7321D-FFB8-325C-833C-C7C49BF033E7}"/>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Literature Review-III</a:t>
            </a:r>
          </a:p>
        </p:txBody>
      </p:sp>
      <p:graphicFrame>
        <p:nvGraphicFramePr>
          <p:cNvPr id="3" name="Table 2">
            <a:extLst>
              <a:ext uri="{FF2B5EF4-FFF2-40B4-BE49-F238E27FC236}">
                <a16:creationId xmlns:a16="http://schemas.microsoft.com/office/drawing/2014/main" id="{F2F59EAB-AFAD-3207-CE64-11612F5F486A}"/>
              </a:ext>
            </a:extLst>
          </p:cNvPr>
          <p:cNvGraphicFramePr/>
          <p:nvPr>
            <p:extLst>
              <p:ext uri="{D42A27DB-BD31-4B8C-83A1-F6EECF244321}">
                <p14:modId xmlns:p14="http://schemas.microsoft.com/office/powerpoint/2010/main" val="775076922"/>
              </p:ext>
            </p:extLst>
          </p:nvPr>
        </p:nvGraphicFramePr>
        <p:xfrm>
          <a:off x="112542" y="978059"/>
          <a:ext cx="11955198" cy="5852160"/>
        </p:xfrm>
        <a:graphic>
          <a:graphicData uri="http://schemas.openxmlformats.org/drawingml/2006/table">
            <a:tbl>
              <a:tblPr/>
              <a:tblGrid>
                <a:gridCol w="2113158">
                  <a:extLst>
                    <a:ext uri="{9D8B030D-6E8A-4147-A177-3AD203B41FA5}">
                      <a16:colId xmlns:a16="http://schemas.microsoft.com/office/drawing/2014/main" val="20000"/>
                    </a:ext>
                  </a:extLst>
                </a:gridCol>
                <a:gridCol w="2333160">
                  <a:extLst>
                    <a:ext uri="{9D8B030D-6E8A-4147-A177-3AD203B41FA5}">
                      <a16:colId xmlns:a16="http://schemas.microsoft.com/office/drawing/2014/main" val="20001"/>
                    </a:ext>
                  </a:extLst>
                </a:gridCol>
                <a:gridCol w="1253160">
                  <a:extLst>
                    <a:ext uri="{9D8B030D-6E8A-4147-A177-3AD203B41FA5}">
                      <a16:colId xmlns:a16="http://schemas.microsoft.com/office/drawing/2014/main" val="20002"/>
                    </a:ext>
                  </a:extLst>
                </a:gridCol>
                <a:gridCol w="2602440">
                  <a:extLst>
                    <a:ext uri="{9D8B030D-6E8A-4147-A177-3AD203B41FA5}">
                      <a16:colId xmlns:a16="http://schemas.microsoft.com/office/drawing/2014/main" val="20003"/>
                    </a:ext>
                  </a:extLst>
                </a:gridCol>
                <a:gridCol w="3653280">
                  <a:extLst>
                    <a:ext uri="{9D8B030D-6E8A-4147-A177-3AD203B41FA5}">
                      <a16:colId xmlns:a16="http://schemas.microsoft.com/office/drawing/2014/main" val="20004"/>
                    </a:ext>
                  </a:extLst>
                </a:gridCol>
              </a:tblGrid>
              <a:tr h="322560">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Publication details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Purpose</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Data </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Key findings</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Limitations and reviews</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extLst>
                  <a:ext uri="{0D108BD9-81ED-4DB2-BD59-A6C34878D82A}">
                    <a16:rowId xmlns:a16="http://schemas.microsoft.com/office/drawing/2014/main" val="10000"/>
                  </a:ext>
                </a:extLst>
              </a:tr>
              <a:tr h="22160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Improving Data Utility Through Game Theory in Personalized Differential Privacy</a:t>
                      </a:r>
                      <a:b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br>
                      <a: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Journal of Computer Science and Technology, 2019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Cui et 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400" dirty="0">
                          <a:effectLst/>
                          <a:latin typeface="Times New Roman" panose="02020603050405020304" pitchFamily="18" charset="0"/>
                          <a:cs typeface="Times New Roman" panose="02020603050405020304" pitchFamily="18" charset="0"/>
                        </a:rPr>
                        <a:t>Proposed a personalized differential privacy model based on social distance; modeled user-adversary interaction as a static Bayesian game; derived Bayesian Nash equilibrium using modified Q-learning</a:t>
                      </a:r>
                    </a:p>
                    <a:p>
                      <a:pPr algn="l" fontAlgn="t">
                        <a:lnSpc>
                          <a:spcPct val="100000"/>
                        </a:lnSpc>
                      </a:pPr>
                      <a:endParaRPr lang="en-US" sz="1400" dirty="0">
                        <a:effectLst/>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400" dirty="0">
                          <a:latin typeface="Times New Roman" panose="02020603050405020304" pitchFamily="18" charset="0"/>
                          <a:cs typeface="Times New Roman" panose="02020603050405020304" pitchFamily="18" charset="0"/>
                        </a:rPr>
                        <a:t>Google+ social network dataset (4,000 nodes, 56,352 edges)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IN" sz="1400"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lgn="l"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Personalized privacy improves data utility</a:t>
                      </a:r>
                    </a:p>
                    <a:p>
                      <a:pPr marL="285750" indent="-285750" algn="l"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game-theoretic modeling enables optimized trade-off between privacy and utility</a:t>
                      </a:r>
                    </a:p>
                    <a:p>
                      <a:pPr marL="285750" indent="-285750" algn="l"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fast convergence achieved via cardinality reduction</a:t>
                      </a:r>
                    </a:p>
                    <a:p>
                      <a:pPr marL="216000" indent="-216000">
                        <a:lnSpc>
                          <a:spcPct val="100000"/>
                        </a:lnSpc>
                        <a:buClr>
                          <a:srgbClr val="000000"/>
                        </a:buClr>
                        <a:buSzPct val="45000"/>
                        <a:buFont typeface="Wingdings" charset="2"/>
                        <a:buChar char=""/>
                      </a:pPr>
                      <a:endParaRPr lang="en-IN" sz="14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buFont typeface="Arial" panose="020B0604020202020204" pitchFamily="34" charset="0"/>
                        <a:buChar char="•"/>
                      </a:pPr>
                      <a:r>
                        <a:rPr lang="en-IN" sz="1400" dirty="0"/>
                        <a:t>Assumes a trusted central authority for privacy budget management.</a:t>
                      </a:r>
                    </a:p>
                    <a:p>
                      <a:pPr marL="285750" indent="-285750">
                        <a:buFont typeface="Arial" panose="020B0604020202020204" pitchFamily="34" charset="0"/>
                        <a:buChar char="•"/>
                      </a:pPr>
                      <a:r>
                        <a:rPr lang="en-IN" sz="1400" dirty="0"/>
                        <a:t>Focused on social network scenarios; extension to IoT/ML requires adaptation. </a:t>
                      </a:r>
                    </a:p>
                    <a:p>
                      <a:pPr marL="285750" indent="-285750">
                        <a:buFont typeface="Arial" panose="020B0604020202020204" pitchFamily="34" charset="0"/>
                        <a:buChar char="•"/>
                      </a:pPr>
                      <a:r>
                        <a:rPr lang="en-IN" sz="1400" dirty="0">
                          <a:solidFill>
                            <a:schemeClr val="tx1"/>
                          </a:solidFill>
                        </a:rPr>
                        <a:t>Static </a:t>
                      </a:r>
                      <a:r>
                        <a:rPr lang="en-IN" sz="1400" dirty="0">
                          <a:solidFill>
                            <a:srgbClr val="FF0000"/>
                          </a:solidFill>
                        </a:rPr>
                        <a:t>Bayesian game may oversimplify dynamic adversarial </a:t>
                      </a:r>
                      <a:r>
                        <a:rPr lang="en-IN" sz="1400" dirty="0" err="1">
                          <a:solidFill>
                            <a:srgbClr val="FF0000"/>
                          </a:solidFill>
                        </a:rPr>
                        <a:t>behaviors</a:t>
                      </a:r>
                      <a:r>
                        <a:rPr lang="en-IN" sz="1400" dirty="0"/>
                        <a:t>.</a:t>
                      </a:r>
                    </a:p>
                    <a:p>
                      <a:pPr marL="285750" indent="-285750">
                        <a:buFont typeface="Arial" panose="020B0604020202020204" pitchFamily="34" charset="0"/>
                        <a:buChar char="•"/>
                      </a:pPr>
                      <a:r>
                        <a:rPr lang="en-IN" sz="1400" dirty="0"/>
                        <a:t>Cardinality reduction improves efficiency but may limit flexibility in complex multi-user settings.</a:t>
                      </a:r>
                    </a:p>
                    <a:p>
                      <a:pPr marL="216000" indent="-216000">
                        <a:lnSpc>
                          <a:spcPct val="100000"/>
                        </a:lnSpc>
                        <a:buClr>
                          <a:srgbClr val="000000"/>
                        </a:buClr>
                        <a:buSzPct val="45000"/>
                        <a:buFont typeface="Wingdings" charset="2"/>
                        <a:buChar char=""/>
                      </a:pPr>
                      <a:endParaRPr lang="en-IN" sz="1400" b="1" strike="noStrike" spc="-1" dirty="0">
                        <a:solidFill>
                          <a:srgbClr val="FF0000"/>
                        </a:solidFill>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extLst>
                  <a:ext uri="{0D108BD9-81ED-4DB2-BD59-A6C34878D82A}">
                    <a16:rowId xmlns:a16="http://schemas.microsoft.com/office/drawing/2014/main" val="10001"/>
                  </a:ext>
                </a:extLst>
              </a:tr>
              <a:tr h="2095200">
                <a:tc>
                  <a:txBody>
                    <a:bodyPr/>
                    <a:lstStyle/>
                    <a:p>
                      <a:r>
                        <a:rPr lang="en-US" sz="1400" i="1" dirty="0"/>
                        <a:t>Towards Making Systems Forget with Machine Unlearning – IEEE Symposium on Security and Privacy, 2015. </a:t>
                      </a:r>
                    </a:p>
                    <a:p>
                      <a:r>
                        <a:rPr lang="en-US" sz="1400" i="1" dirty="0"/>
                        <a:t>Cao et al.</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lgn="l" fontAlgn="t">
                        <a:lnSpc>
                          <a:spcPct val="100000"/>
                        </a:lnSpc>
                        <a:buFont typeface="Arial" panose="020B0604020202020204" pitchFamily="34" charset="0"/>
                        <a:buChar char="•"/>
                      </a:pPr>
                      <a:r>
                        <a:rPr lang="en-US" sz="1400" dirty="0"/>
                        <a:t>To design efficient mechanisms for systems to “forget” specific training data and its lineage, enabling privacy, security, and usability restoration without retraining from scratch.</a:t>
                      </a:r>
                      <a:endParaRPr lang="en-US" sz="1400" dirty="0">
                        <a:effectLst/>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0" indent="0">
                        <a:buFont typeface="Arial" panose="020B0604020202020204" pitchFamily="34" charset="0"/>
                        <a:buNone/>
                      </a:pPr>
                      <a:r>
                        <a:rPr lang="en-IN" sz="1400" dirty="0" err="1"/>
                        <a:t>LensKit</a:t>
                      </a:r>
                      <a:r>
                        <a:rPr lang="en-IN" sz="1400" dirty="0"/>
                        <a:t> (recommendation engine)</a:t>
                      </a:r>
                    </a:p>
                    <a:p>
                      <a:pPr marL="0" indent="0">
                        <a:buFont typeface="Arial" panose="020B0604020202020204" pitchFamily="34" charset="0"/>
                        <a:buNone/>
                      </a:pPr>
                      <a:r>
                        <a:rPr lang="en-IN" sz="1400" dirty="0" err="1"/>
                        <a:t>Zozzle</a:t>
                      </a:r>
                      <a:r>
                        <a:rPr lang="en-IN" sz="1400" dirty="0"/>
                        <a:t> (JavaScript malware detector) </a:t>
                      </a:r>
                      <a:br>
                        <a:rPr lang="en-IN" sz="1400" dirty="0"/>
                      </a:br>
                      <a:r>
                        <a:rPr lang="en-IN" sz="1400" dirty="0"/>
                        <a:t>- OSN</a:t>
                      </a:r>
                    </a:p>
                    <a:p>
                      <a:pPr marL="0" indent="0">
                        <a:buFont typeface="Arial" panose="020B0604020202020204" pitchFamily="34" charset="0"/>
                        <a:buNone/>
                      </a:pPr>
                      <a:r>
                        <a:rPr lang="en-IN" sz="1400" dirty="0"/>
                        <a:t>spam filter </a:t>
                      </a:r>
                      <a:br>
                        <a:rPr lang="en-IN" sz="1400" dirty="0"/>
                      </a:br>
                      <a:r>
                        <a:rPr lang="en-IN" sz="1400" dirty="0"/>
                        <a:t>- </a:t>
                      </a:r>
                      <a:r>
                        <a:rPr lang="en-IN" sz="1400" dirty="0" err="1"/>
                        <a:t>PJScan</a:t>
                      </a:r>
                      <a:r>
                        <a:rPr lang="en-IN" sz="1400" dirty="0"/>
                        <a:t> (PDF malware detector)</a:t>
                      </a:r>
                    </a:p>
                    <a:p>
                      <a:pPr algn="just">
                        <a:lnSpc>
                          <a:spcPct val="100000"/>
                        </a:lnSpc>
                        <a:buNone/>
                      </a:pPr>
                      <a:endParaRPr lang="en-IN" sz="14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US" sz="1400" dirty="0"/>
                        <a:t>Converted learning algorithms into </a:t>
                      </a:r>
                      <a:r>
                        <a:rPr lang="en-US" sz="1400" b="1" dirty="0"/>
                        <a:t>summation form</a:t>
                      </a:r>
                      <a:r>
                        <a:rPr lang="en-US" sz="1400" dirty="0"/>
                        <a:t> for efficient unlearning.</a:t>
                      </a:r>
                    </a:p>
                    <a:p>
                      <a:pPr marL="285750" indent="-285750">
                        <a:buFont typeface="Arial" panose="020B0604020202020204" pitchFamily="34" charset="0"/>
                        <a:buChar char="•"/>
                      </a:pPr>
                      <a:r>
                        <a:rPr lang="en-US" sz="1400" dirty="0"/>
                        <a:t>Achieved </a:t>
                      </a:r>
                      <a:r>
                        <a:rPr lang="en-US" sz="1400" b="1" dirty="0"/>
                        <a:t>huge speed-ups</a:t>
                      </a:r>
                      <a:r>
                        <a:rPr lang="en-US" sz="1400" dirty="0"/>
                        <a:t> (seconds vs. days) compared to retraining. </a:t>
                      </a:r>
                    </a:p>
                    <a:p>
                      <a:pPr marL="285750" indent="-285750">
                        <a:buFont typeface="Arial" panose="020B0604020202020204" pitchFamily="34" charset="0"/>
                        <a:buChar char="•"/>
                      </a:pPr>
                      <a:r>
                        <a:rPr lang="en-US" sz="1400" dirty="0"/>
                        <a:t>First efficient unlearning algorithms for </a:t>
                      </a:r>
                      <a:r>
                        <a:rPr lang="en-US" sz="1400" b="1" dirty="0"/>
                        <a:t>normalized cosine similarity</a:t>
                      </a:r>
                      <a:r>
                        <a:rPr lang="en-US" sz="1400" dirty="0"/>
                        <a:t> and </a:t>
                      </a:r>
                      <a:r>
                        <a:rPr lang="en-US" sz="1400" b="1" dirty="0"/>
                        <a:t>one-class SVM</a:t>
                      </a:r>
                      <a:r>
                        <a:rPr lang="en-US" sz="1400" dirty="0"/>
                        <a:t>. </a:t>
                      </a:r>
                    </a:p>
                    <a:p>
                      <a:pPr marL="285750" indent="-285750">
                        <a:buFont typeface="Arial" panose="020B0604020202020204" pitchFamily="34" charset="0"/>
                        <a:buChar char="•"/>
                      </a:pPr>
                      <a:r>
                        <a:rPr lang="en-US" sz="1400" dirty="0"/>
                        <a:t>Empirically prevented privacy and pollution attacks after unlearning. </a:t>
                      </a:r>
                    </a:p>
                    <a:p>
                      <a:pPr marL="285750" indent="-285750">
                        <a:buFont typeface="Arial" panose="020B0604020202020204" pitchFamily="34" charset="0"/>
                        <a:buChar char="•"/>
                      </a:pPr>
                      <a:r>
                        <a:rPr lang="en-US" sz="1400" dirty="0"/>
                        <a:t>Required minimal code changes (</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US" sz="1400" dirty="0"/>
                        <a:t>Works only for algorithms convertible to summation form (</a:t>
                      </a:r>
                      <a:r>
                        <a:rPr lang="en-US" sz="1400" dirty="0">
                          <a:solidFill>
                            <a:srgbClr val="FF0000"/>
                          </a:solidFill>
                        </a:rPr>
                        <a:t>not universally applicable</a:t>
                      </a:r>
                      <a:r>
                        <a:rPr lang="en-US" sz="1400" dirty="0"/>
                        <a:t>). </a:t>
                      </a:r>
                    </a:p>
                    <a:p>
                      <a:pPr marL="285750" indent="-285750">
                        <a:buFont typeface="Arial" panose="020B0604020202020204" pitchFamily="34" charset="0"/>
                        <a:buChar char="•"/>
                      </a:pPr>
                      <a:r>
                        <a:rPr lang="en-US" sz="1400" dirty="0"/>
                        <a:t>Completeness depends on representative test sets and randomness in training. </a:t>
                      </a:r>
                    </a:p>
                    <a:p>
                      <a:pPr marL="285750" indent="-285750">
                        <a:buFont typeface="Arial" panose="020B0604020202020204" pitchFamily="34" charset="0"/>
                        <a:buChar char="•"/>
                      </a:pPr>
                      <a:r>
                        <a:rPr lang="en-US" sz="1400" dirty="0"/>
                        <a:t>More effective when forgetting </a:t>
                      </a:r>
                      <a:r>
                        <a:rPr lang="en-US" sz="1400" dirty="0">
                          <a:solidFill>
                            <a:srgbClr val="FF0000"/>
                          </a:solidFill>
                        </a:rPr>
                        <a:t>small subsets of data</a:t>
                      </a:r>
                      <a:r>
                        <a:rPr lang="en-US" sz="1400" dirty="0"/>
                        <a:t>; retraining may be better for large deletions. </a:t>
                      </a:r>
                    </a:p>
                    <a:p>
                      <a:pPr marL="285750" indent="-285750">
                        <a:buFont typeface="Arial" panose="020B0604020202020204" pitchFamily="34" charset="0"/>
                        <a:buChar char="•"/>
                      </a:pPr>
                      <a:r>
                        <a:rPr lang="en-US" sz="1400" dirty="0">
                          <a:solidFill>
                            <a:srgbClr val="FF0000"/>
                          </a:solidFill>
                        </a:rPr>
                        <a:t>Early-stage framework</a:t>
                      </a:r>
                      <a:r>
                        <a:rPr lang="en-US" sz="1400" dirty="0"/>
                        <a:t>; later works (e.g., SISA, certified removal) extended scalability and guarantees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extLst>
                  <a:ext uri="{0D108BD9-81ED-4DB2-BD59-A6C34878D82A}">
                    <a16:rowId xmlns:a16="http://schemas.microsoft.com/office/drawing/2014/main" val="10002"/>
                  </a:ext>
                </a:extLst>
              </a:tr>
            </a:tbl>
          </a:graphicData>
        </a:graphic>
      </p:graphicFrame>
      <p:sp>
        <p:nvSpPr>
          <p:cNvPr id="4" name="Slide Number Placeholder 5">
            <a:extLst>
              <a:ext uri="{FF2B5EF4-FFF2-40B4-BE49-F238E27FC236}">
                <a16:creationId xmlns:a16="http://schemas.microsoft.com/office/drawing/2014/main" id="{5BFEC02C-C5B6-FD56-98B3-88E4E933B3CB}"/>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10</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5562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4D23B-3DED-F28F-6C8E-80AB91A9244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389F4DC-1EC9-9408-813F-3BC6D57ECCBF}"/>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AC8F540E-5684-4F22-B920-55CFA5B344BF}"/>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23F31202-2DCD-0CC0-5CD5-7BA7B5E0B586}"/>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9B0BD8AD-921E-CF1D-9523-A39B5F42AA91}"/>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Literature Review-IV</a:t>
            </a:r>
          </a:p>
        </p:txBody>
      </p:sp>
      <p:graphicFrame>
        <p:nvGraphicFramePr>
          <p:cNvPr id="3" name="Table 2">
            <a:extLst>
              <a:ext uri="{FF2B5EF4-FFF2-40B4-BE49-F238E27FC236}">
                <a16:creationId xmlns:a16="http://schemas.microsoft.com/office/drawing/2014/main" id="{38B43296-EB89-9AE3-E89E-2723AE1E204E}"/>
              </a:ext>
            </a:extLst>
          </p:cNvPr>
          <p:cNvGraphicFramePr/>
          <p:nvPr>
            <p:extLst>
              <p:ext uri="{D42A27DB-BD31-4B8C-83A1-F6EECF244321}">
                <p14:modId xmlns:p14="http://schemas.microsoft.com/office/powerpoint/2010/main" val="3172552829"/>
              </p:ext>
            </p:extLst>
          </p:nvPr>
        </p:nvGraphicFramePr>
        <p:xfrm>
          <a:off x="112542" y="978059"/>
          <a:ext cx="11955198" cy="5821680"/>
        </p:xfrm>
        <a:graphic>
          <a:graphicData uri="http://schemas.openxmlformats.org/drawingml/2006/table">
            <a:tbl>
              <a:tblPr/>
              <a:tblGrid>
                <a:gridCol w="2113158">
                  <a:extLst>
                    <a:ext uri="{9D8B030D-6E8A-4147-A177-3AD203B41FA5}">
                      <a16:colId xmlns:a16="http://schemas.microsoft.com/office/drawing/2014/main" val="20000"/>
                    </a:ext>
                  </a:extLst>
                </a:gridCol>
                <a:gridCol w="2333160">
                  <a:extLst>
                    <a:ext uri="{9D8B030D-6E8A-4147-A177-3AD203B41FA5}">
                      <a16:colId xmlns:a16="http://schemas.microsoft.com/office/drawing/2014/main" val="20001"/>
                    </a:ext>
                  </a:extLst>
                </a:gridCol>
                <a:gridCol w="1253160">
                  <a:extLst>
                    <a:ext uri="{9D8B030D-6E8A-4147-A177-3AD203B41FA5}">
                      <a16:colId xmlns:a16="http://schemas.microsoft.com/office/drawing/2014/main" val="20002"/>
                    </a:ext>
                  </a:extLst>
                </a:gridCol>
                <a:gridCol w="2602440">
                  <a:extLst>
                    <a:ext uri="{9D8B030D-6E8A-4147-A177-3AD203B41FA5}">
                      <a16:colId xmlns:a16="http://schemas.microsoft.com/office/drawing/2014/main" val="20003"/>
                    </a:ext>
                  </a:extLst>
                </a:gridCol>
                <a:gridCol w="3653280">
                  <a:extLst>
                    <a:ext uri="{9D8B030D-6E8A-4147-A177-3AD203B41FA5}">
                      <a16:colId xmlns:a16="http://schemas.microsoft.com/office/drawing/2014/main" val="20004"/>
                    </a:ext>
                  </a:extLst>
                </a:gridCol>
              </a:tblGrid>
              <a:tr h="322560">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Publication details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Purpose</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Data </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Key findings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Limitations and reviews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extLst>
                  <a:ext uri="{0D108BD9-81ED-4DB2-BD59-A6C34878D82A}">
                    <a16:rowId xmlns:a16="http://schemas.microsoft.com/office/drawing/2014/main" val="10000"/>
                  </a:ext>
                </a:extLst>
              </a:tr>
              <a:tr h="2216012">
                <a:tc>
                  <a:txBody>
                    <a:bodyPr/>
                    <a:lstStyle/>
                    <a:p>
                      <a:r>
                        <a:rPr lang="en-IN" sz="1400" i="1" dirty="0"/>
                        <a:t>Exploration–Exploitation in Multi-Agent Learning: Catastrophe Theory Meets Game Theory – </a:t>
                      </a:r>
                      <a:r>
                        <a:rPr lang="en-IN" sz="1400" i="1" dirty="0" err="1"/>
                        <a:t>arXiv</a:t>
                      </a:r>
                      <a:r>
                        <a:rPr lang="en-IN" sz="1400" i="1" dirty="0"/>
                        <a:t> preprint, Dec 2020. </a:t>
                      </a:r>
                    </a:p>
                    <a:p>
                      <a:r>
                        <a:rPr lang="en-IN" sz="1400" i="1" dirty="0"/>
                        <a:t>Leonardos et al.</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lgn="l"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Developed Smooth Q-Learning (SQL) dynamics and linked them to Quantal Response Equilibria (QRE); used catastrophe theory to analyze bifurcations in learning dynamics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dirty="0">
                          <a:effectLst/>
                          <a:latin typeface="Times New Roman" panose="02020603050405020304" pitchFamily="18" charset="0"/>
                          <a:cs typeface="Times New Roman" panose="02020603050405020304" pitchFamily="18" charset="0"/>
                        </a:rPr>
                        <a:t>Synthetic simulations of multi-agent games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IN" sz="1400"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lgn="l"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SQL converges to QRE with bounded regret; exploration can cause phase transitions with unpredictable outcomes; equilibrium selection is path-dependent and sensitive to exploration parameters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buFont typeface="Arial" panose="020B0604020202020204" pitchFamily="34" charset="0"/>
                        <a:buChar char="•"/>
                      </a:pPr>
                      <a:r>
                        <a:rPr lang="en-US" sz="1400" dirty="0"/>
                        <a:t>Highly sensitive to exploration parameter tuning; outcomes path-dependent.</a:t>
                      </a:r>
                    </a:p>
                    <a:p>
                      <a:pPr marL="285750" indent="-285750">
                        <a:buFont typeface="Arial" panose="020B0604020202020204" pitchFamily="34" charset="0"/>
                        <a:buChar char="•"/>
                      </a:pPr>
                      <a:r>
                        <a:rPr lang="en-US" sz="1400" dirty="0"/>
                        <a:t>Focused on stateless matrix and coordination games; </a:t>
                      </a:r>
                      <a:r>
                        <a:rPr lang="en-US" sz="1400" dirty="0">
                          <a:solidFill>
                            <a:srgbClr val="FF0000"/>
                          </a:solidFill>
                        </a:rPr>
                        <a:t>extension to complex dynamic environments remains open. </a:t>
                      </a:r>
                    </a:p>
                    <a:p>
                      <a:pPr marL="285750" indent="-285750">
                        <a:buFont typeface="Arial" panose="020B0604020202020204" pitchFamily="34" charset="0"/>
                        <a:buChar char="•"/>
                      </a:pPr>
                      <a:r>
                        <a:rPr lang="en-US" sz="1400" dirty="0"/>
                        <a:t>Exploration can destabilize equilibria, making performance unpredictable. </a:t>
                      </a:r>
                    </a:p>
                    <a:p>
                      <a:pPr marL="285750" indent="-285750">
                        <a:buFont typeface="Arial" panose="020B0604020202020204" pitchFamily="34" charset="0"/>
                        <a:buChar char="•"/>
                      </a:pPr>
                      <a:r>
                        <a:rPr lang="en-US" sz="1400" dirty="0"/>
                        <a:t>Provides theoretical insight but </a:t>
                      </a:r>
                      <a:r>
                        <a:rPr lang="en-US" sz="1400" dirty="0">
                          <a:solidFill>
                            <a:srgbClr val="FF0000"/>
                          </a:solidFill>
                        </a:rPr>
                        <a:t>limited empirical validation </a:t>
                      </a:r>
                      <a:r>
                        <a:rPr lang="en-US" sz="1400" dirty="0"/>
                        <a:t>in large-scale real-world systems.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extLst>
                  <a:ext uri="{0D108BD9-81ED-4DB2-BD59-A6C34878D82A}">
                    <a16:rowId xmlns:a16="http://schemas.microsoft.com/office/drawing/2014/main" val="10001"/>
                  </a:ext>
                </a:extLst>
              </a:tr>
              <a:tr h="2095200">
                <a:tc>
                  <a:txBody>
                    <a:bodyPr/>
                    <a:lstStyle/>
                    <a:p>
                      <a:r>
                        <a:rPr lang="en-IN" sz="1300" i="1" dirty="0"/>
                        <a:t>Certified Data Removal from Machine Learning Models – Proceedings of the 37th International Conference on Machine Learning (ICML), 2020. Guo et al.</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16000" marR="0" indent="-216000" algn="l" defTabSz="914400" rtl="0" eaLnBrk="1" fontAlgn="auto" latinLnBrk="0" hangingPunct="1">
                        <a:lnSpc>
                          <a:spcPct val="100000"/>
                        </a:lnSpc>
                        <a:spcBef>
                          <a:spcPts val="0"/>
                        </a:spcBef>
                        <a:spcAft>
                          <a:spcPts val="0"/>
                        </a:spcAft>
                        <a:buClr>
                          <a:srgbClr val="000000"/>
                        </a:buClr>
                        <a:buSzPct val="45000"/>
                        <a:buFont typeface="Wingdings" charset="2"/>
                        <a:buChar char=""/>
                        <a:tabLst/>
                        <a:defRPr/>
                      </a:pPr>
                      <a:r>
                        <a:rPr lang="en-US" sz="1300" b="0" strike="noStrike" spc="-1" dirty="0">
                          <a:latin typeface="Times New Roman" panose="02020603050405020304" pitchFamily="18" charset="0"/>
                          <a:cs typeface="Times New Roman" panose="02020603050405020304" pitchFamily="18" charset="0"/>
                        </a:rPr>
                        <a:t>To define and implement certified removal, a strong guarantee that deleted data cannot be distinguished from data never seen by the model, thereby protecting against membership inference attacks.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algn="just">
                        <a:lnSpc>
                          <a:spcPct val="100000"/>
                        </a:lnSpc>
                        <a:buNone/>
                      </a:pPr>
                      <a:r>
                        <a:rPr lang="en-US" sz="1300" b="0" strike="noStrike" spc="-1" dirty="0">
                          <a:latin typeface="Times New Roman" panose="02020603050405020304" pitchFamily="18" charset="0"/>
                          <a:cs typeface="Times New Roman" panose="02020603050405020304" pitchFamily="18" charset="0"/>
                        </a:rPr>
                        <a:t>MNIST, LSUN, SST, and SVHN.</a:t>
                      </a:r>
                    </a:p>
                    <a:p>
                      <a:pPr algn="just">
                        <a:lnSpc>
                          <a:spcPct val="100000"/>
                        </a:lnSpc>
                        <a:buNone/>
                      </a:pPr>
                      <a:endParaRPr lang="en-IN" sz="13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US" sz="1300" dirty="0"/>
                        <a:t>Introduced </a:t>
                      </a:r>
                      <a:r>
                        <a:rPr lang="en-US" sz="1300" b="1" dirty="0"/>
                        <a:t>Newton update mechanism</a:t>
                      </a:r>
                      <a:r>
                        <a:rPr lang="en-US" sz="1300" dirty="0"/>
                        <a:t> for efficient removal. </a:t>
                      </a:r>
                    </a:p>
                    <a:p>
                      <a:pPr marL="285750" indent="-285750">
                        <a:buFont typeface="Arial" panose="020B0604020202020204" pitchFamily="34" charset="0"/>
                        <a:buChar char="•"/>
                      </a:pPr>
                      <a:r>
                        <a:rPr lang="en-US" sz="1300" dirty="0"/>
                        <a:t>Achieved certified removal guarantees with added </a:t>
                      </a:r>
                      <a:r>
                        <a:rPr lang="en-US" sz="1300" b="1" dirty="0"/>
                        <a:t>loss perturbation</a:t>
                      </a:r>
                      <a:r>
                        <a:rPr lang="en-US" sz="1300" dirty="0"/>
                        <a:t>. </a:t>
                      </a:r>
                    </a:p>
                    <a:p>
                      <a:pPr marL="285750" indent="-285750">
                        <a:buFont typeface="Arial" panose="020B0604020202020204" pitchFamily="34" charset="0"/>
                        <a:buChar char="•"/>
                      </a:pPr>
                      <a:r>
                        <a:rPr lang="en-US" sz="1300" dirty="0"/>
                        <a:t>Removal is </a:t>
                      </a:r>
                      <a:r>
                        <a:rPr lang="en-US" sz="1300" b="1" dirty="0"/>
                        <a:t>orders of magnitude faster</a:t>
                      </a:r>
                      <a:r>
                        <a:rPr lang="en-US" sz="1300" dirty="0"/>
                        <a:t> than retraining (e.g., 0.04s vs. 15.6s on MNIST). </a:t>
                      </a:r>
                    </a:p>
                    <a:p>
                      <a:pPr marL="285750" indent="-285750">
                        <a:buFont typeface="Arial" panose="020B0604020202020204" pitchFamily="34" charset="0"/>
                        <a:buChar char="•"/>
                      </a:pPr>
                      <a:r>
                        <a:rPr lang="en-US" sz="1300" dirty="0"/>
                        <a:t>Supported multiple and batch removals with bounded residual errors.</a:t>
                      </a:r>
                    </a:p>
                    <a:p>
                      <a:pPr marL="285750" indent="-285750">
                        <a:buFont typeface="Arial" panose="020B0604020202020204" pitchFamily="34" charset="0"/>
                        <a:buChar char="•"/>
                      </a:pPr>
                      <a:r>
                        <a:rPr lang="en-US" sz="1300" dirty="0"/>
                        <a:t>Demonstrated practical feasibility for both linear and hybrid models.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US" sz="1300" dirty="0"/>
                        <a:t>Primarily applicable to linear models; </a:t>
                      </a:r>
                      <a:r>
                        <a:rPr lang="en-US" sz="1300" dirty="0">
                          <a:solidFill>
                            <a:srgbClr val="FF0000"/>
                          </a:solidFill>
                        </a:rPr>
                        <a:t>extension to deep networks </a:t>
                      </a:r>
                      <a:r>
                        <a:rPr lang="en-US" sz="1300" dirty="0"/>
                        <a:t>requires DP feature extractors. </a:t>
                      </a:r>
                    </a:p>
                    <a:p>
                      <a:pPr marL="285750" indent="-285750">
                        <a:buFont typeface="Arial" panose="020B0604020202020204" pitchFamily="34" charset="0"/>
                        <a:buChar char="•"/>
                      </a:pPr>
                      <a:r>
                        <a:rPr lang="en-US" sz="1300" dirty="0"/>
                        <a:t>Accuracy trade-offs due to perturbation and regularization. </a:t>
                      </a:r>
                    </a:p>
                    <a:p>
                      <a:pPr marL="285750" indent="-285750">
                        <a:buFont typeface="Arial" panose="020B0604020202020204" pitchFamily="34" charset="0"/>
                        <a:buChar char="•"/>
                      </a:pPr>
                      <a:r>
                        <a:rPr lang="en-US" sz="1300" dirty="0"/>
                        <a:t>Removal guarantees depend on tightness of gradient residual bounds. </a:t>
                      </a:r>
                    </a:p>
                    <a:p>
                      <a:pPr marL="285750" indent="-285750">
                        <a:buFont typeface="Arial" panose="020B0604020202020204" pitchFamily="34" charset="0"/>
                        <a:buChar char="•"/>
                      </a:pPr>
                      <a:r>
                        <a:rPr lang="en-US" sz="1300" dirty="0">
                          <a:solidFill>
                            <a:srgbClr val="FF0000"/>
                          </a:solidFill>
                        </a:rPr>
                        <a:t>Outlier data harder to remove </a:t>
                      </a:r>
                      <a:r>
                        <a:rPr lang="en-US" sz="1300" dirty="0"/>
                        <a:t>due to memorization effects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extLst>
                  <a:ext uri="{0D108BD9-81ED-4DB2-BD59-A6C34878D82A}">
                    <a16:rowId xmlns:a16="http://schemas.microsoft.com/office/drawing/2014/main" val="10002"/>
                  </a:ext>
                </a:extLst>
              </a:tr>
            </a:tbl>
          </a:graphicData>
        </a:graphic>
      </p:graphicFrame>
      <p:sp>
        <p:nvSpPr>
          <p:cNvPr id="4" name="Slide Number Placeholder 5">
            <a:extLst>
              <a:ext uri="{FF2B5EF4-FFF2-40B4-BE49-F238E27FC236}">
                <a16:creationId xmlns:a16="http://schemas.microsoft.com/office/drawing/2014/main" id="{0D8748B8-DD51-EA5E-4785-D55472B39471}"/>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11</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0450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F5AC6-9775-00E7-E59F-FFDE1907C3CD}"/>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739E2A3-0E55-D2AB-494E-F82719EFA2ED}"/>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EB72DDF4-7711-26F2-B567-B964BE3BF421}"/>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D1DF1602-81CF-BCD5-C504-3FE66815F04E}"/>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CD360D49-1A71-DB68-68B6-835B7683E99B}"/>
              </a:ext>
            </a:extLst>
          </p:cNvPr>
          <p:cNvSpPr txBox="1"/>
          <p:nvPr/>
        </p:nvSpPr>
        <p:spPr>
          <a:xfrm>
            <a:off x="718868" y="75117"/>
            <a:ext cx="10999519" cy="861774"/>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Literature Review-V </a:t>
            </a:r>
          </a:p>
          <a:p>
            <a:pPr algn="r"/>
            <a:r>
              <a:rPr lang="en-IN" b="1" dirty="0"/>
              <a:t>Game-Theoretic Machine Unlearning: Mitigating Extra Privacy Leakage</a:t>
            </a:r>
          </a:p>
        </p:txBody>
      </p:sp>
      <p:pic>
        <p:nvPicPr>
          <p:cNvPr id="16" name="Picture 15">
            <a:extLst>
              <a:ext uri="{FF2B5EF4-FFF2-40B4-BE49-F238E27FC236}">
                <a16:creationId xmlns:a16="http://schemas.microsoft.com/office/drawing/2014/main" id="{A762EBC6-5B13-359B-CB71-08D41DFD656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59057" y="995543"/>
            <a:ext cx="3972873" cy="5602992"/>
          </a:xfrm>
          <a:prstGeom prst="rect">
            <a:avLst/>
          </a:prstGeom>
          <a:noFill/>
          <a:ln>
            <a:noFill/>
          </a:ln>
        </p:spPr>
      </p:pic>
      <p:sp>
        <p:nvSpPr>
          <p:cNvPr id="6" name="TextBox 5">
            <a:extLst>
              <a:ext uri="{FF2B5EF4-FFF2-40B4-BE49-F238E27FC236}">
                <a16:creationId xmlns:a16="http://schemas.microsoft.com/office/drawing/2014/main" id="{2DA67437-98E4-852D-2880-30E5EA6D356C}"/>
              </a:ext>
            </a:extLst>
          </p:cNvPr>
          <p:cNvSpPr txBox="1"/>
          <p:nvPr/>
        </p:nvSpPr>
        <p:spPr>
          <a:xfrm>
            <a:off x="398870" y="1174139"/>
            <a:ext cx="6104626" cy="5816977"/>
          </a:xfrm>
          <a:prstGeom prst="rect">
            <a:avLst/>
          </a:prstGeom>
          <a:noFill/>
        </p:spPr>
        <p:txBody>
          <a:bodyPr wrap="square">
            <a:spAutoFit/>
          </a:bodyPr>
          <a:lstStyle/>
          <a:p>
            <a:pPr>
              <a:buFont typeface="+mj-lt"/>
              <a:buAutoNum type="arabicPeriod"/>
            </a:pPr>
            <a:r>
              <a:rPr lang="en-IN" sz="1200" b="1" dirty="0"/>
              <a:t>Problem Definition</a:t>
            </a:r>
            <a:endParaRPr lang="en-IN" sz="1200" dirty="0"/>
          </a:p>
          <a:p>
            <a:pPr marL="742950" lvl="1" indent="-285750">
              <a:buFont typeface="+mj-lt"/>
              <a:buAutoNum type="arabicPeriod"/>
            </a:pPr>
            <a:r>
              <a:rPr lang="en-IN" sz="1200" dirty="0"/>
              <a:t>Goal: Efficient unlearning without retraining.</a:t>
            </a:r>
          </a:p>
          <a:p>
            <a:pPr marL="742950" lvl="1" indent="-285750">
              <a:buFont typeface="+mj-lt"/>
              <a:buAutoNum type="arabicPeriod"/>
            </a:pPr>
            <a:r>
              <a:rPr lang="en-IN" sz="1200" dirty="0"/>
              <a:t>Challenge: Balance between </a:t>
            </a:r>
            <a:r>
              <a:rPr lang="en-IN" sz="1200" b="1" dirty="0"/>
              <a:t>utility</a:t>
            </a:r>
            <a:r>
              <a:rPr lang="en-IN" sz="1200" dirty="0"/>
              <a:t> (model accuracy) and </a:t>
            </a:r>
            <a:r>
              <a:rPr lang="en-IN" sz="1200" b="1" dirty="0"/>
              <a:t>privacy</a:t>
            </a:r>
            <a:r>
              <a:rPr lang="en-IN" sz="1200" dirty="0"/>
              <a:t> (prevent leakage via membership inference).</a:t>
            </a:r>
          </a:p>
          <a:p>
            <a:pPr>
              <a:buFont typeface="+mj-lt"/>
              <a:buAutoNum type="arabicPeriod"/>
            </a:pPr>
            <a:r>
              <a:rPr lang="en-IN" sz="1200" b="1" dirty="0"/>
              <a:t>Threat Model</a:t>
            </a:r>
            <a:endParaRPr lang="en-IN" sz="1200" dirty="0"/>
          </a:p>
          <a:p>
            <a:pPr marL="742950" lvl="1" indent="-285750">
              <a:buFont typeface="+mj-lt"/>
              <a:buAutoNum type="arabicPeriod"/>
            </a:pPr>
            <a:r>
              <a:rPr lang="en-IN" sz="1200" b="1" dirty="0"/>
              <a:t>Attacker:</a:t>
            </a:r>
            <a:r>
              <a:rPr lang="en-IN" sz="1200" dirty="0"/>
              <a:t> Black-box access to original and unlearned models; attempts membership inference.</a:t>
            </a:r>
          </a:p>
          <a:p>
            <a:pPr marL="742950" lvl="1" indent="-285750">
              <a:buFont typeface="+mj-lt"/>
              <a:buAutoNum type="arabicPeriod"/>
            </a:pPr>
            <a:r>
              <a:rPr lang="en-IN" sz="1200" b="1" dirty="0"/>
              <a:t>Defender (Model Provider):</a:t>
            </a:r>
            <a:r>
              <a:rPr lang="en-IN" sz="1200" dirty="0"/>
              <a:t> White-box access; aims to erase data influence and reduce leakage.</a:t>
            </a:r>
          </a:p>
          <a:p>
            <a:pPr>
              <a:buFont typeface="+mj-lt"/>
              <a:buAutoNum type="arabicPeriod"/>
            </a:pPr>
            <a:r>
              <a:rPr lang="en-IN" sz="1200" b="1" dirty="0"/>
              <a:t>Game-Theoretic Framework</a:t>
            </a:r>
            <a:endParaRPr lang="en-IN" sz="1200" dirty="0"/>
          </a:p>
          <a:p>
            <a:pPr marL="742950" lvl="1" indent="-285750">
              <a:buFont typeface="+mj-lt"/>
              <a:buAutoNum type="arabicPeriod"/>
            </a:pPr>
            <a:r>
              <a:rPr lang="en-IN" sz="1200" dirty="0"/>
              <a:t>Modelled as a </a:t>
            </a:r>
            <a:r>
              <a:rPr lang="en-IN" sz="1200" b="1" dirty="0"/>
              <a:t>Stackelberg game</a:t>
            </a:r>
            <a:r>
              <a:rPr lang="en-IN" sz="1200" dirty="0"/>
              <a:t> (leader–follower).</a:t>
            </a:r>
          </a:p>
          <a:p>
            <a:pPr marL="742950" lvl="1" indent="-285750">
              <a:buFont typeface="+mj-lt"/>
              <a:buAutoNum type="arabicPeriod"/>
            </a:pPr>
            <a:r>
              <a:rPr lang="en-IN" sz="1200" b="1" dirty="0"/>
              <a:t>Leader:</a:t>
            </a:r>
            <a:r>
              <a:rPr lang="en-IN" sz="1200" dirty="0"/>
              <a:t> Unlearning module (removes data, minimizes loss = model distance + classification error).</a:t>
            </a:r>
          </a:p>
          <a:p>
            <a:pPr marL="742950" lvl="1" indent="-285750">
              <a:buFont typeface="+mj-lt"/>
              <a:buAutoNum type="arabicPeriod"/>
            </a:pPr>
            <a:r>
              <a:rPr lang="en-IN" sz="1200" b="1" dirty="0"/>
              <a:t>Follower:</a:t>
            </a:r>
            <a:r>
              <a:rPr lang="en-IN" sz="1200" dirty="0"/>
              <a:t> Privacy module (responds to leader’s strategy, minimizes attacker’s privacy advantage).</a:t>
            </a:r>
          </a:p>
          <a:p>
            <a:pPr>
              <a:buFont typeface="+mj-lt"/>
              <a:buAutoNum type="arabicPeriod"/>
            </a:pPr>
            <a:r>
              <a:rPr lang="en-IN" sz="1200" b="1" dirty="0"/>
              <a:t>Unlearning Module</a:t>
            </a:r>
            <a:endParaRPr lang="en-IN" sz="1200" dirty="0"/>
          </a:p>
          <a:p>
            <a:pPr marL="742950" lvl="1" indent="-285750">
              <a:buFont typeface="+mj-lt"/>
              <a:buAutoNum type="arabicPeriod"/>
            </a:pPr>
            <a:r>
              <a:rPr lang="en-IN" sz="1200" dirty="0"/>
              <a:t>Uses an </a:t>
            </a:r>
            <a:r>
              <a:rPr lang="en-IN" sz="1200" b="1" dirty="0"/>
              <a:t>alternative retrained model</a:t>
            </a:r>
            <a:r>
              <a:rPr lang="en-IN" sz="1200" dirty="0"/>
              <a:t> (on subset of retain data).</a:t>
            </a:r>
          </a:p>
          <a:p>
            <a:pPr marL="742950" lvl="1" indent="-285750">
              <a:buFont typeface="+mj-lt"/>
              <a:buAutoNum type="arabicPeriod"/>
            </a:pPr>
            <a:r>
              <a:rPr lang="en-IN" sz="1200" dirty="0"/>
              <a:t>Loss function = </a:t>
            </a:r>
            <a:r>
              <a:rPr lang="en-IN" sz="1200" b="1" dirty="0"/>
              <a:t>distance (original vs. alternative model outputs)</a:t>
            </a:r>
            <a:r>
              <a:rPr lang="en-IN" sz="1200" dirty="0"/>
              <a:t> + </a:t>
            </a:r>
            <a:r>
              <a:rPr lang="en-IN" sz="1200" b="1" dirty="0"/>
              <a:t>classification error</a:t>
            </a:r>
            <a:r>
              <a:rPr lang="en-IN" sz="1200" dirty="0"/>
              <a:t>.</a:t>
            </a:r>
          </a:p>
          <a:p>
            <a:pPr marL="742950" lvl="1" indent="-285750">
              <a:buFont typeface="+mj-lt"/>
              <a:buAutoNum type="arabicPeriod"/>
            </a:pPr>
            <a:r>
              <a:rPr lang="en-IN" sz="1200" dirty="0"/>
              <a:t>Updates parameters iteratively to erase target data influence.</a:t>
            </a:r>
          </a:p>
          <a:p>
            <a:pPr>
              <a:buFont typeface="+mj-lt"/>
              <a:buAutoNum type="arabicPeriod"/>
            </a:pPr>
            <a:r>
              <a:rPr lang="en-IN" sz="1200" b="1" dirty="0"/>
              <a:t>Privacy Module</a:t>
            </a:r>
            <a:endParaRPr lang="en-IN" sz="1200" dirty="0"/>
          </a:p>
          <a:p>
            <a:pPr marL="742950" lvl="1" indent="-285750">
              <a:buFont typeface="+mj-lt"/>
              <a:buAutoNum type="arabicPeriod"/>
            </a:pPr>
            <a:r>
              <a:rPr lang="en-IN" sz="1200" dirty="0"/>
              <a:t>Trains a </a:t>
            </a:r>
            <a:r>
              <a:rPr lang="en-IN" sz="1200" b="1" dirty="0"/>
              <a:t>membership inference attack model</a:t>
            </a:r>
            <a:r>
              <a:rPr lang="en-IN" sz="1200" dirty="0"/>
              <a:t>.</a:t>
            </a:r>
          </a:p>
          <a:p>
            <a:pPr marL="742950" lvl="1" indent="-285750">
              <a:buFont typeface="+mj-lt"/>
              <a:buAutoNum type="arabicPeriod"/>
            </a:pPr>
            <a:r>
              <a:rPr lang="en-IN" sz="1200" dirty="0"/>
              <a:t>Loss function = </a:t>
            </a:r>
            <a:r>
              <a:rPr lang="en-IN" sz="1200" b="1" dirty="0"/>
              <a:t>privacy attack advantage</a:t>
            </a:r>
            <a:r>
              <a:rPr lang="en-IN" sz="1200" dirty="0"/>
              <a:t> (difference from random guess, ideally → 0.5).</a:t>
            </a:r>
          </a:p>
          <a:p>
            <a:pPr marL="742950" lvl="1" indent="-285750">
              <a:buFont typeface="+mj-lt"/>
              <a:buAutoNum type="arabicPeriod"/>
            </a:pPr>
            <a:r>
              <a:rPr lang="en-IN" sz="1200" dirty="0"/>
              <a:t>Adjusts parameters to reduce leakage risk.</a:t>
            </a:r>
          </a:p>
          <a:p>
            <a:pPr>
              <a:buFont typeface="+mj-lt"/>
              <a:buAutoNum type="arabicPeriod"/>
            </a:pPr>
            <a:r>
              <a:rPr lang="en-IN" sz="1200" b="1" dirty="0"/>
              <a:t>Equilibrium</a:t>
            </a:r>
            <a:endParaRPr lang="en-IN" sz="1200" dirty="0"/>
          </a:p>
          <a:p>
            <a:pPr marL="742950" lvl="1" indent="-285750">
              <a:buFont typeface="+mj-lt"/>
              <a:buAutoNum type="arabicPeriod"/>
            </a:pPr>
            <a:r>
              <a:rPr lang="en-IN" sz="1200" dirty="0"/>
              <a:t>Iterative updates between modules.</a:t>
            </a:r>
          </a:p>
          <a:p>
            <a:pPr marL="742950" lvl="1" indent="-285750">
              <a:buFont typeface="+mj-lt"/>
              <a:buAutoNum type="arabicPeriod"/>
            </a:pPr>
            <a:r>
              <a:rPr lang="en-IN" sz="1200" dirty="0"/>
              <a:t>Converges to an </a:t>
            </a:r>
            <a:r>
              <a:rPr lang="en-IN" sz="1200" b="1" dirty="0"/>
              <a:t>unlearned model</a:t>
            </a:r>
            <a:r>
              <a:rPr lang="en-IN" sz="1200" dirty="0"/>
              <a:t> statistically indistinguishable from retrained one, with reduced privacy leakage.</a:t>
            </a:r>
          </a:p>
          <a:p>
            <a:pPr>
              <a:buNone/>
            </a:pPr>
            <a:br>
              <a:rPr lang="en-IN" sz="1200" dirty="0"/>
            </a:br>
            <a:endParaRPr lang="en-IN" sz="1200" dirty="0"/>
          </a:p>
        </p:txBody>
      </p:sp>
      <p:sp>
        <p:nvSpPr>
          <p:cNvPr id="7" name="Slide Number Placeholder 5">
            <a:extLst>
              <a:ext uri="{FF2B5EF4-FFF2-40B4-BE49-F238E27FC236}">
                <a16:creationId xmlns:a16="http://schemas.microsoft.com/office/drawing/2014/main" id="{52DF44D0-1152-01BE-B9F0-EFAF00A6DDF7}"/>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12</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5C60172-A93F-FDF3-DF60-7C62B43B9A97}"/>
              </a:ext>
            </a:extLst>
          </p:cNvPr>
          <p:cNvSpPr txBox="1"/>
          <p:nvPr/>
        </p:nvSpPr>
        <p:spPr>
          <a:xfrm>
            <a:off x="6218627" y="6582828"/>
            <a:ext cx="5762870" cy="400110"/>
          </a:xfrm>
          <a:prstGeom prst="rect">
            <a:avLst/>
          </a:prstGeom>
          <a:noFill/>
        </p:spPr>
        <p:txBody>
          <a:bodyPr wrap="square">
            <a:spAutoFit/>
          </a:bodyPr>
          <a:lstStyle/>
          <a:p>
            <a:r>
              <a:rPr lang="en-US" sz="1000" dirty="0">
                <a:solidFill>
                  <a:schemeClr val="tx1"/>
                </a:solidFill>
                <a:latin typeface="Times New Roman" panose="02020603050405020304" pitchFamily="18" charset="0"/>
                <a:cs typeface="Times New Roman" panose="02020603050405020304" pitchFamily="18" charset="0"/>
              </a:rPr>
              <a:t>Figure </a:t>
            </a:r>
            <a:r>
              <a:rPr lang="en-US" sz="1000" dirty="0">
                <a:latin typeface="Times New Roman" panose="02020603050405020304" pitchFamily="18" charset="0"/>
                <a:cs typeface="Times New Roman" panose="02020603050405020304" pitchFamily="18" charset="0"/>
              </a:rPr>
              <a:t>4</a:t>
            </a:r>
            <a:r>
              <a:rPr lang="en-US" sz="1000" dirty="0">
                <a:solidFill>
                  <a:schemeClr val="tx1"/>
                </a:solidFill>
                <a:latin typeface="Times New Roman" panose="02020603050405020304" pitchFamily="18" charset="0"/>
                <a:cs typeface="Times New Roman" panose="02020603050405020304" pitchFamily="18" charset="0"/>
              </a:rPr>
              <a:t>:Game Theory Framework </a:t>
            </a:r>
            <a:r>
              <a:rPr lang="en-IN" sz="1000" dirty="0"/>
              <a:t>Game-Theoretic Machine Unlearning: Mitigating Extra Privacy Leakage</a:t>
            </a:r>
          </a:p>
          <a:p>
            <a:endParaRPr lang="en-US" sz="1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774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C7037-7145-461F-4C4D-609DC3E171E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04FA54D-7FF5-A0D4-E0D6-E6011044A7D2}"/>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5F820033-4391-62BC-2ADC-58FA3299CB84}"/>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DD38E426-1D94-53BE-5583-3BC32D07B7C8}"/>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A4F9017D-77FC-1E85-05BC-FB241CBB1B0F}"/>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Gaps Identified</a:t>
            </a:r>
          </a:p>
        </p:txBody>
      </p:sp>
      <p:graphicFrame>
        <p:nvGraphicFramePr>
          <p:cNvPr id="3" name="Diagram 2">
            <a:extLst>
              <a:ext uri="{FF2B5EF4-FFF2-40B4-BE49-F238E27FC236}">
                <a16:creationId xmlns:a16="http://schemas.microsoft.com/office/drawing/2014/main" id="{A83D2C1C-7117-2400-BE28-AA7C6297E649}"/>
              </a:ext>
            </a:extLst>
          </p:cNvPr>
          <p:cNvGraphicFramePr/>
          <p:nvPr>
            <p:extLst>
              <p:ext uri="{D42A27DB-BD31-4B8C-83A1-F6EECF244321}">
                <p14:modId xmlns:p14="http://schemas.microsoft.com/office/powerpoint/2010/main" val="2243756004"/>
              </p:ext>
            </p:extLst>
          </p:nvPr>
        </p:nvGraphicFramePr>
        <p:xfrm>
          <a:off x="813072" y="1084737"/>
          <a:ext cx="10176981" cy="34351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Slide Number Placeholder 5">
            <a:extLst>
              <a:ext uri="{FF2B5EF4-FFF2-40B4-BE49-F238E27FC236}">
                <a16:creationId xmlns:a16="http://schemas.microsoft.com/office/drawing/2014/main" id="{1295ED60-58EA-DA17-32E0-CCBEC4A02C8A}"/>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13</a:t>
            </a:fld>
            <a:endParaRPr lang="en-IN" sz="1400" dirty="0">
              <a:solidFill>
                <a:schemeClr val="tx1"/>
              </a:solidFill>
              <a:latin typeface="Times New Roman" panose="02020603050405020304" pitchFamily="18" charset="0"/>
              <a:cs typeface="Times New Roman" panose="02020603050405020304" pitchFamily="18" charset="0"/>
            </a:endParaRPr>
          </a:p>
        </p:txBody>
      </p:sp>
      <p:graphicFrame>
        <p:nvGraphicFramePr>
          <p:cNvPr id="11" name="Diagram 10">
            <a:extLst>
              <a:ext uri="{FF2B5EF4-FFF2-40B4-BE49-F238E27FC236}">
                <a16:creationId xmlns:a16="http://schemas.microsoft.com/office/drawing/2014/main" id="{23C2172D-BF1E-2E64-A660-7875412D8CBD}"/>
              </a:ext>
            </a:extLst>
          </p:cNvPr>
          <p:cNvGraphicFramePr/>
          <p:nvPr>
            <p:extLst>
              <p:ext uri="{D42A27DB-BD31-4B8C-83A1-F6EECF244321}">
                <p14:modId xmlns:p14="http://schemas.microsoft.com/office/powerpoint/2010/main" val="1629821555"/>
              </p:ext>
            </p:extLst>
          </p:nvPr>
        </p:nvGraphicFramePr>
        <p:xfrm>
          <a:off x="813072" y="4595000"/>
          <a:ext cx="10176981" cy="177956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380535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34C9-D8CF-9266-F48E-AEF56629605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67F8F9F7-09DF-DA10-5319-51258C6EBA36}"/>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22BD8075-8B76-4439-DACF-250703E755D9}"/>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844BB269-EFBD-F7A4-E73B-9DE7CAB34382}"/>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D881C265-52E5-6872-A2F6-75656378A574}"/>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Objectives</a:t>
            </a:r>
          </a:p>
        </p:txBody>
      </p:sp>
      <p:graphicFrame>
        <p:nvGraphicFramePr>
          <p:cNvPr id="3" name="Diagram 2">
            <a:extLst>
              <a:ext uri="{FF2B5EF4-FFF2-40B4-BE49-F238E27FC236}">
                <a16:creationId xmlns:a16="http://schemas.microsoft.com/office/drawing/2014/main" id="{DEF6B0F5-7CC6-397F-A360-CCEC66CA6BF0}"/>
              </a:ext>
            </a:extLst>
          </p:cNvPr>
          <p:cNvGraphicFramePr/>
          <p:nvPr>
            <p:extLst>
              <p:ext uri="{D42A27DB-BD31-4B8C-83A1-F6EECF244321}">
                <p14:modId xmlns:p14="http://schemas.microsoft.com/office/powerpoint/2010/main" val="3750118161"/>
              </p:ext>
            </p:extLst>
          </p:nvPr>
        </p:nvGraphicFramePr>
        <p:xfrm>
          <a:off x="511834" y="1093418"/>
          <a:ext cx="11047561" cy="54017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E4AF5AE2-9142-5FB9-9E28-FCA3B20B4838}"/>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14</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4" name="Oval 3">
            <a:extLst>
              <a:ext uri="{FF2B5EF4-FFF2-40B4-BE49-F238E27FC236}">
                <a16:creationId xmlns:a16="http://schemas.microsoft.com/office/drawing/2014/main" id="{5475F630-F32B-7065-E608-E291B408E787}"/>
              </a:ext>
            </a:extLst>
          </p:cNvPr>
          <p:cNvSpPr/>
          <p:nvPr/>
        </p:nvSpPr>
        <p:spPr>
          <a:xfrm>
            <a:off x="1270960" y="5383727"/>
            <a:ext cx="724620" cy="782129"/>
          </a:xfrm>
          <a:prstGeom prst="ellipse">
            <a:avLst/>
          </a:prstGeom>
          <a:solidFill>
            <a:srgbClr val="D8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t>4</a:t>
            </a:r>
          </a:p>
        </p:txBody>
      </p:sp>
    </p:spTree>
    <p:extLst>
      <p:ext uri="{BB962C8B-B14F-4D97-AF65-F5344CB8AC3E}">
        <p14:creationId xmlns:p14="http://schemas.microsoft.com/office/powerpoint/2010/main" val="3381463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76CA3-0F42-4BAD-615B-F0ECBFA28B1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4699FE8-2387-4DE4-9289-A489198BBB72}"/>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0ED8F9A3-9AE8-9E8A-F3C2-AAC74972986E}"/>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3C7E2106-A14A-9D6F-1E38-D802649F6578}"/>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B4C9A1E1-9B47-33BB-97A5-2EA508C10B87}"/>
              </a:ext>
            </a:extLst>
          </p:cNvPr>
          <p:cNvSpPr txBox="1"/>
          <p:nvPr/>
        </p:nvSpPr>
        <p:spPr>
          <a:xfrm>
            <a:off x="3522689" y="190137"/>
            <a:ext cx="8195699"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Gaps to Objectives Mapping</a:t>
            </a:r>
          </a:p>
        </p:txBody>
      </p:sp>
      <p:graphicFrame>
        <p:nvGraphicFramePr>
          <p:cNvPr id="3" name="Diagram 2">
            <a:extLst>
              <a:ext uri="{FF2B5EF4-FFF2-40B4-BE49-F238E27FC236}">
                <a16:creationId xmlns:a16="http://schemas.microsoft.com/office/drawing/2014/main" id="{F1A0312F-424A-2F42-478B-F01390DF3773}"/>
              </a:ext>
            </a:extLst>
          </p:cNvPr>
          <p:cNvGraphicFramePr/>
          <p:nvPr>
            <p:extLst>
              <p:ext uri="{D42A27DB-BD31-4B8C-83A1-F6EECF244321}">
                <p14:modId xmlns:p14="http://schemas.microsoft.com/office/powerpoint/2010/main" val="2950947617"/>
              </p:ext>
            </p:extLst>
          </p:nvPr>
        </p:nvGraphicFramePr>
        <p:xfrm>
          <a:off x="759655" y="1077195"/>
          <a:ext cx="4726745" cy="51604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Arrow Connector 5">
            <a:extLst>
              <a:ext uri="{FF2B5EF4-FFF2-40B4-BE49-F238E27FC236}">
                <a16:creationId xmlns:a16="http://schemas.microsoft.com/office/drawing/2014/main" id="{FA130C51-D3C0-FAD2-B9C7-E2C839AF23F1}"/>
              </a:ext>
            </a:extLst>
          </p:cNvPr>
          <p:cNvCxnSpPr>
            <a:cxnSpLocks/>
          </p:cNvCxnSpPr>
          <p:nvPr/>
        </p:nvCxnSpPr>
        <p:spPr>
          <a:xfrm>
            <a:off x="5483940" y="2276867"/>
            <a:ext cx="1219200" cy="958702"/>
          </a:xfrm>
          <a:prstGeom prst="straightConnector1">
            <a:avLst/>
          </a:prstGeom>
          <a:ln w="31750">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cxnSp>
        <p:nvCxnSpPr>
          <p:cNvPr id="7" name="Straight Arrow Connector 6">
            <a:extLst>
              <a:ext uri="{FF2B5EF4-FFF2-40B4-BE49-F238E27FC236}">
                <a16:creationId xmlns:a16="http://schemas.microsoft.com/office/drawing/2014/main" id="{01CF57D8-85AF-F5F4-EC0A-69A019C0DF29}"/>
              </a:ext>
            </a:extLst>
          </p:cNvPr>
          <p:cNvCxnSpPr>
            <a:cxnSpLocks/>
          </p:cNvCxnSpPr>
          <p:nvPr/>
        </p:nvCxnSpPr>
        <p:spPr>
          <a:xfrm flipV="1">
            <a:off x="5486400" y="1861481"/>
            <a:ext cx="1219200" cy="1374088"/>
          </a:xfrm>
          <a:prstGeom prst="straightConnector1">
            <a:avLst/>
          </a:prstGeom>
          <a:ln w="31750">
            <a:solidFill>
              <a:srgbClr val="D17B5C"/>
            </a:solidFill>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510C31B0-BFBB-BAD5-BC53-6EC09061135D}"/>
              </a:ext>
            </a:extLst>
          </p:cNvPr>
          <p:cNvCxnSpPr>
            <a:cxnSpLocks/>
          </p:cNvCxnSpPr>
          <p:nvPr/>
        </p:nvCxnSpPr>
        <p:spPr>
          <a:xfrm flipV="1">
            <a:off x="5486400" y="2053087"/>
            <a:ext cx="1173192" cy="2038472"/>
          </a:xfrm>
          <a:prstGeom prst="straightConnector1">
            <a:avLst/>
          </a:prstGeom>
          <a:ln w="31750">
            <a:solidFill>
              <a:srgbClr val="B98A82"/>
            </a:solidFill>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C5FD83EF-CE4F-3433-361F-F514638D55AB}"/>
              </a:ext>
            </a:extLst>
          </p:cNvPr>
          <p:cNvCxnSpPr>
            <a:cxnSpLocks/>
          </p:cNvCxnSpPr>
          <p:nvPr/>
        </p:nvCxnSpPr>
        <p:spPr>
          <a:xfrm>
            <a:off x="5483940" y="5054704"/>
            <a:ext cx="1221660" cy="248816"/>
          </a:xfrm>
          <a:prstGeom prst="straightConnector1">
            <a:avLst/>
          </a:prstGeom>
          <a:ln w="31750">
            <a:solidFill>
              <a:srgbClr val="A5A5A5"/>
            </a:solidFill>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graphicFrame>
        <p:nvGraphicFramePr>
          <p:cNvPr id="23" name="Diagram 22">
            <a:extLst>
              <a:ext uri="{FF2B5EF4-FFF2-40B4-BE49-F238E27FC236}">
                <a16:creationId xmlns:a16="http://schemas.microsoft.com/office/drawing/2014/main" id="{6F75C0F7-C216-4F48-21C2-41EDC10654C4}"/>
              </a:ext>
            </a:extLst>
          </p:cNvPr>
          <p:cNvGraphicFramePr/>
          <p:nvPr>
            <p:extLst>
              <p:ext uri="{D42A27DB-BD31-4B8C-83A1-F6EECF244321}">
                <p14:modId xmlns:p14="http://schemas.microsoft.com/office/powerpoint/2010/main" val="720079023"/>
              </p:ext>
            </p:extLst>
          </p:nvPr>
        </p:nvGraphicFramePr>
        <p:xfrm>
          <a:off x="6705600" y="1663499"/>
          <a:ext cx="4336211" cy="457419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8" name="Slide Number Placeholder 5">
            <a:extLst>
              <a:ext uri="{FF2B5EF4-FFF2-40B4-BE49-F238E27FC236}">
                <a16:creationId xmlns:a16="http://schemas.microsoft.com/office/drawing/2014/main" id="{B1C0A44E-8F4A-557F-2039-E0D29D0D4358}"/>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15</a:t>
            </a:fld>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4" name="Straight Arrow Connector 3">
            <a:extLst>
              <a:ext uri="{FF2B5EF4-FFF2-40B4-BE49-F238E27FC236}">
                <a16:creationId xmlns:a16="http://schemas.microsoft.com/office/drawing/2014/main" id="{607E2C1B-0F7E-BF70-1CF6-4A6D8A3C51B2}"/>
              </a:ext>
            </a:extLst>
          </p:cNvPr>
          <p:cNvCxnSpPr>
            <a:cxnSpLocks/>
          </p:cNvCxnSpPr>
          <p:nvPr/>
        </p:nvCxnSpPr>
        <p:spPr>
          <a:xfrm>
            <a:off x="5483940" y="1540075"/>
            <a:ext cx="1219200" cy="2888151"/>
          </a:xfrm>
          <a:prstGeom prst="straightConnector1">
            <a:avLst/>
          </a:prstGeom>
          <a:ln w="31750">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00C87CB8-25F1-949A-7B72-EC9C3BC25F0F}"/>
              </a:ext>
            </a:extLst>
          </p:cNvPr>
          <p:cNvCxnSpPr>
            <a:cxnSpLocks/>
          </p:cNvCxnSpPr>
          <p:nvPr/>
        </p:nvCxnSpPr>
        <p:spPr>
          <a:xfrm>
            <a:off x="5440392" y="1470068"/>
            <a:ext cx="1219200" cy="391413"/>
          </a:xfrm>
          <a:prstGeom prst="straightConnector1">
            <a:avLst/>
          </a:prstGeom>
          <a:ln w="31750">
            <a:solidFill>
              <a:srgbClr val="A5A5A5"/>
            </a:solidFill>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4CA54303-E717-2659-75B2-28ECA48A148D}"/>
              </a:ext>
            </a:extLst>
          </p:cNvPr>
          <p:cNvCxnSpPr>
            <a:cxnSpLocks/>
          </p:cNvCxnSpPr>
          <p:nvPr/>
        </p:nvCxnSpPr>
        <p:spPr>
          <a:xfrm flipV="1">
            <a:off x="5488860" y="4428226"/>
            <a:ext cx="1214280" cy="1414732"/>
          </a:xfrm>
          <a:prstGeom prst="straightConnector1">
            <a:avLst/>
          </a:prstGeom>
          <a:ln w="31750">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cxnSp>
        <p:nvCxnSpPr>
          <p:cNvPr id="22" name="Straight Arrow Connector 21">
            <a:extLst>
              <a:ext uri="{FF2B5EF4-FFF2-40B4-BE49-F238E27FC236}">
                <a16:creationId xmlns:a16="http://schemas.microsoft.com/office/drawing/2014/main" id="{A70DDE38-0DF8-7C50-B6C7-7A8CAD091CB7}"/>
              </a:ext>
            </a:extLst>
          </p:cNvPr>
          <p:cNvCxnSpPr>
            <a:cxnSpLocks/>
          </p:cNvCxnSpPr>
          <p:nvPr/>
        </p:nvCxnSpPr>
        <p:spPr>
          <a:xfrm>
            <a:off x="5488860" y="4120531"/>
            <a:ext cx="1113223" cy="216980"/>
          </a:xfrm>
          <a:prstGeom prst="straightConnector1">
            <a:avLst/>
          </a:prstGeom>
          <a:ln w="31750">
            <a:solidFill>
              <a:srgbClr val="D17B5C"/>
            </a:solidFill>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911234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4583D7-691F-0F53-5253-53DEAD501CD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5647C89-B3BA-6680-DED0-606E059DB3A9}"/>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804809CE-21B1-FC25-6840-1F6F34AD8CF1}"/>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E741C3DE-7DB8-D03A-82A5-47769E8AF6EC}"/>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691A9BF0-0A82-3F65-7181-E59EF7EA44A6}"/>
              </a:ext>
            </a:extLst>
          </p:cNvPr>
          <p:cNvSpPr txBox="1"/>
          <p:nvPr/>
        </p:nvSpPr>
        <p:spPr>
          <a:xfrm>
            <a:off x="4600136" y="190137"/>
            <a:ext cx="7118252"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Methodology-Objective 1</a:t>
            </a:r>
          </a:p>
        </p:txBody>
      </p:sp>
      <p:sp>
        <p:nvSpPr>
          <p:cNvPr id="3" name="TextBox 2">
            <a:extLst>
              <a:ext uri="{FF2B5EF4-FFF2-40B4-BE49-F238E27FC236}">
                <a16:creationId xmlns:a16="http://schemas.microsoft.com/office/drawing/2014/main" id="{70B19F85-B934-C94F-7CB6-EC8EF267A071}"/>
              </a:ext>
            </a:extLst>
          </p:cNvPr>
          <p:cNvSpPr txBox="1"/>
          <p:nvPr/>
        </p:nvSpPr>
        <p:spPr>
          <a:xfrm>
            <a:off x="759655" y="998740"/>
            <a:ext cx="5668820" cy="1046440"/>
          </a:xfrm>
          <a:prstGeom prst="rect">
            <a:avLst/>
          </a:prstGeom>
          <a:noFill/>
        </p:spPr>
        <p:txBody>
          <a:bodyPr wrap="square" rtlCol="0">
            <a:spAutoFit/>
          </a:bodyPr>
          <a:lstStyle/>
          <a:p>
            <a:pPr algn="just"/>
            <a:r>
              <a:rPr lang="en-US" sz="2000" b="1" dirty="0">
                <a:solidFill>
                  <a:schemeClr val="tx1"/>
                </a:solidFill>
                <a:latin typeface="Times New Roman" panose="02020603050405020304" pitchFamily="18" charset="0"/>
                <a:cs typeface="Times New Roman" panose="02020603050405020304" pitchFamily="18" charset="0"/>
              </a:rPr>
              <a:t>Objective - 1</a:t>
            </a:r>
            <a:r>
              <a:rPr lang="en-US" sz="2000"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Develop a foundational game-theoretic framework for machine unlearning that integrates multiple attack models, fairness/bias tradeoffs, and scalability, aiming for ≥X% accuracy retention with ≥Y% privacy leakage reduction by end of 2027.</a:t>
            </a:r>
          </a:p>
        </p:txBody>
      </p:sp>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0790E96F-0857-1A36-EF45-F01566458683}"/>
                  </a:ext>
                </a:extLst>
              </p14:cNvPr>
              <p14:cNvContentPartPr/>
              <p14:nvPr/>
            </p14:nvContentPartPr>
            <p14:xfrm>
              <a:off x="2004148" y="5705086"/>
              <a:ext cx="360" cy="360"/>
            </p14:xfrm>
          </p:contentPart>
        </mc:Choice>
        <mc:Fallback xmlns="">
          <p:pic>
            <p:nvPicPr>
              <p:cNvPr id="19" name="Ink 18">
                <a:extLst>
                  <a:ext uri="{FF2B5EF4-FFF2-40B4-BE49-F238E27FC236}">
                    <a16:creationId xmlns:a16="http://schemas.microsoft.com/office/drawing/2014/main" id="{0790E96F-0857-1A36-EF45-F01566458683}"/>
                  </a:ext>
                </a:extLst>
              </p:cNvPr>
              <p:cNvPicPr/>
              <p:nvPr/>
            </p:nvPicPr>
            <p:blipFill>
              <a:blip r:embed="rId5"/>
              <a:stretch>
                <a:fillRect/>
              </a:stretch>
            </p:blipFill>
            <p:spPr>
              <a:xfrm>
                <a:off x="1950148" y="5597086"/>
                <a:ext cx="108000" cy="216000"/>
              </a:xfrm>
              <a:prstGeom prst="rect">
                <a:avLst/>
              </a:prstGeom>
            </p:spPr>
          </p:pic>
        </mc:Fallback>
      </mc:AlternateContent>
      <p:sp>
        <p:nvSpPr>
          <p:cNvPr id="21" name="Slide Number Placeholder 5">
            <a:extLst>
              <a:ext uri="{FF2B5EF4-FFF2-40B4-BE49-F238E27FC236}">
                <a16:creationId xmlns:a16="http://schemas.microsoft.com/office/drawing/2014/main" id="{9BA06F6F-7CA2-5629-66D1-347467447E63}"/>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16</a:t>
            </a:fld>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15" name="Picture 14" descr="Performance Evaluation.&#10;&#10;AI-generated content may be incorrect.">
            <a:extLst>
              <a:ext uri="{FF2B5EF4-FFF2-40B4-BE49-F238E27FC236}">
                <a16:creationId xmlns:a16="http://schemas.microsoft.com/office/drawing/2014/main" id="{6379C9D0-9BD0-0C7A-1BCB-DAFCD2EF951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29633" y="1167801"/>
            <a:ext cx="4200529" cy="5412220"/>
          </a:xfrm>
          <a:prstGeom prst="rect">
            <a:avLst/>
          </a:prstGeom>
        </p:spPr>
      </p:pic>
      <p:pic>
        <p:nvPicPr>
          <p:cNvPr id="17" name="Picture 16" descr="The image illustrates a research methodology diagram for game-theoretic machine unlearning, depicting a problem setup involving unlearning modules, privacy evaluators, and optimization processes to reduce privacy leakage and membership inference attacks while maintaining accuracy and efficiency.&#10;&#10;AI-generated content may be incorrect.">
            <a:extLst>
              <a:ext uri="{FF2B5EF4-FFF2-40B4-BE49-F238E27FC236}">
                <a16:creationId xmlns:a16="http://schemas.microsoft.com/office/drawing/2014/main" id="{0DCFD3EE-7C35-362F-08CF-94A6BE96F532}"/>
              </a:ext>
            </a:extLst>
          </p:cNvPr>
          <p:cNvPicPr>
            <a:picLocks noChangeAspect="1"/>
          </p:cNvPicPr>
          <p:nvPr/>
        </p:nvPicPr>
        <p:blipFill>
          <a:blip r:embed="rId7">
            <a:extLst>
              <a:ext uri="{28A0092B-C50C-407E-A947-70E740481C1C}">
                <a14:useLocalDpi xmlns:a14="http://schemas.microsoft.com/office/drawing/2010/main" val="0"/>
              </a:ext>
            </a:extLst>
          </a:blip>
          <a:srcRect t="11921"/>
          <a:stretch>
            <a:fillRect/>
          </a:stretch>
        </p:blipFill>
        <p:spPr>
          <a:xfrm>
            <a:off x="561436" y="2628397"/>
            <a:ext cx="6508077" cy="3821502"/>
          </a:xfrm>
          <a:prstGeom prst="rect">
            <a:avLst/>
          </a:prstGeom>
        </p:spPr>
      </p:pic>
      <p:sp>
        <p:nvSpPr>
          <p:cNvPr id="18" name="TextBox 17">
            <a:extLst>
              <a:ext uri="{FF2B5EF4-FFF2-40B4-BE49-F238E27FC236}">
                <a16:creationId xmlns:a16="http://schemas.microsoft.com/office/drawing/2014/main" id="{3B3741EE-98FE-ACB9-9D5A-9830C9A5EE74}"/>
              </a:ext>
            </a:extLst>
          </p:cNvPr>
          <p:cNvSpPr txBox="1"/>
          <p:nvPr/>
        </p:nvSpPr>
        <p:spPr>
          <a:xfrm>
            <a:off x="9102165" y="6618633"/>
            <a:ext cx="2912818" cy="246221"/>
          </a:xfrm>
          <a:prstGeom prst="rect">
            <a:avLst/>
          </a:prstGeom>
          <a:noFill/>
        </p:spPr>
        <p:txBody>
          <a:bodyPr wrap="square">
            <a:spAutoFit/>
          </a:bodyPr>
          <a:lstStyle/>
          <a:p>
            <a:r>
              <a:rPr lang="en-US" sz="1000" dirty="0">
                <a:solidFill>
                  <a:schemeClr val="tx1"/>
                </a:solidFill>
                <a:latin typeface="Times New Roman" panose="02020603050405020304" pitchFamily="18" charset="0"/>
                <a:cs typeface="Times New Roman" panose="02020603050405020304" pitchFamily="18" charset="0"/>
              </a:rPr>
              <a:t>Figure </a:t>
            </a:r>
            <a:r>
              <a:rPr lang="en-US" sz="1000" dirty="0">
                <a:latin typeface="Times New Roman" panose="02020603050405020304" pitchFamily="18" charset="0"/>
                <a:cs typeface="Times New Roman" panose="02020603050405020304" pitchFamily="18" charset="0"/>
              </a:rPr>
              <a:t>4</a:t>
            </a:r>
            <a:r>
              <a:rPr lang="en-US" sz="1000" dirty="0">
                <a:solidFill>
                  <a:schemeClr val="tx1"/>
                </a:solidFill>
                <a:latin typeface="Times New Roman" panose="02020603050405020304" pitchFamily="18" charset="0"/>
                <a:cs typeface="Times New Roman" panose="02020603050405020304" pitchFamily="18" charset="0"/>
              </a:rPr>
              <a:t>:Game Theory Framework Objective 1</a:t>
            </a:r>
          </a:p>
        </p:txBody>
      </p:sp>
      <p:sp>
        <p:nvSpPr>
          <p:cNvPr id="20" name="TextBox 19">
            <a:extLst>
              <a:ext uri="{FF2B5EF4-FFF2-40B4-BE49-F238E27FC236}">
                <a16:creationId xmlns:a16="http://schemas.microsoft.com/office/drawing/2014/main" id="{6EDEF637-19F9-35BD-0F15-46C782123F4A}"/>
              </a:ext>
            </a:extLst>
          </p:cNvPr>
          <p:cNvSpPr txBox="1"/>
          <p:nvPr/>
        </p:nvSpPr>
        <p:spPr>
          <a:xfrm>
            <a:off x="1395615" y="6418577"/>
            <a:ext cx="3115900" cy="244781"/>
          </a:xfrm>
          <a:prstGeom prst="rect">
            <a:avLst/>
          </a:prstGeom>
          <a:noFill/>
        </p:spPr>
        <p:txBody>
          <a:bodyPr wrap="square">
            <a:spAutoFit/>
          </a:bodyPr>
          <a:lstStyle/>
          <a:p>
            <a:r>
              <a:rPr lang="en-US" sz="1000" dirty="0">
                <a:solidFill>
                  <a:schemeClr val="tx1"/>
                </a:solidFill>
                <a:latin typeface="Times New Roman" panose="02020603050405020304" pitchFamily="18" charset="0"/>
                <a:cs typeface="Times New Roman" panose="02020603050405020304" pitchFamily="18" charset="0"/>
              </a:rPr>
              <a:t>Figure 5: Proposed Research Methodology objective 1</a:t>
            </a:r>
            <a:endParaRPr lang="en-IN" sz="1000" dirty="0"/>
          </a:p>
        </p:txBody>
      </p:sp>
    </p:spTree>
    <p:extLst>
      <p:ext uri="{BB962C8B-B14F-4D97-AF65-F5344CB8AC3E}">
        <p14:creationId xmlns:p14="http://schemas.microsoft.com/office/powerpoint/2010/main" val="687436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BE876-71BE-FDEF-86C8-4490379083F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2EC462F-DA7B-C9AF-4425-C39A7A8D6234}"/>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17CB7A12-E138-931E-6A01-08F76237D4AA}"/>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35C7C68C-BB65-27E3-CD18-05A83EBA1978}"/>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CA85A4D2-4400-79DA-0757-155B12FCE8F9}"/>
              </a:ext>
            </a:extLst>
          </p:cNvPr>
          <p:cNvSpPr txBox="1"/>
          <p:nvPr/>
        </p:nvSpPr>
        <p:spPr>
          <a:xfrm>
            <a:off x="4121834" y="190137"/>
            <a:ext cx="7596553"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Methodology-Objective 2</a:t>
            </a:r>
          </a:p>
        </p:txBody>
      </p:sp>
      <p:sp>
        <p:nvSpPr>
          <p:cNvPr id="4" name="TextBox 3">
            <a:extLst>
              <a:ext uri="{FF2B5EF4-FFF2-40B4-BE49-F238E27FC236}">
                <a16:creationId xmlns:a16="http://schemas.microsoft.com/office/drawing/2014/main" id="{70140D61-F333-6FD5-9A91-62E82DECA641}"/>
              </a:ext>
            </a:extLst>
          </p:cNvPr>
          <p:cNvSpPr txBox="1"/>
          <p:nvPr/>
        </p:nvSpPr>
        <p:spPr>
          <a:xfrm>
            <a:off x="759655" y="938152"/>
            <a:ext cx="10719582" cy="1323439"/>
          </a:xfrm>
          <a:prstGeom prst="rect">
            <a:avLst/>
          </a:prstGeom>
          <a:noFill/>
        </p:spPr>
        <p:txBody>
          <a:bodyPr wrap="square" rtlCol="0">
            <a:spAutoFit/>
          </a:bodyPr>
          <a:lstStyle/>
          <a:p>
            <a:pPr lvl="0">
              <a:buNone/>
            </a:pPr>
            <a:r>
              <a:rPr lang="en-US" sz="2000" b="1" dirty="0">
                <a:solidFill>
                  <a:schemeClr val="tx1"/>
                </a:solidFill>
                <a:latin typeface="Times New Roman" panose="02020603050405020304" pitchFamily="18" charset="0"/>
                <a:cs typeface="Times New Roman" panose="02020603050405020304" pitchFamily="18" charset="0"/>
              </a:rPr>
              <a:t>Objective - 2</a:t>
            </a:r>
            <a:r>
              <a:rPr lang="en-US" sz="2000" dirty="0">
                <a:solidFill>
                  <a:schemeClr val="tx1"/>
                </a:solidFill>
                <a:latin typeface="Times New Roman" panose="02020603050405020304" pitchFamily="18" charset="0"/>
                <a:cs typeface="Times New Roman" panose="02020603050405020304" pitchFamily="18" charset="0"/>
              </a:rPr>
              <a:t>:</a:t>
            </a:r>
            <a:r>
              <a:rPr lang="en-US" sz="2000" dirty="0"/>
              <a:t>Design a feature-based unlearning framework applied to SISA and other models, balancing utility and privacy by excluding sensitive features with ≤X% accuracy loss, targeting a working draft by 2028.</a:t>
            </a:r>
            <a:endParaRPr lang="en-GB" sz="2000" dirty="0">
              <a:latin typeface="Times New Roman" panose="02020603050405020304" pitchFamily="18" charset="0"/>
              <a:cs typeface="Times New Roman" panose="02020603050405020304" pitchFamily="18" charset="0"/>
            </a:endParaRPr>
          </a:p>
          <a:p>
            <a:endParaRPr lang="en-IN" sz="2000" dirty="0">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53302B29-A131-A180-62C7-2122812829D6}"/>
                  </a:ext>
                </a:extLst>
              </p14:cNvPr>
              <p14:cNvContentPartPr/>
              <p14:nvPr/>
            </p14:nvContentPartPr>
            <p14:xfrm>
              <a:off x="6265108" y="2833006"/>
              <a:ext cx="360" cy="360"/>
            </p14:xfrm>
          </p:contentPart>
        </mc:Choice>
        <mc:Fallback xmlns="">
          <p:pic>
            <p:nvPicPr>
              <p:cNvPr id="13" name="Ink 12">
                <a:extLst>
                  <a:ext uri="{FF2B5EF4-FFF2-40B4-BE49-F238E27FC236}">
                    <a16:creationId xmlns:a16="http://schemas.microsoft.com/office/drawing/2014/main" id="{53302B29-A131-A180-62C7-2122812829D6}"/>
                  </a:ext>
                </a:extLst>
              </p:cNvPr>
              <p:cNvPicPr/>
              <p:nvPr/>
            </p:nvPicPr>
            <p:blipFill>
              <a:blip r:embed="rId4"/>
              <a:stretch>
                <a:fillRect/>
              </a:stretch>
            </p:blipFill>
            <p:spPr>
              <a:xfrm>
                <a:off x="6211468" y="272536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17C239CB-D5AA-12A3-6296-47E9C5932C0E}"/>
                  </a:ext>
                </a:extLst>
              </p14:cNvPr>
              <p14:cNvContentPartPr/>
              <p14:nvPr/>
            </p14:nvContentPartPr>
            <p14:xfrm>
              <a:off x="4521988" y="2924446"/>
              <a:ext cx="360" cy="360"/>
            </p14:xfrm>
          </p:contentPart>
        </mc:Choice>
        <mc:Fallback xmlns="">
          <p:pic>
            <p:nvPicPr>
              <p:cNvPr id="17" name="Ink 16">
                <a:extLst>
                  <a:ext uri="{FF2B5EF4-FFF2-40B4-BE49-F238E27FC236}">
                    <a16:creationId xmlns:a16="http://schemas.microsoft.com/office/drawing/2014/main" id="{17C239CB-D5AA-12A3-6296-47E9C5932C0E}"/>
                  </a:ext>
                </a:extLst>
              </p:cNvPr>
              <p:cNvPicPr/>
              <p:nvPr/>
            </p:nvPicPr>
            <p:blipFill>
              <a:blip r:embed="rId4"/>
              <a:stretch>
                <a:fillRect/>
              </a:stretch>
            </p:blipFill>
            <p:spPr>
              <a:xfrm>
                <a:off x="4467988" y="281644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738F97FD-5462-3F2D-F977-D1B12C670C69}"/>
                  </a:ext>
                </a:extLst>
              </p14:cNvPr>
              <p14:cNvContentPartPr/>
              <p14:nvPr/>
            </p14:nvContentPartPr>
            <p14:xfrm>
              <a:off x="4521988" y="2924446"/>
              <a:ext cx="360" cy="360"/>
            </p14:xfrm>
          </p:contentPart>
        </mc:Choice>
        <mc:Fallback xmlns="">
          <p:pic>
            <p:nvPicPr>
              <p:cNvPr id="18" name="Ink 17">
                <a:extLst>
                  <a:ext uri="{FF2B5EF4-FFF2-40B4-BE49-F238E27FC236}">
                    <a16:creationId xmlns:a16="http://schemas.microsoft.com/office/drawing/2014/main" id="{738F97FD-5462-3F2D-F977-D1B12C670C69}"/>
                  </a:ext>
                </a:extLst>
              </p:cNvPr>
              <p:cNvPicPr/>
              <p:nvPr/>
            </p:nvPicPr>
            <p:blipFill>
              <a:blip r:embed="rId4"/>
              <a:stretch>
                <a:fillRect/>
              </a:stretch>
            </p:blipFill>
            <p:spPr>
              <a:xfrm>
                <a:off x="4467988" y="281644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0" name="Ink 19">
                <a:extLst>
                  <a:ext uri="{FF2B5EF4-FFF2-40B4-BE49-F238E27FC236}">
                    <a16:creationId xmlns:a16="http://schemas.microsoft.com/office/drawing/2014/main" id="{2D7EBA2F-4C57-A6FC-50C9-55AE7D392E10}"/>
                  </a:ext>
                </a:extLst>
              </p14:cNvPr>
              <p14:cNvContentPartPr/>
              <p14:nvPr/>
            </p14:nvContentPartPr>
            <p14:xfrm>
              <a:off x="2732788" y="3514486"/>
              <a:ext cx="360" cy="360"/>
            </p14:xfrm>
          </p:contentPart>
        </mc:Choice>
        <mc:Fallback xmlns="">
          <p:pic>
            <p:nvPicPr>
              <p:cNvPr id="20" name="Ink 19">
                <a:extLst>
                  <a:ext uri="{FF2B5EF4-FFF2-40B4-BE49-F238E27FC236}">
                    <a16:creationId xmlns:a16="http://schemas.microsoft.com/office/drawing/2014/main" id="{2D7EBA2F-4C57-A6FC-50C9-55AE7D392E10}"/>
                  </a:ext>
                </a:extLst>
              </p:cNvPr>
              <p:cNvPicPr/>
              <p:nvPr/>
            </p:nvPicPr>
            <p:blipFill>
              <a:blip r:embed="rId4"/>
              <a:stretch>
                <a:fillRect/>
              </a:stretch>
            </p:blipFill>
            <p:spPr>
              <a:xfrm>
                <a:off x="2679148" y="3406846"/>
                <a:ext cx="108000" cy="216000"/>
              </a:xfrm>
              <a:prstGeom prst="rect">
                <a:avLst/>
              </a:prstGeom>
            </p:spPr>
          </p:pic>
        </mc:Fallback>
      </mc:AlternateContent>
      <p:sp>
        <p:nvSpPr>
          <p:cNvPr id="25" name="Slide Number Placeholder 5">
            <a:extLst>
              <a:ext uri="{FF2B5EF4-FFF2-40B4-BE49-F238E27FC236}">
                <a16:creationId xmlns:a16="http://schemas.microsoft.com/office/drawing/2014/main" id="{469AC343-8DDA-35FA-B26F-B097694047B9}"/>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17</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7E20A569-FCBD-B463-E5BD-48454AFB7F8C}"/>
              </a:ext>
            </a:extLst>
          </p:cNvPr>
          <p:cNvSpPr txBox="1"/>
          <p:nvPr/>
        </p:nvSpPr>
        <p:spPr>
          <a:xfrm>
            <a:off x="3040851" y="6318997"/>
            <a:ext cx="6105378" cy="430887"/>
          </a:xfrm>
          <a:prstGeom prst="rect">
            <a:avLst/>
          </a:prstGeom>
          <a:noFill/>
        </p:spPr>
        <p:txBody>
          <a:bodyPr wrap="square">
            <a:spAutoFit/>
          </a:bodyPr>
          <a:lstStyle/>
          <a:p>
            <a:pPr algn="ctr"/>
            <a:r>
              <a:rPr lang="en-IN" sz="1100" b="1" dirty="0">
                <a:effectLst/>
                <a:latin typeface="Times New Roman" panose="02020603050405020304" pitchFamily="18" charset="0"/>
                <a:cs typeface="Times New Roman" panose="02020603050405020304" pitchFamily="18" charset="0"/>
              </a:rPr>
              <a:t>Figure 5.2: Block Diagram of Injury Grading Module </a:t>
            </a:r>
            <a:endParaRPr lang="en-IN" sz="1100" b="1" dirty="0">
              <a:latin typeface="Times New Roman" panose="02020603050405020304" pitchFamily="18" charset="0"/>
              <a:cs typeface="Times New Roman" panose="02020603050405020304" pitchFamily="18" charset="0"/>
            </a:endParaRPr>
          </a:p>
          <a:p>
            <a:pPr algn="ctr"/>
            <a:endParaRPr lang="en-IN" sz="1100" b="1" dirty="0">
              <a:latin typeface="Times New Roman" panose="02020603050405020304" pitchFamily="18" charset="0"/>
              <a:cs typeface="Times New Roman" panose="02020603050405020304" pitchFamily="18" charset="0"/>
            </a:endParaRPr>
          </a:p>
        </p:txBody>
      </p:sp>
      <p:graphicFrame>
        <p:nvGraphicFramePr>
          <p:cNvPr id="6" name="Diagram 5">
            <a:extLst>
              <a:ext uri="{FF2B5EF4-FFF2-40B4-BE49-F238E27FC236}">
                <a16:creationId xmlns:a16="http://schemas.microsoft.com/office/drawing/2014/main" id="{4CD5D53F-1C10-C6F9-D527-CF126F5A1F46}"/>
              </a:ext>
            </a:extLst>
          </p:cNvPr>
          <p:cNvGraphicFramePr/>
          <p:nvPr>
            <p:extLst>
              <p:ext uri="{D42A27DB-BD31-4B8C-83A1-F6EECF244321}">
                <p14:modId xmlns:p14="http://schemas.microsoft.com/office/powerpoint/2010/main" val="448539459"/>
              </p:ext>
            </p:extLst>
          </p:nvPr>
        </p:nvGraphicFramePr>
        <p:xfrm>
          <a:off x="759655" y="2347184"/>
          <a:ext cx="2844376" cy="192034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8" name="Diagram 7">
            <a:extLst>
              <a:ext uri="{FF2B5EF4-FFF2-40B4-BE49-F238E27FC236}">
                <a16:creationId xmlns:a16="http://schemas.microsoft.com/office/drawing/2014/main" id="{30DD88FF-61A7-BBAA-E053-7D9914D4910F}"/>
              </a:ext>
            </a:extLst>
          </p:cNvPr>
          <p:cNvGraphicFramePr/>
          <p:nvPr>
            <p:extLst>
              <p:ext uri="{D42A27DB-BD31-4B8C-83A1-F6EECF244321}">
                <p14:modId xmlns:p14="http://schemas.microsoft.com/office/powerpoint/2010/main" val="1064567164"/>
              </p:ext>
            </p:extLst>
          </p:nvPr>
        </p:nvGraphicFramePr>
        <p:xfrm>
          <a:off x="339305" y="3958054"/>
          <a:ext cx="4064000" cy="1541923"/>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cxnSp>
        <p:nvCxnSpPr>
          <p:cNvPr id="11" name="Straight Arrow Connector 10">
            <a:extLst>
              <a:ext uri="{FF2B5EF4-FFF2-40B4-BE49-F238E27FC236}">
                <a16:creationId xmlns:a16="http://schemas.microsoft.com/office/drawing/2014/main" id="{A7ABFE56-13AB-3258-4945-19CEB042F14F}"/>
              </a:ext>
            </a:extLst>
          </p:cNvPr>
          <p:cNvCxnSpPr>
            <a:cxnSpLocks/>
            <a:stCxn id="6" idx="3"/>
            <a:endCxn id="6146" idx="1"/>
          </p:cNvCxnSpPr>
          <p:nvPr/>
        </p:nvCxnSpPr>
        <p:spPr>
          <a:xfrm>
            <a:off x="3604031" y="3307358"/>
            <a:ext cx="1290027" cy="8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8F37B60-A58F-01D1-31D2-513D927F4A3B}"/>
              </a:ext>
            </a:extLst>
          </p:cNvPr>
          <p:cNvSpPr/>
          <p:nvPr/>
        </p:nvSpPr>
        <p:spPr>
          <a:xfrm>
            <a:off x="10258600" y="388188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Other Models, Data</a:t>
            </a:r>
          </a:p>
        </p:txBody>
      </p:sp>
      <p:pic>
        <p:nvPicPr>
          <p:cNvPr id="6146" name="Picture 2">
            <a:extLst>
              <a:ext uri="{FF2B5EF4-FFF2-40B4-BE49-F238E27FC236}">
                <a16:creationId xmlns:a16="http://schemas.microsoft.com/office/drawing/2014/main" id="{40DB2086-7096-285A-13DB-B6100F909F6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94058" y="2458495"/>
            <a:ext cx="2571750" cy="1714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Diagram 15">
            <a:extLst>
              <a:ext uri="{FF2B5EF4-FFF2-40B4-BE49-F238E27FC236}">
                <a16:creationId xmlns:a16="http://schemas.microsoft.com/office/drawing/2014/main" id="{7C066CF9-4445-B8BD-0EC1-61E50E191213}"/>
              </a:ext>
            </a:extLst>
          </p:cNvPr>
          <p:cNvGraphicFramePr/>
          <p:nvPr>
            <p:extLst>
              <p:ext uri="{D42A27DB-BD31-4B8C-83A1-F6EECF244321}">
                <p14:modId xmlns:p14="http://schemas.microsoft.com/office/powerpoint/2010/main" val="2454245967"/>
              </p:ext>
            </p:extLst>
          </p:nvPr>
        </p:nvGraphicFramePr>
        <p:xfrm>
          <a:off x="4272963" y="4389325"/>
          <a:ext cx="3816709" cy="1714500"/>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p:cxnSp>
        <p:nvCxnSpPr>
          <p:cNvPr id="21" name="Straight Arrow Connector 20">
            <a:extLst>
              <a:ext uri="{FF2B5EF4-FFF2-40B4-BE49-F238E27FC236}">
                <a16:creationId xmlns:a16="http://schemas.microsoft.com/office/drawing/2014/main" id="{498E22DA-625C-A3DE-5792-3A742C4C9DEB}"/>
              </a:ext>
            </a:extLst>
          </p:cNvPr>
          <p:cNvCxnSpPr/>
          <p:nvPr/>
        </p:nvCxnSpPr>
        <p:spPr>
          <a:xfrm>
            <a:off x="3531079" y="4796287"/>
            <a:ext cx="7073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C8EA9D5-3332-D6E9-7E68-CB42D4A025B7}"/>
              </a:ext>
            </a:extLst>
          </p:cNvPr>
          <p:cNvCxnSpPr>
            <a:cxnSpLocks/>
            <a:stCxn id="16" idx="0"/>
            <a:endCxn id="6146" idx="2"/>
          </p:cNvCxnSpPr>
          <p:nvPr/>
        </p:nvCxnSpPr>
        <p:spPr>
          <a:xfrm flipH="1" flipV="1">
            <a:off x="6179933" y="4172995"/>
            <a:ext cx="1384" cy="216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0B7F5345-CA3C-1404-4961-83ABDFAEF749}"/>
              </a:ext>
            </a:extLst>
          </p:cNvPr>
          <p:cNvSpPr/>
          <p:nvPr/>
        </p:nvSpPr>
        <p:spPr>
          <a:xfrm>
            <a:off x="8239962" y="2476763"/>
            <a:ext cx="442840" cy="3645330"/>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Lo</a:t>
            </a:r>
          </a:p>
          <a:p>
            <a:pPr algn="ctr"/>
            <a:r>
              <a:rPr lang="en-IN" dirty="0"/>
              <a:t>S</a:t>
            </a:r>
          </a:p>
          <a:p>
            <a:pPr algn="ctr"/>
            <a:r>
              <a:rPr lang="en-IN" dirty="0"/>
              <a:t>s</a:t>
            </a:r>
          </a:p>
          <a:p>
            <a:pPr algn="ctr"/>
            <a:r>
              <a:rPr lang="en-IN" dirty="0"/>
              <a:t> Func</a:t>
            </a:r>
          </a:p>
          <a:p>
            <a:pPr algn="ctr"/>
            <a:r>
              <a:rPr lang="en-IN" dirty="0"/>
              <a:t>t</a:t>
            </a:r>
          </a:p>
          <a:p>
            <a:pPr algn="ctr"/>
            <a:r>
              <a:rPr lang="en-IN" dirty="0"/>
              <a:t>I</a:t>
            </a:r>
          </a:p>
          <a:p>
            <a:pPr algn="ctr"/>
            <a:r>
              <a:rPr lang="en-IN" dirty="0"/>
              <a:t>on</a:t>
            </a:r>
          </a:p>
        </p:txBody>
      </p:sp>
      <p:cxnSp>
        <p:nvCxnSpPr>
          <p:cNvPr id="35" name="Straight Arrow Connector 34">
            <a:extLst>
              <a:ext uri="{FF2B5EF4-FFF2-40B4-BE49-F238E27FC236}">
                <a16:creationId xmlns:a16="http://schemas.microsoft.com/office/drawing/2014/main" id="{EA6B866E-7374-52BB-FD05-61B0FA8EE5D4}"/>
              </a:ext>
            </a:extLst>
          </p:cNvPr>
          <p:cNvCxnSpPr>
            <a:stCxn id="6146" idx="3"/>
            <a:endCxn id="33" idx="1"/>
          </p:cNvCxnSpPr>
          <p:nvPr/>
        </p:nvCxnSpPr>
        <p:spPr>
          <a:xfrm>
            <a:off x="7465808" y="3315745"/>
            <a:ext cx="774154" cy="983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130E205-3CF0-F2A9-3D4F-D9E318A8B3E4}"/>
              </a:ext>
            </a:extLst>
          </p:cNvPr>
          <p:cNvCxnSpPr>
            <a:cxnSpLocks/>
            <a:stCxn id="16" idx="3"/>
            <a:endCxn id="33" idx="1"/>
          </p:cNvCxnSpPr>
          <p:nvPr/>
        </p:nvCxnSpPr>
        <p:spPr>
          <a:xfrm flipV="1">
            <a:off x="8089672" y="4299428"/>
            <a:ext cx="150290" cy="947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Rounded Corners 44">
            <a:extLst>
              <a:ext uri="{FF2B5EF4-FFF2-40B4-BE49-F238E27FC236}">
                <a16:creationId xmlns:a16="http://schemas.microsoft.com/office/drawing/2014/main" id="{F74195E2-DB21-398E-DC63-C3884321EEBB}"/>
              </a:ext>
            </a:extLst>
          </p:cNvPr>
          <p:cNvSpPr/>
          <p:nvPr/>
        </p:nvSpPr>
        <p:spPr>
          <a:xfrm>
            <a:off x="9007629" y="2503098"/>
            <a:ext cx="442840" cy="3645330"/>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a:t>
            </a:r>
          </a:p>
          <a:p>
            <a:pPr algn="ctr"/>
            <a:r>
              <a:rPr lang="en-IN" dirty="0"/>
              <a:t>V</a:t>
            </a:r>
          </a:p>
          <a:p>
            <a:pPr algn="ctr"/>
            <a:r>
              <a:rPr lang="en-IN" dirty="0"/>
              <a:t>A</a:t>
            </a:r>
          </a:p>
          <a:p>
            <a:pPr algn="ctr"/>
            <a:r>
              <a:rPr lang="en-IN" dirty="0"/>
              <a:t>L</a:t>
            </a:r>
          </a:p>
          <a:p>
            <a:pPr algn="ctr"/>
            <a:r>
              <a:rPr lang="en-IN" dirty="0" err="1"/>
              <a:t>Ua</a:t>
            </a:r>
            <a:endParaRPr lang="en-IN" dirty="0"/>
          </a:p>
          <a:p>
            <a:pPr algn="ctr"/>
            <a:r>
              <a:rPr lang="en-IN" dirty="0"/>
              <a:t>t</a:t>
            </a:r>
          </a:p>
          <a:p>
            <a:pPr algn="ctr"/>
            <a:r>
              <a:rPr lang="en-IN" dirty="0" err="1"/>
              <a:t>i</a:t>
            </a:r>
            <a:endParaRPr lang="en-IN" dirty="0"/>
          </a:p>
          <a:p>
            <a:pPr algn="ctr"/>
            <a:r>
              <a:rPr lang="en-IN" dirty="0"/>
              <a:t>on</a:t>
            </a:r>
          </a:p>
        </p:txBody>
      </p:sp>
      <p:cxnSp>
        <p:nvCxnSpPr>
          <p:cNvPr id="49" name="Straight Arrow Connector 48">
            <a:extLst>
              <a:ext uri="{FF2B5EF4-FFF2-40B4-BE49-F238E27FC236}">
                <a16:creationId xmlns:a16="http://schemas.microsoft.com/office/drawing/2014/main" id="{3E68B5D4-1E93-8D0C-F43F-D5EF51DF0B49}"/>
              </a:ext>
            </a:extLst>
          </p:cNvPr>
          <p:cNvCxnSpPr>
            <a:stCxn id="33" idx="3"/>
            <a:endCxn id="45" idx="1"/>
          </p:cNvCxnSpPr>
          <p:nvPr/>
        </p:nvCxnSpPr>
        <p:spPr>
          <a:xfrm>
            <a:off x="8682802" y="4299428"/>
            <a:ext cx="324827" cy="263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2" name="Diagram 51">
            <a:extLst>
              <a:ext uri="{FF2B5EF4-FFF2-40B4-BE49-F238E27FC236}">
                <a16:creationId xmlns:a16="http://schemas.microsoft.com/office/drawing/2014/main" id="{8B12B2F3-4A96-23F2-A569-73DE696C0F63}"/>
              </a:ext>
            </a:extLst>
          </p:cNvPr>
          <p:cNvGraphicFramePr/>
          <p:nvPr>
            <p:extLst>
              <p:ext uri="{D42A27DB-BD31-4B8C-83A1-F6EECF244321}">
                <p14:modId xmlns:p14="http://schemas.microsoft.com/office/powerpoint/2010/main" val="2711364443"/>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4" r:lo="rId25" r:qs="rId26" r:cs="rId27"/>
          </a:graphicData>
        </a:graphic>
      </p:graphicFrame>
      <p:cxnSp>
        <p:nvCxnSpPr>
          <p:cNvPr id="54" name="Straight Arrow Connector 53">
            <a:extLst>
              <a:ext uri="{FF2B5EF4-FFF2-40B4-BE49-F238E27FC236}">
                <a16:creationId xmlns:a16="http://schemas.microsoft.com/office/drawing/2014/main" id="{628D9DAD-DD23-2179-B1DE-7DFA53ED79EC}"/>
              </a:ext>
            </a:extLst>
          </p:cNvPr>
          <p:cNvCxnSpPr>
            <a:cxnSpLocks/>
            <a:endCxn id="15" idx="1"/>
          </p:cNvCxnSpPr>
          <p:nvPr/>
        </p:nvCxnSpPr>
        <p:spPr>
          <a:xfrm>
            <a:off x="9411159" y="4312595"/>
            <a:ext cx="847441" cy="264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1740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4E49E-2C9D-3AE8-3923-D13174E0C89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FA4D8532-DB3F-C7E1-0463-F17B27BCC20A}"/>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8BE1E8B9-9794-91DE-974D-C11856FA79E5}"/>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247A559B-D34E-EF0D-FEC5-54DBB5571A2E}"/>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E146888E-27E9-A460-EFCC-16E5025120F9}"/>
              </a:ext>
            </a:extLst>
          </p:cNvPr>
          <p:cNvSpPr txBox="1"/>
          <p:nvPr/>
        </p:nvSpPr>
        <p:spPr>
          <a:xfrm>
            <a:off x="3516924" y="190137"/>
            <a:ext cx="8201464"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Methodology-Overall Workflow</a:t>
            </a:r>
          </a:p>
        </p:txBody>
      </p:sp>
      <p:pic>
        <p:nvPicPr>
          <p:cNvPr id="6" name="Picture 5" descr="This image illustrates a hierarchical diagram of various concepts and categories related to machine learning, data handling, and game theory.&#10;&#10;AI-generated content may be incorrect.">
            <a:extLst>
              <a:ext uri="{FF2B5EF4-FFF2-40B4-BE49-F238E27FC236}">
                <a16:creationId xmlns:a16="http://schemas.microsoft.com/office/drawing/2014/main" id="{86C05355-CC3F-3A4D-342F-883AE5E316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7885" y="1015640"/>
            <a:ext cx="4528919" cy="5842360"/>
          </a:xfrm>
          <a:prstGeom prst="rect">
            <a:avLst/>
          </a:prstGeom>
        </p:spPr>
      </p:pic>
      <p:sp>
        <p:nvSpPr>
          <p:cNvPr id="8" name="Rectangle 7">
            <a:extLst>
              <a:ext uri="{FF2B5EF4-FFF2-40B4-BE49-F238E27FC236}">
                <a16:creationId xmlns:a16="http://schemas.microsoft.com/office/drawing/2014/main" id="{E783E22E-D4E2-F2D4-5C6F-D73FE8ED74D9}"/>
              </a:ext>
            </a:extLst>
          </p:cNvPr>
          <p:cNvSpPr/>
          <p:nvPr/>
        </p:nvSpPr>
        <p:spPr>
          <a:xfrm>
            <a:off x="4951562" y="2127849"/>
            <a:ext cx="730370" cy="101791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B727CCE6-F2D0-3F60-7202-A157927E5AA2}"/>
              </a:ext>
            </a:extLst>
          </p:cNvPr>
          <p:cNvSpPr txBox="1"/>
          <p:nvPr/>
        </p:nvSpPr>
        <p:spPr>
          <a:xfrm>
            <a:off x="5316747" y="1887121"/>
            <a:ext cx="974785" cy="276999"/>
          </a:xfrm>
          <a:prstGeom prst="rect">
            <a:avLst/>
          </a:prstGeom>
          <a:noFill/>
        </p:spPr>
        <p:txBody>
          <a:bodyPr wrap="square" rtlCol="0">
            <a:spAutoFit/>
          </a:bodyPr>
          <a:lstStyle/>
          <a:p>
            <a:r>
              <a:rPr lang="en-IN" sz="1200" b="1" u="sng" dirty="0">
                <a:solidFill>
                  <a:schemeClr val="accent1"/>
                </a:solidFill>
              </a:rPr>
              <a:t>Objective 1</a:t>
            </a:r>
          </a:p>
        </p:txBody>
      </p:sp>
      <p:sp>
        <p:nvSpPr>
          <p:cNvPr id="15" name="TextBox 14">
            <a:extLst>
              <a:ext uri="{FF2B5EF4-FFF2-40B4-BE49-F238E27FC236}">
                <a16:creationId xmlns:a16="http://schemas.microsoft.com/office/drawing/2014/main" id="{C6280D57-E09F-108A-5121-A84E261794DD}"/>
              </a:ext>
            </a:extLst>
          </p:cNvPr>
          <p:cNvSpPr txBox="1"/>
          <p:nvPr/>
        </p:nvSpPr>
        <p:spPr>
          <a:xfrm>
            <a:off x="6050172" y="4139784"/>
            <a:ext cx="974785" cy="276999"/>
          </a:xfrm>
          <a:prstGeom prst="rect">
            <a:avLst/>
          </a:prstGeom>
          <a:noFill/>
        </p:spPr>
        <p:txBody>
          <a:bodyPr wrap="square" rtlCol="0">
            <a:spAutoFit/>
          </a:bodyPr>
          <a:lstStyle/>
          <a:p>
            <a:r>
              <a:rPr lang="en-IN" sz="1200" b="1" u="sng" dirty="0">
                <a:solidFill>
                  <a:schemeClr val="accent1"/>
                </a:solidFill>
              </a:rPr>
              <a:t>Objective 2</a:t>
            </a:r>
          </a:p>
        </p:txBody>
      </p:sp>
      <p:sp>
        <p:nvSpPr>
          <p:cNvPr id="16" name="Rectangle 15">
            <a:extLst>
              <a:ext uri="{FF2B5EF4-FFF2-40B4-BE49-F238E27FC236}">
                <a16:creationId xmlns:a16="http://schemas.microsoft.com/office/drawing/2014/main" id="{CC002E23-AA02-FD2B-345A-E8CADE158175}"/>
              </a:ext>
            </a:extLst>
          </p:cNvPr>
          <p:cNvSpPr/>
          <p:nvPr/>
        </p:nvSpPr>
        <p:spPr>
          <a:xfrm>
            <a:off x="5929313" y="4409789"/>
            <a:ext cx="641592" cy="276999"/>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5AF112FA-6F27-9E4C-D12D-B4F82BF92852}"/>
              </a:ext>
            </a:extLst>
          </p:cNvPr>
          <p:cNvSpPr/>
          <p:nvPr/>
        </p:nvSpPr>
        <p:spPr>
          <a:xfrm>
            <a:off x="5929313" y="3468988"/>
            <a:ext cx="552814" cy="262565"/>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E28A43B4-D963-9544-906D-44699C72816B}"/>
              </a:ext>
            </a:extLst>
          </p:cNvPr>
          <p:cNvSpPr txBox="1"/>
          <p:nvPr/>
        </p:nvSpPr>
        <p:spPr>
          <a:xfrm>
            <a:off x="6083512" y="3250512"/>
            <a:ext cx="974785" cy="276999"/>
          </a:xfrm>
          <a:prstGeom prst="rect">
            <a:avLst/>
          </a:prstGeom>
          <a:noFill/>
        </p:spPr>
        <p:txBody>
          <a:bodyPr wrap="square" rtlCol="0">
            <a:spAutoFit/>
          </a:bodyPr>
          <a:lstStyle/>
          <a:p>
            <a:r>
              <a:rPr lang="en-IN" sz="1200" b="1" u="sng" dirty="0">
                <a:solidFill>
                  <a:schemeClr val="accent1"/>
                </a:solidFill>
              </a:rPr>
              <a:t>Objective 3</a:t>
            </a:r>
          </a:p>
        </p:txBody>
      </p:sp>
      <p:sp>
        <p:nvSpPr>
          <p:cNvPr id="19" name="TextBox 18">
            <a:extLst>
              <a:ext uri="{FF2B5EF4-FFF2-40B4-BE49-F238E27FC236}">
                <a16:creationId xmlns:a16="http://schemas.microsoft.com/office/drawing/2014/main" id="{7323148F-82AE-85A4-5AC0-DDC0DAEEDF19}"/>
              </a:ext>
            </a:extLst>
          </p:cNvPr>
          <p:cNvSpPr txBox="1"/>
          <p:nvPr/>
        </p:nvSpPr>
        <p:spPr>
          <a:xfrm>
            <a:off x="3708814" y="4587459"/>
            <a:ext cx="974785" cy="276999"/>
          </a:xfrm>
          <a:prstGeom prst="rect">
            <a:avLst/>
          </a:prstGeom>
          <a:noFill/>
        </p:spPr>
        <p:txBody>
          <a:bodyPr wrap="square" rtlCol="0">
            <a:spAutoFit/>
          </a:bodyPr>
          <a:lstStyle/>
          <a:p>
            <a:r>
              <a:rPr lang="en-IN" sz="1200" b="1" u="sng" dirty="0">
                <a:solidFill>
                  <a:schemeClr val="accent1"/>
                </a:solidFill>
              </a:rPr>
              <a:t>Objective 4</a:t>
            </a:r>
          </a:p>
        </p:txBody>
      </p:sp>
      <p:sp>
        <p:nvSpPr>
          <p:cNvPr id="20" name="Rectangle 19">
            <a:extLst>
              <a:ext uri="{FF2B5EF4-FFF2-40B4-BE49-F238E27FC236}">
                <a16:creationId xmlns:a16="http://schemas.microsoft.com/office/drawing/2014/main" id="{3E7C3D4F-C152-904C-696B-57D505E2D878}"/>
              </a:ext>
            </a:extLst>
          </p:cNvPr>
          <p:cNvSpPr/>
          <p:nvPr/>
        </p:nvSpPr>
        <p:spPr>
          <a:xfrm>
            <a:off x="4032664" y="4390308"/>
            <a:ext cx="1849024" cy="276999"/>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7F0C18BE-CE03-DBDA-16FF-41249086D57A}"/>
              </a:ext>
            </a:extLst>
          </p:cNvPr>
          <p:cNvSpPr/>
          <p:nvPr/>
        </p:nvSpPr>
        <p:spPr>
          <a:xfrm>
            <a:off x="2757489" y="972063"/>
            <a:ext cx="5986088" cy="588593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423E7CDD-EA9A-3B8F-8DA2-15D2C974A920}"/>
              </a:ext>
            </a:extLst>
          </p:cNvPr>
          <p:cNvSpPr txBox="1"/>
          <p:nvPr/>
        </p:nvSpPr>
        <p:spPr>
          <a:xfrm>
            <a:off x="8743577" y="972063"/>
            <a:ext cx="4310529" cy="646331"/>
          </a:xfrm>
          <a:prstGeom prst="rect">
            <a:avLst/>
          </a:prstGeom>
          <a:noFill/>
        </p:spPr>
        <p:txBody>
          <a:bodyPr wrap="square">
            <a:spAutoFit/>
          </a:bodyPr>
          <a:lstStyle/>
          <a:p>
            <a:pPr lvl="0"/>
            <a:r>
              <a:rPr lang="en-IN" sz="1800" dirty="0">
                <a:solidFill>
                  <a:schemeClr val="accent1"/>
                </a:solidFill>
              </a:rPr>
              <a:t>A Unified Game-Theoretic </a:t>
            </a:r>
          </a:p>
          <a:p>
            <a:pPr lvl="0"/>
            <a:r>
              <a:rPr lang="en-IN" sz="1800" dirty="0">
                <a:solidFill>
                  <a:schemeClr val="accent1"/>
                </a:solidFill>
              </a:rPr>
              <a:t>Machine Unlearning Framework</a:t>
            </a:r>
            <a:endParaRPr lang="en-IN" dirty="0">
              <a:solidFill>
                <a:schemeClr val="accent1"/>
              </a:solidFill>
            </a:endParaRPr>
          </a:p>
        </p:txBody>
      </p:sp>
      <p:sp>
        <p:nvSpPr>
          <p:cNvPr id="24" name="Slide Number Placeholder 5">
            <a:extLst>
              <a:ext uri="{FF2B5EF4-FFF2-40B4-BE49-F238E27FC236}">
                <a16:creationId xmlns:a16="http://schemas.microsoft.com/office/drawing/2014/main" id="{8086D447-B97E-83B7-B526-4303CBB8603F}"/>
              </a:ext>
            </a:extLst>
          </p:cNvPr>
          <p:cNvSpPr>
            <a:spLocks noGrp="1"/>
          </p:cNvSpPr>
          <p:nvPr>
            <p:ph type="sldNum" sz="quarter" idx="12"/>
          </p:nvPr>
        </p:nvSpPr>
        <p:spPr>
          <a:xfrm>
            <a:off x="11282291" y="6624608"/>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18</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2B2DA3D9-AB87-DED1-EDA9-20E1AC3C968F}"/>
              </a:ext>
            </a:extLst>
          </p:cNvPr>
          <p:cNvSpPr txBox="1"/>
          <p:nvPr/>
        </p:nvSpPr>
        <p:spPr>
          <a:xfrm>
            <a:off x="8743577" y="6501497"/>
            <a:ext cx="3115900" cy="246221"/>
          </a:xfrm>
          <a:prstGeom prst="rect">
            <a:avLst/>
          </a:prstGeom>
          <a:noFill/>
        </p:spPr>
        <p:txBody>
          <a:bodyPr wrap="square">
            <a:spAutoFit/>
          </a:bodyPr>
          <a:lstStyle/>
          <a:p>
            <a:r>
              <a:rPr lang="en-US" sz="1000" dirty="0">
                <a:solidFill>
                  <a:schemeClr val="tx1"/>
                </a:solidFill>
                <a:latin typeface="Times New Roman" panose="02020603050405020304" pitchFamily="18" charset="0"/>
                <a:cs typeface="Times New Roman" panose="02020603050405020304" pitchFamily="18" charset="0"/>
              </a:rPr>
              <a:t>Figure </a:t>
            </a:r>
            <a:r>
              <a:rPr lang="en-US" sz="1000" dirty="0">
                <a:latin typeface="Times New Roman" panose="02020603050405020304" pitchFamily="18" charset="0"/>
                <a:cs typeface="Times New Roman" panose="02020603050405020304" pitchFamily="18" charset="0"/>
              </a:rPr>
              <a:t>6</a:t>
            </a:r>
            <a:r>
              <a:rPr lang="en-US" sz="1000" dirty="0">
                <a:solidFill>
                  <a:schemeClr val="tx1"/>
                </a:solidFill>
                <a:latin typeface="Times New Roman" panose="02020603050405020304" pitchFamily="18" charset="0"/>
                <a:cs typeface="Times New Roman" panose="02020603050405020304" pitchFamily="18" charset="0"/>
              </a:rPr>
              <a:t>: </a:t>
            </a:r>
            <a:r>
              <a:rPr lang="en-IN" sz="1000" dirty="0">
                <a:latin typeface="Times New Roman" panose="02020603050405020304" pitchFamily="18" charset="0"/>
                <a:cs typeface="Times New Roman" panose="02020603050405020304" pitchFamily="18" charset="0"/>
              </a:rPr>
              <a:t>Research Methodology-Overall Workflow</a:t>
            </a:r>
          </a:p>
        </p:txBody>
      </p:sp>
    </p:spTree>
    <p:extLst>
      <p:ext uri="{BB962C8B-B14F-4D97-AF65-F5344CB8AC3E}">
        <p14:creationId xmlns:p14="http://schemas.microsoft.com/office/powerpoint/2010/main" val="858915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52FDD-2492-163A-CC4F-342E147928C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C89837F-B357-DFF4-8041-E3767FE41FEF}"/>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F16BC165-1369-191A-C20A-F726F7F3F5CA}"/>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4C2886A7-EF84-48FD-6F1B-44AF02C4B6CB}"/>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27941BDB-E9C5-AFA6-5181-82F1D422502B}"/>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Expected Outcomes</a:t>
            </a:r>
          </a:p>
        </p:txBody>
      </p:sp>
      <p:sp>
        <p:nvSpPr>
          <p:cNvPr id="8" name="Slide Number Placeholder 5">
            <a:extLst>
              <a:ext uri="{FF2B5EF4-FFF2-40B4-BE49-F238E27FC236}">
                <a16:creationId xmlns:a16="http://schemas.microsoft.com/office/drawing/2014/main" id="{6120AEB7-8354-E405-7E10-9455F2DE1020}"/>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19</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0D267B3-61C8-7DE0-F45A-FE6A4784716B}"/>
              </a:ext>
            </a:extLst>
          </p:cNvPr>
          <p:cNvSpPr txBox="1"/>
          <p:nvPr/>
        </p:nvSpPr>
        <p:spPr>
          <a:xfrm>
            <a:off x="848657" y="1015640"/>
            <a:ext cx="10739719" cy="5909310"/>
          </a:xfrm>
          <a:prstGeom prst="rect">
            <a:avLst/>
          </a:prstGeom>
          <a:noFill/>
        </p:spPr>
        <p:txBody>
          <a:bodyPr wrap="square">
            <a:spAutoFit/>
          </a:bodyPr>
          <a:lstStyle/>
          <a:p>
            <a:pPr>
              <a:buNone/>
            </a:pPr>
            <a:r>
              <a:rPr lang="en-US" sz="1400" b="1" dirty="0"/>
              <a:t>✅ Formalized Game Model</a:t>
            </a:r>
          </a:p>
          <a:p>
            <a:pPr>
              <a:buFont typeface="Arial" panose="020B0604020202020204" pitchFamily="34" charset="0"/>
              <a:buChar char="•"/>
            </a:pPr>
            <a:r>
              <a:rPr lang="en-US" sz="1400" dirty="0"/>
              <a:t>Develop strategic frameworks (e.g., multi-stage Stackelberg, Bayesian games)</a:t>
            </a:r>
          </a:p>
          <a:p>
            <a:pPr>
              <a:buFont typeface="Arial" panose="020B0604020202020204" pitchFamily="34" charset="0"/>
              <a:buChar char="•"/>
            </a:pPr>
            <a:r>
              <a:rPr lang="en-US" sz="1400" dirty="0"/>
              <a:t>Define agents, strategies, and payoff functions</a:t>
            </a:r>
          </a:p>
          <a:p>
            <a:pPr>
              <a:buFont typeface="Arial" panose="020B0604020202020204" pitchFamily="34" charset="0"/>
              <a:buChar char="•"/>
            </a:pPr>
            <a:r>
              <a:rPr lang="en-US" sz="1400" dirty="0"/>
              <a:t>Enable model providers to optimize compliance and performance</a:t>
            </a:r>
          </a:p>
          <a:p>
            <a:pPr>
              <a:buNone/>
            </a:pPr>
            <a:endParaRPr lang="en-US" sz="1400" dirty="0"/>
          </a:p>
          <a:p>
            <a:pPr>
              <a:buNone/>
            </a:pPr>
            <a:r>
              <a:rPr lang="en-US" sz="1400" b="1" dirty="0"/>
              <a:t>🔄 Strategic Dynamics Across Scenarios</a:t>
            </a:r>
          </a:p>
          <a:p>
            <a:pPr>
              <a:buFont typeface="Arial" panose="020B0604020202020204" pitchFamily="34" charset="0"/>
              <a:buChar char="•"/>
            </a:pPr>
            <a:r>
              <a:rPr lang="en-US" sz="1400" dirty="0"/>
              <a:t>Analyze interactions between: </a:t>
            </a:r>
          </a:p>
          <a:p>
            <a:pPr marL="742950" lvl="1" indent="-285750">
              <a:buFont typeface="Arial" panose="020B0604020202020204" pitchFamily="34" charset="0"/>
              <a:buChar char="•"/>
            </a:pPr>
            <a:r>
              <a:rPr lang="en-US" sz="1400" dirty="0"/>
              <a:t>Data providers (individuals, federated agents)</a:t>
            </a:r>
          </a:p>
          <a:p>
            <a:pPr marL="742950" lvl="1" indent="-285750">
              <a:buFont typeface="Arial" panose="020B0604020202020204" pitchFamily="34" charset="0"/>
              <a:buChar char="•"/>
            </a:pPr>
            <a:r>
              <a:rPr lang="en-US" sz="1400" dirty="0"/>
              <a:t>Model providers (centralized, distributed)</a:t>
            </a:r>
          </a:p>
          <a:p>
            <a:pPr>
              <a:buFont typeface="Arial" panose="020B0604020202020204" pitchFamily="34" charset="0"/>
              <a:buChar char="•"/>
            </a:pPr>
            <a:r>
              <a:rPr lang="en-US" sz="1400" dirty="0"/>
              <a:t>Adapt strategies based on task objectives: </a:t>
            </a:r>
          </a:p>
          <a:p>
            <a:pPr marL="742950" lvl="1" indent="-285750">
              <a:buFont typeface="Arial" panose="020B0604020202020204" pitchFamily="34" charset="0"/>
              <a:buChar char="•"/>
            </a:pPr>
            <a:r>
              <a:rPr lang="en-US" sz="1400" dirty="0"/>
              <a:t>Fairness, privacy, transparency, security</a:t>
            </a:r>
          </a:p>
          <a:p>
            <a:pPr>
              <a:buFont typeface="Arial" panose="020B0604020202020204" pitchFamily="34" charset="0"/>
              <a:buChar char="•"/>
            </a:pPr>
            <a:r>
              <a:rPr lang="en-US" sz="1400" dirty="0"/>
              <a:t>Apply to dynamic, sequential, federated, reinforcement unlearning settings</a:t>
            </a:r>
            <a:br>
              <a:rPr lang="en-US" sz="1400" dirty="0"/>
            </a:br>
            <a:endParaRPr lang="en-US" sz="1400" dirty="0"/>
          </a:p>
          <a:p>
            <a:pPr>
              <a:buNone/>
            </a:pPr>
            <a:r>
              <a:rPr lang="en-US" sz="1400" b="1" dirty="0"/>
              <a:t>⚖️ Equilibrium Strategies</a:t>
            </a:r>
          </a:p>
          <a:p>
            <a:pPr>
              <a:buFont typeface="Arial" panose="020B0604020202020204" pitchFamily="34" charset="0"/>
              <a:buChar char="•"/>
            </a:pPr>
            <a:r>
              <a:rPr lang="en-US" sz="1400" dirty="0"/>
              <a:t>Derive optimal trade-offs between: </a:t>
            </a:r>
          </a:p>
          <a:p>
            <a:pPr marL="742950" lvl="1" indent="-285750">
              <a:buFont typeface="Arial" panose="020B0604020202020204" pitchFamily="34" charset="0"/>
              <a:buChar char="•"/>
            </a:pPr>
            <a:r>
              <a:rPr lang="en-US" sz="1400" dirty="0"/>
              <a:t>Model accuracy</a:t>
            </a:r>
          </a:p>
          <a:p>
            <a:pPr marL="742950" lvl="1" indent="-285750">
              <a:buFont typeface="Arial" panose="020B0604020202020204" pitchFamily="34" charset="0"/>
              <a:buChar char="•"/>
            </a:pPr>
            <a:r>
              <a:rPr lang="en-US" sz="1400" dirty="0"/>
              <a:t>Privacy protection</a:t>
            </a:r>
          </a:p>
          <a:p>
            <a:pPr marL="742950" lvl="1" indent="-285750">
              <a:buFont typeface="Arial" panose="020B0604020202020204" pitchFamily="34" charset="0"/>
              <a:buChar char="•"/>
            </a:pPr>
            <a:r>
              <a:rPr lang="en-US" sz="1400" dirty="0"/>
              <a:t>Unlearning cost and sensitivity</a:t>
            </a:r>
          </a:p>
          <a:p>
            <a:pPr>
              <a:buFont typeface="Arial" panose="020B0604020202020204" pitchFamily="34" charset="0"/>
              <a:buChar char="•"/>
            </a:pPr>
            <a:r>
              <a:rPr lang="en-US" sz="1400" dirty="0"/>
              <a:t>Support decision-making under constrained resources</a:t>
            </a:r>
          </a:p>
          <a:p>
            <a:pPr>
              <a:buNone/>
            </a:pPr>
            <a:br>
              <a:rPr lang="en-US" sz="1400" dirty="0"/>
            </a:br>
            <a:endParaRPr lang="en-US" sz="1400" dirty="0"/>
          </a:p>
          <a:p>
            <a:pPr>
              <a:buNone/>
            </a:pPr>
            <a:r>
              <a:rPr lang="en-US" sz="1400" b="1" dirty="0"/>
              <a:t>🙌 Empowering Data Providers</a:t>
            </a:r>
          </a:p>
          <a:p>
            <a:pPr>
              <a:buFont typeface="Arial" panose="020B0604020202020204" pitchFamily="34" charset="0"/>
              <a:buChar char="•"/>
            </a:pPr>
            <a:r>
              <a:rPr lang="en-US" sz="1400" dirty="0"/>
              <a:t>Provide users with transparency and control</a:t>
            </a:r>
          </a:p>
          <a:p>
            <a:pPr>
              <a:buFont typeface="Arial" panose="020B0604020202020204" pitchFamily="34" charset="0"/>
              <a:buChar char="•"/>
            </a:pPr>
            <a:r>
              <a:rPr lang="en-US" sz="1400" dirty="0"/>
              <a:t>Help assess effectiveness of unlearning services</a:t>
            </a:r>
          </a:p>
          <a:p>
            <a:pPr>
              <a:buFont typeface="Arial" panose="020B0604020202020204" pitchFamily="34" charset="0"/>
              <a:buChar char="•"/>
            </a:pPr>
            <a:r>
              <a:rPr lang="en-US" sz="1400" dirty="0"/>
              <a:t>Foster trust and responsible data sharing</a:t>
            </a:r>
          </a:p>
          <a:p>
            <a:pPr>
              <a:buNone/>
            </a:pPr>
            <a:br>
              <a:rPr lang="en-US" sz="1400" dirty="0"/>
            </a:br>
            <a:endParaRPr lang="en-US" sz="1400" dirty="0"/>
          </a:p>
        </p:txBody>
      </p:sp>
    </p:spTree>
    <p:extLst>
      <p:ext uri="{BB962C8B-B14F-4D97-AF65-F5344CB8AC3E}">
        <p14:creationId xmlns:p14="http://schemas.microsoft.com/office/powerpoint/2010/main" val="2034225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54BF7-0720-E391-34D8-56F79A39805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B6D97B6-E959-AA06-C604-D35D585AB564}"/>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47113E4C-9C31-3F98-D89D-98A235C01F34}"/>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FCFD20A9-BFAE-043F-2530-DCFAA0CEFBAD}"/>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57D460E4-0F48-B920-819F-B54CDC71579D}"/>
              </a:ext>
            </a:extLst>
          </p:cNvPr>
          <p:cNvSpPr txBox="1"/>
          <p:nvPr/>
        </p:nvSpPr>
        <p:spPr>
          <a:xfrm>
            <a:off x="3953022" y="190137"/>
            <a:ext cx="7765365" cy="584775"/>
          </a:xfrm>
          <a:prstGeom prst="rect">
            <a:avLst/>
          </a:prstGeom>
          <a:noFill/>
        </p:spPr>
        <p:txBody>
          <a:bodyPr wrap="square" rtlCol="0">
            <a:spAutoFit/>
          </a:bodyPr>
          <a:lstStyle/>
          <a:p>
            <a:pPr algn="r"/>
            <a:r>
              <a:rPr lang="en-US" sz="3200" b="1" dirty="0">
                <a:latin typeface="Times New Roman" panose="02020603050405020304" pitchFamily="18" charset="0"/>
                <a:cs typeface="Times New Roman" panose="02020603050405020304" pitchFamily="18" charset="0"/>
              </a:rPr>
              <a:t>Importance of Proposed Research</a:t>
            </a:r>
            <a:endParaRPr lang="en-IN" sz="3200" dirty="0">
              <a:latin typeface="Times New Roman" panose="02020603050405020304" pitchFamily="18" charset="0"/>
              <a:cs typeface="Times New Roman" panose="02020603050405020304" pitchFamily="18" charset="0"/>
            </a:endParaRPr>
          </a:p>
        </p:txBody>
      </p:sp>
      <p:sp>
        <p:nvSpPr>
          <p:cNvPr id="11" name="Slide Number Placeholder 5">
            <a:extLst>
              <a:ext uri="{FF2B5EF4-FFF2-40B4-BE49-F238E27FC236}">
                <a16:creationId xmlns:a16="http://schemas.microsoft.com/office/drawing/2014/main" id="{0A889076-D029-E9AC-5281-CD8FB4A5A84C}"/>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20</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A074D1E-AB71-580C-C98F-31B4079BC88E}"/>
              </a:ext>
            </a:extLst>
          </p:cNvPr>
          <p:cNvSpPr txBox="1"/>
          <p:nvPr/>
        </p:nvSpPr>
        <p:spPr>
          <a:xfrm>
            <a:off x="398870" y="1096055"/>
            <a:ext cx="10950448" cy="5693866"/>
          </a:xfrm>
          <a:prstGeom prst="rect">
            <a:avLst/>
          </a:prstGeom>
          <a:noFill/>
        </p:spPr>
        <p:txBody>
          <a:bodyPr wrap="square">
            <a:spAutoFit/>
          </a:bodyPr>
          <a:lstStyle/>
          <a:p>
            <a:pPr>
              <a:buNone/>
            </a:pPr>
            <a:r>
              <a:rPr lang="en-US" sz="1400" b="1" dirty="0"/>
              <a:t>Privacy &amp; Responsible AI</a:t>
            </a:r>
          </a:p>
          <a:p>
            <a:pPr>
              <a:buFont typeface="Arial" panose="020B0604020202020204" pitchFamily="34" charset="0"/>
              <a:buChar char="•"/>
            </a:pPr>
            <a:r>
              <a:rPr lang="en-US" sz="1400" dirty="0"/>
              <a:t>Anchors the </a:t>
            </a:r>
            <a:r>
              <a:rPr lang="en-US" sz="1400" b="1" dirty="0"/>
              <a:t>“Right to be Forgotten”</a:t>
            </a:r>
            <a:r>
              <a:rPr lang="en-US" sz="1400" dirty="0"/>
              <a:t> in machine learning systems.</a:t>
            </a:r>
          </a:p>
          <a:p>
            <a:pPr>
              <a:buFont typeface="Arial" panose="020B0604020202020204" pitchFamily="34" charset="0"/>
              <a:buChar char="•"/>
            </a:pPr>
            <a:r>
              <a:rPr lang="en-US" sz="1400" dirty="0"/>
              <a:t>Ensures compliance with global data protection laws (GDPR, CCPA, DPDP Act).</a:t>
            </a:r>
          </a:p>
          <a:p>
            <a:pPr>
              <a:buFont typeface="Arial" panose="020B0604020202020204" pitchFamily="34" charset="0"/>
              <a:buChar char="•"/>
            </a:pPr>
            <a:r>
              <a:rPr lang="en-US" sz="1400" dirty="0"/>
              <a:t>Builds </a:t>
            </a:r>
            <a:r>
              <a:rPr lang="en-US" sz="1400" b="1" dirty="0"/>
              <a:t>privacy‑preserving AI</a:t>
            </a:r>
            <a:r>
              <a:rPr lang="en-US" sz="1400" dirty="0"/>
              <a:t> as a pillar of Responsible AI.</a:t>
            </a:r>
          </a:p>
          <a:p>
            <a:pPr>
              <a:buNone/>
            </a:pPr>
            <a:br>
              <a:rPr lang="en-US" sz="1400" dirty="0"/>
            </a:br>
            <a:r>
              <a:rPr lang="en-US" sz="1400" b="1" dirty="0"/>
              <a:t>Sustainable &amp; Accountable AI</a:t>
            </a:r>
          </a:p>
          <a:p>
            <a:pPr>
              <a:buFont typeface="Arial" panose="020B0604020202020204" pitchFamily="34" charset="0"/>
              <a:buChar char="•"/>
            </a:pPr>
            <a:r>
              <a:rPr lang="en-US" sz="1400" dirty="0"/>
              <a:t>Provides </a:t>
            </a:r>
            <a:r>
              <a:rPr lang="en-US" sz="1400" b="1" dirty="0"/>
              <a:t>verifiable unlearning mechanisms</a:t>
            </a:r>
            <a:r>
              <a:rPr lang="en-US" sz="1400" dirty="0"/>
              <a:t> for trust and transparency.</a:t>
            </a:r>
          </a:p>
          <a:p>
            <a:pPr>
              <a:buFont typeface="Arial" panose="020B0604020202020204" pitchFamily="34" charset="0"/>
              <a:buChar char="•"/>
            </a:pPr>
            <a:r>
              <a:rPr lang="en-US" sz="1400" dirty="0"/>
              <a:t>Reduces conflicts and ensures justice by giving individuals control over their data.</a:t>
            </a:r>
          </a:p>
          <a:p>
            <a:pPr>
              <a:buFont typeface="Arial" panose="020B0604020202020204" pitchFamily="34" charset="0"/>
              <a:buChar char="•"/>
            </a:pPr>
            <a:r>
              <a:rPr lang="en-US" sz="1400" dirty="0"/>
              <a:t>Supports </a:t>
            </a:r>
            <a:r>
              <a:rPr lang="en-US" sz="1400" b="1" dirty="0"/>
              <a:t>sustainable AI deployment</a:t>
            </a:r>
            <a:r>
              <a:rPr lang="en-US" sz="1400" dirty="0"/>
              <a:t> in production environments.</a:t>
            </a:r>
          </a:p>
          <a:p>
            <a:pPr>
              <a:buNone/>
            </a:pPr>
            <a:br>
              <a:rPr lang="en-US" sz="1400" dirty="0"/>
            </a:br>
            <a:r>
              <a:rPr lang="en-US" sz="1400" b="1" dirty="0"/>
              <a:t>Industry–Academia Collaboration</a:t>
            </a:r>
          </a:p>
          <a:p>
            <a:pPr>
              <a:buFont typeface="Arial" panose="020B0604020202020204" pitchFamily="34" charset="0"/>
              <a:buChar char="•"/>
            </a:pPr>
            <a:r>
              <a:rPr lang="en-US" sz="1400" dirty="0"/>
              <a:t>Fosters partnerships between researchers and practitioners.</a:t>
            </a:r>
          </a:p>
          <a:p>
            <a:pPr>
              <a:buFont typeface="Arial" panose="020B0604020202020204" pitchFamily="34" charset="0"/>
              <a:buChar char="•"/>
            </a:pPr>
            <a:r>
              <a:rPr lang="en-US" sz="1400" dirty="0"/>
              <a:t>Bridges theoretical frameworks with </a:t>
            </a:r>
            <a:r>
              <a:rPr lang="en-US" sz="1400" b="1" dirty="0"/>
              <a:t>real-world implementations</a:t>
            </a:r>
            <a:r>
              <a:rPr lang="en-US" sz="1400" dirty="0"/>
              <a:t>.</a:t>
            </a:r>
          </a:p>
          <a:p>
            <a:pPr>
              <a:buFont typeface="Arial" panose="020B0604020202020204" pitchFamily="34" charset="0"/>
              <a:buChar char="•"/>
            </a:pPr>
            <a:r>
              <a:rPr lang="en-US" sz="1400" dirty="0"/>
              <a:t>Encourages multi‑disciplinary contributions to Responsible AI.</a:t>
            </a:r>
          </a:p>
          <a:p>
            <a:pPr>
              <a:buNone/>
            </a:pPr>
            <a:br>
              <a:rPr lang="en-US" sz="1400" dirty="0"/>
            </a:br>
            <a:r>
              <a:rPr lang="en-US" sz="1400" b="1" dirty="0"/>
              <a:t>Lifelong Learning &amp; Knowledge Sharing</a:t>
            </a:r>
          </a:p>
          <a:p>
            <a:pPr>
              <a:buFont typeface="Arial" panose="020B0604020202020204" pitchFamily="34" charset="0"/>
              <a:buChar char="•"/>
            </a:pPr>
            <a:r>
              <a:rPr lang="en-US" sz="1400" dirty="0"/>
              <a:t>Generates reusable frameworks and methodologies for future researchers.</a:t>
            </a:r>
          </a:p>
          <a:p>
            <a:pPr>
              <a:buFont typeface="Arial" panose="020B0604020202020204" pitchFamily="34" charset="0"/>
              <a:buChar char="•"/>
            </a:pPr>
            <a:r>
              <a:rPr lang="en-US" sz="1400" dirty="0"/>
              <a:t>Provides educational resources for students and professionals.</a:t>
            </a:r>
          </a:p>
          <a:p>
            <a:pPr>
              <a:buFont typeface="Arial" panose="020B0604020202020204" pitchFamily="34" charset="0"/>
              <a:buChar char="•"/>
            </a:pPr>
            <a:r>
              <a:rPr lang="en-US" sz="1400" dirty="0"/>
              <a:t>Strengthens academic foundations in </a:t>
            </a:r>
            <a:r>
              <a:rPr lang="en-US" sz="1400" b="1" dirty="0"/>
              <a:t>game-theoretic AI governance</a:t>
            </a:r>
            <a:r>
              <a:rPr lang="en-US" sz="1400" dirty="0"/>
              <a:t>.</a:t>
            </a:r>
          </a:p>
          <a:p>
            <a:pPr>
              <a:buNone/>
            </a:pPr>
            <a:endParaRPr lang="en-US" sz="1400" dirty="0"/>
          </a:p>
          <a:p>
            <a:pPr>
              <a:buNone/>
            </a:pPr>
            <a:r>
              <a:rPr lang="en-US" sz="1400" b="1" dirty="0"/>
              <a:t>Alignment with UN SDGs</a:t>
            </a:r>
          </a:p>
          <a:p>
            <a:pPr>
              <a:buFont typeface="Arial" panose="020B0604020202020204" pitchFamily="34" charset="0"/>
              <a:buChar char="•"/>
            </a:pPr>
            <a:r>
              <a:rPr lang="en-US" sz="1400" b="1" dirty="0"/>
              <a:t>SDG 9:</a:t>
            </a:r>
            <a:r>
              <a:rPr lang="en-US" sz="1400" dirty="0"/>
              <a:t> Build resilient, responsible AI systems.</a:t>
            </a:r>
          </a:p>
          <a:p>
            <a:pPr>
              <a:buFont typeface="Arial" panose="020B0604020202020204" pitchFamily="34" charset="0"/>
              <a:buChar char="•"/>
            </a:pPr>
            <a:r>
              <a:rPr lang="en-US" sz="1400" b="1" dirty="0"/>
              <a:t>SDG 16:</a:t>
            </a:r>
            <a:r>
              <a:rPr lang="en-US" sz="1400" dirty="0"/>
              <a:t> Promote justice, privacy, and legal recourse.</a:t>
            </a:r>
          </a:p>
          <a:p>
            <a:pPr>
              <a:buFont typeface="Arial" panose="020B0604020202020204" pitchFamily="34" charset="0"/>
              <a:buChar char="•"/>
            </a:pPr>
            <a:r>
              <a:rPr lang="en-US" sz="1400" b="1" dirty="0"/>
              <a:t>SDG 17:</a:t>
            </a:r>
            <a:r>
              <a:rPr lang="en-US" sz="1400" dirty="0"/>
              <a:t> Strengthen partnerships for Responsible AI.</a:t>
            </a:r>
          </a:p>
          <a:p>
            <a:pPr>
              <a:buFont typeface="Arial" panose="020B0604020202020204" pitchFamily="34" charset="0"/>
              <a:buChar char="•"/>
            </a:pPr>
            <a:r>
              <a:rPr lang="en-US" sz="1400" b="1" dirty="0"/>
              <a:t>SDG 4:</a:t>
            </a:r>
            <a:r>
              <a:rPr lang="en-US" sz="1400" dirty="0"/>
              <a:t> Enable inclusive lifelong learning.</a:t>
            </a:r>
          </a:p>
          <a:p>
            <a:pPr>
              <a:buFont typeface="Arial" panose="020B0604020202020204" pitchFamily="34" charset="0"/>
              <a:buChar char="•"/>
            </a:pPr>
            <a:r>
              <a:rPr lang="en-US" sz="1400" b="1" dirty="0"/>
              <a:t>SDG 12:</a:t>
            </a:r>
            <a:r>
              <a:rPr lang="en-US" sz="1400" dirty="0"/>
              <a:t> Ensure sustainable AI practices.</a:t>
            </a:r>
          </a:p>
        </p:txBody>
      </p:sp>
    </p:spTree>
    <p:extLst>
      <p:ext uri="{BB962C8B-B14F-4D97-AF65-F5344CB8AC3E}">
        <p14:creationId xmlns:p14="http://schemas.microsoft.com/office/powerpoint/2010/main" val="3313945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88601-CB46-F301-BB98-937B364FE2A5}"/>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69CEC0B0-7CFC-482F-8B6F-83FB576879F2}"/>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4F981AA1-8316-072E-0BB2-6EB4CCC29712}"/>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2E82F9C9-BFEC-80F2-092A-1A944EB62421}"/>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2A61A2F1-7924-76F8-7808-271CF4C51682}"/>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Time Plan</a:t>
            </a:r>
          </a:p>
        </p:txBody>
      </p:sp>
      <p:sp>
        <p:nvSpPr>
          <p:cNvPr id="7" name="Slide Number Placeholder 5">
            <a:extLst>
              <a:ext uri="{FF2B5EF4-FFF2-40B4-BE49-F238E27FC236}">
                <a16:creationId xmlns:a16="http://schemas.microsoft.com/office/drawing/2014/main" id="{54002E39-F893-5CAE-C551-B65E89E5ECAD}"/>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21</a:t>
            </a:fld>
            <a:endParaRPr lang="en-IN" sz="1400" dirty="0">
              <a:solidFill>
                <a:schemeClr val="tx1"/>
              </a:solidFill>
              <a:latin typeface="Times New Roman" panose="02020603050405020304" pitchFamily="18" charset="0"/>
              <a:cs typeface="Times New Roman" panose="02020603050405020304" pitchFamily="18" charset="0"/>
            </a:endParaRPr>
          </a:p>
        </p:txBody>
      </p:sp>
      <p:graphicFrame>
        <p:nvGraphicFramePr>
          <p:cNvPr id="21" name="Table 20">
            <a:extLst>
              <a:ext uri="{FF2B5EF4-FFF2-40B4-BE49-F238E27FC236}">
                <a16:creationId xmlns:a16="http://schemas.microsoft.com/office/drawing/2014/main" id="{D5BB0600-A971-07A9-0CB7-B2EAA956601E}"/>
              </a:ext>
            </a:extLst>
          </p:cNvPr>
          <p:cNvGraphicFramePr>
            <a:graphicFrameLocks noGrp="1"/>
          </p:cNvGraphicFramePr>
          <p:nvPr>
            <p:extLst>
              <p:ext uri="{D42A27DB-BD31-4B8C-83A1-F6EECF244321}">
                <p14:modId xmlns:p14="http://schemas.microsoft.com/office/powerpoint/2010/main" val="1792153645"/>
              </p:ext>
            </p:extLst>
          </p:nvPr>
        </p:nvGraphicFramePr>
        <p:xfrm>
          <a:off x="1629555" y="1825624"/>
          <a:ext cx="8932889" cy="4351340"/>
        </p:xfrm>
        <a:graphic>
          <a:graphicData uri="http://schemas.openxmlformats.org/drawingml/2006/table">
            <a:tbl>
              <a:tblPr firstRow="1" firstCol="1" bandRow="1"/>
              <a:tblGrid>
                <a:gridCol w="2576520">
                  <a:extLst>
                    <a:ext uri="{9D8B030D-6E8A-4147-A177-3AD203B41FA5}">
                      <a16:colId xmlns:a16="http://schemas.microsoft.com/office/drawing/2014/main" val="3106393401"/>
                    </a:ext>
                  </a:extLst>
                </a:gridCol>
                <a:gridCol w="2285075">
                  <a:extLst>
                    <a:ext uri="{9D8B030D-6E8A-4147-A177-3AD203B41FA5}">
                      <a16:colId xmlns:a16="http://schemas.microsoft.com/office/drawing/2014/main" val="812234121"/>
                    </a:ext>
                  </a:extLst>
                </a:gridCol>
                <a:gridCol w="452366">
                  <a:extLst>
                    <a:ext uri="{9D8B030D-6E8A-4147-A177-3AD203B41FA5}">
                      <a16:colId xmlns:a16="http://schemas.microsoft.com/office/drawing/2014/main" val="1440309528"/>
                    </a:ext>
                  </a:extLst>
                </a:gridCol>
                <a:gridCol w="452366">
                  <a:extLst>
                    <a:ext uri="{9D8B030D-6E8A-4147-A177-3AD203B41FA5}">
                      <a16:colId xmlns:a16="http://schemas.microsoft.com/office/drawing/2014/main" val="3928311041"/>
                    </a:ext>
                  </a:extLst>
                </a:gridCol>
                <a:gridCol w="452366">
                  <a:extLst>
                    <a:ext uri="{9D8B030D-6E8A-4147-A177-3AD203B41FA5}">
                      <a16:colId xmlns:a16="http://schemas.microsoft.com/office/drawing/2014/main" val="3200560264"/>
                    </a:ext>
                  </a:extLst>
                </a:gridCol>
                <a:gridCol w="452366">
                  <a:extLst>
                    <a:ext uri="{9D8B030D-6E8A-4147-A177-3AD203B41FA5}">
                      <a16:colId xmlns:a16="http://schemas.microsoft.com/office/drawing/2014/main" val="2832468558"/>
                    </a:ext>
                  </a:extLst>
                </a:gridCol>
                <a:gridCol w="452366">
                  <a:extLst>
                    <a:ext uri="{9D8B030D-6E8A-4147-A177-3AD203B41FA5}">
                      <a16:colId xmlns:a16="http://schemas.microsoft.com/office/drawing/2014/main" val="4234801387"/>
                    </a:ext>
                  </a:extLst>
                </a:gridCol>
                <a:gridCol w="452366">
                  <a:extLst>
                    <a:ext uri="{9D8B030D-6E8A-4147-A177-3AD203B41FA5}">
                      <a16:colId xmlns:a16="http://schemas.microsoft.com/office/drawing/2014/main" val="2058263890"/>
                    </a:ext>
                  </a:extLst>
                </a:gridCol>
                <a:gridCol w="452366">
                  <a:extLst>
                    <a:ext uri="{9D8B030D-6E8A-4147-A177-3AD203B41FA5}">
                      <a16:colId xmlns:a16="http://schemas.microsoft.com/office/drawing/2014/main" val="4038235877"/>
                    </a:ext>
                  </a:extLst>
                </a:gridCol>
                <a:gridCol w="452366">
                  <a:extLst>
                    <a:ext uri="{9D8B030D-6E8A-4147-A177-3AD203B41FA5}">
                      <a16:colId xmlns:a16="http://schemas.microsoft.com/office/drawing/2014/main" val="2794386449"/>
                    </a:ext>
                  </a:extLst>
                </a:gridCol>
                <a:gridCol w="452366">
                  <a:extLst>
                    <a:ext uri="{9D8B030D-6E8A-4147-A177-3AD203B41FA5}">
                      <a16:colId xmlns:a16="http://schemas.microsoft.com/office/drawing/2014/main" val="3660844440"/>
                    </a:ext>
                  </a:extLst>
                </a:gridCol>
              </a:tblGrid>
              <a:tr h="266423">
                <a:tc rowSpan="2">
                  <a:txBody>
                    <a:bodyPr/>
                    <a:lstStyle/>
                    <a:p>
                      <a:pPr marL="228600">
                        <a:lnSpc>
                          <a:spcPct val="200000"/>
                        </a:lnSpc>
                        <a:spcAft>
                          <a:spcPts val="800"/>
                        </a:spcAft>
                        <a:buNone/>
                      </a:pPr>
                      <a:r>
                        <a:rPr lang="en-IN" sz="1000" b="1" dirty="0">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Research</a:t>
                      </a:r>
                      <a:r>
                        <a:rPr lang="en-IN" sz="1000" b="1" spc="-10" dirty="0">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a:t>
                      </a:r>
                      <a:r>
                        <a:rPr lang="en-IN" sz="1000" b="1" dirty="0">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Activity </a:t>
                      </a:r>
                      <a:endParaRPr lang="en-IN" sz="900" dirty="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gn="ctr">
                        <a:lnSpc>
                          <a:spcPct val="200000"/>
                        </a:lnSpc>
                        <a:buNone/>
                      </a:pPr>
                      <a:r>
                        <a:rPr lang="en-IN" sz="1000" b="1">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9">
                  <a:txBody>
                    <a:bodyPr/>
                    <a:lstStyle/>
                    <a:p>
                      <a:pPr marL="457200" algn="ctr">
                        <a:lnSpc>
                          <a:spcPct val="200000"/>
                        </a:lnSpc>
                        <a:spcAft>
                          <a:spcPts val="800"/>
                        </a:spcAft>
                        <a:buNone/>
                      </a:pPr>
                      <a:r>
                        <a:rPr lang="en-IN" sz="1000" b="1">
                          <a:solidFill>
                            <a:srgbClr val="000000"/>
                          </a:solidFill>
                          <a:effectLst/>
                          <a:latin typeface="Times New Roman" panose="02020603050405020304" pitchFamily="18" charset="0"/>
                          <a:ea typeface="Calibri" panose="020F0502020204030204" pitchFamily="34" charset="0"/>
                          <a:cs typeface="Tunga" panose="020B0502040204020203" pitchFamily="34" charset="0"/>
                        </a:rPr>
                        <a:t>Time ( from Registration) in Months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696428148"/>
                  </a:ext>
                </a:extLst>
              </a:tr>
              <a:tr h="577132">
                <a:tc vMerge="1">
                  <a:txBody>
                    <a:bodyPr/>
                    <a:lstStyle/>
                    <a:p>
                      <a:endParaRPr lang="en-IN"/>
                    </a:p>
                  </a:txBody>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06</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12</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dirty="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18</a:t>
                      </a:r>
                      <a:endParaRPr lang="en-IN" sz="900" dirty="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24</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30</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36</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42</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48</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spcAft>
                          <a:spcPts val="800"/>
                        </a:spcAft>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54</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1221572"/>
                  </a:ext>
                </a:extLst>
              </a:tr>
              <a:tr h="266423">
                <a:tc>
                  <a:txBody>
                    <a:bodyPr/>
                    <a:lstStyle/>
                    <a:p>
                      <a:pPr>
                        <a:lnSpc>
                          <a:spcPct val="200000"/>
                        </a:lnSpc>
                        <a:spcAft>
                          <a:spcPts val="800"/>
                        </a:spcAft>
                        <a:buNone/>
                      </a:pP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Course</a:t>
                      </a:r>
                      <a:r>
                        <a:rPr lang="en-IN" sz="1000" b="1" spc="-10">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a:t>
                      </a: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Work</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00"/>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spcAft>
                          <a:spcPts val="800"/>
                        </a:spcAft>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7257708"/>
                  </a:ext>
                </a:extLst>
              </a:tr>
              <a:tr h="266423">
                <a:tc>
                  <a:txBody>
                    <a:bodyPr/>
                    <a:lstStyle/>
                    <a:p>
                      <a:pPr>
                        <a:lnSpc>
                          <a:spcPct val="200000"/>
                        </a:lnSpc>
                        <a:spcAft>
                          <a:spcPts val="800"/>
                        </a:spcAft>
                        <a:buNone/>
                      </a:pP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Literature</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a:t>
                      </a: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Survey</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00"/>
                    </a:solidFill>
                  </a:tcPr>
                </a:tc>
                <a:tc>
                  <a:txBody>
                    <a:bodyPr/>
                    <a:lstStyle/>
                    <a:p>
                      <a:pPr marL="457200">
                        <a:lnSpc>
                          <a:spcPct val="200000"/>
                        </a:lnSpc>
                        <a:spcAft>
                          <a:spcPts val="800"/>
                        </a:spcAft>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9239806"/>
                  </a:ext>
                </a:extLst>
              </a:tr>
              <a:tr h="266423">
                <a:tc>
                  <a:txBody>
                    <a:bodyPr/>
                    <a:lstStyle/>
                    <a:p>
                      <a:pPr>
                        <a:lnSpc>
                          <a:spcPct val="200000"/>
                        </a:lnSpc>
                        <a:spcAft>
                          <a:spcPts val="800"/>
                        </a:spcAft>
                        <a:buNone/>
                      </a:pP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Methodology</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S</a:t>
                      </a: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tep</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a:t>
                      </a: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1</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00"/>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spcAft>
                          <a:spcPts val="800"/>
                        </a:spcAft>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1854880"/>
                  </a:ext>
                </a:extLst>
              </a:tr>
              <a:tr h="266423">
                <a:tc>
                  <a:txBody>
                    <a:bodyPr/>
                    <a:lstStyle/>
                    <a:p>
                      <a:pPr>
                        <a:lnSpc>
                          <a:spcPct val="200000"/>
                        </a:lnSpc>
                        <a:spcAft>
                          <a:spcPts val="800"/>
                        </a:spcAft>
                        <a:buNone/>
                      </a:pP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Methodology</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S</a:t>
                      </a: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tep</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2</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00"/>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spcAft>
                          <a:spcPts val="800"/>
                        </a:spcAft>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7219014"/>
                  </a:ext>
                </a:extLst>
              </a:tr>
              <a:tr h="266423">
                <a:tc>
                  <a:txBody>
                    <a:bodyPr/>
                    <a:lstStyle/>
                    <a:p>
                      <a:pPr>
                        <a:lnSpc>
                          <a:spcPct val="200000"/>
                        </a:lnSpc>
                        <a:spcAft>
                          <a:spcPts val="800"/>
                        </a:spcAft>
                        <a:buNone/>
                      </a:pP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Methodology</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S</a:t>
                      </a: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tep</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3</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spcAft>
                          <a:spcPts val="800"/>
                        </a:spcAft>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8911597"/>
                  </a:ext>
                </a:extLst>
              </a:tr>
              <a:tr h="266423">
                <a:tc>
                  <a:txBody>
                    <a:bodyPr/>
                    <a:lstStyle/>
                    <a:p>
                      <a:pPr>
                        <a:lnSpc>
                          <a:spcPct val="200000"/>
                        </a:lnSpc>
                        <a:spcAft>
                          <a:spcPts val="800"/>
                        </a:spcAft>
                        <a:buNone/>
                      </a:pP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Methodology</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S</a:t>
                      </a: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tep</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4</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spcAft>
                          <a:spcPts val="800"/>
                        </a:spcAft>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4240910"/>
                  </a:ext>
                </a:extLst>
              </a:tr>
              <a:tr h="266423">
                <a:tc>
                  <a:txBody>
                    <a:bodyPr/>
                    <a:lstStyle/>
                    <a:p>
                      <a:pPr>
                        <a:lnSpc>
                          <a:spcPct val="200000"/>
                        </a:lnSpc>
                        <a:spcAft>
                          <a:spcPts val="800"/>
                        </a:spcAft>
                        <a:buNone/>
                      </a:pP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DAC presentation and registration renewal</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US"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endParaRPr lang="en-IN" sz="900">
                        <a:effectLst/>
                        <a:latin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endParaRPr lang="en-IN" sz="900">
                        <a:effectLst/>
                        <a:latin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spcAft>
                          <a:spcPts val="800"/>
                        </a:spcAft>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9003144"/>
                  </a:ext>
                </a:extLst>
              </a:tr>
              <a:tr h="266423">
                <a:tc>
                  <a:txBody>
                    <a:bodyPr/>
                    <a:lstStyle/>
                    <a:p>
                      <a:pPr>
                        <a:lnSpc>
                          <a:spcPct val="200000"/>
                        </a:lnSpc>
                        <a:spcAft>
                          <a:spcPts val="800"/>
                        </a:spcAft>
                        <a:buNone/>
                      </a:pP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Conference presentations</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b="1">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b="1">
                          <a:solidFill>
                            <a:srgbClr val="000000"/>
                          </a:solidFill>
                          <a:effectLst/>
                          <a:latin typeface="Times New Roman" panose="02020603050405020304" pitchFamily="18" charset="0"/>
                          <a:ea typeface="Calibri" panose="020F0502020204030204" pitchFamily="34" charset="0"/>
                          <a:cs typeface="Tunga" panose="020B0502040204020203" pitchFamily="34" charset="0"/>
                        </a:rPr>
                        <a:t>C</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b="1">
                          <a:solidFill>
                            <a:srgbClr val="000000"/>
                          </a:solidFill>
                          <a:effectLst/>
                          <a:latin typeface="Times New Roman" panose="02020603050405020304" pitchFamily="18" charset="0"/>
                          <a:ea typeface="Calibri" panose="020F0502020204030204" pitchFamily="34" charset="0"/>
                          <a:cs typeface="Tunga" panose="020B0502040204020203" pitchFamily="34" charset="0"/>
                        </a:rPr>
                        <a:t>C</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spcAft>
                          <a:spcPts val="800"/>
                        </a:spcAft>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3017572"/>
                  </a:ext>
                </a:extLst>
              </a:tr>
              <a:tr h="266423">
                <a:tc>
                  <a:txBody>
                    <a:bodyPr/>
                    <a:lstStyle/>
                    <a:p>
                      <a:pPr>
                        <a:lnSpc>
                          <a:spcPct val="200000"/>
                        </a:lnSpc>
                        <a:spcAft>
                          <a:spcPts val="800"/>
                        </a:spcAft>
                        <a:buNone/>
                      </a:pP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Journal Publications</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b="1">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b="1">
                          <a:solidFill>
                            <a:srgbClr val="000000"/>
                          </a:solidFill>
                          <a:effectLst/>
                          <a:latin typeface="Times New Roman" panose="02020603050405020304" pitchFamily="18" charset="0"/>
                          <a:ea typeface="Calibri" panose="020F0502020204030204" pitchFamily="34" charset="0"/>
                          <a:cs typeface="Tunga" panose="020B0502040204020203" pitchFamily="34" charset="0"/>
                        </a:rPr>
                        <a:t>J</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b="1">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b="1">
                          <a:solidFill>
                            <a:srgbClr val="000000"/>
                          </a:solidFill>
                          <a:effectLst/>
                          <a:latin typeface="Times New Roman" panose="02020603050405020304" pitchFamily="18" charset="0"/>
                          <a:ea typeface="Calibri" panose="020F0502020204030204" pitchFamily="34" charset="0"/>
                          <a:cs typeface="Tunga" panose="020B0502040204020203" pitchFamily="34" charset="0"/>
                        </a:rPr>
                        <a:t>J</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spcAft>
                          <a:spcPts val="800"/>
                        </a:spcAft>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6324785"/>
                  </a:ext>
                </a:extLst>
              </a:tr>
              <a:tr h="266423">
                <a:tc>
                  <a:txBody>
                    <a:bodyPr/>
                    <a:lstStyle/>
                    <a:p>
                      <a:pPr>
                        <a:lnSpc>
                          <a:spcPct val="200000"/>
                        </a:lnSpc>
                        <a:spcAft>
                          <a:spcPts val="800"/>
                        </a:spcAft>
                        <a:buNone/>
                      </a:pP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Preparation</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a:t>
                      </a: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of</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a:t>
                      </a: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Final</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a:t>
                      </a: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Thesis</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highlight>
                            <a:srgbClr val="FFFF00"/>
                          </a:highligh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highlight>
                            <a:srgbClr val="FFFF00"/>
                          </a:highligh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marL="457200">
                        <a:lnSpc>
                          <a:spcPct val="200000"/>
                        </a:lnSpc>
                        <a:spcAft>
                          <a:spcPts val="800"/>
                        </a:spcAft>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00"/>
                    </a:solidFill>
                  </a:tcPr>
                </a:tc>
                <a:extLst>
                  <a:ext uri="{0D108BD9-81ED-4DB2-BD59-A6C34878D82A}">
                    <a16:rowId xmlns:a16="http://schemas.microsoft.com/office/drawing/2014/main" val="3246785986"/>
                  </a:ext>
                </a:extLst>
              </a:tr>
              <a:tr h="577132">
                <a:tc>
                  <a:txBody>
                    <a:bodyPr/>
                    <a:lstStyle/>
                    <a:p>
                      <a:pPr>
                        <a:lnSpc>
                          <a:spcPct val="200000"/>
                        </a:lnSpc>
                        <a:spcAft>
                          <a:spcPts val="800"/>
                        </a:spcAft>
                        <a:buNone/>
                      </a:pP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Synopsis presentation</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highlight>
                            <a:srgbClr val="FFFF00"/>
                          </a:highligh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highlight>
                            <a:srgbClr val="FFFF00"/>
                          </a:highligh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endParaRPr lang="en-IN" sz="900">
                        <a:effectLst/>
                        <a:latin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2949395"/>
                  </a:ext>
                </a:extLst>
              </a:tr>
              <a:tr h="266423">
                <a:tc>
                  <a:txBody>
                    <a:bodyPr/>
                    <a:lstStyle/>
                    <a:p>
                      <a:pPr>
                        <a:lnSpc>
                          <a:spcPct val="200000"/>
                        </a:lnSpc>
                        <a:spcAft>
                          <a:spcPts val="800"/>
                        </a:spcAft>
                        <a:buNone/>
                      </a:pP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Submission</a:t>
                      </a:r>
                      <a:r>
                        <a:rPr lang="en-IN" sz="1000" b="1" spc="35">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a:t>
                      </a: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of</a:t>
                      </a:r>
                      <a:r>
                        <a:rPr lang="en-IN" sz="1000" b="1" spc="-10">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 </a:t>
                      </a:r>
                      <a:r>
                        <a:rPr lang="en-IN" sz="1000" b="1">
                          <a:solidFill>
                            <a:srgbClr val="2A2929"/>
                          </a:solidFill>
                          <a:effectLst/>
                          <a:latin typeface="Times New Roman" panose="02020603050405020304" pitchFamily="18" charset="0"/>
                          <a:ea typeface="Times New Roman" panose="02020603050405020304" pitchFamily="18" charset="0"/>
                          <a:cs typeface="Tunga" panose="020B0502040204020203" pitchFamily="34" charset="0"/>
                        </a:rPr>
                        <a:t>Thesis</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457200">
                        <a:lnSpc>
                          <a:spcPct val="200000"/>
                        </a:lnSpc>
                        <a:buNone/>
                      </a:pPr>
                      <a:r>
                        <a:rPr lang="en-IN" sz="100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457200">
                        <a:lnSpc>
                          <a:spcPct val="200000"/>
                        </a:lnSpc>
                        <a:spcAft>
                          <a:spcPts val="800"/>
                        </a:spcAft>
                        <a:buNone/>
                      </a:pPr>
                      <a:r>
                        <a:rPr lang="en-IN" sz="1000" dirty="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 </a:t>
                      </a:r>
                      <a:endParaRPr lang="en-IN" sz="900" dirty="0">
                        <a:solidFill>
                          <a:srgbClr val="000000"/>
                        </a:solidFill>
                        <a:effectLst/>
                        <a:latin typeface="Calibri" panose="020F0502020204030204" pitchFamily="34" charset="0"/>
                        <a:ea typeface="Calibri" panose="020F0502020204030204" pitchFamily="34" charset="0"/>
                        <a:cs typeface="Tunga" panose="020B0502040204020203" pitchFamily="34" charset="0"/>
                      </a:endParaRPr>
                    </a:p>
                  </a:txBody>
                  <a:tcPr marL="58258" marR="58258"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4555442"/>
                  </a:ext>
                </a:extLst>
              </a:tr>
            </a:tbl>
          </a:graphicData>
        </a:graphic>
      </p:graphicFrame>
      <p:grpSp>
        <p:nvGrpSpPr>
          <p:cNvPr id="2051" name="Group 1423357565"/>
          <p:cNvGrpSpPr>
            <a:grpSpLocks/>
          </p:cNvGrpSpPr>
          <p:nvPr/>
        </p:nvGrpSpPr>
        <p:grpSpPr bwMode="auto">
          <a:xfrm>
            <a:off x="-33338" y="449263"/>
            <a:ext cx="2295526" cy="244475"/>
            <a:chOff x="0" y="0"/>
            <a:chExt cx="26659" cy="2584"/>
          </a:xfrm>
        </p:grpSpPr>
      </p:grpSp>
    </p:spTree>
    <p:extLst>
      <p:ext uri="{BB962C8B-B14F-4D97-AF65-F5344CB8AC3E}">
        <p14:creationId xmlns:p14="http://schemas.microsoft.com/office/powerpoint/2010/main" val="28795429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862F2-CB03-6DE4-00DF-4E8AA46DCD6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4104ABFD-FFF3-3B2B-9687-6CD9D47F902F}"/>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D905CEB0-F616-440D-C75A-ACA81D7A0BF8}"/>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057919EB-8DA7-2F7D-7D00-5B1A5A3103D6}"/>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78F75608-F311-E04A-7849-594907706E3D}"/>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Pilot Study: Model &amp; Dataset</a:t>
            </a:r>
          </a:p>
        </p:txBody>
      </p:sp>
      <p:sp>
        <p:nvSpPr>
          <p:cNvPr id="13" name="Slide Number Placeholder 5">
            <a:extLst>
              <a:ext uri="{FF2B5EF4-FFF2-40B4-BE49-F238E27FC236}">
                <a16:creationId xmlns:a16="http://schemas.microsoft.com/office/drawing/2014/main" id="{1743820B-04C3-16BB-79F8-62F0A4C1147C}"/>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22</a:t>
            </a:fld>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DB2114D-D102-D6FE-940B-D12FB51796EC}"/>
              </a:ext>
            </a:extLst>
          </p:cNvPr>
          <p:cNvPicPr>
            <a:picLocks noChangeAspect="1"/>
          </p:cNvPicPr>
          <p:nvPr/>
        </p:nvPicPr>
        <p:blipFill>
          <a:blip r:embed="rId3">
            <a:extLst>
              <a:ext uri="{28A0092B-C50C-407E-A947-70E740481C1C}">
                <a14:useLocalDpi xmlns:a14="http://schemas.microsoft.com/office/drawing/2010/main" val="0"/>
              </a:ext>
            </a:extLst>
          </a:blip>
          <a:srcRect l="50895" t="14810"/>
          <a:stretch>
            <a:fillRect/>
          </a:stretch>
        </p:blipFill>
        <p:spPr>
          <a:xfrm>
            <a:off x="38086" y="985488"/>
            <a:ext cx="5051485" cy="5842360"/>
          </a:xfrm>
          <a:prstGeom prst="rect">
            <a:avLst/>
          </a:prstGeom>
        </p:spPr>
      </p:pic>
      <p:pic>
        <p:nvPicPr>
          <p:cNvPr id="18" name="Picture 17">
            <a:extLst>
              <a:ext uri="{FF2B5EF4-FFF2-40B4-BE49-F238E27FC236}">
                <a16:creationId xmlns:a16="http://schemas.microsoft.com/office/drawing/2014/main" id="{1674948D-BDDA-3D68-4FF5-6FB685153496}"/>
              </a:ext>
            </a:extLst>
          </p:cNvPr>
          <p:cNvPicPr>
            <a:picLocks noChangeAspect="1"/>
          </p:cNvPicPr>
          <p:nvPr/>
        </p:nvPicPr>
        <p:blipFill>
          <a:blip r:embed="rId4"/>
          <a:stretch>
            <a:fillRect/>
          </a:stretch>
        </p:blipFill>
        <p:spPr>
          <a:xfrm>
            <a:off x="6294066" y="1249377"/>
            <a:ext cx="5051485" cy="3784021"/>
          </a:xfrm>
          <a:prstGeom prst="rect">
            <a:avLst/>
          </a:prstGeom>
        </p:spPr>
      </p:pic>
      <p:sp>
        <p:nvSpPr>
          <p:cNvPr id="19" name="TextBox 18">
            <a:extLst>
              <a:ext uri="{FF2B5EF4-FFF2-40B4-BE49-F238E27FC236}">
                <a16:creationId xmlns:a16="http://schemas.microsoft.com/office/drawing/2014/main" id="{2434D7D7-324D-1A3A-409F-64333C0F82F9}"/>
              </a:ext>
            </a:extLst>
          </p:cNvPr>
          <p:cNvSpPr txBox="1"/>
          <p:nvPr/>
        </p:nvSpPr>
        <p:spPr>
          <a:xfrm>
            <a:off x="5857847" y="4965510"/>
            <a:ext cx="6201882" cy="1000274"/>
          </a:xfrm>
          <a:prstGeom prst="rect">
            <a:avLst/>
          </a:prstGeom>
          <a:noFill/>
        </p:spPr>
        <p:txBody>
          <a:bodyPr wrap="square">
            <a:spAutoFit/>
          </a:bodyPr>
          <a:lstStyle/>
          <a:p>
            <a:pPr algn="just"/>
            <a:r>
              <a:rPr lang="en-IN" sz="1100" b="1" dirty="0">
                <a:effectLst/>
                <a:latin typeface="Times New Roman" panose="02020603050405020304" pitchFamily="18" charset="0"/>
                <a:cs typeface="Times New Roman" panose="02020603050405020304" pitchFamily="18" charset="0"/>
              </a:rPr>
              <a:t>Figure 3: </a:t>
            </a:r>
            <a:r>
              <a:rPr lang="en-US" sz="1000" dirty="0"/>
              <a:t>SISA training: data is divided in shards, which are themselves divided into slices. One constituent model is trained on each shard by presenting it with incrementally many slices and saving its parameters before the training set is augmented with a new slice. When data needs to be unlearned, only one of the constituent models whose shards contains the point to be unlearned needs to be retrained — retraining can start from the last parameter values saved before including the slice containing the data point to be unlearned</a:t>
            </a:r>
            <a:r>
              <a:rPr lang="en-US" dirty="0"/>
              <a:t>.</a:t>
            </a:r>
            <a:endParaRPr lang="en-IN" sz="11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5840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B1EFD-B083-2B4F-74B7-033F31CAB75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E2EAE57-6BFC-9D0A-DD1F-13195C69C528}"/>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4D08D6F2-3791-2044-8C68-BAFA548CBDB1}"/>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F36C9788-A229-44AA-F0B2-6E153966E1ED}"/>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51558EE5-DD11-7684-C971-D0471D884BD9}"/>
              </a:ext>
            </a:extLst>
          </p:cNvPr>
          <p:cNvSpPr txBox="1"/>
          <p:nvPr/>
        </p:nvSpPr>
        <p:spPr>
          <a:xfrm>
            <a:off x="838200" y="190137"/>
            <a:ext cx="10880188"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Pilot Study: Network Architecture &amp; Experimental Setup</a:t>
            </a:r>
          </a:p>
        </p:txBody>
      </p:sp>
      <p:sp>
        <p:nvSpPr>
          <p:cNvPr id="7" name="Slide Number Placeholder 5">
            <a:extLst>
              <a:ext uri="{FF2B5EF4-FFF2-40B4-BE49-F238E27FC236}">
                <a16:creationId xmlns:a16="http://schemas.microsoft.com/office/drawing/2014/main" id="{96A55367-EBAA-7B82-2E2E-934D05220431}"/>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23</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9FC447B-9EC6-D6F3-48C6-281F4F817268}"/>
              </a:ext>
            </a:extLst>
          </p:cNvPr>
          <p:cNvSpPr txBox="1"/>
          <p:nvPr/>
        </p:nvSpPr>
        <p:spPr>
          <a:xfrm>
            <a:off x="240101" y="1261726"/>
            <a:ext cx="6104626" cy="4247317"/>
          </a:xfrm>
          <a:prstGeom prst="rect">
            <a:avLst/>
          </a:prstGeom>
          <a:noFill/>
        </p:spPr>
        <p:txBody>
          <a:bodyPr wrap="square">
            <a:spAutoFit/>
          </a:bodyPr>
          <a:lstStyle/>
          <a:p>
            <a:r>
              <a:rPr lang="en-IN" b="1" dirty="0">
                <a:latin typeface="Times New Roman" panose="02020603050405020304" pitchFamily="18" charset="0"/>
                <a:ea typeface="Times New Roman" panose="02020603050405020304" pitchFamily="18" charset="0"/>
                <a:cs typeface="Times New Roman" panose="02020603050405020304" pitchFamily="18" charset="0"/>
              </a:rPr>
              <a:t>Network Architecture</a:t>
            </a:r>
            <a:endParaRPr lang="en-IN" dirty="0"/>
          </a:p>
          <a:p>
            <a:pPr lvl="1"/>
            <a:r>
              <a:rPr lang="en-IN" dirty="0"/>
              <a:t>- Model Type: Deep Neural Networks (DNNs)</a:t>
            </a:r>
          </a:p>
          <a:p>
            <a:pPr lvl="1"/>
            <a:r>
              <a:rPr lang="en-IN" dirty="0"/>
              <a:t>- Training Strategy:</a:t>
            </a:r>
          </a:p>
          <a:p>
            <a:pPr lvl="2"/>
            <a:r>
              <a:rPr lang="en-IN" dirty="0"/>
              <a:t>- Sharded → dataset split into disjoint subsets</a:t>
            </a:r>
          </a:p>
          <a:p>
            <a:pPr lvl="2"/>
            <a:r>
              <a:rPr lang="en-IN" dirty="0"/>
              <a:t>- Isolated → models trained independently per shard</a:t>
            </a:r>
          </a:p>
          <a:p>
            <a:pPr lvl="2"/>
            <a:r>
              <a:rPr lang="en-IN" dirty="0"/>
              <a:t>- Sliced → incremental training with checkpoints per slice</a:t>
            </a:r>
          </a:p>
          <a:p>
            <a:pPr lvl="2"/>
            <a:r>
              <a:rPr lang="en-IN" dirty="0"/>
              <a:t>- Aggregated → ensemble predictions combined (e.g., majority vote)</a:t>
            </a:r>
          </a:p>
          <a:p>
            <a:pPr lvl="1"/>
            <a:r>
              <a:rPr lang="en-IN" dirty="0"/>
              <a:t>- Components:</a:t>
            </a:r>
          </a:p>
          <a:p>
            <a:pPr lvl="2"/>
            <a:r>
              <a:rPr lang="en-IN" dirty="0"/>
              <a:t>- Input layer (raw data features)</a:t>
            </a:r>
          </a:p>
          <a:p>
            <a:pPr lvl="2"/>
            <a:r>
              <a:rPr lang="en-IN" dirty="0"/>
              <a:t>- Hidden layers (non-linear transformations)</a:t>
            </a:r>
          </a:p>
          <a:p>
            <a:pPr lvl="2"/>
            <a:r>
              <a:rPr lang="en-IN" dirty="0"/>
              <a:t>- Output layer (classification labels)</a:t>
            </a:r>
          </a:p>
          <a:p>
            <a:pPr lvl="2"/>
            <a:r>
              <a:rPr lang="en-IN" dirty="0"/>
              <a:t>- Optimization: Stochastic Gradient Descent (SGD) with backpropagation</a:t>
            </a:r>
          </a:p>
        </p:txBody>
      </p:sp>
      <p:sp>
        <p:nvSpPr>
          <p:cNvPr id="13" name="TextBox 12">
            <a:extLst>
              <a:ext uri="{FF2B5EF4-FFF2-40B4-BE49-F238E27FC236}">
                <a16:creationId xmlns:a16="http://schemas.microsoft.com/office/drawing/2014/main" id="{C713CB5D-FF0F-E594-5EC8-D326B3E7F323}"/>
              </a:ext>
            </a:extLst>
          </p:cNvPr>
          <p:cNvSpPr txBox="1"/>
          <p:nvPr/>
        </p:nvSpPr>
        <p:spPr>
          <a:xfrm>
            <a:off x="6174778" y="1261726"/>
            <a:ext cx="6104626" cy="5478423"/>
          </a:xfrm>
          <a:prstGeom prst="rect">
            <a:avLst/>
          </a:prstGeom>
          <a:noFill/>
        </p:spPr>
        <p:txBody>
          <a:bodyPr wrap="square">
            <a:spAutoFit/>
          </a:bodyPr>
          <a:lstStyle/>
          <a:p>
            <a:pPr>
              <a:buNone/>
            </a:pPr>
            <a:r>
              <a:rPr lang="en-IN" b="1" dirty="0"/>
              <a:t>Experimental Setup – SISA Training</a:t>
            </a:r>
          </a:p>
          <a:p>
            <a:pPr lvl="1">
              <a:buFont typeface="Arial" panose="020B0604020202020204" pitchFamily="34" charset="0"/>
              <a:buChar char="•"/>
            </a:pPr>
            <a:r>
              <a:rPr lang="en-IN" sz="1600" b="1" dirty="0"/>
              <a:t>Training Data:</a:t>
            </a:r>
            <a:endParaRPr lang="en-IN" sz="1600" dirty="0"/>
          </a:p>
          <a:p>
            <a:pPr marL="1200150" lvl="2" indent="-285750">
              <a:buFont typeface="Arial" panose="020B0604020202020204" pitchFamily="34" charset="0"/>
              <a:buChar char="•"/>
            </a:pPr>
            <a:r>
              <a:rPr lang="en-IN" sz="1600" dirty="0"/>
              <a:t>Purchase dataset</a:t>
            </a:r>
          </a:p>
          <a:p>
            <a:pPr lvl="1">
              <a:buFont typeface="Arial" panose="020B0604020202020204" pitchFamily="34" charset="0"/>
              <a:buChar char="•"/>
            </a:pPr>
            <a:r>
              <a:rPr lang="en-IN" sz="1600" b="1" dirty="0"/>
              <a:t>Training:</a:t>
            </a:r>
            <a:endParaRPr lang="en-IN" sz="1600" dirty="0"/>
          </a:p>
          <a:p>
            <a:pPr marL="1200150" lvl="2" indent="-285750">
              <a:buFont typeface="Arial" panose="020B0604020202020204" pitchFamily="34" charset="0"/>
              <a:buChar char="•"/>
            </a:pPr>
            <a:r>
              <a:rPr lang="en-IN" sz="1600" dirty="0"/>
              <a:t>Multiple shard config : 2,5,8,10,12,15,18</a:t>
            </a:r>
          </a:p>
          <a:p>
            <a:pPr marL="1200150" lvl="2" indent="-285750">
              <a:buFont typeface="Arial" panose="020B0604020202020204" pitchFamily="34" charset="0"/>
              <a:buChar char="•"/>
            </a:pPr>
            <a:r>
              <a:rPr lang="en-IN" sz="1600" dirty="0"/>
              <a:t>Num. of unlearning requests : 0 to 60</a:t>
            </a:r>
          </a:p>
          <a:p>
            <a:pPr marL="1200150" lvl="2" indent="-285750">
              <a:buFont typeface="Arial" panose="020B0604020202020204" pitchFamily="34" charset="0"/>
              <a:buChar char="•"/>
            </a:pPr>
            <a:r>
              <a:rPr lang="en-IN" sz="1600" dirty="0"/>
              <a:t>Models trained independently per shard, </a:t>
            </a:r>
          </a:p>
          <a:p>
            <a:pPr marL="1200150" lvl="2" indent="-285750">
              <a:buFont typeface="Arial" panose="020B0604020202020204" pitchFamily="34" charset="0"/>
              <a:buChar char="•"/>
            </a:pPr>
            <a:r>
              <a:rPr lang="en-IN" sz="1600" dirty="0"/>
              <a:t>Aggregation via majority vote across shard models</a:t>
            </a:r>
          </a:p>
          <a:p>
            <a:pPr lvl="1">
              <a:buFont typeface="Arial" panose="020B0604020202020204" pitchFamily="34" charset="0"/>
              <a:buChar char="•"/>
            </a:pPr>
            <a:r>
              <a:rPr lang="en-IN" sz="1600" b="1" dirty="0"/>
              <a:t>Loss Function:</a:t>
            </a:r>
            <a:endParaRPr lang="en-IN" sz="1600" dirty="0"/>
          </a:p>
          <a:p>
            <a:pPr marL="1200150" lvl="2" indent="-285750">
              <a:buFont typeface="Arial" panose="020B0604020202020204" pitchFamily="34" charset="0"/>
              <a:buChar char="•"/>
            </a:pPr>
            <a:r>
              <a:rPr lang="en-IN" sz="1600" dirty="0"/>
              <a:t>Cross-Entropy Loss (classification tasks)</a:t>
            </a:r>
          </a:p>
          <a:p>
            <a:pPr lvl="1">
              <a:buFont typeface="Arial" panose="020B0604020202020204" pitchFamily="34" charset="0"/>
              <a:buChar char="•"/>
            </a:pPr>
            <a:r>
              <a:rPr lang="en-IN" sz="1600" b="1" dirty="0"/>
              <a:t>Optimizer:</a:t>
            </a:r>
            <a:endParaRPr lang="en-IN" sz="1600" dirty="0"/>
          </a:p>
          <a:p>
            <a:pPr marL="1200150" lvl="2" indent="-285750">
              <a:buFont typeface="Arial" panose="020B0604020202020204" pitchFamily="34" charset="0"/>
              <a:buChar char="•"/>
            </a:pPr>
            <a:r>
              <a:rPr lang="en-IN" sz="1600" b="1" dirty="0"/>
              <a:t>Adam</a:t>
            </a:r>
            <a:r>
              <a:rPr lang="en-IN" sz="1600" dirty="0"/>
              <a:t> optimizer</a:t>
            </a:r>
          </a:p>
          <a:p>
            <a:pPr marL="1200150" lvl="2" indent="-285750">
              <a:buFont typeface="Arial" panose="020B0604020202020204" pitchFamily="34" charset="0"/>
              <a:buChar char="•"/>
            </a:pPr>
            <a:r>
              <a:rPr lang="en-IN" sz="1600" dirty="0"/>
              <a:t>Learning rate: </a:t>
            </a:r>
            <a:r>
              <a:rPr lang="en-IN" sz="1600" b="1" dirty="0"/>
              <a:t>0.001</a:t>
            </a:r>
            <a:r>
              <a:rPr lang="en-IN" sz="1600" dirty="0"/>
              <a:t> (tuned per dataset)</a:t>
            </a:r>
          </a:p>
          <a:p>
            <a:pPr marL="1200150" lvl="2" indent="-285750">
              <a:buFont typeface="Arial" panose="020B0604020202020204" pitchFamily="34" charset="0"/>
              <a:buChar char="•"/>
            </a:pPr>
            <a:r>
              <a:rPr lang="en-IN" sz="1600" dirty="0"/>
              <a:t>Batch size: </a:t>
            </a:r>
            <a:r>
              <a:rPr lang="en-IN" sz="1600" b="1" dirty="0"/>
              <a:t>128</a:t>
            </a:r>
            <a:endParaRPr lang="en-IN" sz="1600" dirty="0"/>
          </a:p>
          <a:p>
            <a:pPr lvl="1">
              <a:buFont typeface="Arial" panose="020B0604020202020204" pitchFamily="34" charset="0"/>
              <a:buChar char="•"/>
            </a:pPr>
            <a:r>
              <a:rPr lang="en-IN" sz="1600" b="1" dirty="0"/>
              <a:t>Regularization:</a:t>
            </a:r>
            <a:endParaRPr lang="en-IN" sz="1600" dirty="0"/>
          </a:p>
          <a:p>
            <a:pPr marL="1200150" lvl="2" indent="-285750">
              <a:buFont typeface="Arial" panose="020B0604020202020204" pitchFamily="34" charset="0"/>
              <a:buChar char="•"/>
            </a:pPr>
            <a:r>
              <a:rPr lang="en-IN" sz="1600" dirty="0"/>
              <a:t>Dropout (0.5 for deep networks)</a:t>
            </a:r>
          </a:p>
          <a:p>
            <a:pPr lvl="1">
              <a:buFont typeface="Arial" panose="020B0604020202020204" pitchFamily="34" charset="0"/>
              <a:buChar char="•"/>
            </a:pPr>
            <a:r>
              <a:rPr lang="en-IN" sz="1600" b="1" dirty="0"/>
              <a:t>Evaluation Metrics:</a:t>
            </a:r>
            <a:endParaRPr lang="en-IN" sz="1600" dirty="0"/>
          </a:p>
          <a:p>
            <a:pPr marL="1200150" lvl="2" indent="-285750">
              <a:buFont typeface="Arial" panose="020B0604020202020204" pitchFamily="34" charset="0"/>
              <a:buChar char="•"/>
            </a:pPr>
            <a:r>
              <a:rPr lang="en-IN" sz="1600" dirty="0"/>
              <a:t>Accuracy </a:t>
            </a:r>
          </a:p>
          <a:p>
            <a:pPr marL="1200150" lvl="2" indent="-285750">
              <a:buFont typeface="Arial" panose="020B0604020202020204" pitchFamily="34" charset="0"/>
              <a:buChar char="•"/>
            </a:pPr>
            <a:r>
              <a:rPr lang="en-IN" sz="1600" dirty="0"/>
              <a:t>Unlearning time (speed‑up vs retraining baseline)</a:t>
            </a:r>
          </a:p>
          <a:p>
            <a:pPr marL="1200150" lvl="2" indent="-285750">
              <a:buFont typeface="Arial" panose="020B0604020202020204" pitchFamily="34" charset="0"/>
              <a:buChar char="•"/>
            </a:pPr>
            <a:r>
              <a:rPr lang="en-IN" sz="1600" dirty="0"/>
              <a:t>Privacy compliance (ability to erase requested data)</a:t>
            </a:r>
          </a:p>
          <a:p>
            <a:pPr>
              <a:buNone/>
            </a:pPr>
            <a:br>
              <a:rPr lang="en-IN" sz="1400" dirty="0"/>
            </a:br>
            <a:endParaRPr lang="en-IN" sz="1400" dirty="0"/>
          </a:p>
        </p:txBody>
      </p:sp>
    </p:spTree>
    <p:extLst>
      <p:ext uri="{BB962C8B-B14F-4D97-AF65-F5344CB8AC3E}">
        <p14:creationId xmlns:p14="http://schemas.microsoft.com/office/powerpoint/2010/main" val="719955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94C9B-F6C7-4D2F-77E2-542CA55B123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5E53003-3EC9-EF60-CF8E-BCC8368006E3}"/>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6DA39139-D96C-F1B4-CAF2-94BC28A7B51E}"/>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25F4D10B-91BA-7167-05DB-2EFD5AE5E0C4}"/>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41C991B4-BB16-7EE7-0CC3-876A12532A89}"/>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Pilot Study: Results</a:t>
            </a:r>
          </a:p>
        </p:txBody>
      </p:sp>
      <p:sp>
        <p:nvSpPr>
          <p:cNvPr id="11" name="Slide Number Placeholder 5">
            <a:extLst>
              <a:ext uri="{FF2B5EF4-FFF2-40B4-BE49-F238E27FC236}">
                <a16:creationId xmlns:a16="http://schemas.microsoft.com/office/drawing/2014/main" id="{C039A71F-7817-4A28-9706-367C4A2E09E4}"/>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24</a:t>
            </a:fld>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D601A33-F342-8C1C-8184-EA3502BB819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12365" y="1195837"/>
            <a:ext cx="4097546" cy="2233163"/>
          </a:xfrm>
          <a:prstGeom prst="rect">
            <a:avLst/>
          </a:prstGeom>
          <a:noFill/>
          <a:ln>
            <a:noFill/>
          </a:ln>
        </p:spPr>
      </p:pic>
      <p:pic>
        <p:nvPicPr>
          <p:cNvPr id="14" name="Picture 13" descr="The diagram illustrates a graph comparing the time taken to retrain a model (in seconds) against the number of requests processed, with different shard configurations (2, 5, 8, 10, and 12 shards).&#10;&#10;AI-generated content may be incorrect.">
            <a:extLst>
              <a:ext uri="{FF2B5EF4-FFF2-40B4-BE49-F238E27FC236}">
                <a16:creationId xmlns:a16="http://schemas.microsoft.com/office/drawing/2014/main" id="{13BBF964-EB59-812B-CC62-8660B2CC15C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81261" y="3512342"/>
            <a:ext cx="7620000" cy="3048000"/>
          </a:xfrm>
          <a:prstGeom prst="rect">
            <a:avLst/>
          </a:prstGeom>
          <a:noFill/>
          <a:ln>
            <a:noFill/>
          </a:ln>
        </p:spPr>
      </p:pic>
      <p:pic>
        <p:nvPicPr>
          <p:cNvPr id="15" name="Picture 14">
            <a:extLst>
              <a:ext uri="{FF2B5EF4-FFF2-40B4-BE49-F238E27FC236}">
                <a16:creationId xmlns:a16="http://schemas.microsoft.com/office/drawing/2014/main" id="{CE828BC5-7158-D7F0-FA32-01FB1F79A83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29030" y="1069770"/>
            <a:ext cx="3251269" cy="2275889"/>
          </a:xfrm>
          <a:prstGeom prst="rect">
            <a:avLst/>
          </a:prstGeom>
          <a:noFill/>
          <a:ln>
            <a:noFill/>
          </a:ln>
        </p:spPr>
      </p:pic>
      <p:sp>
        <p:nvSpPr>
          <p:cNvPr id="17" name="Rectangle 2">
            <a:extLst>
              <a:ext uri="{FF2B5EF4-FFF2-40B4-BE49-F238E27FC236}">
                <a16:creationId xmlns:a16="http://schemas.microsoft.com/office/drawing/2014/main" id="{F2F5B9C8-5A76-1AC6-77B2-8CDCCB33C724}"/>
              </a:ext>
            </a:extLst>
          </p:cNvPr>
          <p:cNvSpPr>
            <a:spLocks noChangeArrowheads="1"/>
          </p:cNvSpPr>
          <p:nvPr/>
        </p:nvSpPr>
        <p:spPr bwMode="auto">
          <a:xfrm>
            <a:off x="8620380" y="2635179"/>
            <a:ext cx="35628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More shards → faster unlearning, lower accuracy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Slicing → consistent speed-up, extra storage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TextBox 17">
            <a:extLst>
              <a:ext uri="{FF2B5EF4-FFF2-40B4-BE49-F238E27FC236}">
                <a16:creationId xmlns:a16="http://schemas.microsoft.com/office/drawing/2014/main" id="{512AE94B-B642-1437-DF65-90309FC5B272}"/>
              </a:ext>
            </a:extLst>
          </p:cNvPr>
          <p:cNvSpPr txBox="1"/>
          <p:nvPr/>
        </p:nvSpPr>
        <p:spPr>
          <a:xfrm>
            <a:off x="2462307" y="6611779"/>
            <a:ext cx="3115900" cy="246221"/>
          </a:xfrm>
          <a:prstGeom prst="rect">
            <a:avLst/>
          </a:prstGeom>
          <a:noFill/>
        </p:spPr>
        <p:txBody>
          <a:bodyPr wrap="square">
            <a:spAutoFit/>
          </a:bodyPr>
          <a:lstStyle/>
          <a:p>
            <a:r>
              <a:rPr lang="en-US" sz="1000" dirty="0">
                <a:solidFill>
                  <a:schemeClr val="tx1"/>
                </a:solidFill>
                <a:latin typeface="Times New Roman" panose="02020603050405020304" pitchFamily="18" charset="0"/>
                <a:cs typeface="Times New Roman" panose="02020603050405020304" pitchFamily="18" charset="0"/>
              </a:rPr>
              <a:t>Figure 7: </a:t>
            </a:r>
            <a:r>
              <a:rPr lang="en-IN" sz="1000" dirty="0">
                <a:latin typeface="Times New Roman" panose="02020603050405020304" pitchFamily="18" charset="0"/>
                <a:cs typeface="Times New Roman" panose="02020603050405020304" pitchFamily="18" charset="0"/>
              </a:rPr>
              <a:t>Pilot Study: Results</a:t>
            </a:r>
          </a:p>
        </p:txBody>
      </p:sp>
    </p:spTree>
    <p:extLst>
      <p:ext uri="{BB962C8B-B14F-4D97-AF65-F5344CB8AC3E}">
        <p14:creationId xmlns:p14="http://schemas.microsoft.com/office/powerpoint/2010/main" val="1736524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87768-5946-C383-3524-8ECD7F2D27D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1F905FD-F146-ABDD-91F8-078D7129FBDB}"/>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CED69B44-8E65-0E71-C2DB-52958D742379}"/>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8E4D548A-9F3E-AD5B-40B7-D5EDF165452E}"/>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E0592D4D-EEB1-3741-CD65-AE783A53686B}"/>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Expenses and Funding </a:t>
            </a:r>
          </a:p>
        </p:txBody>
      </p:sp>
      <p:sp>
        <p:nvSpPr>
          <p:cNvPr id="8" name="TextBox 7">
            <a:extLst>
              <a:ext uri="{FF2B5EF4-FFF2-40B4-BE49-F238E27FC236}">
                <a16:creationId xmlns:a16="http://schemas.microsoft.com/office/drawing/2014/main" id="{A2984F62-C5EF-E491-671F-EA850CD8D4AD}"/>
              </a:ext>
            </a:extLst>
          </p:cNvPr>
          <p:cNvSpPr txBox="1"/>
          <p:nvPr/>
        </p:nvSpPr>
        <p:spPr>
          <a:xfrm>
            <a:off x="759655" y="1284515"/>
            <a:ext cx="10958732" cy="954107"/>
          </a:xfrm>
          <a:prstGeom prst="rect">
            <a:avLst/>
          </a:prstGeom>
          <a:noFill/>
        </p:spPr>
        <p:txBody>
          <a:bodyPr wrap="square">
            <a:spAutoFit/>
          </a:bodyPr>
          <a:lstStyle/>
          <a:p>
            <a:r>
              <a:rPr lang="en-IN" sz="2800" dirty="0">
                <a:effectLst/>
                <a:latin typeface="Times New Roman" panose="02020603050405020304" pitchFamily="18" charset="0"/>
                <a:cs typeface="Times New Roman" panose="02020603050405020304" pitchFamily="18" charset="0"/>
              </a:rPr>
              <a:t>The most suitable concepts for research funding will be studied and communicated. </a:t>
            </a:r>
            <a:endParaRPr lang="en-IN" sz="2800" dirty="0">
              <a:latin typeface="Times New Roman" panose="02020603050405020304" pitchFamily="18" charset="0"/>
              <a:cs typeface="Times New Roman" panose="02020603050405020304" pitchFamily="18" charset="0"/>
            </a:endParaRPr>
          </a:p>
        </p:txBody>
      </p:sp>
      <p:sp>
        <p:nvSpPr>
          <p:cNvPr id="11" name="Slide Number Placeholder 5">
            <a:extLst>
              <a:ext uri="{FF2B5EF4-FFF2-40B4-BE49-F238E27FC236}">
                <a16:creationId xmlns:a16="http://schemas.microsoft.com/office/drawing/2014/main" id="{7906D747-ABC4-DAE2-C351-D7FB186746B4}"/>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25</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0420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3437B-ADDA-F0DA-A08F-C7222AE35EDB}"/>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B414F6D-B2CE-44F2-14B1-0BC14C881B71}"/>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16878A54-6277-67F5-0372-4B9CCBAB70A7}"/>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1ECFA12D-8C57-B03C-ABAD-63BF2EB83985}"/>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0C558891-BA15-A4B2-0050-44BB8011483E}"/>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References</a:t>
            </a:r>
          </a:p>
        </p:txBody>
      </p:sp>
      <p:sp>
        <p:nvSpPr>
          <p:cNvPr id="5" name="Slide Number Placeholder 5">
            <a:extLst>
              <a:ext uri="{FF2B5EF4-FFF2-40B4-BE49-F238E27FC236}">
                <a16:creationId xmlns:a16="http://schemas.microsoft.com/office/drawing/2014/main" id="{F94A8F0F-4653-9193-3E45-3A080A6D545C}"/>
              </a:ext>
            </a:extLst>
          </p:cNvPr>
          <p:cNvSpPr>
            <a:spLocks noGrp="1"/>
          </p:cNvSpPr>
          <p:nvPr>
            <p:ph type="sldNum" sz="quarter" idx="12"/>
          </p:nvPr>
        </p:nvSpPr>
        <p:spPr>
          <a:xfrm>
            <a:off x="11282291" y="6442860"/>
            <a:ext cx="732692" cy="392073"/>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26</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65F105B-E33F-30DE-717F-379B207252A3}"/>
              </a:ext>
            </a:extLst>
          </p:cNvPr>
          <p:cNvSpPr txBox="1"/>
          <p:nvPr/>
        </p:nvSpPr>
        <p:spPr>
          <a:xfrm>
            <a:off x="393895" y="913476"/>
            <a:ext cx="11324492" cy="5570756"/>
          </a:xfrm>
          <a:prstGeom prst="rect">
            <a:avLst/>
          </a:prstGeom>
          <a:noFill/>
        </p:spPr>
        <p:txBody>
          <a:bodyPr wrap="square">
            <a:spAutoFit/>
          </a:bodyPr>
          <a:lstStyle/>
          <a:p>
            <a:pPr marL="457200" algn="just">
              <a:spcAft>
                <a:spcPts val="800"/>
              </a:spcAft>
              <a:buNone/>
            </a:pPr>
            <a:r>
              <a:rPr lang="en-IN" sz="1600" dirty="0">
                <a:solidFill>
                  <a:srgbClr val="000000"/>
                </a:solidFill>
                <a:effectLst/>
                <a:latin typeface="Times New Roman" panose="02020603050405020304" pitchFamily="18" charset="0"/>
                <a:ea typeface="Calibri" panose="020F0502020204030204" pitchFamily="34" charset="0"/>
              </a:rPr>
              <a:t>[1] Machine Unlearning: A Survey HENG XU, TIANQING ZHU, and LEFENG ZHANG, University of Technology Sydney, Australia WANLEI ZHOU, City University of Macau, China PHILIP S. YU, University of Illinois at Chicago, United States</a:t>
            </a:r>
            <a:endParaRPr lang="en-IN" sz="1600" dirty="0">
              <a:solidFill>
                <a:srgbClr val="000000"/>
              </a:solidFill>
              <a:effectLst/>
              <a:latin typeface="Calibri" panose="020F0502020204030204" pitchFamily="34" charset="0"/>
              <a:ea typeface="Calibri" panose="020F0502020204030204" pitchFamily="34" charset="0"/>
            </a:endParaRPr>
          </a:p>
          <a:p>
            <a:pPr marL="457200" algn="just">
              <a:spcAft>
                <a:spcPts val="800"/>
              </a:spcAft>
              <a:buNone/>
            </a:pPr>
            <a:r>
              <a:rPr lang="en-IN" sz="1600" dirty="0">
                <a:solidFill>
                  <a:srgbClr val="000000"/>
                </a:solidFill>
                <a:effectLst/>
                <a:latin typeface="Times New Roman" panose="02020603050405020304" pitchFamily="18" charset="0"/>
                <a:ea typeface="Calibri" panose="020F0502020204030204" pitchFamily="34" charset="0"/>
              </a:rPr>
              <a:t>[2] Machine Unlearning: A Comprehensive Survey WEIQI WANG, University of Technology Sydney, Australia ZHIYI TIAN, University of Technology Sydney, Australia CHENHAN ZHANG, University of Technology Sydney, Australia SHUI YU, University of Technology Sydney, Australia</a:t>
            </a:r>
            <a:endParaRPr lang="en-IN" sz="1600" dirty="0">
              <a:solidFill>
                <a:srgbClr val="000000"/>
              </a:solidFill>
              <a:effectLst/>
              <a:latin typeface="Calibri" panose="020F0502020204030204" pitchFamily="34" charset="0"/>
              <a:ea typeface="Calibri" panose="020F0502020204030204" pitchFamily="34" charset="0"/>
            </a:endParaRPr>
          </a:p>
          <a:p>
            <a:pPr marL="457200" algn="just">
              <a:spcAft>
                <a:spcPts val="800"/>
              </a:spcAft>
              <a:buNone/>
            </a:pPr>
            <a:r>
              <a:rPr lang="en-IN" sz="1600" dirty="0">
                <a:solidFill>
                  <a:srgbClr val="000000"/>
                </a:solidFill>
                <a:effectLst/>
                <a:latin typeface="Times New Roman" panose="02020603050405020304" pitchFamily="18" charset="0"/>
                <a:ea typeface="Calibri" panose="020F0502020204030204" pitchFamily="34" charset="0"/>
              </a:rPr>
              <a:t>[3] Stefanos Leonardos and Georgios </a:t>
            </a:r>
            <a:r>
              <a:rPr lang="en-IN" sz="1600" dirty="0" err="1">
                <a:solidFill>
                  <a:srgbClr val="000000"/>
                </a:solidFill>
                <a:effectLst/>
                <a:latin typeface="Times New Roman" panose="02020603050405020304" pitchFamily="18" charset="0"/>
                <a:ea typeface="Calibri" panose="020F0502020204030204" pitchFamily="34" charset="0"/>
              </a:rPr>
              <a:t>Piliouras</a:t>
            </a:r>
            <a:r>
              <a:rPr lang="en-IN" sz="1600" dirty="0">
                <a:solidFill>
                  <a:srgbClr val="000000"/>
                </a:solidFill>
                <a:effectLst/>
                <a:latin typeface="Times New Roman" panose="02020603050405020304" pitchFamily="18" charset="0"/>
                <a:ea typeface="Calibri" panose="020F0502020204030204" pitchFamily="34" charset="0"/>
              </a:rPr>
              <a:t>. 2022. Exploration-exploitation in multi-agent learning: Catastrophe theory meets game theory. </a:t>
            </a:r>
            <a:r>
              <a:rPr lang="en-IN" sz="1600" dirty="0" err="1">
                <a:solidFill>
                  <a:srgbClr val="000000"/>
                </a:solidFill>
                <a:effectLst/>
                <a:latin typeface="Times New Roman" panose="02020603050405020304" pitchFamily="18" charset="0"/>
                <a:ea typeface="Calibri" panose="020F0502020204030204" pitchFamily="34" charset="0"/>
              </a:rPr>
              <a:t>Artif</a:t>
            </a:r>
            <a:r>
              <a:rPr lang="en-IN" sz="1600" dirty="0">
                <a:solidFill>
                  <a:srgbClr val="000000"/>
                </a:solidFill>
                <a:effectLst/>
                <a:latin typeface="Times New Roman" panose="02020603050405020304" pitchFamily="18" charset="0"/>
                <a:ea typeface="Calibri" panose="020F0502020204030204" pitchFamily="34" charset="0"/>
              </a:rPr>
              <a:t>. </a:t>
            </a:r>
            <a:r>
              <a:rPr lang="en-IN" sz="1600" dirty="0" err="1">
                <a:solidFill>
                  <a:srgbClr val="000000"/>
                </a:solidFill>
                <a:effectLst/>
                <a:latin typeface="Times New Roman" panose="02020603050405020304" pitchFamily="18" charset="0"/>
                <a:ea typeface="Calibri" panose="020F0502020204030204" pitchFamily="34" charset="0"/>
              </a:rPr>
              <a:t>Intell</a:t>
            </a:r>
            <a:r>
              <a:rPr lang="en-IN" sz="1600" dirty="0">
                <a:solidFill>
                  <a:srgbClr val="000000"/>
                </a:solidFill>
                <a:effectLst/>
                <a:latin typeface="Times New Roman" panose="02020603050405020304" pitchFamily="18" charset="0"/>
                <a:ea typeface="Calibri" panose="020F0502020204030204" pitchFamily="34" charset="0"/>
              </a:rPr>
              <a:t>. 304 (2022), 103653. DOI: http://dx.doi.org/10.1016/j.artint.2021.103653 </a:t>
            </a:r>
            <a:endParaRPr lang="en-IN" sz="1600" dirty="0">
              <a:solidFill>
                <a:srgbClr val="000000"/>
              </a:solidFill>
              <a:effectLst/>
              <a:latin typeface="Calibri" panose="020F0502020204030204" pitchFamily="34" charset="0"/>
              <a:ea typeface="Calibri" panose="020F0502020204030204" pitchFamily="34" charset="0"/>
            </a:endParaRPr>
          </a:p>
          <a:p>
            <a:pPr marL="457200" algn="just">
              <a:spcAft>
                <a:spcPts val="800"/>
              </a:spcAft>
              <a:buNone/>
            </a:pPr>
            <a:r>
              <a:rPr lang="en-IN" sz="1600" dirty="0">
                <a:solidFill>
                  <a:srgbClr val="000000"/>
                </a:solidFill>
                <a:effectLst/>
                <a:latin typeface="Times New Roman" panose="02020603050405020304" pitchFamily="18" charset="0"/>
                <a:ea typeface="Calibri" panose="020F0502020204030204" pitchFamily="34" charset="0"/>
              </a:rPr>
              <a:t>[4] Lei Cui, Youyang Qu, Mohammad Reza </a:t>
            </a:r>
            <a:r>
              <a:rPr lang="en-IN" sz="1600" dirty="0" err="1">
                <a:solidFill>
                  <a:srgbClr val="000000"/>
                </a:solidFill>
                <a:effectLst/>
                <a:latin typeface="Times New Roman" panose="02020603050405020304" pitchFamily="18" charset="0"/>
                <a:ea typeface="Calibri" panose="020F0502020204030204" pitchFamily="34" charset="0"/>
              </a:rPr>
              <a:t>Nosouhi</a:t>
            </a:r>
            <a:r>
              <a:rPr lang="en-IN" sz="1600" dirty="0">
                <a:solidFill>
                  <a:srgbClr val="000000"/>
                </a:solidFill>
                <a:effectLst/>
                <a:latin typeface="Times New Roman" panose="02020603050405020304" pitchFamily="18" charset="0"/>
                <a:ea typeface="Calibri" panose="020F0502020204030204" pitchFamily="34" charset="0"/>
              </a:rPr>
              <a:t>, Shui Yu, Jianwei Niu, and Gang Xie. 2019. Improving data utility through game theory in personalized differential privacy. J. </a:t>
            </a:r>
            <a:r>
              <a:rPr lang="en-IN" sz="1600" dirty="0" err="1">
                <a:solidFill>
                  <a:srgbClr val="000000"/>
                </a:solidFill>
                <a:effectLst/>
                <a:latin typeface="Times New Roman" panose="02020603050405020304" pitchFamily="18" charset="0"/>
                <a:ea typeface="Calibri" panose="020F0502020204030204" pitchFamily="34" charset="0"/>
              </a:rPr>
              <a:t>Comput</a:t>
            </a:r>
            <a:r>
              <a:rPr lang="en-IN" sz="1600" dirty="0">
                <a:solidFill>
                  <a:srgbClr val="000000"/>
                </a:solidFill>
                <a:effectLst/>
                <a:latin typeface="Times New Roman" panose="02020603050405020304" pitchFamily="18" charset="0"/>
                <a:ea typeface="Calibri" panose="020F0502020204030204" pitchFamily="34" charset="0"/>
              </a:rPr>
              <a:t>. Sci. Technol. 34, 2 (2019), 272–286. </a:t>
            </a:r>
            <a:r>
              <a:rPr lang="en-IN" sz="1600" dirty="0" err="1">
                <a:solidFill>
                  <a:srgbClr val="000000"/>
                </a:solidFill>
                <a:effectLst/>
                <a:latin typeface="Times New Roman" panose="02020603050405020304" pitchFamily="18" charset="0"/>
                <a:ea typeface="Calibri" panose="020F0502020204030204" pitchFamily="34" charset="0"/>
              </a:rPr>
              <a:t>DOI:http</a:t>
            </a:r>
            <a:r>
              <a:rPr lang="en-IN" sz="1600" dirty="0">
                <a:solidFill>
                  <a:srgbClr val="000000"/>
                </a:solidFill>
                <a:effectLst/>
                <a:latin typeface="Times New Roman" panose="02020603050405020304" pitchFamily="18" charset="0"/>
                <a:ea typeface="Calibri" panose="020F0502020204030204" pitchFamily="34" charset="0"/>
              </a:rPr>
              <a:t>: //dx.doi.org/10.1007/s11390-019-1910-3</a:t>
            </a:r>
            <a:endParaRPr lang="en-IN" sz="1600" dirty="0">
              <a:solidFill>
                <a:srgbClr val="000000"/>
              </a:solidFill>
              <a:latin typeface="Calibri" panose="020F0502020204030204" pitchFamily="34" charset="0"/>
              <a:ea typeface="Calibri" panose="020F0502020204030204" pitchFamily="34" charset="0"/>
            </a:endParaRPr>
          </a:p>
          <a:p>
            <a:pPr marL="457200" algn="just">
              <a:spcAft>
                <a:spcPts val="800"/>
              </a:spcAft>
              <a:buNone/>
            </a:pPr>
            <a:r>
              <a:rPr lang="en-IN" sz="1600" dirty="0">
                <a:solidFill>
                  <a:srgbClr val="000000"/>
                </a:solidFill>
                <a:effectLst/>
                <a:latin typeface="Times New Roman" panose="02020603050405020304" pitchFamily="18" charset="0"/>
                <a:ea typeface="Calibri" panose="020F0502020204030204" pitchFamily="34" charset="0"/>
              </a:rPr>
              <a:t>[5] Xueqin Liang, Zheng Yan, Robert H. Deng, and Qinghua Zheng. 2021. Investigating the adoption of hybrid encrypted cloud data deduplication with game theory. IEEE Trans. Parallel </a:t>
            </a:r>
            <a:r>
              <a:rPr lang="en-IN" sz="1600" dirty="0" err="1">
                <a:solidFill>
                  <a:srgbClr val="000000"/>
                </a:solidFill>
                <a:effectLst/>
                <a:latin typeface="Times New Roman" panose="02020603050405020304" pitchFamily="18" charset="0"/>
                <a:ea typeface="Calibri" panose="020F0502020204030204" pitchFamily="34" charset="0"/>
              </a:rPr>
              <a:t>Distrib</a:t>
            </a:r>
            <a:r>
              <a:rPr lang="en-IN" sz="1600" dirty="0">
                <a:solidFill>
                  <a:srgbClr val="000000"/>
                </a:solidFill>
                <a:effectLst/>
                <a:latin typeface="Times New Roman" panose="02020603050405020304" pitchFamily="18" charset="0"/>
                <a:ea typeface="Calibri" panose="020F0502020204030204" pitchFamily="34" charset="0"/>
              </a:rPr>
              <a:t>. Syst. 32, 3 (2021), 587–600. </a:t>
            </a:r>
            <a:r>
              <a:rPr lang="en-IN" sz="1600" dirty="0" err="1">
                <a:solidFill>
                  <a:srgbClr val="000000"/>
                </a:solidFill>
                <a:effectLst/>
                <a:latin typeface="Times New Roman" panose="02020603050405020304" pitchFamily="18" charset="0"/>
                <a:ea typeface="Calibri" panose="020F0502020204030204" pitchFamily="34" charset="0"/>
              </a:rPr>
              <a:t>DOI:http</a:t>
            </a:r>
            <a:r>
              <a:rPr lang="en-IN" sz="1600" dirty="0">
                <a:solidFill>
                  <a:srgbClr val="000000"/>
                </a:solidFill>
                <a:effectLst/>
                <a:latin typeface="Times New Roman" panose="02020603050405020304" pitchFamily="18" charset="0"/>
                <a:ea typeface="Calibri" panose="020F0502020204030204" pitchFamily="34" charset="0"/>
              </a:rPr>
              <a:t>://</a:t>
            </a:r>
            <a:r>
              <a:rPr lang="en-IN" sz="1600" dirty="0" err="1">
                <a:solidFill>
                  <a:srgbClr val="000000"/>
                </a:solidFill>
                <a:effectLst/>
                <a:latin typeface="Times New Roman" panose="02020603050405020304" pitchFamily="18" charset="0"/>
                <a:ea typeface="Calibri" panose="020F0502020204030204" pitchFamily="34" charset="0"/>
              </a:rPr>
              <a:t>dx.doi</a:t>
            </a:r>
            <a:r>
              <a:rPr lang="en-IN" sz="1600" dirty="0">
                <a:solidFill>
                  <a:srgbClr val="000000"/>
                </a:solidFill>
                <a:effectLst/>
                <a:latin typeface="Times New Roman" panose="02020603050405020304" pitchFamily="18" charset="0"/>
                <a:ea typeface="Calibri" panose="020F0502020204030204" pitchFamily="34" charset="0"/>
              </a:rPr>
              <a:t>. org/10.1109/TPDS.2020.3028685 </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[6] </a:t>
            </a:r>
            <a:r>
              <a:rPr lang="en-IN" sz="1600" dirty="0">
                <a:solidFill>
                  <a:srgbClr val="000000"/>
                </a:solidFill>
                <a:latin typeface="Times New Roman" panose="02020603050405020304" pitchFamily="18" charset="0"/>
                <a:ea typeface="Calibri" panose="020F0502020204030204" pitchFamily="34" charset="0"/>
                <a:hlinkClick r:id="rId3">
                  <a:extLst>
                    <a:ext uri="{A12FA001-AC4F-418D-AE19-62706E023703}">
                      <ahyp:hlinkClr xmlns:ahyp="http://schemas.microsoft.com/office/drawing/2018/hyperlinkcolor" val="tx"/>
                    </a:ext>
                  </a:extLst>
                </a:hlinkClick>
              </a:rPr>
              <a:t>Jiahui Geng</a:t>
            </a:r>
            <a:r>
              <a:rPr lang="en-IN" sz="1600" dirty="0">
                <a:solidFill>
                  <a:srgbClr val="000000"/>
                </a:solidFill>
                <a:latin typeface="Times New Roman" panose="02020603050405020304" pitchFamily="18" charset="0"/>
                <a:ea typeface="Calibri" panose="020F0502020204030204" pitchFamily="34" charset="0"/>
              </a:rPr>
              <a:t>, </a:t>
            </a:r>
            <a:r>
              <a:rPr lang="en-IN" sz="1600" dirty="0">
                <a:solidFill>
                  <a:srgbClr val="000000"/>
                </a:solidFill>
                <a:latin typeface="Times New Roman" panose="02020603050405020304" pitchFamily="18" charset="0"/>
                <a:ea typeface="Calibri" panose="020F0502020204030204" pitchFamily="34" charset="0"/>
                <a:hlinkClick r:id="rId4">
                  <a:extLst>
                    <a:ext uri="{A12FA001-AC4F-418D-AE19-62706E023703}">
                      <ahyp:hlinkClr xmlns:ahyp="http://schemas.microsoft.com/office/drawing/2018/hyperlinkcolor" val="tx"/>
                    </a:ext>
                  </a:extLst>
                </a:hlinkClick>
              </a:rPr>
              <a:t>Qing Li</a:t>
            </a:r>
            <a:r>
              <a:rPr lang="en-IN" sz="1600" dirty="0">
                <a:solidFill>
                  <a:srgbClr val="000000"/>
                </a:solidFill>
                <a:latin typeface="Times New Roman" panose="02020603050405020304" pitchFamily="18" charset="0"/>
                <a:ea typeface="Calibri" panose="020F0502020204030204" pitchFamily="34" charset="0"/>
              </a:rPr>
              <a:t>, </a:t>
            </a:r>
            <a:r>
              <a:rPr lang="en-IN" sz="1600" dirty="0">
                <a:solidFill>
                  <a:srgbClr val="000000"/>
                </a:solidFill>
                <a:latin typeface="Times New Roman" panose="02020603050405020304" pitchFamily="18" charset="0"/>
                <a:ea typeface="Calibri" panose="020F0502020204030204" pitchFamily="34" charset="0"/>
                <a:hlinkClick r:id="rId5">
                  <a:extLst>
                    <a:ext uri="{A12FA001-AC4F-418D-AE19-62706E023703}">
                      <ahyp:hlinkClr xmlns:ahyp="http://schemas.microsoft.com/office/drawing/2018/hyperlinkcolor" val="tx"/>
                    </a:ext>
                  </a:extLst>
                </a:hlinkClick>
              </a:rPr>
              <a:t>Herbert </a:t>
            </a:r>
            <a:r>
              <a:rPr lang="en-IN" sz="1600" dirty="0" err="1">
                <a:solidFill>
                  <a:srgbClr val="000000"/>
                </a:solidFill>
                <a:latin typeface="Times New Roman" panose="02020603050405020304" pitchFamily="18" charset="0"/>
                <a:ea typeface="Calibri" panose="020F0502020204030204" pitchFamily="34" charset="0"/>
                <a:hlinkClick r:id="rId5">
                  <a:extLst>
                    <a:ext uri="{A12FA001-AC4F-418D-AE19-62706E023703}">
                      <ahyp:hlinkClr xmlns:ahyp="http://schemas.microsoft.com/office/drawing/2018/hyperlinkcolor" val="tx"/>
                    </a:ext>
                  </a:extLst>
                </a:hlinkClick>
              </a:rPr>
              <a:t>Woisetschlaeger</a:t>
            </a:r>
            <a:r>
              <a:rPr lang="en-IN" sz="1600" dirty="0">
                <a:solidFill>
                  <a:srgbClr val="000000"/>
                </a:solidFill>
                <a:latin typeface="Times New Roman" panose="02020603050405020304" pitchFamily="18" charset="0"/>
                <a:ea typeface="Calibri" panose="020F0502020204030204" pitchFamily="34" charset="0"/>
              </a:rPr>
              <a:t>, </a:t>
            </a:r>
            <a:r>
              <a:rPr lang="en-IN" sz="1600" dirty="0" err="1">
                <a:solidFill>
                  <a:srgbClr val="000000"/>
                </a:solidFill>
                <a:latin typeface="Times New Roman" panose="02020603050405020304" pitchFamily="18" charset="0"/>
                <a:ea typeface="Calibri" panose="020F0502020204030204" pitchFamily="34" charset="0"/>
                <a:hlinkClick r:id="rId6">
                  <a:extLst>
                    <a:ext uri="{A12FA001-AC4F-418D-AE19-62706E023703}">
                      <ahyp:hlinkClr xmlns:ahyp="http://schemas.microsoft.com/office/drawing/2018/hyperlinkcolor" val="tx"/>
                    </a:ext>
                  </a:extLst>
                </a:hlinkClick>
              </a:rPr>
              <a:t>Zongxiong</a:t>
            </a:r>
            <a:r>
              <a:rPr lang="en-IN" sz="1600" dirty="0">
                <a:solidFill>
                  <a:srgbClr val="000000"/>
                </a:solidFill>
                <a:latin typeface="Times New Roman" panose="02020603050405020304" pitchFamily="18" charset="0"/>
                <a:ea typeface="Calibri" panose="020F0502020204030204" pitchFamily="34" charset="0"/>
                <a:hlinkClick r:id="rId6">
                  <a:extLst>
                    <a:ext uri="{A12FA001-AC4F-418D-AE19-62706E023703}">
                      <ahyp:hlinkClr xmlns:ahyp="http://schemas.microsoft.com/office/drawing/2018/hyperlinkcolor" val="tx"/>
                    </a:ext>
                  </a:extLst>
                </a:hlinkClick>
              </a:rPr>
              <a:t> Chen</a:t>
            </a:r>
            <a:r>
              <a:rPr lang="en-IN" sz="1600" dirty="0">
                <a:solidFill>
                  <a:srgbClr val="000000"/>
                </a:solidFill>
                <a:latin typeface="Times New Roman" panose="02020603050405020304" pitchFamily="18" charset="0"/>
                <a:ea typeface="Calibri" panose="020F0502020204030204" pitchFamily="34" charset="0"/>
              </a:rPr>
              <a:t>, </a:t>
            </a:r>
            <a:r>
              <a:rPr lang="en-IN" sz="1600" dirty="0" err="1">
                <a:solidFill>
                  <a:srgbClr val="000000"/>
                </a:solidFill>
                <a:latin typeface="Times New Roman" panose="02020603050405020304" pitchFamily="18" charset="0"/>
                <a:ea typeface="Calibri" panose="020F0502020204030204" pitchFamily="34" charset="0"/>
                <a:hlinkClick r:id="rId7">
                  <a:extLst>
                    <a:ext uri="{A12FA001-AC4F-418D-AE19-62706E023703}">
                      <ahyp:hlinkClr xmlns:ahyp="http://schemas.microsoft.com/office/drawing/2018/hyperlinkcolor" val="tx"/>
                    </a:ext>
                  </a:extLst>
                </a:hlinkClick>
              </a:rPr>
              <a:t>Fengyu</a:t>
            </a:r>
            <a:r>
              <a:rPr lang="en-IN" sz="1600" dirty="0">
                <a:solidFill>
                  <a:srgbClr val="000000"/>
                </a:solidFill>
                <a:latin typeface="Times New Roman" panose="02020603050405020304" pitchFamily="18" charset="0"/>
                <a:ea typeface="Calibri" panose="020F0502020204030204" pitchFamily="34" charset="0"/>
                <a:hlinkClick r:id="rId7">
                  <a:extLst>
                    <a:ext uri="{A12FA001-AC4F-418D-AE19-62706E023703}">
                      <ahyp:hlinkClr xmlns:ahyp="http://schemas.microsoft.com/office/drawing/2018/hyperlinkcolor" val="tx"/>
                    </a:ext>
                  </a:extLst>
                </a:hlinkClick>
              </a:rPr>
              <a:t> Cai</a:t>
            </a:r>
            <a:r>
              <a:rPr lang="en-IN" sz="1600" dirty="0">
                <a:solidFill>
                  <a:srgbClr val="000000"/>
                </a:solidFill>
                <a:latin typeface="Times New Roman" panose="02020603050405020304" pitchFamily="18" charset="0"/>
                <a:ea typeface="Calibri" panose="020F0502020204030204" pitchFamily="34" charset="0"/>
              </a:rPr>
              <a:t>, </a:t>
            </a:r>
            <a:r>
              <a:rPr lang="en-IN" sz="1600" dirty="0" err="1">
                <a:solidFill>
                  <a:srgbClr val="000000"/>
                </a:solidFill>
                <a:latin typeface="Times New Roman" panose="02020603050405020304" pitchFamily="18" charset="0"/>
                <a:ea typeface="Calibri" panose="020F0502020204030204" pitchFamily="34" charset="0"/>
                <a:hlinkClick r:id="rId8">
                  <a:extLst>
                    <a:ext uri="{A12FA001-AC4F-418D-AE19-62706E023703}">
                      <ahyp:hlinkClr xmlns:ahyp="http://schemas.microsoft.com/office/drawing/2018/hyperlinkcolor" val="tx"/>
                    </a:ext>
                  </a:extLst>
                </a:hlinkClick>
              </a:rPr>
              <a:t>Yuxia</a:t>
            </a:r>
            <a:r>
              <a:rPr lang="en-IN" sz="1600" dirty="0">
                <a:solidFill>
                  <a:srgbClr val="000000"/>
                </a:solidFill>
                <a:latin typeface="Times New Roman" panose="02020603050405020304" pitchFamily="18" charset="0"/>
                <a:ea typeface="Calibri" panose="020F0502020204030204" pitchFamily="34" charset="0"/>
                <a:hlinkClick r:id="rId8">
                  <a:extLst>
                    <a:ext uri="{A12FA001-AC4F-418D-AE19-62706E023703}">
                      <ahyp:hlinkClr xmlns:ahyp="http://schemas.microsoft.com/office/drawing/2018/hyperlinkcolor" val="tx"/>
                    </a:ext>
                  </a:extLst>
                </a:hlinkClick>
              </a:rPr>
              <a:t> Wang</a:t>
            </a:r>
            <a:r>
              <a:rPr lang="en-IN" sz="1600" dirty="0">
                <a:solidFill>
                  <a:srgbClr val="000000"/>
                </a:solidFill>
                <a:latin typeface="Times New Roman" panose="02020603050405020304" pitchFamily="18" charset="0"/>
                <a:ea typeface="Calibri" panose="020F0502020204030204" pitchFamily="34" charset="0"/>
              </a:rPr>
              <a:t>, </a:t>
            </a:r>
            <a:r>
              <a:rPr lang="en-IN" sz="1600" dirty="0">
                <a:solidFill>
                  <a:srgbClr val="000000"/>
                </a:solidFill>
                <a:latin typeface="Times New Roman" panose="02020603050405020304" pitchFamily="18" charset="0"/>
                <a:ea typeface="Calibri" panose="020F0502020204030204" pitchFamily="34" charset="0"/>
                <a:hlinkClick r:id="rId9">
                  <a:extLst>
                    <a:ext uri="{A12FA001-AC4F-418D-AE19-62706E023703}">
                      <ahyp:hlinkClr xmlns:ahyp="http://schemas.microsoft.com/office/drawing/2018/hyperlinkcolor" val="tx"/>
                    </a:ext>
                  </a:extLst>
                </a:hlinkClick>
              </a:rPr>
              <a:t>Preslav </a:t>
            </a:r>
            <a:r>
              <a:rPr lang="en-IN" sz="1600" dirty="0" err="1">
                <a:solidFill>
                  <a:srgbClr val="000000"/>
                </a:solidFill>
                <a:latin typeface="Times New Roman" panose="02020603050405020304" pitchFamily="18" charset="0"/>
                <a:ea typeface="Calibri" panose="020F0502020204030204" pitchFamily="34" charset="0"/>
                <a:hlinkClick r:id="rId9">
                  <a:extLst>
                    <a:ext uri="{A12FA001-AC4F-418D-AE19-62706E023703}">
                      <ahyp:hlinkClr xmlns:ahyp="http://schemas.microsoft.com/office/drawing/2018/hyperlinkcolor" val="tx"/>
                    </a:ext>
                  </a:extLst>
                </a:hlinkClick>
              </a:rPr>
              <a:t>Nakov</a:t>
            </a:r>
            <a:r>
              <a:rPr lang="en-IN" sz="1600" dirty="0">
                <a:solidFill>
                  <a:srgbClr val="000000"/>
                </a:solidFill>
                <a:latin typeface="Times New Roman" panose="02020603050405020304" pitchFamily="18" charset="0"/>
                <a:ea typeface="Calibri" panose="020F0502020204030204" pitchFamily="34" charset="0"/>
              </a:rPr>
              <a:t>, </a:t>
            </a:r>
            <a:r>
              <a:rPr lang="en-IN" sz="1600" dirty="0">
                <a:solidFill>
                  <a:srgbClr val="000000"/>
                </a:solidFill>
                <a:latin typeface="Times New Roman" panose="02020603050405020304" pitchFamily="18" charset="0"/>
                <a:ea typeface="Calibri" panose="020F0502020204030204" pitchFamily="34" charset="0"/>
                <a:hlinkClick r:id="rId10">
                  <a:extLst>
                    <a:ext uri="{A12FA001-AC4F-418D-AE19-62706E023703}">
                      <ahyp:hlinkClr xmlns:ahyp="http://schemas.microsoft.com/office/drawing/2018/hyperlinkcolor" val="tx"/>
                    </a:ext>
                  </a:extLst>
                </a:hlinkClick>
              </a:rPr>
              <a:t>Hans-Arno Jacobsen</a:t>
            </a:r>
            <a:r>
              <a:rPr lang="en-IN" sz="1600" dirty="0">
                <a:solidFill>
                  <a:srgbClr val="000000"/>
                </a:solidFill>
                <a:latin typeface="Times New Roman" panose="02020603050405020304" pitchFamily="18" charset="0"/>
                <a:ea typeface="Calibri" panose="020F0502020204030204" pitchFamily="34" charset="0"/>
              </a:rPr>
              <a:t>, </a:t>
            </a:r>
            <a:r>
              <a:rPr lang="en-IN" sz="1600" dirty="0">
                <a:solidFill>
                  <a:srgbClr val="000000"/>
                </a:solidFill>
                <a:latin typeface="Times New Roman" panose="02020603050405020304" pitchFamily="18" charset="0"/>
                <a:ea typeface="Calibri" panose="020F0502020204030204" pitchFamily="34" charset="0"/>
                <a:hlinkClick r:id="rId11">
                  <a:extLst>
                    <a:ext uri="{A12FA001-AC4F-418D-AE19-62706E023703}">
                      <ahyp:hlinkClr xmlns:ahyp="http://schemas.microsoft.com/office/drawing/2018/hyperlinkcolor" val="tx"/>
                    </a:ext>
                  </a:extLst>
                </a:hlinkClick>
              </a:rPr>
              <a:t>Fakhri </a:t>
            </a:r>
            <a:r>
              <a:rPr lang="en-IN" sz="1600" dirty="0" err="1">
                <a:solidFill>
                  <a:srgbClr val="000000"/>
                </a:solidFill>
                <a:latin typeface="Times New Roman" panose="02020603050405020304" pitchFamily="18" charset="0"/>
                <a:ea typeface="Calibri" panose="020F0502020204030204" pitchFamily="34" charset="0"/>
                <a:hlinkClick r:id="rId11">
                  <a:extLst>
                    <a:ext uri="{A12FA001-AC4F-418D-AE19-62706E023703}">
                      <ahyp:hlinkClr xmlns:ahyp="http://schemas.microsoft.com/office/drawing/2018/hyperlinkcolor" val="tx"/>
                    </a:ext>
                  </a:extLst>
                </a:hlinkClick>
              </a:rPr>
              <a:t>Karray</a:t>
            </a:r>
            <a:r>
              <a:rPr lang="en-IN" sz="1600" dirty="0">
                <a:solidFill>
                  <a:srgbClr val="000000"/>
                </a:solidFill>
                <a:latin typeface="Times New Roman" panose="02020603050405020304" pitchFamily="18" charset="0"/>
                <a:ea typeface="Calibri" panose="020F0502020204030204" pitchFamily="34" charset="0"/>
              </a:rPr>
              <a:t> A Comprehensive Survey of Machine Unlearning Techniques for Large Language Models DOI: </a:t>
            </a:r>
            <a:r>
              <a:rPr lang="en-IN" sz="1600" dirty="0">
                <a:solidFill>
                  <a:srgbClr val="000000"/>
                </a:solidFill>
                <a:latin typeface="Times New Roman" panose="02020603050405020304" pitchFamily="18" charset="0"/>
                <a:ea typeface="Calibri" panose="020F0502020204030204" pitchFamily="34" charset="0"/>
                <a:hlinkClick r:id="rId12">
                  <a:extLst>
                    <a:ext uri="{A12FA001-AC4F-418D-AE19-62706E023703}">
                      <ahyp:hlinkClr xmlns:ahyp="http://schemas.microsoft.com/office/drawing/2018/hyperlinkcolor" val="tx"/>
                    </a:ext>
                  </a:extLst>
                </a:hlinkClick>
              </a:rPr>
              <a:t>https://doi.org/10.48550/arXiv.2503.01854</a:t>
            </a:r>
            <a:endParaRPr lang="en-IN" sz="1600" dirty="0">
              <a:solidFill>
                <a:srgbClr val="000000"/>
              </a:solidFill>
              <a:latin typeface="Times New Roman" panose="02020603050405020304" pitchFamily="18" charset="0"/>
              <a:ea typeface="Calibri" panose="020F0502020204030204" pitchFamily="34" charset="0"/>
            </a:endParaRP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[7] Exploring Federated Unlearning: Review, Comparison, and Insights Yang Zhao, Member, IEEE, </a:t>
            </a:r>
            <a:r>
              <a:rPr lang="en-IN" sz="1600" dirty="0" err="1">
                <a:solidFill>
                  <a:srgbClr val="000000"/>
                </a:solidFill>
                <a:latin typeface="Times New Roman" panose="02020603050405020304" pitchFamily="18" charset="0"/>
                <a:ea typeface="Calibri" panose="020F0502020204030204" pitchFamily="34" charset="0"/>
              </a:rPr>
              <a:t>Jiaxi</a:t>
            </a:r>
            <a:r>
              <a:rPr lang="en-IN" sz="1600" dirty="0">
                <a:solidFill>
                  <a:srgbClr val="000000"/>
                </a:solidFill>
                <a:latin typeface="Times New Roman" panose="02020603050405020304" pitchFamily="18" charset="0"/>
                <a:ea typeface="Calibri" panose="020F0502020204030204" pitchFamily="34" charset="0"/>
              </a:rPr>
              <a:t> Yang, Student Member, IEEE, Yiling Tao, Student Member, IEEE, </a:t>
            </a:r>
            <a:r>
              <a:rPr lang="en-IN" sz="1600" dirty="0" err="1">
                <a:solidFill>
                  <a:srgbClr val="000000"/>
                </a:solidFill>
                <a:latin typeface="Times New Roman" panose="02020603050405020304" pitchFamily="18" charset="0"/>
                <a:ea typeface="Calibri" panose="020F0502020204030204" pitchFamily="34" charset="0"/>
              </a:rPr>
              <a:t>Lixu</a:t>
            </a:r>
            <a:r>
              <a:rPr lang="en-IN" sz="1600" dirty="0">
                <a:solidFill>
                  <a:srgbClr val="000000"/>
                </a:solidFill>
                <a:latin typeface="Times New Roman" panose="02020603050405020304" pitchFamily="18" charset="0"/>
                <a:ea typeface="Calibri" panose="020F0502020204030204" pitchFamily="34" charset="0"/>
              </a:rPr>
              <a:t> Wang, Student Member, IEEE, </a:t>
            </a:r>
            <a:r>
              <a:rPr lang="en-IN" sz="1600" dirty="0" err="1">
                <a:solidFill>
                  <a:srgbClr val="000000"/>
                </a:solidFill>
                <a:latin typeface="Times New Roman" panose="02020603050405020304" pitchFamily="18" charset="0"/>
                <a:ea typeface="Calibri" panose="020F0502020204030204" pitchFamily="34" charset="0"/>
              </a:rPr>
              <a:t>Xiaoxiao</a:t>
            </a:r>
            <a:r>
              <a:rPr lang="en-IN" sz="1600" dirty="0">
                <a:solidFill>
                  <a:srgbClr val="000000"/>
                </a:solidFill>
                <a:latin typeface="Times New Roman" panose="02020603050405020304" pitchFamily="18" charset="0"/>
                <a:ea typeface="Calibri" panose="020F0502020204030204" pitchFamily="34" charset="0"/>
              </a:rPr>
              <a:t> Li, Member, IEEE, Dusit </a:t>
            </a:r>
            <a:r>
              <a:rPr lang="en-IN" sz="1600" dirty="0" err="1">
                <a:solidFill>
                  <a:srgbClr val="000000"/>
                </a:solidFill>
                <a:latin typeface="Times New Roman" panose="02020603050405020304" pitchFamily="18" charset="0"/>
                <a:ea typeface="Calibri" panose="020F0502020204030204" pitchFamily="34" charset="0"/>
              </a:rPr>
              <a:t>Niyato</a:t>
            </a:r>
            <a:r>
              <a:rPr lang="en-IN" sz="1600" dirty="0">
                <a:solidFill>
                  <a:srgbClr val="000000"/>
                </a:solidFill>
                <a:latin typeface="Times New Roman" panose="02020603050405020304" pitchFamily="18" charset="0"/>
                <a:ea typeface="Calibri" panose="020F0502020204030204" pitchFamily="34" charset="0"/>
              </a:rPr>
              <a:t>, Fellow, IEEE, and H. Vincent Poor, Life Fellow, IEEE</a:t>
            </a:r>
          </a:p>
        </p:txBody>
      </p:sp>
    </p:spTree>
    <p:extLst>
      <p:ext uri="{BB962C8B-B14F-4D97-AF65-F5344CB8AC3E}">
        <p14:creationId xmlns:p14="http://schemas.microsoft.com/office/powerpoint/2010/main" val="1747072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B6B05-45B4-F354-9F54-AB42C603DB2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698BB6ED-193F-F4DB-00DB-2F6AB1B15CFF}"/>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62B6D837-53DB-33DC-75BB-B0E7590C2726}"/>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3C10B0B4-DA5B-147C-185D-408A7E057166}"/>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D6E77CE2-12EA-A605-DEEC-F3DEA75FCD87}"/>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References</a:t>
            </a:r>
          </a:p>
        </p:txBody>
      </p:sp>
      <p:sp>
        <p:nvSpPr>
          <p:cNvPr id="5" name="Slide Number Placeholder 5">
            <a:extLst>
              <a:ext uri="{FF2B5EF4-FFF2-40B4-BE49-F238E27FC236}">
                <a16:creationId xmlns:a16="http://schemas.microsoft.com/office/drawing/2014/main" id="{C02A93D9-0296-659D-E891-0334AB4D1364}"/>
              </a:ext>
            </a:extLst>
          </p:cNvPr>
          <p:cNvSpPr>
            <a:spLocks noGrp="1"/>
          </p:cNvSpPr>
          <p:nvPr>
            <p:ph type="sldNum" sz="quarter" idx="12"/>
          </p:nvPr>
        </p:nvSpPr>
        <p:spPr>
          <a:xfrm>
            <a:off x="11282291" y="6442860"/>
            <a:ext cx="732692" cy="392073"/>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27</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B78E822-B92B-0B88-518D-D9D8998EEF73}"/>
              </a:ext>
            </a:extLst>
          </p:cNvPr>
          <p:cNvSpPr txBox="1"/>
          <p:nvPr/>
        </p:nvSpPr>
        <p:spPr>
          <a:xfrm>
            <a:off x="393895" y="907206"/>
            <a:ext cx="11324492" cy="5878532"/>
          </a:xfrm>
          <a:prstGeom prst="rect">
            <a:avLst/>
          </a:prstGeom>
          <a:noFill/>
        </p:spPr>
        <p:txBody>
          <a:bodyPr wrap="square">
            <a:spAutoFit/>
          </a:bodyPr>
          <a:lstStyle/>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[8] Chuan Guo, Tom Goldstein, Awni Y. </a:t>
            </a:r>
            <a:r>
              <a:rPr lang="en-IN" sz="1600" dirty="0" err="1">
                <a:solidFill>
                  <a:srgbClr val="000000"/>
                </a:solidFill>
                <a:latin typeface="Times New Roman" panose="02020603050405020304" pitchFamily="18" charset="0"/>
                <a:ea typeface="Calibri" panose="020F0502020204030204" pitchFamily="34" charset="0"/>
              </a:rPr>
              <a:t>Hannun</a:t>
            </a:r>
            <a:r>
              <a:rPr lang="en-IN" sz="1600" dirty="0">
                <a:solidFill>
                  <a:srgbClr val="000000"/>
                </a:solidFill>
                <a:latin typeface="Times New Roman" panose="02020603050405020304" pitchFamily="18" charset="0"/>
                <a:ea typeface="Calibri" panose="020F0502020204030204" pitchFamily="34" charset="0"/>
              </a:rPr>
              <a:t>, and Laurens van der </a:t>
            </a:r>
            <a:r>
              <a:rPr lang="en-IN" sz="1600" dirty="0" err="1">
                <a:solidFill>
                  <a:srgbClr val="000000"/>
                </a:solidFill>
                <a:latin typeface="Times New Roman" panose="02020603050405020304" pitchFamily="18" charset="0"/>
                <a:ea typeface="Calibri" panose="020F0502020204030204" pitchFamily="34" charset="0"/>
              </a:rPr>
              <a:t>Maaten</a:t>
            </a:r>
            <a:r>
              <a:rPr lang="en-IN" sz="1600" dirty="0">
                <a:solidFill>
                  <a:srgbClr val="000000"/>
                </a:solidFill>
                <a:latin typeface="Times New Roman" panose="02020603050405020304" pitchFamily="18" charset="0"/>
                <a:ea typeface="Calibri" panose="020F0502020204030204" pitchFamily="34" charset="0"/>
              </a:rPr>
              <a:t>. 2020. Certified data removal from machine learning models. In 37th International Conference on Machine Learning (Proceedings of Machine Learning Research, Vol. 119). PMLR, 3832–3842. Retrieved from </a:t>
            </a:r>
            <a:r>
              <a:rPr lang="en-IN" sz="1600" dirty="0">
                <a:solidFill>
                  <a:srgbClr val="000000"/>
                </a:solidFill>
                <a:latin typeface="Times New Roman" panose="02020603050405020304" pitchFamily="18" charset="0"/>
                <a:ea typeface="Calibri" panose="020F0502020204030204" pitchFamily="34" charset="0"/>
                <a:hlinkClick r:id="rId3">
                  <a:extLst>
                    <a:ext uri="{A12FA001-AC4F-418D-AE19-62706E023703}">
                      <ahyp:hlinkClr xmlns:ahyp="http://schemas.microsoft.com/office/drawing/2018/hyperlinkcolor" val="tx"/>
                    </a:ext>
                  </a:extLst>
                </a:hlinkClick>
              </a:rPr>
              <a:t>http://proceedings.mlr.press/v119/guo20c.html</a:t>
            </a:r>
            <a:r>
              <a:rPr lang="en-IN" sz="1600" dirty="0">
                <a:solidFill>
                  <a:srgbClr val="000000"/>
                </a:solidFill>
                <a:latin typeface="Times New Roman" panose="02020603050405020304" pitchFamily="18" charset="0"/>
                <a:ea typeface="Calibri" panose="020F0502020204030204" pitchFamily="34" charset="0"/>
              </a:rPr>
              <a:t>.</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[9] Reinforcement Unlearning </a:t>
            </a:r>
            <a:r>
              <a:rPr lang="en-IN" sz="1600" dirty="0" err="1">
                <a:solidFill>
                  <a:srgbClr val="000000"/>
                </a:solidFill>
                <a:latin typeface="Times New Roman" panose="02020603050405020304" pitchFamily="18" charset="0"/>
                <a:ea typeface="Calibri" panose="020F0502020204030204" pitchFamily="34" charset="0"/>
              </a:rPr>
              <a:t>Dayong</a:t>
            </a:r>
            <a:r>
              <a:rPr lang="en-IN" sz="1600" dirty="0">
                <a:solidFill>
                  <a:srgbClr val="000000"/>
                </a:solidFill>
                <a:latin typeface="Times New Roman" panose="02020603050405020304" pitchFamily="18" charset="0"/>
                <a:ea typeface="Calibri" panose="020F0502020204030204" pitchFamily="34" charset="0"/>
              </a:rPr>
              <a:t> Ye∗ , </a:t>
            </a:r>
            <a:r>
              <a:rPr lang="en-IN" sz="1600" dirty="0" err="1">
                <a:solidFill>
                  <a:srgbClr val="000000"/>
                </a:solidFill>
                <a:latin typeface="Times New Roman" panose="02020603050405020304" pitchFamily="18" charset="0"/>
                <a:ea typeface="Calibri" panose="020F0502020204030204" pitchFamily="34" charset="0"/>
              </a:rPr>
              <a:t>Tianqing</a:t>
            </a:r>
            <a:r>
              <a:rPr lang="en-IN" sz="1600" dirty="0">
                <a:solidFill>
                  <a:srgbClr val="000000"/>
                </a:solidFill>
                <a:latin typeface="Times New Roman" panose="02020603050405020304" pitchFamily="18" charset="0"/>
                <a:ea typeface="Calibri" panose="020F0502020204030204" pitchFamily="34" charset="0"/>
              </a:rPr>
              <a:t> Zhu† , </a:t>
            </a:r>
            <a:r>
              <a:rPr lang="en-IN" sz="1600" dirty="0" err="1">
                <a:solidFill>
                  <a:srgbClr val="000000"/>
                </a:solidFill>
                <a:latin typeface="Times New Roman" panose="02020603050405020304" pitchFamily="18" charset="0"/>
                <a:ea typeface="Calibri" panose="020F0502020204030204" pitchFamily="34" charset="0"/>
              </a:rPr>
              <a:t>Congcong</a:t>
            </a:r>
            <a:r>
              <a:rPr lang="en-IN" sz="1600" dirty="0">
                <a:solidFill>
                  <a:srgbClr val="000000"/>
                </a:solidFill>
                <a:latin typeface="Times New Roman" panose="02020603050405020304" pitchFamily="18" charset="0"/>
                <a:ea typeface="Calibri" panose="020F0502020204030204" pitchFamily="34" charset="0"/>
              </a:rPr>
              <a:t> Zhu† , </a:t>
            </a:r>
            <a:r>
              <a:rPr lang="en-IN" sz="1600" dirty="0" err="1">
                <a:solidFill>
                  <a:srgbClr val="000000"/>
                </a:solidFill>
                <a:latin typeface="Times New Roman" panose="02020603050405020304" pitchFamily="18" charset="0"/>
                <a:ea typeface="Calibri" panose="020F0502020204030204" pitchFamily="34" charset="0"/>
              </a:rPr>
              <a:t>Derui</a:t>
            </a:r>
            <a:r>
              <a:rPr lang="en-IN" sz="1600" dirty="0">
                <a:solidFill>
                  <a:srgbClr val="000000"/>
                </a:solidFill>
                <a:latin typeface="Times New Roman" panose="02020603050405020304" pitchFamily="18" charset="0"/>
                <a:ea typeface="Calibri" panose="020F0502020204030204" pitchFamily="34" charset="0"/>
              </a:rPr>
              <a:t> Wang‡ , Kun Gao∗ , </a:t>
            </a:r>
            <a:r>
              <a:rPr lang="en-IN" sz="1600" dirty="0" err="1">
                <a:solidFill>
                  <a:srgbClr val="000000"/>
                </a:solidFill>
                <a:latin typeface="Times New Roman" panose="02020603050405020304" pitchFamily="18" charset="0"/>
                <a:ea typeface="Calibri" panose="020F0502020204030204" pitchFamily="34" charset="0"/>
              </a:rPr>
              <a:t>Zewei</a:t>
            </a:r>
            <a:r>
              <a:rPr lang="en-IN" sz="1600" dirty="0">
                <a:solidFill>
                  <a:srgbClr val="000000"/>
                </a:solidFill>
                <a:latin typeface="Times New Roman" panose="02020603050405020304" pitchFamily="18" charset="0"/>
                <a:ea typeface="Calibri" panose="020F0502020204030204" pitchFamily="34" charset="0"/>
              </a:rPr>
              <a:t> Shi‡ , Sheng Shen, </a:t>
            </a:r>
            <a:r>
              <a:rPr lang="en-IN" sz="1600" dirty="0" err="1">
                <a:solidFill>
                  <a:srgbClr val="000000"/>
                </a:solidFill>
                <a:latin typeface="Times New Roman" panose="02020603050405020304" pitchFamily="18" charset="0"/>
                <a:ea typeface="Calibri" panose="020F0502020204030204" pitchFamily="34" charset="0"/>
              </a:rPr>
              <a:t>Wanlei</a:t>
            </a:r>
            <a:r>
              <a:rPr lang="en-IN" sz="1600" dirty="0">
                <a:solidFill>
                  <a:srgbClr val="000000"/>
                </a:solidFill>
                <a:latin typeface="Times New Roman" panose="02020603050405020304" pitchFamily="18" charset="0"/>
                <a:ea typeface="Calibri" panose="020F0502020204030204" pitchFamily="34" charset="0"/>
              </a:rPr>
              <a:t> Zhou† , and </a:t>
            </a:r>
            <a:r>
              <a:rPr lang="en-IN" sz="1600" dirty="0" err="1">
                <a:solidFill>
                  <a:srgbClr val="000000"/>
                </a:solidFill>
                <a:latin typeface="Times New Roman" panose="02020603050405020304" pitchFamily="18" charset="0"/>
                <a:ea typeface="Calibri" panose="020F0502020204030204" pitchFamily="34" charset="0"/>
              </a:rPr>
              <a:t>Minhui</a:t>
            </a:r>
            <a:r>
              <a:rPr lang="en-IN" sz="1600" dirty="0">
                <a:solidFill>
                  <a:srgbClr val="000000"/>
                </a:solidFill>
                <a:latin typeface="Times New Roman" panose="02020603050405020304" pitchFamily="18" charset="0"/>
                <a:ea typeface="Calibri" panose="020F0502020204030204" pitchFamily="34" charset="0"/>
              </a:rPr>
              <a:t> Xue‡ ∗University of Technology Sydney, †City University of Macau, ‡CSIRO’s Data61, Torrens University Australia, </a:t>
            </a:r>
            <a:r>
              <a:rPr lang="en-IN" sz="1600" dirty="0">
                <a:solidFill>
                  <a:srgbClr val="000000"/>
                </a:solidFill>
                <a:latin typeface="Times New Roman" panose="02020603050405020304" pitchFamily="18" charset="0"/>
                <a:ea typeface="Calibri" panose="020F0502020204030204" pitchFamily="34" charset="0"/>
                <a:hlinkClick r:id="rId4">
                  <a:extLst>
                    <a:ext uri="{A12FA001-AC4F-418D-AE19-62706E023703}">
                      <ahyp:hlinkClr xmlns:ahyp="http://schemas.microsoft.com/office/drawing/2018/hyperlinkcolor" val="tx"/>
                    </a:ext>
                  </a:extLst>
                </a:hlinkClick>
              </a:rPr>
              <a:t>https://arxiv.org/pdf/2312.15910</a:t>
            </a:r>
            <a:endParaRPr lang="en-IN" sz="1600" dirty="0">
              <a:solidFill>
                <a:srgbClr val="000000"/>
              </a:solidFill>
              <a:latin typeface="Times New Roman" panose="02020603050405020304" pitchFamily="18" charset="0"/>
              <a:ea typeface="Calibri" panose="020F0502020204030204" pitchFamily="34" charset="0"/>
            </a:endParaRP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[10] Xiaofeng Ding, </a:t>
            </a:r>
            <a:r>
              <a:rPr lang="en-IN" sz="1600" dirty="0" err="1">
                <a:solidFill>
                  <a:srgbClr val="000000"/>
                </a:solidFill>
                <a:latin typeface="Times New Roman" panose="02020603050405020304" pitchFamily="18" charset="0"/>
                <a:ea typeface="Calibri" panose="020F0502020204030204" pitchFamily="34" charset="0"/>
              </a:rPr>
              <a:t>Hongbiao</a:t>
            </a:r>
            <a:r>
              <a:rPr lang="en-IN" sz="1600" dirty="0">
                <a:solidFill>
                  <a:srgbClr val="000000"/>
                </a:solidFill>
                <a:latin typeface="Times New Roman" panose="02020603050405020304" pitchFamily="18" charset="0"/>
                <a:ea typeface="Calibri" panose="020F0502020204030204" pitchFamily="34" charset="0"/>
              </a:rPr>
              <a:t> Fang, Zhilin Zhang, Kim-Kwang Raymond Choo, and Hai Jin. 2022. Privacy-preserving feature extraction via adversarial training. IEEE Trans. </a:t>
            </a:r>
            <a:r>
              <a:rPr lang="en-IN" sz="1600" dirty="0" err="1">
                <a:solidFill>
                  <a:srgbClr val="000000"/>
                </a:solidFill>
                <a:latin typeface="Times New Roman" panose="02020603050405020304" pitchFamily="18" charset="0"/>
                <a:ea typeface="Calibri" panose="020F0502020204030204" pitchFamily="34" charset="0"/>
              </a:rPr>
              <a:t>Knowl</a:t>
            </a:r>
            <a:r>
              <a:rPr lang="en-IN" sz="1600" dirty="0">
                <a:solidFill>
                  <a:srgbClr val="000000"/>
                </a:solidFill>
                <a:latin typeface="Times New Roman" panose="02020603050405020304" pitchFamily="18" charset="0"/>
                <a:ea typeface="Calibri" panose="020F0502020204030204" pitchFamily="34" charset="0"/>
              </a:rPr>
              <a:t>. Data Eng. 34, 4 (2022), 1967–1979. </a:t>
            </a:r>
            <a:r>
              <a:rPr lang="en-IN" sz="1600" dirty="0" err="1">
                <a:solidFill>
                  <a:srgbClr val="000000"/>
                </a:solidFill>
                <a:latin typeface="Times New Roman" panose="02020603050405020304" pitchFamily="18" charset="0"/>
                <a:ea typeface="Calibri" panose="020F0502020204030204" pitchFamily="34" charset="0"/>
              </a:rPr>
              <a:t>DOI:http</a:t>
            </a:r>
            <a:r>
              <a:rPr lang="en-IN" sz="1600" dirty="0">
                <a:solidFill>
                  <a:srgbClr val="000000"/>
                </a:solidFill>
                <a:latin typeface="Times New Roman" panose="02020603050405020304" pitchFamily="18" charset="0"/>
                <a:ea typeface="Calibri" panose="020F0502020204030204" pitchFamily="34" charset="0"/>
              </a:rPr>
              <a:t>://</a:t>
            </a:r>
            <a:r>
              <a:rPr lang="en-IN" sz="1600" dirty="0" err="1">
                <a:solidFill>
                  <a:srgbClr val="000000"/>
                </a:solidFill>
                <a:latin typeface="Times New Roman" panose="02020603050405020304" pitchFamily="18" charset="0"/>
                <a:ea typeface="Calibri" panose="020F0502020204030204" pitchFamily="34" charset="0"/>
              </a:rPr>
              <a:t>dx.doi</a:t>
            </a:r>
            <a:r>
              <a:rPr lang="en-IN" sz="1600" dirty="0">
                <a:solidFill>
                  <a:srgbClr val="000000"/>
                </a:solidFill>
                <a:latin typeface="Times New Roman" panose="02020603050405020304" pitchFamily="18" charset="0"/>
                <a:ea typeface="Calibri" panose="020F0502020204030204" pitchFamily="34" charset="0"/>
              </a:rPr>
              <a:t>. org/10.1109/TKDE.2020.2997604 </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[11] Bo Zhang, </a:t>
            </a:r>
            <a:r>
              <a:rPr lang="en-IN" sz="1600" dirty="0" err="1">
                <a:solidFill>
                  <a:srgbClr val="000000"/>
                </a:solidFill>
                <a:latin typeface="Times New Roman" panose="02020603050405020304" pitchFamily="18" charset="0"/>
                <a:ea typeface="Calibri" panose="020F0502020204030204" pitchFamily="34" charset="0"/>
              </a:rPr>
              <a:t>Hancheng</a:t>
            </a:r>
            <a:r>
              <a:rPr lang="en-IN" sz="1600" dirty="0">
                <a:solidFill>
                  <a:srgbClr val="000000"/>
                </a:solidFill>
                <a:latin typeface="Times New Roman" panose="02020603050405020304" pitchFamily="18" charset="0"/>
                <a:ea typeface="Calibri" panose="020F0502020204030204" pitchFamily="34" charset="0"/>
              </a:rPr>
              <a:t> Ye, Gang Yu, Bin Wang, Yike Wu, Jiayuan Fan, and Tao Chen. 2022. Sample-centric feature generation for semi-supervised few-shot learning. IEEE Trans. Image Process. 31 (2022), 2309–2320. </a:t>
            </a:r>
            <a:r>
              <a:rPr lang="en-IN" sz="1600" dirty="0" err="1">
                <a:solidFill>
                  <a:srgbClr val="000000"/>
                </a:solidFill>
                <a:latin typeface="Times New Roman" panose="02020603050405020304" pitchFamily="18" charset="0"/>
                <a:ea typeface="Calibri" panose="020F0502020204030204" pitchFamily="34" charset="0"/>
              </a:rPr>
              <a:t>DOI:http</a:t>
            </a:r>
            <a:r>
              <a:rPr lang="en-IN" sz="1600" dirty="0">
                <a:solidFill>
                  <a:srgbClr val="000000"/>
                </a:solidFill>
                <a:latin typeface="Times New Roman" panose="02020603050405020304" pitchFamily="18" charset="0"/>
                <a:ea typeface="Calibri" panose="020F0502020204030204" pitchFamily="34" charset="0"/>
              </a:rPr>
              <a:t>://dx. doi.org/10.1109/TIP.2022.3154938 </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[12] Jiajing Zhu, </a:t>
            </a:r>
            <a:r>
              <a:rPr lang="en-IN" sz="1600" dirty="0" err="1">
                <a:solidFill>
                  <a:srgbClr val="000000"/>
                </a:solidFill>
                <a:latin typeface="Times New Roman" panose="02020603050405020304" pitchFamily="18" charset="0"/>
                <a:ea typeface="Calibri" panose="020F0502020204030204" pitchFamily="34" charset="0"/>
              </a:rPr>
              <a:t>Yongguo</a:t>
            </a:r>
            <a:r>
              <a:rPr lang="en-IN" sz="1600" dirty="0">
                <a:solidFill>
                  <a:srgbClr val="000000"/>
                </a:solidFill>
                <a:latin typeface="Times New Roman" panose="02020603050405020304" pitchFamily="18" charset="0"/>
                <a:ea typeface="Calibri" panose="020F0502020204030204" pitchFamily="34" charset="0"/>
              </a:rPr>
              <a:t> Liu, </a:t>
            </a:r>
            <a:r>
              <a:rPr lang="en-IN" sz="1600" dirty="0" err="1">
                <a:solidFill>
                  <a:srgbClr val="000000"/>
                </a:solidFill>
                <a:latin typeface="Times New Roman" panose="02020603050405020304" pitchFamily="18" charset="0"/>
                <a:ea typeface="Calibri" panose="020F0502020204030204" pitchFamily="34" charset="0"/>
              </a:rPr>
              <a:t>Chuanbiao</a:t>
            </a:r>
            <a:r>
              <a:rPr lang="en-IN" sz="1600" dirty="0">
                <a:solidFill>
                  <a:srgbClr val="000000"/>
                </a:solidFill>
                <a:latin typeface="Times New Roman" panose="02020603050405020304" pitchFamily="18" charset="0"/>
                <a:ea typeface="Calibri" panose="020F0502020204030204" pitchFamily="34" charset="0"/>
              </a:rPr>
              <a:t> Wen, and </a:t>
            </a:r>
            <a:r>
              <a:rPr lang="en-IN" sz="1600" dirty="0" err="1">
                <a:solidFill>
                  <a:srgbClr val="000000"/>
                </a:solidFill>
                <a:latin typeface="Times New Roman" panose="02020603050405020304" pitchFamily="18" charset="0"/>
                <a:ea typeface="Calibri" panose="020F0502020204030204" pitchFamily="34" charset="0"/>
              </a:rPr>
              <a:t>Xindong</a:t>
            </a:r>
            <a:r>
              <a:rPr lang="en-IN" sz="1600" dirty="0">
                <a:solidFill>
                  <a:srgbClr val="000000"/>
                </a:solidFill>
                <a:latin typeface="Times New Roman" panose="02020603050405020304" pitchFamily="18" charset="0"/>
                <a:ea typeface="Calibri" panose="020F0502020204030204" pitchFamily="34" charset="0"/>
              </a:rPr>
              <a:t> Wu. 2022. DGDFS: Dependence Guided Discriminative Feature Selection for predicting adverse drug-drug interaction. IEEE Trans. </a:t>
            </a:r>
            <a:r>
              <a:rPr lang="en-IN" sz="1600" dirty="0" err="1">
                <a:solidFill>
                  <a:srgbClr val="000000"/>
                </a:solidFill>
                <a:latin typeface="Times New Roman" panose="02020603050405020304" pitchFamily="18" charset="0"/>
                <a:ea typeface="Calibri" panose="020F0502020204030204" pitchFamily="34" charset="0"/>
              </a:rPr>
              <a:t>Knowl</a:t>
            </a:r>
            <a:r>
              <a:rPr lang="en-IN" sz="1600" dirty="0">
                <a:solidFill>
                  <a:srgbClr val="000000"/>
                </a:solidFill>
                <a:latin typeface="Times New Roman" panose="02020603050405020304" pitchFamily="18" charset="0"/>
                <a:ea typeface="Calibri" panose="020F0502020204030204" pitchFamily="34" charset="0"/>
              </a:rPr>
              <a:t>. Data Eng. 34, 1 (2022), 271–285. </a:t>
            </a:r>
            <a:r>
              <a:rPr lang="en-IN" sz="1600" dirty="0" err="1">
                <a:solidFill>
                  <a:srgbClr val="000000"/>
                </a:solidFill>
                <a:latin typeface="Times New Roman" panose="02020603050405020304" pitchFamily="18" charset="0"/>
                <a:ea typeface="Calibri" panose="020F0502020204030204" pitchFamily="34" charset="0"/>
              </a:rPr>
              <a:t>DOI:http</a:t>
            </a:r>
            <a:r>
              <a:rPr lang="en-IN" sz="1600" dirty="0">
                <a:solidFill>
                  <a:srgbClr val="000000"/>
                </a:solidFill>
                <a:latin typeface="Times New Roman" panose="02020603050405020304" pitchFamily="18" charset="0"/>
                <a:ea typeface="Calibri" panose="020F0502020204030204" pitchFamily="34" charset="0"/>
              </a:rPr>
              <a:t>://dx.doi.org/10.1109/TKDE.2020.2978055</a:t>
            </a:r>
          </a:p>
          <a:p>
            <a:pPr marL="457200" algn="just">
              <a:spcAft>
                <a:spcPts val="800"/>
              </a:spcAft>
            </a:pPr>
            <a:r>
              <a:rPr lang="en-IN" sz="1600" dirty="0"/>
              <a:t>[13] [Wu et al., 2023] Xinwei Wu, </a:t>
            </a:r>
            <a:r>
              <a:rPr lang="en-IN" sz="1600" dirty="0" err="1"/>
              <a:t>Junzhuo</a:t>
            </a:r>
            <a:r>
              <a:rPr lang="en-IN" sz="1600" dirty="0"/>
              <a:t> Li, </a:t>
            </a:r>
            <a:r>
              <a:rPr lang="en-IN" sz="1600" dirty="0" err="1"/>
              <a:t>Minghui</a:t>
            </a:r>
            <a:r>
              <a:rPr lang="en-IN" sz="1600" dirty="0"/>
              <a:t> Xu, </a:t>
            </a:r>
            <a:r>
              <a:rPr lang="en-IN" sz="1600" dirty="0" err="1"/>
              <a:t>Weilong</a:t>
            </a:r>
            <a:r>
              <a:rPr lang="en-IN" sz="1600" dirty="0"/>
              <a:t> Dong, </a:t>
            </a:r>
            <a:r>
              <a:rPr lang="en-IN" sz="1600" dirty="0" err="1"/>
              <a:t>Shuangzhi</a:t>
            </a:r>
            <a:r>
              <a:rPr lang="en-IN" sz="1600" dirty="0"/>
              <a:t> Wu, Chao Bian, and </a:t>
            </a:r>
            <a:r>
              <a:rPr lang="en-IN" sz="1600" dirty="0" err="1"/>
              <a:t>Deyi</a:t>
            </a:r>
            <a:r>
              <a:rPr lang="en-IN" sz="1600" dirty="0"/>
              <a:t> Xiong. DEPN: Detecting and editing privacy neurons in pretrained language models. In Houda </a:t>
            </a:r>
            <a:r>
              <a:rPr lang="en-IN" sz="1600" dirty="0" err="1"/>
              <a:t>Bouamor</a:t>
            </a:r>
            <a:r>
              <a:rPr lang="en-IN" sz="1600" dirty="0"/>
              <a:t>, Juan Pino, and Kalika Bali, editors, Proceedings of the 2023 Conference on Empirical Methods in Natural Language Processing, pages 2875–2886, Singapore, December 2023. Association for Computational Linguistics.</a:t>
            </a:r>
            <a:endParaRPr lang="en-IN" sz="1600" dirty="0">
              <a:solidFill>
                <a:srgbClr val="000000"/>
              </a:solidFill>
              <a:latin typeface="Times New Roman" panose="02020603050405020304" pitchFamily="18" charset="0"/>
              <a:ea typeface="Calibri" panose="020F0502020204030204" pitchFamily="34" charset="0"/>
            </a:endParaRPr>
          </a:p>
          <a:p>
            <a:pPr marL="457200" algn="just">
              <a:spcAft>
                <a:spcPts val="800"/>
              </a:spcAft>
              <a:buNone/>
            </a:pPr>
            <a:br>
              <a:rPr lang="en-IN" sz="1600" dirty="0">
                <a:solidFill>
                  <a:srgbClr val="000000"/>
                </a:solidFill>
                <a:latin typeface="Calibri" panose="020F0502020204030204" pitchFamily="34" charset="0"/>
                <a:ea typeface="Calibri" panose="020F0502020204030204" pitchFamily="34" charset="0"/>
              </a:rPr>
            </a:b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57032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EF595-8A61-ED02-2B16-C17AE19F6B7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66577A6-29AE-EF64-25CA-1A7B6537D20E}"/>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5E0EE9CE-9D0F-1732-7C6A-212C3B2CEF56}"/>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AC9EC9CC-8E28-4E5F-23DD-B5FCDDD7DD8B}"/>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5" name="Slide Number Placeholder 5">
            <a:extLst>
              <a:ext uri="{FF2B5EF4-FFF2-40B4-BE49-F238E27FC236}">
                <a16:creationId xmlns:a16="http://schemas.microsoft.com/office/drawing/2014/main" id="{8B7A5148-99DE-1287-1C7A-0924DCD11A71}"/>
              </a:ext>
            </a:extLst>
          </p:cNvPr>
          <p:cNvSpPr>
            <a:spLocks noGrp="1"/>
          </p:cNvSpPr>
          <p:nvPr>
            <p:ph type="sldNum" sz="quarter" idx="12"/>
          </p:nvPr>
        </p:nvSpPr>
        <p:spPr>
          <a:xfrm>
            <a:off x="11282291" y="6442860"/>
            <a:ext cx="732692" cy="392073"/>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28</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59E1747-A58F-D5FD-8DB8-B88FCF677A38}"/>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References</a:t>
            </a:r>
          </a:p>
        </p:txBody>
      </p:sp>
      <p:sp>
        <p:nvSpPr>
          <p:cNvPr id="8" name="TextBox 7">
            <a:extLst>
              <a:ext uri="{FF2B5EF4-FFF2-40B4-BE49-F238E27FC236}">
                <a16:creationId xmlns:a16="http://schemas.microsoft.com/office/drawing/2014/main" id="{0E793BB7-4019-699B-39BC-ED40372B63B8}"/>
              </a:ext>
            </a:extLst>
          </p:cNvPr>
          <p:cNvSpPr txBox="1"/>
          <p:nvPr/>
        </p:nvSpPr>
        <p:spPr>
          <a:xfrm>
            <a:off x="393895" y="923299"/>
            <a:ext cx="11324492" cy="5724644"/>
          </a:xfrm>
          <a:prstGeom prst="rect">
            <a:avLst/>
          </a:prstGeom>
          <a:noFill/>
        </p:spPr>
        <p:txBody>
          <a:bodyPr wrap="square">
            <a:spAutoFit/>
          </a:bodyPr>
          <a:lstStyle/>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[14] [Jia et al., 2024] Jinghan Jia, </a:t>
            </a:r>
            <a:r>
              <a:rPr lang="en-IN" sz="1600" dirty="0" err="1">
                <a:solidFill>
                  <a:srgbClr val="000000"/>
                </a:solidFill>
                <a:latin typeface="Times New Roman" panose="02020603050405020304" pitchFamily="18" charset="0"/>
                <a:ea typeface="Calibri" panose="020F0502020204030204" pitchFamily="34" charset="0"/>
              </a:rPr>
              <a:t>Jiancheng</a:t>
            </a:r>
            <a:r>
              <a:rPr lang="en-IN" sz="1600" dirty="0">
                <a:solidFill>
                  <a:srgbClr val="000000"/>
                </a:solidFill>
                <a:latin typeface="Times New Roman" panose="02020603050405020304" pitchFamily="18" charset="0"/>
                <a:ea typeface="Calibri" panose="020F0502020204030204" pitchFamily="34" charset="0"/>
              </a:rPr>
              <a:t> Liu, Yihua Zhang, Parikshit Ram, Nathalie Baracaldo, and </a:t>
            </a:r>
            <a:r>
              <a:rPr lang="en-IN" sz="1600" dirty="0" err="1">
                <a:solidFill>
                  <a:srgbClr val="000000"/>
                </a:solidFill>
                <a:latin typeface="Times New Roman" panose="02020603050405020304" pitchFamily="18" charset="0"/>
                <a:ea typeface="Calibri" panose="020F0502020204030204" pitchFamily="34" charset="0"/>
              </a:rPr>
              <a:t>Sijia</a:t>
            </a:r>
            <a:r>
              <a:rPr lang="en-IN" sz="1600" dirty="0">
                <a:solidFill>
                  <a:srgbClr val="000000"/>
                </a:solidFill>
                <a:latin typeface="Times New Roman" panose="02020603050405020304" pitchFamily="18" charset="0"/>
                <a:ea typeface="Calibri" panose="020F0502020204030204" pitchFamily="34" charset="0"/>
              </a:rPr>
              <a:t> Liu. WAGLE: Strategic weight attribution for effective and modular unlearning in large language models. In The Thirty-eighth Annual Conf</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[15] A Survey on Recommendation Unlearning: Fundamentals, Taxonomy, Evaluation, and Open Questions Yuyuan Li, Xiaohua Feng, </a:t>
            </a:r>
            <a:r>
              <a:rPr lang="en-IN" sz="1600" dirty="0" err="1">
                <a:solidFill>
                  <a:srgbClr val="000000"/>
                </a:solidFill>
                <a:latin typeface="Times New Roman" panose="02020603050405020304" pitchFamily="18" charset="0"/>
                <a:ea typeface="Calibri" panose="020F0502020204030204" pitchFamily="34" charset="0"/>
              </a:rPr>
              <a:t>Chaochao</a:t>
            </a:r>
            <a:r>
              <a:rPr lang="en-IN" sz="1600" dirty="0">
                <a:solidFill>
                  <a:srgbClr val="000000"/>
                </a:solidFill>
                <a:latin typeface="Times New Roman" panose="02020603050405020304" pitchFamily="18" charset="0"/>
                <a:ea typeface="Calibri" panose="020F0502020204030204" pitchFamily="34" charset="0"/>
              </a:rPr>
              <a:t> Chen*, Senior Member, IEEE, and Qiang Yang, Fellow, IEEE</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[16] Alessandro </a:t>
            </a:r>
            <a:r>
              <a:rPr lang="en-IN" sz="1600" dirty="0" err="1">
                <a:solidFill>
                  <a:srgbClr val="000000"/>
                </a:solidFill>
                <a:latin typeface="Times New Roman" panose="02020603050405020304" pitchFamily="18" charset="0"/>
                <a:ea typeface="Calibri" panose="020F0502020204030204" pitchFamily="34" charset="0"/>
              </a:rPr>
              <a:t>Mantelero</a:t>
            </a:r>
            <a:r>
              <a:rPr lang="en-IN" sz="1600" dirty="0">
                <a:solidFill>
                  <a:srgbClr val="000000"/>
                </a:solidFill>
                <a:latin typeface="Times New Roman" panose="02020603050405020304" pitchFamily="18" charset="0"/>
                <a:ea typeface="Calibri" panose="020F0502020204030204" pitchFamily="34" charset="0"/>
              </a:rPr>
              <a:t>. The EU proposal for a general data protection regulation and the roots of the ’right to be forgotten’. </a:t>
            </a:r>
            <a:r>
              <a:rPr lang="en-IN" sz="1600" dirty="0" err="1">
                <a:solidFill>
                  <a:srgbClr val="000000"/>
                </a:solidFill>
                <a:latin typeface="Times New Roman" panose="02020603050405020304" pitchFamily="18" charset="0"/>
                <a:ea typeface="Calibri" panose="020F0502020204030204" pitchFamily="34" charset="0"/>
              </a:rPr>
              <a:t>Comput</a:t>
            </a:r>
            <a:r>
              <a:rPr lang="en-IN" sz="1600" dirty="0">
                <a:solidFill>
                  <a:srgbClr val="000000"/>
                </a:solidFill>
                <a:latin typeface="Times New Roman" panose="02020603050405020304" pitchFamily="18" charset="0"/>
                <a:ea typeface="Calibri" panose="020F0502020204030204" pitchFamily="34" charset="0"/>
              </a:rPr>
              <a:t>. Law </a:t>
            </a:r>
            <a:r>
              <a:rPr lang="en-IN" sz="1600" dirty="0" err="1">
                <a:solidFill>
                  <a:srgbClr val="000000"/>
                </a:solidFill>
                <a:latin typeface="Times New Roman" panose="02020603050405020304" pitchFamily="18" charset="0"/>
                <a:ea typeface="Calibri" panose="020F0502020204030204" pitchFamily="34" charset="0"/>
              </a:rPr>
              <a:t>Secur</a:t>
            </a:r>
            <a:r>
              <a:rPr lang="en-IN" sz="1600" dirty="0">
                <a:solidFill>
                  <a:srgbClr val="000000"/>
                </a:solidFill>
                <a:latin typeface="Times New Roman" panose="02020603050405020304" pitchFamily="18" charset="0"/>
                <a:ea typeface="Calibri" panose="020F0502020204030204" pitchFamily="34" charset="0"/>
              </a:rPr>
              <a:t>. Rev., 29(3):229–235, 2013.</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[17] O. of the Privacy Commissioner of Canada. Announcement: Privacy commissioner seeks federal court determination on key issue for </a:t>
            </a:r>
            <a:r>
              <a:rPr lang="en-IN" sz="1600" dirty="0" err="1">
                <a:solidFill>
                  <a:srgbClr val="000000"/>
                </a:solidFill>
                <a:latin typeface="Times New Roman" panose="02020603050405020304" pitchFamily="18" charset="0"/>
                <a:ea typeface="Calibri" panose="020F0502020204030204" pitchFamily="34" charset="0"/>
              </a:rPr>
              <a:t>canadians’</a:t>
            </a:r>
            <a:r>
              <a:rPr lang="en-IN" sz="1600" dirty="0">
                <a:solidFill>
                  <a:srgbClr val="000000"/>
                </a:solidFill>
                <a:latin typeface="Times New Roman" panose="02020603050405020304" pitchFamily="18" charset="0"/>
                <a:ea typeface="Calibri" panose="020F0502020204030204" pitchFamily="34" charset="0"/>
              </a:rPr>
              <a:t> online reputation.</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[18] Lydia de la Torre. A guide to the </a:t>
            </a:r>
            <a:r>
              <a:rPr lang="en-IN" sz="1600" dirty="0" err="1">
                <a:solidFill>
                  <a:srgbClr val="000000"/>
                </a:solidFill>
                <a:latin typeface="Times New Roman" panose="02020603050405020304" pitchFamily="18" charset="0"/>
                <a:ea typeface="Calibri" panose="020F0502020204030204" pitchFamily="34" charset="0"/>
              </a:rPr>
              <a:t>california</a:t>
            </a:r>
            <a:r>
              <a:rPr lang="en-IN" sz="1600" dirty="0">
                <a:solidFill>
                  <a:srgbClr val="000000"/>
                </a:solidFill>
                <a:latin typeface="Times New Roman" panose="02020603050405020304" pitchFamily="18" charset="0"/>
                <a:ea typeface="Calibri" panose="020F0502020204030204" pitchFamily="34" charset="0"/>
              </a:rPr>
              <a:t> consumer privacy act of 2018. Available at SSRN 3275571, 2018.</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[19] Digital Personal Data Protection Act, 2023. Available at </a:t>
            </a:r>
            <a:r>
              <a:rPr lang="en-IN" sz="1600" dirty="0">
                <a:solidFill>
                  <a:srgbClr val="000000"/>
                </a:solidFill>
                <a:latin typeface="Times New Roman" panose="02020603050405020304" pitchFamily="18" charset="0"/>
                <a:ea typeface="Calibri" panose="020F0502020204030204" pitchFamily="34" charset="0"/>
                <a:hlinkClick r:id="rId3">
                  <a:extLst>
                    <a:ext uri="{A12FA001-AC4F-418D-AE19-62706E023703}">
                      <ahyp:hlinkClr xmlns:ahyp="http://schemas.microsoft.com/office/drawing/2018/hyperlinkcolor" val="tx"/>
                    </a:ext>
                  </a:extLst>
                </a:hlinkClick>
              </a:rPr>
              <a:t>https://www.meity.gov.in/static/uploads/2024/06/2bf1f0e9f04e6fb4f8fef35e82c42aa5.pdf</a:t>
            </a:r>
            <a:endParaRPr lang="en-IN" sz="1600" dirty="0">
              <a:solidFill>
                <a:srgbClr val="000000"/>
              </a:solidFill>
              <a:latin typeface="Times New Roman" panose="02020603050405020304" pitchFamily="18" charset="0"/>
              <a:ea typeface="Calibri" panose="020F0502020204030204" pitchFamily="34" charset="0"/>
            </a:endParaRP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[20] L. </a:t>
            </a:r>
            <a:r>
              <a:rPr lang="en-IN" sz="1600" dirty="0" err="1">
                <a:solidFill>
                  <a:srgbClr val="000000"/>
                </a:solidFill>
                <a:latin typeface="Times New Roman" panose="02020603050405020304" pitchFamily="18" charset="0"/>
                <a:ea typeface="Calibri" panose="020F0502020204030204" pitchFamily="34" charset="0"/>
              </a:rPr>
              <a:t>Bourtoule</a:t>
            </a:r>
            <a:r>
              <a:rPr lang="en-IN" sz="1600" dirty="0">
                <a:solidFill>
                  <a:srgbClr val="000000"/>
                </a:solidFill>
                <a:latin typeface="Times New Roman" panose="02020603050405020304" pitchFamily="18" charset="0"/>
                <a:ea typeface="Calibri" panose="020F0502020204030204" pitchFamily="34" charset="0"/>
              </a:rPr>
              <a:t>, V. Chandrasekaran, C. A. Choquette-Choo, H. Jia, A. Travers, B. Zhang, D. Lie, and N. </a:t>
            </a:r>
            <a:r>
              <a:rPr lang="en-IN" sz="1600" dirty="0" err="1">
                <a:solidFill>
                  <a:srgbClr val="000000"/>
                </a:solidFill>
                <a:latin typeface="Times New Roman" panose="02020603050405020304" pitchFamily="18" charset="0"/>
                <a:ea typeface="Calibri" panose="020F0502020204030204" pitchFamily="34" charset="0"/>
              </a:rPr>
              <a:t>Papernot</a:t>
            </a:r>
            <a:r>
              <a:rPr lang="en-IN" sz="1600" dirty="0">
                <a:solidFill>
                  <a:srgbClr val="000000"/>
                </a:solidFill>
                <a:latin typeface="Times New Roman" panose="02020603050405020304" pitchFamily="18" charset="0"/>
                <a:ea typeface="Calibri" panose="020F0502020204030204" pitchFamily="34" charset="0"/>
              </a:rPr>
              <a:t>, “Machine unlearning,” in Proc. IEEE Symposium on Security and Privacy (SP), 2021</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[21] </a:t>
            </a:r>
            <a:r>
              <a:rPr lang="en-IN" sz="1600" dirty="0" err="1">
                <a:solidFill>
                  <a:srgbClr val="000000"/>
                </a:solidFill>
                <a:latin typeface="Times New Roman" panose="02020603050405020304" pitchFamily="18" charset="0"/>
                <a:ea typeface="Calibri" panose="020F0502020204030204" pitchFamily="34" charset="0"/>
              </a:rPr>
              <a:t>Hengzhu</a:t>
            </a:r>
            <a:r>
              <a:rPr lang="en-IN" sz="1600" dirty="0">
                <a:solidFill>
                  <a:srgbClr val="000000"/>
                </a:solidFill>
                <a:latin typeface="Times New Roman" panose="02020603050405020304" pitchFamily="18" charset="0"/>
                <a:ea typeface="Calibri" panose="020F0502020204030204" pitchFamily="34" charset="0"/>
              </a:rPr>
              <a:t> Liu, </a:t>
            </a:r>
            <a:r>
              <a:rPr lang="en-IN" sz="1600" dirty="0" err="1">
                <a:solidFill>
                  <a:srgbClr val="000000"/>
                </a:solidFill>
                <a:latin typeface="Times New Roman" panose="02020603050405020304" pitchFamily="18" charset="0"/>
                <a:ea typeface="Calibri" panose="020F0502020204030204" pitchFamily="34" charset="0"/>
              </a:rPr>
              <a:t>Tianqing</a:t>
            </a:r>
            <a:r>
              <a:rPr lang="en-IN" sz="1600" dirty="0">
                <a:solidFill>
                  <a:srgbClr val="000000"/>
                </a:solidFill>
                <a:latin typeface="Times New Roman" panose="02020603050405020304" pitchFamily="18" charset="0"/>
                <a:ea typeface="Calibri" panose="020F0502020204030204" pitchFamily="34" charset="0"/>
              </a:rPr>
              <a:t> Zhu, </a:t>
            </a:r>
            <a:r>
              <a:rPr lang="en-IN" sz="1600" dirty="0" err="1">
                <a:solidFill>
                  <a:srgbClr val="000000"/>
                </a:solidFill>
                <a:latin typeface="Times New Roman" panose="02020603050405020304" pitchFamily="18" charset="0"/>
                <a:ea typeface="Calibri" panose="020F0502020204030204" pitchFamily="34" charset="0"/>
              </a:rPr>
              <a:t>Lefeng</a:t>
            </a:r>
            <a:r>
              <a:rPr lang="en-IN" sz="1600" dirty="0">
                <a:solidFill>
                  <a:srgbClr val="000000"/>
                </a:solidFill>
                <a:latin typeface="Times New Roman" panose="02020603050405020304" pitchFamily="18" charset="0"/>
                <a:ea typeface="Calibri" panose="020F0502020204030204" pitchFamily="34" charset="0"/>
              </a:rPr>
              <a:t> Zhang, Ping Xiong, “Game-Theoretic Machine Unlearning: Mitigating Extra Privacy Leakage”, in JOURNAL OF LATEX CLASS FILES, VOL. 14, NO. 8, AUGUST 2021 1</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[22] Stuart </a:t>
            </a:r>
            <a:r>
              <a:rPr lang="en-IN" sz="1600" dirty="0" err="1">
                <a:solidFill>
                  <a:srgbClr val="000000"/>
                </a:solidFill>
                <a:latin typeface="Times New Roman" panose="02020603050405020304" pitchFamily="18" charset="0"/>
                <a:ea typeface="Calibri" panose="020F0502020204030204" pitchFamily="34" charset="0"/>
              </a:rPr>
              <a:t>Wesselby</a:t>
            </a:r>
            <a:r>
              <a:rPr lang="en-IN" sz="1600" dirty="0">
                <a:solidFill>
                  <a:srgbClr val="000000"/>
                </a:solidFill>
                <a:latin typeface="Times New Roman" panose="02020603050405020304" pitchFamily="18" charset="0"/>
                <a:ea typeface="Calibri" panose="020F0502020204030204" pitchFamily="34" charset="0"/>
              </a:rPr>
              <a:t>, “Responsible AI: Principles, Practices, and Applications. How to implement ai responsibly”, </a:t>
            </a:r>
            <a:r>
              <a:rPr lang="en-IN" sz="1600" dirty="0">
                <a:solidFill>
                  <a:srgbClr val="000000"/>
                </a:solidFill>
                <a:latin typeface="Times New Roman" panose="02020603050405020304" pitchFamily="18" charset="0"/>
                <a:ea typeface="Calibri" panose="020F0502020204030204" pitchFamily="34" charset="0"/>
                <a:hlinkClick r:id="rId4">
                  <a:extLst>
                    <a:ext uri="{A12FA001-AC4F-418D-AE19-62706E023703}">
                      <ahyp:hlinkClr xmlns:ahyp="http://schemas.microsoft.com/office/drawing/2018/hyperlinkcolor" val="tx"/>
                    </a:ext>
                  </a:extLst>
                </a:hlinkClick>
              </a:rPr>
              <a:t>https://www.udemy.com/course/responsible-ai-principles-practices-and-applications/?srsltid=AfmBOorcJDN91T-1RxFtCerA13W6GAUedvgXI_K5mlDnzcsPdM9ebOlg</a:t>
            </a:r>
            <a:endParaRPr lang="en-IN" sz="1600" dirty="0">
              <a:solidFill>
                <a:srgbClr val="000000"/>
              </a:solidFill>
              <a:latin typeface="Times New Roman" panose="02020603050405020304" pitchFamily="18" charset="0"/>
              <a:ea typeface="Calibri" panose="020F0502020204030204" pitchFamily="34" charset="0"/>
            </a:endParaRPr>
          </a:p>
          <a:p>
            <a:endParaRPr lang="en-IN" dirty="0"/>
          </a:p>
        </p:txBody>
      </p:sp>
    </p:spTree>
    <p:extLst>
      <p:ext uri="{BB962C8B-B14F-4D97-AF65-F5344CB8AC3E}">
        <p14:creationId xmlns:p14="http://schemas.microsoft.com/office/powerpoint/2010/main" val="3090898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73818-7599-F9C0-1594-21DD92549FB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9BBE9E4-3647-CB9E-8EC9-333E5453C928}"/>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85719D26-1315-F70B-AE00-F774730489AD}"/>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0D0BD6E9-AE03-06C6-CFAD-B9FFDB8971E0}"/>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5" name="Slide Number Placeholder 5">
            <a:extLst>
              <a:ext uri="{FF2B5EF4-FFF2-40B4-BE49-F238E27FC236}">
                <a16:creationId xmlns:a16="http://schemas.microsoft.com/office/drawing/2014/main" id="{80AAF635-BEF6-2569-CBC3-93D5EF963A0A}"/>
              </a:ext>
            </a:extLst>
          </p:cNvPr>
          <p:cNvSpPr>
            <a:spLocks noGrp="1"/>
          </p:cNvSpPr>
          <p:nvPr>
            <p:ph type="sldNum" sz="quarter" idx="12"/>
          </p:nvPr>
        </p:nvSpPr>
        <p:spPr>
          <a:xfrm>
            <a:off x="11282291" y="6442860"/>
            <a:ext cx="732692" cy="392073"/>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29</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D29FA66-DE91-38E2-0DB7-8B0AD930AE09}"/>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References</a:t>
            </a:r>
          </a:p>
        </p:txBody>
      </p:sp>
      <p:sp>
        <p:nvSpPr>
          <p:cNvPr id="8" name="TextBox 7">
            <a:extLst>
              <a:ext uri="{FF2B5EF4-FFF2-40B4-BE49-F238E27FC236}">
                <a16:creationId xmlns:a16="http://schemas.microsoft.com/office/drawing/2014/main" id="{2EE10376-4C62-FDBF-8B63-15CE08899CAB}"/>
              </a:ext>
            </a:extLst>
          </p:cNvPr>
          <p:cNvSpPr txBox="1"/>
          <p:nvPr/>
        </p:nvSpPr>
        <p:spPr>
          <a:xfrm>
            <a:off x="393895" y="938289"/>
            <a:ext cx="11324492" cy="2472472"/>
          </a:xfrm>
          <a:prstGeom prst="rect">
            <a:avLst/>
          </a:prstGeom>
          <a:noFill/>
        </p:spPr>
        <p:txBody>
          <a:bodyPr wrap="square">
            <a:spAutoFit/>
          </a:bodyPr>
          <a:lstStyle/>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[23] </a:t>
            </a:r>
            <a:r>
              <a:rPr lang="en-IN" sz="1600" dirty="0" err="1">
                <a:solidFill>
                  <a:srgbClr val="000000"/>
                </a:solidFill>
                <a:latin typeface="Times New Roman" panose="02020603050405020304" pitchFamily="18" charset="0"/>
                <a:ea typeface="Calibri" panose="020F0502020204030204" pitchFamily="34" charset="0"/>
              </a:rPr>
              <a:t>Yinzhi</a:t>
            </a:r>
            <a:r>
              <a:rPr lang="en-IN" sz="1600" dirty="0">
                <a:solidFill>
                  <a:srgbClr val="000000"/>
                </a:solidFill>
                <a:latin typeface="Times New Roman" panose="02020603050405020304" pitchFamily="18" charset="0"/>
                <a:ea typeface="Calibri" panose="020F0502020204030204" pitchFamily="34" charset="0"/>
              </a:rPr>
              <a:t> Cao and </a:t>
            </a:r>
            <a:r>
              <a:rPr lang="en-IN" sz="1600" dirty="0" err="1">
                <a:solidFill>
                  <a:srgbClr val="000000"/>
                </a:solidFill>
                <a:latin typeface="Times New Roman" panose="02020603050405020304" pitchFamily="18" charset="0"/>
                <a:ea typeface="Calibri" panose="020F0502020204030204" pitchFamily="34" charset="0"/>
              </a:rPr>
              <a:t>Junfeng</a:t>
            </a:r>
            <a:r>
              <a:rPr lang="en-IN" sz="1600" dirty="0">
                <a:solidFill>
                  <a:srgbClr val="000000"/>
                </a:solidFill>
                <a:latin typeface="Times New Roman" panose="02020603050405020304" pitchFamily="18" charset="0"/>
                <a:ea typeface="Calibri" panose="020F0502020204030204" pitchFamily="34" charset="0"/>
              </a:rPr>
              <a:t> Yang. 2015. Towards making systems forget with machine unlearning. In IEEE Symposium</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on Security and Privacy. IEEE Computer Society, 463–480. </a:t>
            </a:r>
            <a:r>
              <a:rPr lang="en-IN" sz="1600" dirty="0" err="1">
                <a:solidFill>
                  <a:srgbClr val="000000"/>
                </a:solidFill>
                <a:latin typeface="Times New Roman" panose="02020603050405020304" pitchFamily="18" charset="0"/>
                <a:ea typeface="Calibri" panose="020F0502020204030204" pitchFamily="34" charset="0"/>
              </a:rPr>
              <a:t>DOI:http</a:t>
            </a:r>
            <a:r>
              <a:rPr lang="en-IN" sz="1600" dirty="0">
                <a:solidFill>
                  <a:srgbClr val="000000"/>
                </a:solidFill>
                <a:latin typeface="Times New Roman" panose="02020603050405020304" pitchFamily="18" charset="0"/>
                <a:ea typeface="Calibri" panose="020F0502020204030204" pitchFamily="34" charset="0"/>
              </a:rPr>
              <a:t>://dx.doi.org/10.1109/SP.2015.35</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[24] Xiaofeng Ding, </a:t>
            </a:r>
            <a:r>
              <a:rPr lang="en-IN" sz="1600" dirty="0" err="1">
                <a:solidFill>
                  <a:srgbClr val="000000"/>
                </a:solidFill>
                <a:latin typeface="Times New Roman" panose="02020603050405020304" pitchFamily="18" charset="0"/>
                <a:ea typeface="Calibri" panose="020F0502020204030204" pitchFamily="34" charset="0"/>
              </a:rPr>
              <a:t>Hongbiao</a:t>
            </a:r>
            <a:r>
              <a:rPr lang="en-IN" sz="1600" dirty="0">
                <a:solidFill>
                  <a:srgbClr val="000000"/>
                </a:solidFill>
                <a:latin typeface="Times New Roman" panose="02020603050405020304" pitchFamily="18" charset="0"/>
                <a:ea typeface="Calibri" panose="020F0502020204030204" pitchFamily="34" charset="0"/>
              </a:rPr>
              <a:t> Fang, Zhilin Zhang, Kim-Kwang Raymond Choo, and Hai Jin. Privacy-preserving feature extraction via adversarial training. IEEE Trans. </a:t>
            </a:r>
            <a:r>
              <a:rPr lang="en-IN" sz="1600" dirty="0" err="1">
                <a:solidFill>
                  <a:srgbClr val="000000"/>
                </a:solidFill>
                <a:latin typeface="Times New Roman" panose="02020603050405020304" pitchFamily="18" charset="0"/>
                <a:ea typeface="Calibri" panose="020F0502020204030204" pitchFamily="34" charset="0"/>
              </a:rPr>
              <a:t>Knowl</a:t>
            </a:r>
            <a:r>
              <a:rPr lang="en-IN" sz="1600" dirty="0">
                <a:solidFill>
                  <a:srgbClr val="000000"/>
                </a:solidFill>
                <a:latin typeface="Times New Roman" panose="02020603050405020304" pitchFamily="18" charset="0"/>
                <a:ea typeface="Calibri" panose="020F0502020204030204" pitchFamily="34" charset="0"/>
              </a:rPr>
              <a:t>. Data Eng., 34(4):1967–1979, 2022.</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[25] Bo Zhang, </a:t>
            </a:r>
            <a:r>
              <a:rPr lang="en-IN" sz="1600" dirty="0" err="1">
                <a:solidFill>
                  <a:srgbClr val="000000"/>
                </a:solidFill>
                <a:latin typeface="Times New Roman" panose="02020603050405020304" pitchFamily="18" charset="0"/>
                <a:ea typeface="Calibri" panose="020F0502020204030204" pitchFamily="34" charset="0"/>
              </a:rPr>
              <a:t>Hancheng</a:t>
            </a:r>
            <a:r>
              <a:rPr lang="en-IN" sz="1600" dirty="0">
                <a:solidFill>
                  <a:srgbClr val="000000"/>
                </a:solidFill>
                <a:latin typeface="Times New Roman" panose="02020603050405020304" pitchFamily="18" charset="0"/>
                <a:ea typeface="Calibri" panose="020F0502020204030204" pitchFamily="34" charset="0"/>
              </a:rPr>
              <a:t> Ye, Gang Yu, Bin Wang, Yike Wu, Jiayuan Fan, and Tao Chen. Sample-centric feature generation for semi-supervised few-shot learning. IEEE Trans. Image Process., 31:2309–2320, 2022. </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[26] Jiajing Zhu, </a:t>
            </a:r>
            <a:r>
              <a:rPr lang="en-IN" sz="1600" dirty="0" err="1">
                <a:solidFill>
                  <a:srgbClr val="000000"/>
                </a:solidFill>
                <a:latin typeface="Times New Roman" panose="02020603050405020304" pitchFamily="18" charset="0"/>
                <a:ea typeface="Calibri" panose="020F0502020204030204" pitchFamily="34" charset="0"/>
              </a:rPr>
              <a:t>Yongguo</a:t>
            </a:r>
            <a:r>
              <a:rPr lang="en-IN" sz="1600" dirty="0">
                <a:solidFill>
                  <a:srgbClr val="000000"/>
                </a:solidFill>
                <a:latin typeface="Times New Roman" panose="02020603050405020304" pitchFamily="18" charset="0"/>
                <a:ea typeface="Calibri" panose="020F0502020204030204" pitchFamily="34" charset="0"/>
              </a:rPr>
              <a:t> Liu, </a:t>
            </a:r>
            <a:r>
              <a:rPr lang="en-IN" sz="1600" dirty="0" err="1">
                <a:solidFill>
                  <a:srgbClr val="000000"/>
                </a:solidFill>
                <a:latin typeface="Times New Roman" panose="02020603050405020304" pitchFamily="18" charset="0"/>
                <a:ea typeface="Calibri" panose="020F0502020204030204" pitchFamily="34" charset="0"/>
              </a:rPr>
              <a:t>Chuanbiao</a:t>
            </a:r>
            <a:r>
              <a:rPr lang="en-IN" sz="1600" dirty="0">
                <a:solidFill>
                  <a:srgbClr val="000000"/>
                </a:solidFill>
                <a:latin typeface="Times New Roman" panose="02020603050405020304" pitchFamily="18" charset="0"/>
                <a:ea typeface="Calibri" panose="020F0502020204030204" pitchFamily="34" charset="0"/>
              </a:rPr>
              <a:t> Wen, and </a:t>
            </a:r>
            <a:r>
              <a:rPr lang="en-IN" sz="1600" dirty="0" err="1">
                <a:solidFill>
                  <a:srgbClr val="000000"/>
                </a:solidFill>
                <a:latin typeface="Times New Roman" panose="02020603050405020304" pitchFamily="18" charset="0"/>
                <a:ea typeface="Calibri" panose="020F0502020204030204" pitchFamily="34" charset="0"/>
              </a:rPr>
              <a:t>Xindong</a:t>
            </a:r>
            <a:r>
              <a:rPr lang="en-IN" sz="1600" dirty="0">
                <a:solidFill>
                  <a:srgbClr val="000000"/>
                </a:solidFill>
                <a:latin typeface="Times New Roman" panose="02020603050405020304" pitchFamily="18" charset="0"/>
                <a:ea typeface="Calibri" panose="020F0502020204030204" pitchFamily="34" charset="0"/>
              </a:rPr>
              <a:t> Wu. DGDFS: dependence guided discriminative feature selection for predicting adverse drug-drug interaction. IEEE Trans. </a:t>
            </a:r>
            <a:r>
              <a:rPr lang="en-IN" sz="1600" dirty="0" err="1">
                <a:solidFill>
                  <a:srgbClr val="000000"/>
                </a:solidFill>
                <a:latin typeface="Times New Roman" panose="02020603050405020304" pitchFamily="18" charset="0"/>
                <a:ea typeface="Calibri" panose="020F0502020204030204" pitchFamily="34" charset="0"/>
              </a:rPr>
              <a:t>Knowl</a:t>
            </a:r>
            <a:r>
              <a:rPr lang="en-IN" sz="1600" dirty="0">
                <a:solidFill>
                  <a:srgbClr val="000000"/>
                </a:solidFill>
                <a:latin typeface="Times New Roman" panose="02020603050405020304" pitchFamily="18" charset="0"/>
                <a:ea typeface="Calibri" panose="020F0502020204030204" pitchFamily="34" charset="0"/>
              </a:rPr>
              <a:t>. Data Eng., 34(1):271–285, 2022</a:t>
            </a:r>
          </a:p>
        </p:txBody>
      </p:sp>
    </p:spTree>
    <p:extLst>
      <p:ext uri="{BB962C8B-B14F-4D97-AF65-F5344CB8AC3E}">
        <p14:creationId xmlns:p14="http://schemas.microsoft.com/office/powerpoint/2010/main" val="3194111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C2BE6-5994-496E-EF11-68E5C7A50A3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B95E1F0-9C29-CCC1-90E7-1DBB55ABCA48}"/>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B0229672-2715-55C6-92D0-6751E64DB737}"/>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2C1D241A-CBB2-2157-27DE-1F640C463CC1}"/>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A1133314-42BF-D0BC-92D1-CD1A5B17522A}"/>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Course Work Details</a:t>
            </a:r>
          </a:p>
        </p:txBody>
      </p:sp>
      <p:graphicFrame>
        <p:nvGraphicFramePr>
          <p:cNvPr id="4" name="Table 3">
            <a:extLst>
              <a:ext uri="{FF2B5EF4-FFF2-40B4-BE49-F238E27FC236}">
                <a16:creationId xmlns:a16="http://schemas.microsoft.com/office/drawing/2014/main" id="{DF428C81-582E-D958-C313-25592D8C3E19}"/>
              </a:ext>
            </a:extLst>
          </p:cNvPr>
          <p:cNvGraphicFramePr>
            <a:graphicFrameLocks noGrp="1"/>
          </p:cNvGraphicFramePr>
          <p:nvPr>
            <p:extLst>
              <p:ext uri="{D42A27DB-BD31-4B8C-83A1-F6EECF244321}">
                <p14:modId xmlns:p14="http://schemas.microsoft.com/office/powerpoint/2010/main" val="573812965"/>
              </p:ext>
            </p:extLst>
          </p:nvPr>
        </p:nvGraphicFramePr>
        <p:xfrm>
          <a:off x="1465023" y="1817346"/>
          <a:ext cx="9261953" cy="2904962"/>
        </p:xfrm>
        <a:graphic>
          <a:graphicData uri="http://schemas.openxmlformats.org/drawingml/2006/table">
            <a:tbl>
              <a:tblPr firstRow="1" bandRow="1">
                <a:tableStyleId>{F5AB1C69-6EDB-4FF4-983F-18BD219EF322}</a:tableStyleId>
              </a:tblPr>
              <a:tblGrid>
                <a:gridCol w="1198664">
                  <a:extLst>
                    <a:ext uri="{9D8B030D-6E8A-4147-A177-3AD203B41FA5}">
                      <a16:colId xmlns:a16="http://schemas.microsoft.com/office/drawing/2014/main" val="112095384"/>
                    </a:ext>
                  </a:extLst>
                </a:gridCol>
                <a:gridCol w="5239180">
                  <a:extLst>
                    <a:ext uri="{9D8B030D-6E8A-4147-A177-3AD203B41FA5}">
                      <a16:colId xmlns:a16="http://schemas.microsoft.com/office/drawing/2014/main" val="632834027"/>
                    </a:ext>
                  </a:extLst>
                </a:gridCol>
                <a:gridCol w="1060007">
                  <a:extLst>
                    <a:ext uri="{9D8B030D-6E8A-4147-A177-3AD203B41FA5}">
                      <a16:colId xmlns:a16="http://schemas.microsoft.com/office/drawing/2014/main" val="2582267028"/>
                    </a:ext>
                  </a:extLst>
                </a:gridCol>
                <a:gridCol w="1764102">
                  <a:extLst>
                    <a:ext uri="{9D8B030D-6E8A-4147-A177-3AD203B41FA5}">
                      <a16:colId xmlns:a16="http://schemas.microsoft.com/office/drawing/2014/main" val="4292168148"/>
                    </a:ext>
                  </a:extLst>
                </a:gridCol>
              </a:tblGrid>
              <a:tr h="709954">
                <a:tc>
                  <a:txBody>
                    <a:bodyPr/>
                    <a:lstStyle/>
                    <a:p>
                      <a:pPr algn="ctr" rtl="0" fontAlgn="ctr">
                        <a:buNone/>
                      </a:pPr>
                      <a:r>
                        <a:rPr lang="en-IN" sz="1600" b="1" i="0" u="none" strike="noStrike" dirty="0">
                          <a:solidFill>
                            <a:srgbClr val="000000"/>
                          </a:solidFill>
                          <a:effectLst/>
                          <a:latin typeface="Times New Roman" panose="02020603050405020304" pitchFamily="18" charset="0"/>
                        </a:rPr>
                        <a:t>S. No.</a:t>
                      </a:r>
                    </a:p>
                  </a:txBody>
                  <a:tcPr marL="0" marR="0" marT="0" marB="0" anchor="ctr">
                    <a:solidFill>
                      <a:schemeClr val="accent2">
                        <a:lumMod val="60000"/>
                        <a:lumOff val="40000"/>
                      </a:schemeClr>
                    </a:solidFill>
                  </a:tcPr>
                </a:tc>
                <a:tc>
                  <a:txBody>
                    <a:bodyPr/>
                    <a:lstStyle/>
                    <a:p>
                      <a:pPr algn="ctr" rtl="0" fontAlgn="ctr">
                        <a:buNone/>
                      </a:pPr>
                      <a:r>
                        <a:rPr lang="en-IN" sz="1600" b="1" i="0" u="none" strike="noStrike">
                          <a:solidFill>
                            <a:srgbClr val="000000"/>
                          </a:solidFill>
                          <a:effectLst/>
                          <a:latin typeface="Times New Roman" panose="02020603050405020304" pitchFamily="18" charset="0"/>
                        </a:rPr>
                        <a:t>Title of Course Work</a:t>
                      </a:r>
                    </a:p>
                  </a:txBody>
                  <a:tcPr marL="0" marR="0" marT="0" marB="0" anchor="ctr">
                    <a:solidFill>
                      <a:schemeClr val="accent2">
                        <a:lumMod val="60000"/>
                        <a:lumOff val="40000"/>
                      </a:schemeClr>
                    </a:solidFill>
                  </a:tcPr>
                </a:tc>
                <a:tc>
                  <a:txBody>
                    <a:bodyPr/>
                    <a:lstStyle/>
                    <a:p>
                      <a:pPr algn="ctr" rtl="0" fontAlgn="ctr">
                        <a:buNone/>
                      </a:pPr>
                      <a:r>
                        <a:rPr lang="en-IN" sz="1600" b="1" i="0" u="none" strike="noStrike">
                          <a:solidFill>
                            <a:srgbClr val="000000"/>
                          </a:solidFill>
                          <a:effectLst/>
                          <a:latin typeface="Times New Roman" panose="02020603050405020304" pitchFamily="18" charset="0"/>
                        </a:rPr>
                        <a:t>Credits</a:t>
                      </a:r>
                    </a:p>
                  </a:txBody>
                  <a:tcPr marL="0" marR="0" marT="0" marB="0" anchor="ctr">
                    <a:solidFill>
                      <a:schemeClr val="accent2">
                        <a:lumMod val="60000"/>
                        <a:lumOff val="40000"/>
                      </a:schemeClr>
                    </a:solidFill>
                  </a:tcPr>
                </a:tc>
                <a:tc>
                  <a:txBody>
                    <a:bodyPr/>
                    <a:lstStyle/>
                    <a:p>
                      <a:pPr algn="ctr" rtl="0" fontAlgn="ctr">
                        <a:buNone/>
                      </a:pPr>
                      <a:r>
                        <a:rPr lang="en-IN" sz="1600" b="1" i="0" u="none" strike="noStrike">
                          <a:solidFill>
                            <a:srgbClr val="000000"/>
                          </a:solidFill>
                          <a:effectLst/>
                          <a:latin typeface="Times New Roman" panose="02020603050405020304" pitchFamily="18" charset="0"/>
                        </a:rPr>
                        <a:t>Status</a:t>
                      </a:r>
                    </a:p>
                  </a:txBody>
                  <a:tcPr marL="0" marR="0" marT="0" marB="0" anchor="ctr">
                    <a:solidFill>
                      <a:schemeClr val="accent2">
                        <a:lumMod val="60000"/>
                        <a:lumOff val="40000"/>
                      </a:schemeClr>
                    </a:solidFill>
                  </a:tcPr>
                </a:tc>
                <a:extLst>
                  <a:ext uri="{0D108BD9-81ED-4DB2-BD59-A6C34878D82A}">
                    <a16:rowId xmlns:a16="http://schemas.microsoft.com/office/drawing/2014/main" val="1113385291"/>
                  </a:ext>
                </a:extLst>
              </a:tr>
              <a:tr h="371288">
                <a:tc>
                  <a:txBody>
                    <a:bodyPr/>
                    <a:lstStyle/>
                    <a:p>
                      <a:pPr algn="ctr" rtl="0" fontAlgn="ctr">
                        <a:buNone/>
                      </a:pPr>
                      <a:r>
                        <a:rPr lang="en-IN" sz="1600" b="0" i="0" u="none" strike="noStrike">
                          <a:solidFill>
                            <a:srgbClr val="000000"/>
                          </a:solidFill>
                          <a:effectLst/>
                          <a:latin typeface="Times New Roman" panose="02020603050405020304" pitchFamily="18" charset="0"/>
                        </a:rPr>
                        <a:t>1</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dirty="0">
                          <a:solidFill>
                            <a:srgbClr val="000000"/>
                          </a:solidFill>
                          <a:effectLst/>
                          <a:latin typeface="Times New Roman" panose="02020603050405020304" pitchFamily="18" charset="0"/>
                        </a:rPr>
                        <a:t>Research Methodology (ARM)</a:t>
                      </a:r>
                    </a:p>
                  </a:txBody>
                  <a:tcPr marL="0" marR="0" marT="0" marB="0" anchor="ctr">
                    <a:solidFill>
                      <a:schemeClr val="accent2">
                        <a:lumMod val="60000"/>
                        <a:lumOff val="40000"/>
                      </a:schemeClr>
                    </a:solidFill>
                  </a:tcPr>
                </a:tc>
                <a:tc>
                  <a:txBody>
                    <a:bodyPr/>
                    <a:lstStyle/>
                    <a:p>
                      <a:pPr algn="ctr" rtl="0" fontAlgn="ctr">
                        <a:buNone/>
                      </a:pPr>
                      <a:r>
                        <a:rPr lang="en-IN" sz="1600" b="0" i="0" u="none" strike="noStrike">
                          <a:solidFill>
                            <a:srgbClr val="000000"/>
                          </a:solidFill>
                          <a:effectLst/>
                          <a:latin typeface="Times New Roman" panose="02020603050405020304" pitchFamily="18" charset="0"/>
                        </a:rPr>
                        <a:t>2</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dirty="0">
                          <a:solidFill>
                            <a:srgbClr val="000000"/>
                          </a:solidFill>
                          <a:effectLst/>
                          <a:latin typeface="Times New Roman" panose="02020603050405020304" pitchFamily="18" charset="0"/>
                        </a:rPr>
                        <a:t>In Progress (IP)</a:t>
                      </a:r>
                    </a:p>
                  </a:txBody>
                  <a:tcPr marL="0" marR="0" marT="0" marB="0" anchor="ctr">
                    <a:solidFill>
                      <a:schemeClr val="accent2">
                        <a:lumMod val="60000"/>
                        <a:lumOff val="40000"/>
                      </a:schemeClr>
                    </a:solidFill>
                  </a:tcPr>
                </a:tc>
                <a:extLst>
                  <a:ext uri="{0D108BD9-81ED-4DB2-BD59-A6C34878D82A}">
                    <a16:rowId xmlns:a16="http://schemas.microsoft.com/office/drawing/2014/main" val="1237531107"/>
                  </a:ext>
                </a:extLst>
              </a:tr>
              <a:tr h="310776">
                <a:tc>
                  <a:txBody>
                    <a:bodyPr/>
                    <a:lstStyle/>
                    <a:p>
                      <a:pPr algn="ctr" rtl="0" fontAlgn="ctr">
                        <a:buNone/>
                      </a:pPr>
                      <a:r>
                        <a:rPr lang="en-IN" sz="1600" b="0" i="0" u="none" strike="noStrike">
                          <a:solidFill>
                            <a:srgbClr val="000000"/>
                          </a:solidFill>
                          <a:effectLst/>
                          <a:latin typeface="Times New Roman" panose="02020603050405020304" pitchFamily="18" charset="0"/>
                        </a:rPr>
                        <a:t>2</a:t>
                      </a:r>
                    </a:p>
                  </a:txBody>
                  <a:tcPr marL="0" marR="0" marT="0" marB="0" anchor="ctr">
                    <a:solidFill>
                      <a:schemeClr val="accent2">
                        <a:lumMod val="60000"/>
                        <a:lumOff val="40000"/>
                      </a:schemeClr>
                    </a:solidFill>
                  </a:tcPr>
                </a:tc>
                <a:tc>
                  <a:txBody>
                    <a:bodyPr/>
                    <a:lstStyle/>
                    <a:p>
                      <a:pPr algn="l" rtl="0" fontAlgn="ctr">
                        <a:buNone/>
                      </a:pPr>
                      <a:r>
                        <a:rPr lang="en-US" sz="1600" b="0" i="0" u="none" strike="noStrike">
                          <a:solidFill>
                            <a:srgbClr val="000000"/>
                          </a:solidFill>
                          <a:effectLst/>
                          <a:latin typeface="Times New Roman" panose="02020603050405020304" pitchFamily="18" charset="0"/>
                        </a:rPr>
                        <a:t>Research and Publication Ethics (RPE)</a:t>
                      </a:r>
                    </a:p>
                  </a:txBody>
                  <a:tcPr marL="0" marR="0" marT="0" marB="0" anchor="ctr">
                    <a:solidFill>
                      <a:schemeClr val="accent2">
                        <a:lumMod val="60000"/>
                        <a:lumOff val="40000"/>
                      </a:schemeClr>
                    </a:solidFill>
                  </a:tcPr>
                </a:tc>
                <a:tc>
                  <a:txBody>
                    <a:bodyPr/>
                    <a:lstStyle/>
                    <a:p>
                      <a:pPr algn="ctr" rtl="0" fontAlgn="ctr">
                        <a:buNone/>
                      </a:pPr>
                      <a:r>
                        <a:rPr lang="en-IN" sz="1600" b="0" i="0" u="none" strike="noStrike">
                          <a:solidFill>
                            <a:srgbClr val="000000"/>
                          </a:solidFill>
                          <a:effectLst/>
                          <a:latin typeface="Times New Roman" panose="02020603050405020304" pitchFamily="18" charset="0"/>
                        </a:rPr>
                        <a:t>2</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a:solidFill>
                            <a:srgbClr val="000000"/>
                          </a:solidFill>
                          <a:effectLst/>
                          <a:latin typeface="Times New Roman" panose="02020603050405020304" pitchFamily="18" charset="0"/>
                        </a:rPr>
                        <a:t>Completed</a:t>
                      </a:r>
                    </a:p>
                  </a:txBody>
                  <a:tcPr marL="0" marR="0" marT="0" marB="0" anchor="ctr">
                    <a:solidFill>
                      <a:schemeClr val="accent2">
                        <a:lumMod val="60000"/>
                        <a:lumOff val="40000"/>
                      </a:schemeClr>
                    </a:solidFill>
                  </a:tcPr>
                </a:tc>
                <a:extLst>
                  <a:ext uri="{0D108BD9-81ED-4DB2-BD59-A6C34878D82A}">
                    <a16:rowId xmlns:a16="http://schemas.microsoft.com/office/drawing/2014/main" val="195585577"/>
                  </a:ext>
                </a:extLst>
              </a:tr>
              <a:tr h="400424">
                <a:tc>
                  <a:txBody>
                    <a:bodyPr/>
                    <a:lstStyle/>
                    <a:p>
                      <a:pPr algn="ctr" rtl="0" fontAlgn="ctr">
                        <a:buNone/>
                      </a:pPr>
                      <a:r>
                        <a:rPr lang="en-IN" sz="1600" b="0" i="0" u="none" strike="noStrike">
                          <a:solidFill>
                            <a:srgbClr val="000000"/>
                          </a:solidFill>
                          <a:effectLst/>
                          <a:latin typeface="Times New Roman" panose="02020603050405020304" pitchFamily="18" charset="0"/>
                        </a:rPr>
                        <a:t>3</a:t>
                      </a:r>
                    </a:p>
                  </a:txBody>
                  <a:tcPr marL="0" marR="0" marT="0" marB="0" anchor="ctr">
                    <a:solidFill>
                      <a:schemeClr val="accent2">
                        <a:lumMod val="60000"/>
                        <a:lumOff val="40000"/>
                      </a:schemeClr>
                    </a:solidFill>
                  </a:tcPr>
                </a:tc>
                <a:tc>
                  <a:txBody>
                    <a:bodyPr/>
                    <a:lstStyle/>
                    <a:p>
                      <a:pPr algn="l" rtl="0" fontAlgn="ctr">
                        <a:buNone/>
                      </a:pPr>
                      <a:r>
                        <a:rPr lang="en-US" sz="1600" b="0" i="0" u="none" strike="noStrike" dirty="0">
                          <a:solidFill>
                            <a:srgbClr val="000000"/>
                          </a:solidFill>
                          <a:effectLst/>
                          <a:latin typeface="Times New Roman" panose="02020603050405020304" pitchFamily="18" charset="0"/>
                        </a:rPr>
                        <a:t>Research Methodology in Natural Sciences</a:t>
                      </a:r>
                    </a:p>
                  </a:txBody>
                  <a:tcPr marL="0" marR="0" marT="0" marB="0" anchor="ctr">
                    <a:solidFill>
                      <a:schemeClr val="accent2">
                        <a:lumMod val="60000"/>
                        <a:lumOff val="40000"/>
                      </a:schemeClr>
                    </a:solidFill>
                  </a:tcPr>
                </a:tc>
                <a:tc>
                  <a:txBody>
                    <a:bodyPr/>
                    <a:lstStyle/>
                    <a:p>
                      <a:pPr algn="ctr" rtl="0" fontAlgn="ctr">
                        <a:buNone/>
                      </a:pPr>
                      <a:r>
                        <a:rPr lang="en-IN" sz="1600" b="0" i="0" u="none" strike="noStrike">
                          <a:solidFill>
                            <a:srgbClr val="000000"/>
                          </a:solidFill>
                          <a:effectLst/>
                          <a:latin typeface="Times New Roman" panose="02020603050405020304" pitchFamily="18" charset="0"/>
                        </a:rPr>
                        <a:t>2</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a:solidFill>
                            <a:srgbClr val="000000"/>
                          </a:solidFill>
                          <a:effectLst/>
                          <a:latin typeface="Times New Roman" panose="02020603050405020304" pitchFamily="18" charset="0"/>
                        </a:rPr>
                        <a:t>In Progress (IP)</a:t>
                      </a:r>
                    </a:p>
                  </a:txBody>
                  <a:tcPr marL="0" marR="0" marT="0" marB="0" anchor="ctr">
                    <a:solidFill>
                      <a:schemeClr val="accent2">
                        <a:lumMod val="60000"/>
                        <a:lumOff val="40000"/>
                      </a:schemeClr>
                    </a:solidFill>
                  </a:tcPr>
                </a:tc>
                <a:extLst>
                  <a:ext uri="{0D108BD9-81ED-4DB2-BD59-A6C34878D82A}">
                    <a16:rowId xmlns:a16="http://schemas.microsoft.com/office/drawing/2014/main" val="1460210787"/>
                  </a:ext>
                </a:extLst>
              </a:tr>
              <a:tr h="370840">
                <a:tc>
                  <a:txBody>
                    <a:bodyPr/>
                    <a:lstStyle/>
                    <a:p>
                      <a:pPr algn="ctr" rtl="0" fontAlgn="ctr">
                        <a:buNone/>
                      </a:pPr>
                      <a:r>
                        <a:rPr lang="en-IN" sz="1600" b="0" i="0" u="none" strike="noStrike">
                          <a:solidFill>
                            <a:srgbClr val="000000"/>
                          </a:solidFill>
                          <a:effectLst/>
                          <a:latin typeface="Times New Roman" panose="02020603050405020304" pitchFamily="18" charset="0"/>
                        </a:rPr>
                        <a:t>4</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a:solidFill>
                            <a:srgbClr val="000000"/>
                          </a:solidFill>
                          <a:effectLst/>
                          <a:latin typeface="Times New Roman" panose="02020603050405020304" pitchFamily="18" charset="0"/>
                        </a:rPr>
                        <a:t>Introduction to Machine Learning</a:t>
                      </a:r>
                    </a:p>
                  </a:txBody>
                  <a:tcPr marL="0" marR="0" marT="0" marB="0" anchor="ctr">
                    <a:solidFill>
                      <a:schemeClr val="accent2">
                        <a:lumMod val="40000"/>
                        <a:lumOff val="60000"/>
                      </a:schemeClr>
                    </a:solidFill>
                  </a:tcPr>
                </a:tc>
                <a:tc>
                  <a:txBody>
                    <a:bodyPr/>
                    <a:lstStyle/>
                    <a:p>
                      <a:pPr algn="ctr" rtl="0" fontAlgn="ctr">
                        <a:buNone/>
                      </a:pPr>
                      <a:r>
                        <a:rPr lang="en-IN" sz="1600" b="0" i="0" u="none" strike="noStrike">
                          <a:solidFill>
                            <a:srgbClr val="000000"/>
                          </a:solidFill>
                          <a:effectLst/>
                          <a:latin typeface="Times New Roman" panose="02020603050405020304" pitchFamily="18" charset="0"/>
                        </a:rPr>
                        <a:t>3</a:t>
                      </a:r>
                    </a:p>
                  </a:txBody>
                  <a:tcPr marL="0" marR="0" marT="0" marB="0" anchor="ctr">
                    <a:solidFill>
                      <a:schemeClr val="accent2">
                        <a:lumMod val="40000"/>
                        <a:lumOff val="60000"/>
                      </a:schemeClr>
                    </a:solidFill>
                  </a:tcPr>
                </a:tc>
                <a:tc>
                  <a:txBody>
                    <a:bodyPr/>
                    <a:lstStyle/>
                    <a:p>
                      <a:pPr algn="l" rtl="0" fontAlgn="ctr">
                        <a:buNone/>
                      </a:pPr>
                      <a:r>
                        <a:rPr lang="en-IN" sz="1600" b="0" i="0" u="none" strike="noStrike">
                          <a:solidFill>
                            <a:srgbClr val="000000"/>
                          </a:solidFill>
                          <a:effectLst/>
                          <a:latin typeface="Times New Roman" panose="02020603050405020304" pitchFamily="18" charset="0"/>
                        </a:rPr>
                        <a:t>To Be Taken (TBT)</a:t>
                      </a:r>
                    </a:p>
                  </a:txBody>
                  <a:tcPr marL="0" marR="0" marT="0" marB="0" anchor="ctr">
                    <a:solidFill>
                      <a:schemeClr val="accent2">
                        <a:lumMod val="40000"/>
                        <a:lumOff val="60000"/>
                      </a:schemeClr>
                    </a:solidFill>
                  </a:tcPr>
                </a:tc>
                <a:extLst>
                  <a:ext uri="{0D108BD9-81ED-4DB2-BD59-A6C34878D82A}">
                    <a16:rowId xmlns:a16="http://schemas.microsoft.com/office/drawing/2014/main" val="426227466"/>
                  </a:ext>
                </a:extLst>
              </a:tr>
              <a:tr h="370840">
                <a:tc>
                  <a:txBody>
                    <a:bodyPr/>
                    <a:lstStyle/>
                    <a:p>
                      <a:pPr algn="ctr" rtl="0" fontAlgn="ctr">
                        <a:buNone/>
                      </a:pPr>
                      <a:r>
                        <a:rPr lang="en-IN" sz="1600" b="0" i="0" u="none" strike="noStrike">
                          <a:solidFill>
                            <a:srgbClr val="000000"/>
                          </a:solidFill>
                          <a:effectLst/>
                          <a:latin typeface="Times New Roman" panose="02020603050405020304" pitchFamily="18" charset="0"/>
                        </a:rPr>
                        <a:t>5</a:t>
                      </a:r>
                    </a:p>
                  </a:txBody>
                  <a:tcPr marL="0" marR="0" marT="0" marB="0" anchor="ctr">
                    <a:solidFill>
                      <a:schemeClr val="accent2">
                        <a:lumMod val="60000"/>
                        <a:lumOff val="40000"/>
                      </a:schemeClr>
                    </a:solidFill>
                  </a:tcPr>
                </a:tc>
                <a:tc>
                  <a:txBody>
                    <a:bodyPr/>
                    <a:lstStyle/>
                    <a:p>
                      <a:pPr algn="l" rtl="0" fontAlgn="ctr">
                        <a:buNone/>
                      </a:pPr>
                      <a:r>
                        <a:rPr lang="en-US" sz="1600" b="0" i="0" u="none" strike="noStrike" dirty="0">
                          <a:solidFill>
                            <a:srgbClr val="000000"/>
                          </a:solidFill>
                          <a:effectLst/>
                          <a:latin typeface="Times New Roman" panose="02020603050405020304" pitchFamily="18" charset="0"/>
                        </a:rPr>
                        <a:t>Responsible and Safe AI Systems </a:t>
                      </a:r>
                    </a:p>
                  </a:txBody>
                  <a:tcPr marL="0" marR="0" marT="0" marB="0" anchor="ctr">
                    <a:solidFill>
                      <a:schemeClr val="accent2">
                        <a:lumMod val="20000"/>
                        <a:lumOff val="80000"/>
                      </a:schemeClr>
                    </a:solidFill>
                  </a:tcPr>
                </a:tc>
                <a:tc>
                  <a:txBody>
                    <a:bodyPr/>
                    <a:lstStyle/>
                    <a:p>
                      <a:pPr algn="ctr" rtl="0" fontAlgn="ctr">
                        <a:buNone/>
                      </a:pPr>
                      <a:r>
                        <a:rPr lang="en-IN" sz="1600" b="0" i="0" u="none" strike="noStrike">
                          <a:solidFill>
                            <a:srgbClr val="000000"/>
                          </a:solidFill>
                          <a:effectLst/>
                          <a:latin typeface="Times New Roman" panose="02020603050405020304" pitchFamily="18" charset="0"/>
                        </a:rPr>
                        <a:t>3</a:t>
                      </a:r>
                    </a:p>
                  </a:txBody>
                  <a:tcPr marL="0" marR="0" marT="0" marB="0" anchor="ctr">
                    <a:solidFill>
                      <a:schemeClr val="accent2">
                        <a:lumMod val="20000"/>
                        <a:lumOff val="80000"/>
                      </a:schemeClr>
                    </a:solidFill>
                  </a:tcPr>
                </a:tc>
                <a:tc>
                  <a:txBody>
                    <a:bodyPr/>
                    <a:lstStyle/>
                    <a:p>
                      <a:pPr algn="l" rtl="0" fontAlgn="ctr">
                        <a:buNone/>
                      </a:pPr>
                      <a:r>
                        <a:rPr lang="en-IN" sz="1600" b="0" i="0" u="none" strike="noStrike">
                          <a:solidFill>
                            <a:srgbClr val="000000"/>
                          </a:solidFill>
                          <a:effectLst/>
                          <a:latin typeface="Times New Roman" panose="02020603050405020304" pitchFamily="18" charset="0"/>
                        </a:rPr>
                        <a:t>To Be Taken (TBT)</a:t>
                      </a:r>
                    </a:p>
                  </a:txBody>
                  <a:tcPr marL="0" marR="0" marT="0" marB="0" anchor="ctr">
                    <a:solidFill>
                      <a:schemeClr val="accent2">
                        <a:lumMod val="20000"/>
                        <a:lumOff val="80000"/>
                      </a:schemeClr>
                    </a:solidFill>
                  </a:tcPr>
                </a:tc>
                <a:extLst>
                  <a:ext uri="{0D108BD9-81ED-4DB2-BD59-A6C34878D82A}">
                    <a16:rowId xmlns:a16="http://schemas.microsoft.com/office/drawing/2014/main" val="1612390695"/>
                  </a:ext>
                </a:extLst>
              </a:tr>
              <a:tr h="370840">
                <a:tc>
                  <a:txBody>
                    <a:bodyPr/>
                    <a:lstStyle/>
                    <a:p>
                      <a:pPr algn="ctr" rtl="0" fontAlgn="ctr">
                        <a:buNone/>
                      </a:pPr>
                      <a:r>
                        <a:rPr lang="en-IN" sz="1600" b="0" i="0" u="none" strike="noStrike">
                          <a:solidFill>
                            <a:srgbClr val="000000"/>
                          </a:solidFill>
                          <a:effectLst/>
                          <a:latin typeface="Times New Roman" panose="02020603050405020304" pitchFamily="18" charset="0"/>
                        </a:rPr>
                        <a:t>6</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a:solidFill>
                            <a:srgbClr val="000000"/>
                          </a:solidFill>
                          <a:effectLst/>
                          <a:latin typeface="Times New Roman" panose="02020603050405020304" pitchFamily="18" charset="0"/>
                        </a:rPr>
                        <a:t>Game Theory</a:t>
                      </a:r>
                    </a:p>
                  </a:txBody>
                  <a:tcPr marL="0" marR="0" marT="0" marB="0" anchor="ctr">
                    <a:solidFill>
                      <a:schemeClr val="accent2">
                        <a:lumMod val="40000"/>
                        <a:lumOff val="60000"/>
                      </a:schemeClr>
                    </a:solidFill>
                  </a:tcPr>
                </a:tc>
                <a:tc>
                  <a:txBody>
                    <a:bodyPr/>
                    <a:lstStyle/>
                    <a:p>
                      <a:pPr algn="ctr" rtl="0" fontAlgn="ctr">
                        <a:buNone/>
                      </a:pPr>
                      <a:r>
                        <a:rPr lang="en-IN" sz="1600" b="0" i="0" u="none" strike="noStrike">
                          <a:solidFill>
                            <a:srgbClr val="000000"/>
                          </a:solidFill>
                          <a:effectLst/>
                          <a:latin typeface="Times New Roman" panose="02020603050405020304" pitchFamily="18" charset="0"/>
                        </a:rPr>
                        <a:t>2</a:t>
                      </a:r>
                    </a:p>
                  </a:txBody>
                  <a:tcPr marL="0" marR="0" marT="0" marB="0" anchor="ctr">
                    <a:solidFill>
                      <a:schemeClr val="accent2">
                        <a:lumMod val="40000"/>
                        <a:lumOff val="60000"/>
                      </a:schemeClr>
                    </a:solidFill>
                  </a:tcPr>
                </a:tc>
                <a:tc>
                  <a:txBody>
                    <a:bodyPr/>
                    <a:lstStyle/>
                    <a:p>
                      <a:pPr algn="l" rtl="0" fontAlgn="ctr">
                        <a:buNone/>
                      </a:pPr>
                      <a:r>
                        <a:rPr lang="en-IN" sz="1600" b="0" i="0" u="none" strike="noStrike" dirty="0">
                          <a:solidFill>
                            <a:srgbClr val="000000"/>
                          </a:solidFill>
                          <a:effectLst/>
                          <a:latin typeface="Times New Roman" panose="02020603050405020304" pitchFamily="18" charset="0"/>
                        </a:rPr>
                        <a:t>To Be Taken (TBT)</a:t>
                      </a:r>
                    </a:p>
                  </a:txBody>
                  <a:tcPr marL="0" marR="0" marT="0" marB="0" anchor="ctr">
                    <a:solidFill>
                      <a:schemeClr val="accent2">
                        <a:lumMod val="40000"/>
                        <a:lumOff val="60000"/>
                      </a:schemeClr>
                    </a:solidFill>
                  </a:tcPr>
                </a:tc>
                <a:extLst>
                  <a:ext uri="{0D108BD9-81ED-4DB2-BD59-A6C34878D82A}">
                    <a16:rowId xmlns:a16="http://schemas.microsoft.com/office/drawing/2014/main" val="1336229750"/>
                  </a:ext>
                </a:extLst>
              </a:tr>
            </a:tbl>
          </a:graphicData>
        </a:graphic>
      </p:graphicFrame>
      <p:sp>
        <p:nvSpPr>
          <p:cNvPr id="7" name="Slide Number Placeholder 5">
            <a:extLst>
              <a:ext uri="{FF2B5EF4-FFF2-40B4-BE49-F238E27FC236}">
                <a16:creationId xmlns:a16="http://schemas.microsoft.com/office/drawing/2014/main" id="{4959B264-53FF-FE92-B898-557D41115C3C}"/>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30</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6018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FAE99-DF84-C4E3-0773-6E79BA3D34ED}"/>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EBA75AB-9AD5-4DFE-B772-E3B9016279ED}"/>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EB64CDFE-C3EC-5F79-E401-D99AB053399B}"/>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8551C407-865E-18A5-89F6-A5C8BE5F335A}"/>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Arial" panose="020B0604020202020204" pitchFamily="34" charset="0"/>
                <a:cs typeface="Arial" panose="020B0604020202020204" pitchFamily="34" charset="0"/>
              </a:endParaRPr>
            </a:p>
          </p:txBody>
        </p:sp>
      </p:grpSp>
      <p:sp>
        <p:nvSpPr>
          <p:cNvPr id="5" name="Slide Number Placeholder 5">
            <a:extLst>
              <a:ext uri="{FF2B5EF4-FFF2-40B4-BE49-F238E27FC236}">
                <a16:creationId xmlns:a16="http://schemas.microsoft.com/office/drawing/2014/main" id="{3EB6BFE7-98C0-39E5-6BFC-30D88C0E253E}"/>
              </a:ext>
            </a:extLst>
          </p:cNvPr>
          <p:cNvSpPr>
            <a:spLocks noGrp="1"/>
          </p:cNvSpPr>
          <p:nvPr>
            <p:ph type="sldNum" sz="quarter" idx="12"/>
          </p:nvPr>
        </p:nvSpPr>
        <p:spPr>
          <a:xfrm>
            <a:off x="11282291" y="6442860"/>
            <a:ext cx="732692" cy="392073"/>
          </a:xfrm>
        </p:spPr>
        <p:txBody>
          <a:bodyPr/>
          <a:lstStyle/>
          <a:p>
            <a:fld id="{4A9795D8-83FD-4522-A0A1-E4DAAF0E10D3}" type="slidenum">
              <a:rPr lang="en-IN" sz="1400" smtClean="0">
                <a:solidFill>
                  <a:schemeClr val="tx1"/>
                </a:solidFill>
                <a:latin typeface="Arial" panose="020B0604020202020204" pitchFamily="34" charset="0"/>
                <a:cs typeface="Arial" panose="020B0604020202020204" pitchFamily="34" charset="0"/>
              </a:rPr>
              <a:t>31</a:t>
            </a:fld>
            <a:endParaRPr lang="en-IN" sz="1400" dirty="0">
              <a:solidFill>
                <a:schemeClr val="tx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340E856-F876-5DDE-54C1-3C847414DDCC}"/>
              </a:ext>
            </a:extLst>
          </p:cNvPr>
          <p:cNvSpPr txBox="1"/>
          <p:nvPr/>
        </p:nvSpPr>
        <p:spPr>
          <a:xfrm>
            <a:off x="3044687" y="2567226"/>
            <a:ext cx="6102626" cy="1015663"/>
          </a:xfrm>
          <a:prstGeom prst="rect">
            <a:avLst/>
          </a:prstGeom>
          <a:noFill/>
        </p:spPr>
        <p:txBody>
          <a:bodyPr wrap="square" anchor="ctr">
            <a:spAutoFit/>
          </a:bodyPr>
          <a:lstStyle/>
          <a:p>
            <a:pPr algn="ctr"/>
            <a:r>
              <a:rPr lang="en-US" sz="4000" dirty="0">
                <a:latin typeface="Times New Roman" panose="02020603050405020304" pitchFamily="18" charset="0"/>
                <a:cs typeface="Times New Roman" panose="02020603050405020304" pitchFamily="18" charset="0"/>
              </a:rPr>
              <a:t>Thank You</a:t>
            </a:r>
            <a:endParaRPr lang="en-IN" sz="4000" dirty="0">
              <a:latin typeface="Times New Roman" panose="02020603050405020304" pitchFamily="18" charset="0"/>
              <a:cs typeface="Times New Roman" panose="02020603050405020304" pitchFamily="18" charset="0"/>
              <a:hlinkClick r:id="rId3"/>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408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37935</TotalTime>
  <Words>5176</Words>
  <Application>Microsoft Office PowerPoint</Application>
  <PresentationFormat>Widescreen</PresentationFormat>
  <Paragraphs>682</Paragraphs>
  <Slides>31</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Aptos</vt:lpstr>
      <vt:lpstr>Arial</vt:lpstr>
      <vt:lpstr>Calibri</vt:lpstr>
      <vt:lpstr>Calibri Light</vt:lpstr>
      <vt:lpstr>Cambria</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Bhavya B</dc:creator>
  <cp:lastModifiedBy>Abhishek Hupele</cp:lastModifiedBy>
  <cp:revision>859</cp:revision>
  <dcterms:created xsi:type="dcterms:W3CDTF">2024-05-18T05:42:47Z</dcterms:created>
  <dcterms:modified xsi:type="dcterms:W3CDTF">2026-03-16T07:58:32Z</dcterms:modified>
</cp:coreProperties>
</file>