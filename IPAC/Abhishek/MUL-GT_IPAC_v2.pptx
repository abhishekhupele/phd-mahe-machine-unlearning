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7" r:id="rId2"/>
    <p:sldId id="313" r:id="rId3"/>
    <p:sldId id="314" r:id="rId4"/>
    <p:sldId id="315" r:id="rId5"/>
    <p:sldId id="365" r:id="rId6"/>
    <p:sldId id="316" r:id="rId7"/>
    <p:sldId id="361" r:id="rId8"/>
    <p:sldId id="359" r:id="rId9"/>
    <p:sldId id="352" r:id="rId10"/>
    <p:sldId id="354" r:id="rId11"/>
    <p:sldId id="368" r:id="rId12"/>
    <p:sldId id="355" r:id="rId13"/>
    <p:sldId id="367" r:id="rId14"/>
    <p:sldId id="319" r:id="rId15"/>
    <p:sldId id="322" r:id="rId16"/>
    <p:sldId id="320" r:id="rId17"/>
    <p:sldId id="323" r:id="rId18"/>
    <p:sldId id="324" r:id="rId19"/>
    <p:sldId id="369" r:id="rId20"/>
    <p:sldId id="370" r:id="rId21"/>
    <p:sldId id="326" r:id="rId22"/>
    <p:sldId id="327" r:id="rId23"/>
    <p:sldId id="329" r:id="rId24"/>
    <p:sldId id="371" r:id="rId25"/>
    <p:sldId id="332" r:id="rId26"/>
    <p:sldId id="366" r:id="rId27"/>
    <p:sldId id="334" r:id="rId28"/>
    <p:sldId id="342" r:id="rId29"/>
    <p:sldId id="335" r:id="rId30"/>
    <p:sldId id="343" r:id="rId31"/>
    <p:sldId id="344" r:id="rId32"/>
    <p:sldId id="345" r:id="rId33"/>
    <p:sldId id="362" r:id="rId34"/>
    <p:sldId id="358"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85" userDrawn="1">
          <p15:clr>
            <a:srgbClr val="A4A3A4"/>
          </p15:clr>
        </p15:guide>
        <p15:guide id="2" pos="386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A5A5"/>
    <a:srgbClr val="B98A82"/>
    <a:srgbClr val="D17B5C"/>
    <a:srgbClr val="ED7D31"/>
    <a:srgbClr val="D8D8D8"/>
    <a:srgbClr val="FD9D39"/>
    <a:srgbClr val="01A933"/>
    <a:srgbClr val="FF873A"/>
    <a:srgbClr val="4EC58E"/>
    <a:srgbClr val="731A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33" autoAdjust="0"/>
    <p:restoredTop sz="94444" autoAdjust="0"/>
  </p:normalViewPr>
  <p:slideViewPr>
    <p:cSldViewPr snapToGrid="0" showGuides="1">
      <p:cViewPr varScale="1">
        <p:scale>
          <a:sx n="70" d="100"/>
          <a:sy n="70" d="100"/>
        </p:scale>
        <p:origin x="60" y="333"/>
      </p:cViewPr>
      <p:guideLst>
        <p:guide orient="horz" pos="3385"/>
        <p:guide pos="3863"/>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diagrams/_rels/data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C4CF35-159D-B040-B663-4EE5FA728A8A}" type="doc">
      <dgm:prSet loTypeId="urn:microsoft.com/office/officeart/2005/8/layout/vList5" loCatId="" qsTypeId="urn:microsoft.com/office/officeart/2005/8/quickstyle/simple1" qsCatId="simple" csTypeId="urn:microsoft.com/office/officeart/2005/8/colors/colorful2" csCatId="colorful" phldr="1"/>
      <dgm:spPr/>
      <dgm:t>
        <a:bodyPr/>
        <a:lstStyle/>
        <a:p>
          <a:endParaRPr lang="en-GB"/>
        </a:p>
      </dgm:t>
    </dgm:pt>
    <dgm:pt modelId="{D61BDDC4-021A-334C-AF3B-92FCE0045DDC}">
      <dgm:prSet phldrT="[Text]" custT="1"/>
      <dgm:spPr/>
      <dgm:t>
        <a:bodyPr/>
        <a:lstStyle/>
        <a:p>
          <a:r>
            <a:rPr lang="en-IN" sz="2000" b="1" dirty="0"/>
            <a:t>Game-Theory-Based Balance</a:t>
          </a:r>
          <a:endParaRPr lang="en-GB" sz="2000" dirty="0">
            <a:latin typeface="Times New Roman" panose="02020603050405020304" pitchFamily="18" charset="0"/>
            <a:cs typeface="Times New Roman" panose="02020603050405020304" pitchFamily="18" charset="0"/>
          </a:endParaRPr>
        </a:p>
      </dgm:t>
    </dgm:pt>
    <dgm:pt modelId="{8CF9F419-4236-2D45-8EAC-3B4313354A1B}" type="parTrans" cxnId="{FC060B20-383A-BC46-8391-BAC911F73166}">
      <dgm:prSet/>
      <dgm:spPr/>
      <dgm:t>
        <a:bodyPr/>
        <a:lstStyle/>
        <a:p>
          <a:endParaRPr lang="en-GB">
            <a:latin typeface="Times New Roman" panose="02020603050405020304" pitchFamily="18" charset="0"/>
            <a:cs typeface="Times New Roman" panose="02020603050405020304" pitchFamily="18" charset="0"/>
          </a:endParaRPr>
        </a:p>
      </dgm:t>
    </dgm:pt>
    <dgm:pt modelId="{82C337BF-5EB9-D94B-B919-FB76190BED5F}" type="sibTrans" cxnId="{FC060B20-383A-BC46-8391-BAC911F73166}">
      <dgm:prSet/>
      <dgm:spPr/>
      <dgm:t>
        <a:bodyPr/>
        <a:lstStyle/>
        <a:p>
          <a:endParaRPr lang="en-GB">
            <a:latin typeface="Times New Roman" panose="02020603050405020304" pitchFamily="18" charset="0"/>
            <a:cs typeface="Times New Roman" panose="02020603050405020304" pitchFamily="18" charset="0"/>
          </a:endParaRPr>
        </a:p>
      </dgm:t>
    </dgm:pt>
    <dgm:pt modelId="{9AC3C1B4-FAA8-0B44-8934-51056F222B1D}">
      <dgm:prSet phldrT="[Text]"/>
      <dgm:spPr/>
      <dgm:t>
        <a:bodyPr/>
        <a:lstStyle/>
        <a:p>
          <a:r>
            <a:rPr lang="en-IN" dirty="0"/>
            <a:t>Lack of equilibrium strategies between data providers (privacy, minimal sharing) and model providers (performance, utility).</a:t>
          </a:r>
          <a:endParaRPr lang="en-GB" dirty="0">
            <a:latin typeface="Times New Roman" panose="02020603050405020304" pitchFamily="18" charset="0"/>
            <a:cs typeface="Times New Roman" panose="02020603050405020304" pitchFamily="18" charset="0"/>
          </a:endParaRPr>
        </a:p>
      </dgm:t>
    </dgm:pt>
    <dgm:pt modelId="{56C80B86-2404-144D-A687-81AF58C51ED4}" type="parTrans" cxnId="{49ECBBF4-46D8-3D40-972F-7343F8A859D8}">
      <dgm:prSet/>
      <dgm:spPr/>
      <dgm:t>
        <a:bodyPr/>
        <a:lstStyle/>
        <a:p>
          <a:endParaRPr lang="en-GB">
            <a:latin typeface="Times New Roman" panose="02020603050405020304" pitchFamily="18" charset="0"/>
            <a:cs typeface="Times New Roman" panose="02020603050405020304" pitchFamily="18" charset="0"/>
          </a:endParaRPr>
        </a:p>
      </dgm:t>
    </dgm:pt>
    <dgm:pt modelId="{E978C564-54DD-3845-B714-CD25FD728E83}" type="sibTrans" cxnId="{49ECBBF4-46D8-3D40-972F-7343F8A859D8}">
      <dgm:prSet/>
      <dgm:spPr/>
      <dgm:t>
        <a:bodyPr/>
        <a:lstStyle/>
        <a:p>
          <a:endParaRPr lang="en-GB">
            <a:latin typeface="Times New Roman" panose="02020603050405020304" pitchFamily="18" charset="0"/>
            <a:cs typeface="Times New Roman" panose="02020603050405020304" pitchFamily="18" charset="0"/>
          </a:endParaRPr>
        </a:p>
      </dgm:t>
    </dgm:pt>
    <dgm:pt modelId="{418E91D7-994B-8548-B0CA-DB05AF7DF7BD}">
      <dgm:prSet phldrT="[Text]" custT="1"/>
      <dgm:spPr/>
      <dgm:t>
        <a:bodyPr/>
        <a:lstStyle/>
        <a:p>
          <a:r>
            <a:rPr lang="en-IN" sz="2000" b="1" dirty="0"/>
            <a:t>Feature-Based Unlearning</a:t>
          </a:r>
          <a:endParaRPr lang="en-GB" sz="2000" dirty="0">
            <a:latin typeface="Times New Roman" panose="02020603050405020304" pitchFamily="18" charset="0"/>
            <a:cs typeface="Times New Roman" panose="02020603050405020304" pitchFamily="18" charset="0"/>
          </a:endParaRPr>
        </a:p>
      </dgm:t>
    </dgm:pt>
    <dgm:pt modelId="{1E1B022F-B487-2D42-B62C-7BD722C48649}" type="parTrans" cxnId="{A4693350-DC78-E840-8EED-843BCD583772}">
      <dgm:prSet/>
      <dgm:spPr/>
      <dgm:t>
        <a:bodyPr/>
        <a:lstStyle/>
        <a:p>
          <a:endParaRPr lang="en-GB">
            <a:latin typeface="Times New Roman" panose="02020603050405020304" pitchFamily="18" charset="0"/>
            <a:cs typeface="Times New Roman" panose="02020603050405020304" pitchFamily="18" charset="0"/>
          </a:endParaRPr>
        </a:p>
      </dgm:t>
    </dgm:pt>
    <dgm:pt modelId="{88AB0E77-89E1-2044-836F-565191019A63}" type="sibTrans" cxnId="{A4693350-DC78-E840-8EED-843BCD583772}">
      <dgm:prSet/>
      <dgm:spPr/>
      <dgm:t>
        <a:bodyPr/>
        <a:lstStyle/>
        <a:p>
          <a:endParaRPr lang="en-GB">
            <a:latin typeface="Times New Roman" panose="02020603050405020304" pitchFamily="18" charset="0"/>
            <a:cs typeface="Times New Roman" panose="02020603050405020304" pitchFamily="18" charset="0"/>
          </a:endParaRPr>
        </a:p>
      </dgm:t>
    </dgm:pt>
    <dgm:pt modelId="{43C2D0AA-44C1-CD40-AD9D-A7BF1413A317}">
      <dgm:prSet phldrT="[Text]"/>
      <dgm:spPr/>
      <dgm:t>
        <a:bodyPr/>
        <a:lstStyle/>
        <a:p>
          <a:r>
            <a:rPr lang="en-IN" dirty="0"/>
            <a:t>Limited exploration of feature-aware strategies (feature extraction, generation, selection) integrated into unlearning operations.</a:t>
          </a:r>
          <a:endParaRPr lang="en-GB" dirty="0">
            <a:latin typeface="Times New Roman" panose="02020603050405020304" pitchFamily="18" charset="0"/>
            <a:cs typeface="Times New Roman" panose="02020603050405020304" pitchFamily="18" charset="0"/>
          </a:endParaRPr>
        </a:p>
      </dgm:t>
    </dgm:pt>
    <dgm:pt modelId="{50374D4B-6DF8-0749-94C4-52DAD862232A}" type="parTrans" cxnId="{6EADD451-2D8B-1F4B-82CF-9DDDC9804229}">
      <dgm:prSet/>
      <dgm:spPr/>
      <dgm:t>
        <a:bodyPr/>
        <a:lstStyle/>
        <a:p>
          <a:endParaRPr lang="en-GB">
            <a:latin typeface="Times New Roman" panose="02020603050405020304" pitchFamily="18" charset="0"/>
            <a:cs typeface="Times New Roman" panose="02020603050405020304" pitchFamily="18" charset="0"/>
          </a:endParaRPr>
        </a:p>
      </dgm:t>
    </dgm:pt>
    <dgm:pt modelId="{FBB7887B-F6FA-E246-91AD-70C1D21B4B4E}" type="sibTrans" cxnId="{6EADD451-2D8B-1F4B-82CF-9DDDC9804229}">
      <dgm:prSet/>
      <dgm:spPr/>
      <dgm:t>
        <a:bodyPr/>
        <a:lstStyle/>
        <a:p>
          <a:endParaRPr lang="en-GB">
            <a:latin typeface="Times New Roman" panose="02020603050405020304" pitchFamily="18" charset="0"/>
            <a:cs typeface="Times New Roman" panose="02020603050405020304" pitchFamily="18" charset="0"/>
          </a:endParaRPr>
        </a:p>
      </dgm:t>
    </dgm:pt>
    <dgm:pt modelId="{7B6DF13C-075E-0A48-A56C-CB80BEBBD7FE}">
      <dgm:prSet phldrT="[Text]" custT="1"/>
      <dgm:spPr/>
      <dgm:t>
        <a:bodyPr/>
        <a:lstStyle/>
        <a:p>
          <a:r>
            <a:rPr lang="en-IN" sz="2000" b="1" dirty="0"/>
            <a:t>Adversarial Threats</a:t>
          </a:r>
          <a:endParaRPr lang="en-GB" sz="2000" dirty="0">
            <a:latin typeface="Times New Roman" panose="02020603050405020304" pitchFamily="18" charset="0"/>
            <a:cs typeface="Times New Roman" panose="02020603050405020304" pitchFamily="18" charset="0"/>
          </a:endParaRPr>
        </a:p>
      </dgm:t>
    </dgm:pt>
    <dgm:pt modelId="{B934537E-3ED2-1B42-A827-756391C051E5}" type="parTrans" cxnId="{B6C3A926-8CC5-4E43-B449-685B60629B5A}">
      <dgm:prSet/>
      <dgm:spPr/>
      <dgm:t>
        <a:bodyPr/>
        <a:lstStyle/>
        <a:p>
          <a:endParaRPr lang="en-GB">
            <a:latin typeface="Times New Roman" panose="02020603050405020304" pitchFamily="18" charset="0"/>
            <a:cs typeface="Times New Roman" panose="02020603050405020304" pitchFamily="18" charset="0"/>
          </a:endParaRPr>
        </a:p>
      </dgm:t>
    </dgm:pt>
    <dgm:pt modelId="{1FA96DC1-96DA-C24D-9395-C88D7AC9FCFD}" type="sibTrans" cxnId="{B6C3A926-8CC5-4E43-B449-685B60629B5A}">
      <dgm:prSet/>
      <dgm:spPr/>
      <dgm:t>
        <a:bodyPr/>
        <a:lstStyle/>
        <a:p>
          <a:endParaRPr lang="en-GB">
            <a:latin typeface="Times New Roman" panose="02020603050405020304" pitchFamily="18" charset="0"/>
            <a:cs typeface="Times New Roman" panose="02020603050405020304" pitchFamily="18" charset="0"/>
          </a:endParaRPr>
        </a:p>
      </dgm:t>
    </dgm:pt>
    <dgm:pt modelId="{F7E21EE7-134D-AB48-9724-B9DED266835C}">
      <dgm:prSet phldrT="[Text]"/>
      <dgm:spPr/>
      <dgm:t>
        <a:bodyPr/>
        <a:lstStyle/>
        <a:p>
          <a:r>
            <a:rPr lang="en-IN" dirty="0"/>
            <a:t>Limited integration of broader attack models (membership inference, attribute inference, reconstruction, poisoning) into unlearning frameworks.</a:t>
          </a:r>
          <a:endParaRPr lang="en-GB" dirty="0">
            <a:latin typeface="Times New Roman" panose="02020603050405020304" pitchFamily="18" charset="0"/>
            <a:cs typeface="Times New Roman" panose="02020603050405020304" pitchFamily="18" charset="0"/>
          </a:endParaRPr>
        </a:p>
      </dgm:t>
    </dgm:pt>
    <dgm:pt modelId="{04C7A4FF-FF7B-644E-9253-C72F62A123CC}" type="parTrans" cxnId="{A0DECCF2-3C1F-5144-9E1A-4C158ACEE939}">
      <dgm:prSet/>
      <dgm:spPr/>
      <dgm:t>
        <a:bodyPr/>
        <a:lstStyle/>
        <a:p>
          <a:endParaRPr lang="en-GB">
            <a:latin typeface="Times New Roman" panose="02020603050405020304" pitchFamily="18" charset="0"/>
            <a:cs typeface="Times New Roman" panose="02020603050405020304" pitchFamily="18" charset="0"/>
          </a:endParaRPr>
        </a:p>
      </dgm:t>
    </dgm:pt>
    <dgm:pt modelId="{B2E91BF4-A800-194C-99C6-655B090851FD}" type="sibTrans" cxnId="{A0DECCF2-3C1F-5144-9E1A-4C158ACEE939}">
      <dgm:prSet/>
      <dgm:spPr/>
      <dgm:t>
        <a:bodyPr/>
        <a:lstStyle/>
        <a:p>
          <a:endParaRPr lang="en-GB">
            <a:latin typeface="Times New Roman" panose="02020603050405020304" pitchFamily="18" charset="0"/>
            <a:cs typeface="Times New Roman" panose="02020603050405020304" pitchFamily="18" charset="0"/>
          </a:endParaRPr>
        </a:p>
      </dgm:t>
    </dgm:pt>
    <dgm:pt modelId="{317F5A0D-4DDF-7642-A117-287EFFAC1546}">
      <dgm:prSet phldrT="[Text]" custT="1"/>
      <dgm:spPr/>
      <dgm:t>
        <a:bodyPr/>
        <a:lstStyle/>
        <a:p>
          <a:r>
            <a:rPr lang="en-IN" sz="2000" b="1" dirty="0"/>
            <a:t>Incentive Mechanisms</a:t>
          </a:r>
          <a:endParaRPr lang="en-GB" sz="2000" dirty="0">
            <a:latin typeface="Times New Roman" panose="02020603050405020304" pitchFamily="18" charset="0"/>
            <a:cs typeface="Times New Roman" panose="02020603050405020304" pitchFamily="18" charset="0"/>
          </a:endParaRPr>
        </a:p>
      </dgm:t>
    </dgm:pt>
    <dgm:pt modelId="{65D3563B-9F3E-E942-856C-F17417479E87}" type="parTrans" cxnId="{89331B67-785D-654A-A777-0A7B57C05946}">
      <dgm:prSet/>
      <dgm:spPr/>
      <dgm:t>
        <a:bodyPr/>
        <a:lstStyle/>
        <a:p>
          <a:endParaRPr lang="en-GB">
            <a:latin typeface="Times New Roman" panose="02020603050405020304" pitchFamily="18" charset="0"/>
            <a:cs typeface="Times New Roman" panose="02020603050405020304" pitchFamily="18" charset="0"/>
          </a:endParaRPr>
        </a:p>
      </dgm:t>
    </dgm:pt>
    <dgm:pt modelId="{F1A1FFA6-428D-A840-B2C6-1CA118D92B83}" type="sibTrans" cxnId="{89331B67-785D-654A-A777-0A7B57C05946}">
      <dgm:prSet/>
      <dgm:spPr/>
      <dgm:t>
        <a:bodyPr/>
        <a:lstStyle/>
        <a:p>
          <a:endParaRPr lang="en-GB">
            <a:latin typeface="Times New Roman" panose="02020603050405020304" pitchFamily="18" charset="0"/>
            <a:cs typeface="Times New Roman" panose="02020603050405020304" pitchFamily="18" charset="0"/>
          </a:endParaRPr>
        </a:p>
      </dgm:t>
    </dgm:pt>
    <dgm:pt modelId="{7C62ACCC-E4FF-0546-A346-7C4ABB89C7E7}">
      <dgm:prSet phldrT="[Text]"/>
      <dgm:spPr/>
      <dgm:t>
        <a:bodyPr/>
        <a:lstStyle/>
        <a:p>
          <a:r>
            <a:rPr lang="en-IN" dirty="0"/>
            <a:t>Need for systems that incentivize users to share data responsibly while preventing misuse.</a:t>
          </a:r>
          <a:endParaRPr lang="en-GB" dirty="0">
            <a:latin typeface="Times New Roman" panose="02020603050405020304" pitchFamily="18" charset="0"/>
            <a:cs typeface="Times New Roman" panose="02020603050405020304" pitchFamily="18" charset="0"/>
          </a:endParaRPr>
        </a:p>
      </dgm:t>
    </dgm:pt>
    <dgm:pt modelId="{C3077AE1-B651-8040-B28C-5E254D2AFC12}" type="parTrans" cxnId="{AC321AC2-1F89-8A47-BD5F-7D49C0E9A6DD}">
      <dgm:prSet/>
      <dgm:spPr/>
      <dgm:t>
        <a:bodyPr/>
        <a:lstStyle/>
        <a:p>
          <a:endParaRPr lang="en-GB">
            <a:latin typeface="Times New Roman" panose="02020603050405020304" pitchFamily="18" charset="0"/>
            <a:cs typeface="Times New Roman" panose="02020603050405020304" pitchFamily="18" charset="0"/>
          </a:endParaRPr>
        </a:p>
      </dgm:t>
    </dgm:pt>
    <dgm:pt modelId="{E9DAECA4-AE98-8E41-A96B-38A4B889B59A}" type="sibTrans" cxnId="{AC321AC2-1F89-8A47-BD5F-7D49C0E9A6DD}">
      <dgm:prSet/>
      <dgm:spPr/>
      <dgm:t>
        <a:bodyPr/>
        <a:lstStyle/>
        <a:p>
          <a:endParaRPr lang="en-GB">
            <a:latin typeface="Times New Roman" panose="02020603050405020304" pitchFamily="18" charset="0"/>
            <a:cs typeface="Times New Roman" panose="02020603050405020304" pitchFamily="18" charset="0"/>
          </a:endParaRPr>
        </a:p>
      </dgm:t>
    </dgm:pt>
    <dgm:pt modelId="{C5B77D11-2F3F-3E47-8FD0-E91B151C1214}" type="pres">
      <dgm:prSet presAssocID="{38C4CF35-159D-B040-B663-4EE5FA728A8A}" presName="Name0" presStyleCnt="0">
        <dgm:presLayoutVars>
          <dgm:dir/>
          <dgm:animLvl val="lvl"/>
          <dgm:resizeHandles val="exact"/>
        </dgm:presLayoutVars>
      </dgm:prSet>
      <dgm:spPr/>
    </dgm:pt>
    <dgm:pt modelId="{484235DD-557E-DF46-8A61-284B4D627B50}" type="pres">
      <dgm:prSet presAssocID="{D61BDDC4-021A-334C-AF3B-92FCE0045DDC}" presName="linNode" presStyleCnt="0"/>
      <dgm:spPr/>
    </dgm:pt>
    <dgm:pt modelId="{2509E6C5-E558-994C-B4C7-DCDCB4762F21}" type="pres">
      <dgm:prSet presAssocID="{D61BDDC4-021A-334C-AF3B-92FCE0045DDC}" presName="parentText" presStyleLbl="node1" presStyleIdx="0" presStyleCnt="4" custScaleX="94644">
        <dgm:presLayoutVars>
          <dgm:chMax val="1"/>
          <dgm:bulletEnabled val="1"/>
        </dgm:presLayoutVars>
      </dgm:prSet>
      <dgm:spPr/>
    </dgm:pt>
    <dgm:pt modelId="{0443FC87-0DAA-FE4F-B3DC-59C91B1530E0}" type="pres">
      <dgm:prSet presAssocID="{D61BDDC4-021A-334C-AF3B-92FCE0045DDC}" presName="descendantText" presStyleLbl="alignAccFollowNode1" presStyleIdx="0" presStyleCnt="4" custScaleY="106454">
        <dgm:presLayoutVars>
          <dgm:bulletEnabled val="1"/>
        </dgm:presLayoutVars>
      </dgm:prSet>
      <dgm:spPr/>
    </dgm:pt>
    <dgm:pt modelId="{988A4A4A-8BDF-CA4C-B5FB-20EDC888CF5E}" type="pres">
      <dgm:prSet presAssocID="{82C337BF-5EB9-D94B-B919-FB76190BED5F}" presName="sp" presStyleCnt="0"/>
      <dgm:spPr/>
    </dgm:pt>
    <dgm:pt modelId="{4E9D0C5D-5FC8-1342-B60E-E8436BBDFCAE}" type="pres">
      <dgm:prSet presAssocID="{418E91D7-994B-8548-B0CA-DB05AF7DF7BD}" presName="linNode" presStyleCnt="0"/>
      <dgm:spPr/>
    </dgm:pt>
    <dgm:pt modelId="{5887623D-96BC-B747-A79F-E37C93CDAE33}" type="pres">
      <dgm:prSet presAssocID="{418E91D7-994B-8548-B0CA-DB05AF7DF7BD}" presName="parentText" presStyleLbl="node1" presStyleIdx="1" presStyleCnt="4" custScaleX="94644">
        <dgm:presLayoutVars>
          <dgm:chMax val="1"/>
          <dgm:bulletEnabled val="1"/>
        </dgm:presLayoutVars>
      </dgm:prSet>
      <dgm:spPr/>
    </dgm:pt>
    <dgm:pt modelId="{AEC64D76-254D-5C4C-89E0-7E54C22BE44C}" type="pres">
      <dgm:prSet presAssocID="{418E91D7-994B-8548-B0CA-DB05AF7DF7BD}" presName="descendantText" presStyleLbl="alignAccFollowNode1" presStyleIdx="1" presStyleCnt="4">
        <dgm:presLayoutVars>
          <dgm:bulletEnabled val="1"/>
        </dgm:presLayoutVars>
      </dgm:prSet>
      <dgm:spPr/>
    </dgm:pt>
    <dgm:pt modelId="{2F50449C-EA63-9E43-9A01-B3AF5AA29906}" type="pres">
      <dgm:prSet presAssocID="{88AB0E77-89E1-2044-836F-565191019A63}" presName="sp" presStyleCnt="0"/>
      <dgm:spPr/>
    </dgm:pt>
    <dgm:pt modelId="{DAC403F3-9310-DE42-BF25-35A600EF238C}" type="pres">
      <dgm:prSet presAssocID="{7B6DF13C-075E-0A48-A56C-CB80BEBBD7FE}" presName="linNode" presStyleCnt="0"/>
      <dgm:spPr/>
    </dgm:pt>
    <dgm:pt modelId="{A28434E8-C752-4344-82EF-D4F915620887}" type="pres">
      <dgm:prSet presAssocID="{7B6DF13C-075E-0A48-A56C-CB80BEBBD7FE}" presName="parentText" presStyleLbl="node1" presStyleIdx="2" presStyleCnt="4" custScaleX="94644">
        <dgm:presLayoutVars>
          <dgm:chMax val="1"/>
          <dgm:bulletEnabled val="1"/>
        </dgm:presLayoutVars>
      </dgm:prSet>
      <dgm:spPr/>
    </dgm:pt>
    <dgm:pt modelId="{E7972576-5D6F-FA4B-903C-6084BEDFFCF5}" type="pres">
      <dgm:prSet presAssocID="{7B6DF13C-075E-0A48-A56C-CB80BEBBD7FE}" presName="descendantText" presStyleLbl="alignAccFollowNode1" presStyleIdx="2" presStyleCnt="4">
        <dgm:presLayoutVars>
          <dgm:bulletEnabled val="1"/>
        </dgm:presLayoutVars>
      </dgm:prSet>
      <dgm:spPr/>
    </dgm:pt>
    <dgm:pt modelId="{366D149A-8127-2B49-BE35-18C7BD0000C9}" type="pres">
      <dgm:prSet presAssocID="{1FA96DC1-96DA-C24D-9395-C88D7AC9FCFD}" presName="sp" presStyleCnt="0"/>
      <dgm:spPr/>
    </dgm:pt>
    <dgm:pt modelId="{B9F3DF8B-311C-1E4F-98C1-78A750499395}" type="pres">
      <dgm:prSet presAssocID="{317F5A0D-4DDF-7642-A117-287EFFAC1546}" presName="linNode" presStyleCnt="0"/>
      <dgm:spPr/>
    </dgm:pt>
    <dgm:pt modelId="{CC229CB6-8123-A641-8FF9-976A0B779F84}" type="pres">
      <dgm:prSet presAssocID="{317F5A0D-4DDF-7642-A117-287EFFAC1546}" presName="parentText" presStyleLbl="node1" presStyleIdx="3" presStyleCnt="4" custScaleX="94644">
        <dgm:presLayoutVars>
          <dgm:chMax val="1"/>
          <dgm:bulletEnabled val="1"/>
        </dgm:presLayoutVars>
      </dgm:prSet>
      <dgm:spPr/>
    </dgm:pt>
    <dgm:pt modelId="{3A7982CA-9FA5-FF49-8B87-8915B8F21519}" type="pres">
      <dgm:prSet presAssocID="{317F5A0D-4DDF-7642-A117-287EFFAC1546}" presName="descendantText" presStyleLbl="alignAccFollowNode1" presStyleIdx="3" presStyleCnt="4">
        <dgm:presLayoutVars>
          <dgm:bulletEnabled val="1"/>
        </dgm:presLayoutVars>
      </dgm:prSet>
      <dgm:spPr/>
    </dgm:pt>
  </dgm:ptLst>
  <dgm:cxnLst>
    <dgm:cxn modelId="{816D9A00-44CA-B349-A266-1CA93C82E658}" type="presOf" srcId="{D61BDDC4-021A-334C-AF3B-92FCE0045DDC}" destId="{2509E6C5-E558-994C-B4C7-DCDCB4762F21}" srcOrd="0" destOrd="0" presId="urn:microsoft.com/office/officeart/2005/8/layout/vList5"/>
    <dgm:cxn modelId="{4CBAB50D-030C-354A-A900-097EB61B00D8}" type="presOf" srcId="{38C4CF35-159D-B040-B663-4EE5FA728A8A}" destId="{C5B77D11-2F3F-3E47-8FD0-E91B151C1214}" srcOrd="0" destOrd="0" presId="urn:microsoft.com/office/officeart/2005/8/layout/vList5"/>
    <dgm:cxn modelId="{93EA031F-F7BD-6740-BD83-532FA1E312E6}" type="presOf" srcId="{9AC3C1B4-FAA8-0B44-8934-51056F222B1D}" destId="{0443FC87-0DAA-FE4F-B3DC-59C91B1530E0}" srcOrd="0" destOrd="0" presId="urn:microsoft.com/office/officeart/2005/8/layout/vList5"/>
    <dgm:cxn modelId="{FC060B20-383A-BC46-8391-BAC911F73166}" srcId="{38C4CF35-159D-B040-B663-4EE5FA728A8A}" destId="{D61BDDC4-021A-334C-AF3B-92FCE0045DDC}" srcOrd="0" destOrd="0" parTransId="{8CF9F419-4236-2D45-8EAC-3B4313354A1B}" sibTransId="{82C337BF-5EB9-D94B-B919-FB76190BED5F}"/>
    <dgm:cxn modelId="{B6C3A926-8CC5-4E43-B449-685B60629B5A}" srcId="{38C4CF35-159D-B040-B663-4EE5FA728A8A}" destId="{7B6DF13C-075E-0A48-A56C-CB80BEBBD7FE}" srcOrd="2" destOrd="0" parTransId="{B934537E-3ED2-1B42-A827-756391C051E5}" sibTransId="{1FA96DC1-96DA-C24D-9395-C88D7AC9FCFD}"/>
    <dgm:cxn modelId="{A7300030-CA32-134B-AD69-ECA54AF5C4E1}" type="presOf" srcId="{F7E21EE7-134D-AB48-9724-B9DED266835C}" destId="{E7972576-5D6F-FA4B-903C-6084BEDFFCF5}" srcOrd="0" destOrd="0" presId="urn:microsoft.com/office/officeart/2005/8/layout/vList5"/>
    <dgm:cxn modelId="{5C044042-8534-8C4A-B9A0-1ADE85E40709}" type="presOf" srcId="{7B6DF13C-075E-0A48-A56C-CB80BEBBD7FE}" destId="{A28434E8-C752-4344-82EF-D4F915620887}" srcOrd="0" destOrd="0" presId="urn:microsoft.com/office/officeart/2005/8/layout/vList5"/>
    <dgm:cxn modelId="{D270FB66-8CD8-EF4C-8A47-DB41BD1ECB90}" type="presOf" srcId="{317F5A0D-4DDF-7642-A117-287EFFAC1546}" destId="{CC229CB6-8123-A641-8FF9-976A0B779F84}" srcOrd="0" destOrd="0" presId="urn:microsoft.com/office/officeart/2005/8/layout/vList5"/>
    <dgm:cxn modelId="{89331B67-785D-654A-A777-0A7B57C05946}" srcId="{38C4CF35-159D-B040-B663-4EE5FA728A8A}" destId="{317F5A0D-4DDF-7642-A117-287EFFAC1546}" srcOrd="3" destOrd="0" parTransId="{65D3563B-9F3E-E942-856C-F17417479E87}" sibTransId="{F1A1FFA6-428D-A840-B2C6-1CA118D92B83}"/>
    <dgm:cxn modelId="{A4693350-DC78-E840-8EED-843BCD583772}" srcId="{38C4CF35-159D-B040-B663-4EE5FA728A8A}" destId="{418E91D7-994B-8548-B0CA-DB05AF7DF7BD}" srcOrd="1" destOrd="0" parTransId="{1E1B022F-B487-2D42-B62C-7BD722C48649}" sibTransId="{88AB0E77-89E1-2044-836F-565191019A63}"/>
    <dgm:cxn modelId="{6EADD451-2D8B-1F4B-82CF-9DDDC9804229}" srcId="{418E91D7-994B-8548-B0CA-DB05AF7DF7BD}" destId="{43C2D0AA-44C1-CD40-AD9D-A7BF1413A317}" srcOrd="0" destOrd="0" parTransId="{50374D4B-6DF8-0749-94C4-52DAD862232A}" sibTransId="{FBB7887B-F6FA-E246-91AD-70C1D21B4B4E}"/>
    <dgm:cxn modelId="{7937E182-05EF-C145-8ACF-F8325015D6C6}" type="presOf" srcId="{7C62ACCC-E4FF-0546-A346-7C4ABB89C7E7}" destId="{3A7982CA-9FA5-FF49-8B87-8915B8F21519}" srcOrd="0" destOrd="0" presId="urn:microsoft.com/office/officeart/2005/8/layout/vList5"/>
    <dgm:cxn modelId="{0F07EB83-5D7A-AD44-8006-1D7E659FC174}" type="presOf" srcId="{418E91D7-994B-8548-B0CA-DB05AF7DF7BD}" destId="{5887623D-96BC-B747-A79F-E37C93CDAE33}" srcOrd="0" destOrd="0" presId="urn:microsoft.com/office/officeart/2005/8/layout/vList5"/>
    <dgm:cxn modelId="{AC321AC2-1F89-8A47-BD5F-7D49C0E9A6DD}" srcId="{317F5A0D-4DDF-7642-A117-287EFFAC1546}" destId="{7C62ACCC-E4FF-0546-A346-7C4ABB89C7E7}" srcOrd="0" destOrd="0" parTransId="{C3077AE1-B651-8040-B28C-5E254D2AFC12}" sibTransId="{E9DAECA4-AE98-8E41-A96B-38A4B889B59A}"/>
    <dgm:cxn modelId="{646B19F0-E29E-B440-9E15-A3C82A72876D}" type="presOf" srcId="{43C2D0AA-44C1-CD40-AD9D-A7BF1413A317}" destId="{AEC64D76-254D-5C4C-89E0-7E54C22BE44C}" srcOrd="0" destOrd="0" presId="urn:microsoft.com/office/officeart/2005/8/layout/vList5"/>
    <dgm:cxn modelId="{A0DECCF2-3C1F-5144-9E1A-4C158ACEE939}" srcId="{7B6DF13C-075E-0A48-A56C-CB80BEBBD7FE}" destId="{F7E21EE7-134D-AB48-9724-B9DED266835C}" srcOrd="0" destOrd="0" parTransId="{04C7A4FF-FF7B-644E-9253-C72F62A123CC}" sibTransId="{B2E91BF4-A800-194C-99C6-655B090851FD}"/>
    <dgm:cxn modelId="{49ECBBF4-46D8-3D40-972F-7343F8A859D8}" srcId="{D61BDDC4-021A-334C-AF3B-92FCE0045DDC}" destId="{9AC3C1B4-FAA8-0B44-8934-51056F222B1D}" srcOrd="0" destOrd="0" parTransId="{56C80B86-2404-144D-A687-81AF58C51ED4}" sibTransId="{E978C564-54DD-3845-B714-CD25FD728E83}"/>
    <dgm:cxn modelId="{D091F2F5-7E49-2241-9072-B09B2E75013F}" type="presParOf" srcId="{C5B77D11-2F3F-3E47-8FD0-E91B151C1214}" destId="{484235DD-557E-DF46-8A61-284B4D627B50}" srcOrd="0" destOrd="0" presId="urn:microsoft.com/office/officeart/2005/8/layout/vList5"/>
    <dgm:cxn modelId="{A41859D7-4E8B-454F-A9EF-48194CB87564}" type="presParOf" srcId="{484235DD-557E-DF46-8A61-284B4D627B50}" destId="{2509E6C5-E558-994C-B4C7-DCDCB4762F21}" srcOrd="0" destOrd="0" presId="urn:microsoft.com/office/officeart/2005/8/layout/vList5"/>
    <dgm:cxn modelId="{7D60C9D0-EB06-4146-9BC3-F305B29A7C3D}" type="presParOf" srcId="{484235DD-557E-DF46-8A61-284B4D627B50}" destId="{0443FC87-0DAA-FE4F-B3DC-59C91B1530E0}" srcOrd="1" destOrd="0" presId="urn:microsoft.com/office/officeart/2005/8/layout/vList5"/>
    <dgm:cxn modelId="{180F93EA-903B-2241-862D-5559A2194F2A}" type="presParOf" srcId="{C5B77D11-2F3F-3E47-8FD0-E91B151C1214}" destId="{988A4A4A-8BDF-CA4C-B5FB-20EDC888CF5E}" srcOrd="1" destOrd="0" presId="urn:microsoft.com/office/officeart/2005/8/layout/vList5"/>
    <dgm:cxn modelId="{EA3B59B7-8A3F-5E49-A6D6-FF0CD8A3741A}" type="presParOf" srcId="{C5B77D11-2F3F-3E47-8FD0-E91B151C1214}" destId="{4E9D0C5D-5FC8-1342-B60E-E8436BBDFCAE}" srcOrd="2" destOrd="0" presId="urn:microsoft.com/office/officeart/2005/8/layout/vList5"/>
    <dgm:cxn modelId="{93E4F2E5-C7F2-B840-B581-3D009E96869B}" type="presParOf" srcId="{4E9D0C5D-5FC8-1342-B60E-E8436BBDFCAE}" destId="{5887623D-96BC-B747-A79F-E37C93CDAE33}" srcOrd="0" destOrd="0" presId="urn:microsoft.com/office/officeart/2005/8/layout/vList5"/>
    <dgm:cxn modelId="{DDF190ED-D1EE-044D-AF14-7DDAF9036F49}" type="presParOf" srcId="{4E9D0C5D-5FC8-1342-B60E-E8436BBDFCAE}" destId="{AEC64D76-254D-5C4C-89E0-7E54C22BE44C}" srcOrd="1" destOrd="0" presId="urn:microsoft.com/office/officeart/2005/8/layout/vList5"/>
    <dgm:cxn modelId="{088A3E88-B292-CC48-BF27-EDF35D9B5686}" type="presParOf" srcId="{C5B77D11-2F3F-3E47-8FD0-E91B151C1214}" destId="{2F50449C-EA63-9E43-9A01-B3AF5AA29906}" srcOrd="3" destOrd="0" presId="urn:microsoft.com/office/officeart/2005/8/layout/vList5"/>
    <dgm:cxn modelId="{844146EC-7E7A-0B45-A530-EB19BDF77B8C}" type="presParOf" srcId="{C5B77D11-2F3F-3E47-8FD0-E91B151C1214}" destId="{DAC403F3-9310-DE42-BF25-35A600EF238C}" srcOrd="4" destOrd="0" presId="urn:microsoft.com/office/officeart/2005/8/layout/vList5"/>
    <dgm:cxn modelId="{37258555-2CA9-E948-A6BB-BE0E5DC4E7A6}" type="presParOf" srcId="{DAC403F3-9310-DE42-BF25-35A600EF238C}" destId="{A28434E8-C752-4344-82EF-D4F915620887}" srcOrd="0" destOrd="0" presId="urn:microsoft.com/office/officeart/2005/8/layout/vList5"/>
    <dgm:cxn modelId="{8691E64A-2C05-254B-A242-6AE548917E51}" type="presParOf" srcId="{DAC403F3-9310-DE42-BF25-35A600EF238C}" destId="{E7972576-5D6F-FA4B-903C-6084BEDFFCF5}" srcOrd="1" destOrd="0" presId="urn:microsoft.com/office/officeart/2005/8/layout/vList5"/>
    <dgm:cxn modelId="{C672CE6F-342F-B841-BFC0-4487BB9F7C37}" type="presParOf" srcId="{C5B77D11-2F3F-3E47-8FD0-E91B151C1214}" destId="{366D149A-8127-2B49-BE35-18C7BD0000C9}" srcOrd="5" destOrd="0" presId="urn:microsoft.com/office/officeart/2005/8/layout/vList5"/>
    <dgm:cxn modelId="{37442EB9-70CF-764B-87D8-4C823B0C4201}" type="presParOf" srcId="{C5B77D11-2F3F-3E47-8FD0-E91B151C1214}" destId="{B9F3DF8B-311C-1E4F-98C1-78A750499395}" srcOrd="6" destOrd="0" presId="urn:microsoft.com/office/officeart/2005/8/layout/vList5"/>
    <dgm:cxn modelId="{FE6252AB-99EF-9344-B388-C1C97B1B2F78}" type="presParOf" srcId="{B9F3DF8B-311C-1E4F-98C1-78A750499395}" destId="{CC229CB6-8123-A641-8FF9-976A0B779F84}" srcOrd="0" destOrd="0" presId="urn:microsoft.com/office/officeart/2005/8/layout/vList5"/>
    <dgm:cxn modelId="{989EED5A-A4B2-5949-AE85-7B67D48D08F7}" type="presParOf" srcId="{B9F3DF8B-311C-1E4F-98C1-78A750499395}" destId="{3A7982CA-9FA5-FF49-8B87-8915B8F21519}" srcOrd="1"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8C4CF35-159D-B040-B663-4EE5FA728A8A}" type="doc">
      <dgm:prSet loTypeId="urn:microsoft.com/office/officeart/2005/8/layout/vList5" loCatId="" qsTypeId="urn:microsoft.com/office/officeart/2005/8/quickstyle/simple1" qsCatId="simple" csTypeId="urn:microsoft.com/office/officeart/2005/8/colors/colorful2" csCatId="colorful" phldr="1"/>
      <dgm:spPr/>
      <dgm:t>
        <a:bodyPr/>
        <a:lstStyle/>
        <a:p>
          <a:endParaRPr lang="en-GB"/>
        </a:p>
      </dgm:t>
    </dgm:pt>
    <dgm:pt modelId="{D61BDDC4-021A-334C-AF3B-92FCE0045DDC}">
      <dgm:prSet phldrT="[Text]" custT="1"/>
      <dgm:spPr>
        <a:solidFill>
          <a:schemeClr val="accent2">
            <a:lumMod val="40000"/>
            <a:lumOff val="60000"/>
          </a:schemeClr>
        </a:solidFill>
      </dgm:spPr>
      <dgm:t>
        <a:bodyPr/>
        <a:lstStyle/>
        <a:p>
          <a:r>
            <a:rPr lang="en-IN" sz="2000" b="1" dirty="0"/>
            <a:t>Foundational Models (LLMs)</a:t>
          </a:r>
          <a:endParaRPr lang="en-GB" sz="2000" dirty="0">
            <a:latin typeface="Times New Roman" panose="02020603050405020304" pitchFamily="18" charset="0"/>
            <a:cs typeface="Times New Roman" panose="02020603050405020304" pitchFamily="18" charset="0"/>
          </a:endParaRPr>
        </a:p>
      </dgm:t>
    </dgm:pt>
    <dgm:pt modelId="{8CF9F419-4236-2D45-8EAC-3B4313354A1B}" type="parTrans" cxnId="{FC060B20-383A-BC46-8391-BAC911F73166}">
      <dgm:prSet/>
      <dgm:spPr/>
      <dgm:t>
        <a:bodyPr/>
        <a:lstStyle/>
        <a:p>
          <a:endParaRPr lang="en-GB">
            <a:latin typeface="Times New Roman" panose="02020603050405020304" pitchFamily="18" charset="0"/>
            <a:cs typeface="Times New Roman" panose="02020603050405020304" pitchFamily="18" charset="0"/>
          </a:endParaRPr>
        </a:p>
      </dgm:t>
    </dgm:pt>
    <dgm:pt modelId="{82C337BF-5EB9-D94B-B919-FB76190BED5F}" type="sibTrans" cxnId="{FC060B20-383A-BC46-8391-BAC911F73166}">
      <dgm:prSet/>
      <dgm:spPr/>
      <dgm:t>
        <a:bodyPr/>
        <a:lstStyle/>
        <a:p>
          <a:endParaRPr lang="en-GB">
            <a:latin typeface="Times New Roman" panose="02020603050405020304" pitchFamily="18" charset="0"/>
            <a:cs typeface="Times New Roman" panose="02020603050405020304" pitchFamily="18" charset="0"/>
          </a:endParaRPr>
        </a:p>
      </dgm:t>
    </dgm:pt>
    <dgm:pt modelId="{9AC3C1B4-FAA8-0B44-8934-51056F222B1D}">
      <dgm:prSet phldrT="[Text]"/>
      <dgm:spPr/>
      <dgm:t>
        <a:bodyPr/>
        <a:lstStyle/>
        <a:p>
          <a:r>
            <a:rPr lang="en-IN" dirty="0"/>
            <a:t>Difficulty in applying unlearning to large language models with billions of parameters; contributions of individual data points remain uncertain.</a:t>
          </a:r>
          <a:endParaRPr lang="en-GB" dirty="0">
            <a:latin typeface="Times New Roman" panose="02020603050405020304" pitchFamily="18" charset="0"/>
            <a:cs typeface="Times New Roman" panose="02020603050405020304" pitchFamily="18" charset="0"/>
          </a:endParaRPr>
        </a:p>
      </dgm:t>
    </dgm:pt>
    <dgm:pt modelId="{56C80B86-2404-144D-A687-81AF58C51ED4}" type="parTrans" cxnId="{49ECBBF4-46D8-3D40-972F-7343F8A859D8}">
      <dgm:prSet/>
      <dgm:spPr/>
      <dgm:t>
        <a:bodyPr/>
        <a:lstStyle/>
        <a:p>
          <a:endParaRPr lang="en-GB">
            <a:latin typeface="Times New Roman" panose="02020603050405020304" pitchFamily="18" charset="0"/>
            <a:cs typeface="Times New Roman" panose="02020603050405020304" pitchFamily="18" charset="0"/>
          </a:endParaRPr>
        </a:p>
      </dgm:t>
    </dgm:pt>
    <dgm:pt modelId="{E978C564-54DD-3845-B714-CD25FD728E83}" type="sibTrans" cxnId="{49ECBBF4-46D8-3D40-972F-7343F8A859D8}">
      <dgm:prSet/>
      <dgm:spPr/>
      <dgm:t>
        <a:bodyPr/>
        <a:lstStyle/>
        <a:p>
          <a:endParaRPr lang="en-GB">
            <a:latin typeface="Times New Roman" panose="02020603050405020304" pitchFamily="18" charset="0"/>
            <a:cs typeface="Times New Roman" panose="02020603050405020304" pitchFamily="18" charset="0"/>
          </a:endParaRPr>
        </a:p>
      </dgm:t>
    </dgm:pt>
    <dgm:pt modelId="{418E91D7-994B-8548-B0CA-DB05AF7DF7BD}">
      <dgm:prSet phldrT="[Text]" custT="1"/>
      <dgm:spPr>
        <a:solidFill>
          <a:schemeClr val="accent5">
            <a:lumMod val="20000"/>
            <a:lumOff val="80000"/>
          </a:schemeClr>
        </a:solidFill>
      </dgm:spPr>
      <dgm:t>
        <a:bodyPr/>
        <a:lstStyle/>
        <a:p>
          <a:r>
            <a:rPr lang="en-IN" sz="2000" b="1" dirty="0"/>
            <a:t>Sequential &amp; Dynamic Unlearning</a:t>
          </a:r>
          <a:endParaRPr lang="en-GB" sz="2000" dirty="0">
            <a:latin typeface="Times New Roman" panose="02020603050405020304" pitchFamily="18" charset="0"/>
            <a:cs typeface="Times New Roman" panose="02020603050405020304" pitchFamily="18" charset="0"/>
          </a:endParaRPr>
        </a:p>
      </dgm:t>
    </dgm:pt>
    <dgm:pt modelId="{1E1B022F-B487-2D42-B62C-7BD722C48649}" type="parTrans" cxnId="{A4693350-DC78-E840-8EED-843BCD583772}">
      <dgm:prSet/>
      <dgm:spPr/>
      <dgm:t>
        <a:bodyPr/>
        <a:lstStyle/>
        <a:p>
          <a:endParaRPr lang="en-GB">
            <a:latin typeface="Times New Roman" panose="02020603050405020304" pitchFamily="18" charset="0"/>
            <a:cs typeface="Times New Roman" panose="02020603050405020304" pitchFamily="18" charset="0"/>
          </a:endParaRPr>
        </a:p>
      </dgm:t>
    </dgm:pt>
    <dgm:pt modelId="{88AB0E77-89E1-2044-836F-565191019A63}" type="sibTrans" cxnId="{A4693350-DC78-E840-8EED-843BCD583772}">
      <dgm:prSet/>
      <dgm:spPr/>
      <dgm:t>
        <a:bodyPr/>
        <a:lstStyle/>
        <a:p>
          <a:endParaRPr lang="en-GB">
            <a:latin typeface="Times New Roman" panose="02020603050405020304" pitchFamily="18" charset="0"/>
            <a:cs typeface="Times New Roman" panose="02020603050405020304" pitchFamily="18" charset="0"/>
          </a:endParaRPr>
        </a:p>
      </dgm:t>
    </dgm:pt>
    <dgm:pt modelId="{43C2D0AA-44C1-CD40-AD9D-A7BF1413A317}">
      <dgm:prSet phldrT="[Text]"/>
      <dgm:spPr/>
      <dgm:t>
        <a:bodyPr/>
        <a:lstStyle/>
        <a:p>
          <a:r>
            <a:rPr lang="en-IN" dirty="0"/>
            <a:t>Insufficient research on unlearning in evolving/streaming data ecosystems and sequential deletion requests.</a:t>
          </a:r>
          <a:endParaRPr lang="en-GB" dirty="0">
            <a:latin typeface="Times New Roman" panose="02020603050405020304" pitchFamily="18" charset="0"/>
            <a:cs typeface="Times New Roman" panose="02020603050405020304" pitchFamily="18" charset="0"/>
          </a:endParaRPr>
        </a:p>
      </dgm:t>
    </dgm:pt>
    <dgm:pt modelId="{50374D4B-6DF8-0749-94C4-52DAD862232A}" type="parTrans" cxnId="{6EADD451-2D8B-1F4B-82CF-9DDDC9804229}">
      <dgm:prSet/>
      <dgm:spPr/>
      <dgm:t>
        <a:bodyPr/>
        <a:lstStyle/>
        <a:p>
          <a:endParaRPr lang="en-GB">
            <a:latin typeface="Times New Roman" panose="02020603050405020304" pitchFamily="18" charset="0"/>
            <a:cs typeface="Times New Roman" panose="02020603050405020304" pitchFamily="18" charset="0"/>
          </a:endParaRPr>
        </a:p>
      </dgm:t>
    </dgm:pt>
    <dgm:pt modelId="{FBB7887B-F6FA-E246-91AD-70C1D21B4B4E}" type="sibTrans" cxnId="{6EADD451-2D8B-1F4B-82CF-9DDDC9804229}">
      <dgm:prSet/>
      <dgm:spPr/>
      <dgm:t>
        <a:bodyPr/>
        <a:lstStyle/>
        <a:p>
          <a:endParaRPr lang="en-GB">
            <a:latin typeface="Times New Roman" panose="02020603050405020304" pitchFamily="18" charset="0"/>
            <a:cs typeface="Times New Roman" panose="02020603050405020304" pitchFamily="18" charset="0"/>
          </a:endParaRPr>
        </a:p>
      </dgm:t>
    </dgm:pt>
    <dgm:pt modelId="{C5B77D11-2F3F-3E47-8FD0-E91B151C1214}" type="pres">
      <dgm:prSet presAssocID="{38C4CF35-159D-B040-B663-4EE5FA728A8A}" presName="Name0" presStyleCnt="0">
        <dgm:presLayoutVars>
          <dgm:dir/>
          <dgm:animLvl val="lvl"/>
          <dgm:resizeHandles val="exact"/>
        </dgm:presLayoutVars>
      </dgm:prSet>
      <dgm:spPr/>
    </dgm:pt>
    <dgm:pt modelId="{484235DD-557E-DF46-8A61-284B4D627B50}" type="pres">
      <dgm:prSet presAssocID="{D61BDDC4-021A-334C-AF3B-92FCE0045DDC}" presName="linNode" presStyleCnt="0"/>
      <dgm:spPr/>
    </dgm:pt>
    <dgm:pt modelId="{2509E6C5-E558-994C-B4C7-DCDCB4762F21}" type="pres">
      <dgm:prSet presAssocID="{D61BDDC4-021A-334C-AF3B-92FCE0045DDC}" presName="parentText" presStyleLbl="node1" presStyleIdx="0" presStyleCnt="2" custScaleX="94644">
        <dgm:presLayoutVars>
          <dgm:chMax val="1"/>
          <dgm:bulletEnabled val="1"/>
        </dgm:presLayoutVars>
      </dgm:prSet>
      <dgm:spPr/>
    </dgm:pt>
    <dgm:pt modelId="{0443FC87-0DAA-FE4F-B3DC-59C91B1530E0}" type="pres">
      <dgm:prSet presAssocID="{D61BDDC4-021A-334C-AF3B-92FCE0045DDC}" presName="descendantText" presStyleLbl="alignAccFollowNode1" presStyleIdx="0" presStyleCnt="2" custScaleY="106454" custLinFactNeighborY="-7905">
        <dgm:presLayoutVars>
          <dgm:bulletEnabled val="1"/>
        </dgm:presLayoutVars>
      </dgm:prSet>
      <dgm:spPr/>
    </dgm:pt>
    <dgm:pt modelId="{988A4A4A-8BDF-CA4C-B5FB-20EDC888CF5E}" type="pres">
      <dgm:prSet presAssocID="{82C337BF-5EB9-D94B-B919-FB76190BED5F}" presName="sp" presStyleCnt="0"/>
      <dgm:spPr/>
    </dgm:pt>
    <dgm:pt modelId="{4E9D0C5D-5FC8-1342-B60E-E8436BBDFCAE}" type="pres">
      <dgm:prSet presAssocID="{418E91D7-994B-8548-B0CA-DB05AF7DF7BD}" presName="linNode" presStyleCnt="0"/>
      <dgm:spPr/>
    </dgm:pt>
    <dgm:pt modelId="{5887623D-96BC-B747-A79F-E37C93CDAE33}" type="pres">
      <dgm:prSet presAssocID="{418E91D7-994B-8548-B0CA-DB05AF7DF7BD}" presName="parentText" presStyleLbl="node1" presStyleIdx="1" presStyleCnt="2" custScaleX="94644">
        <dgm:presLayoutVars>
          <dgm:chMax val="1"/>
          <dgm:bulletEnabled val="1"/>
        </dgm:presLayoutVars>
      </dgm:prSet>
      <dgm:spPr/>
    </dgm:pt>
    <dgm:pt modelId="{AEC64D76-254D-5C4C-89E0-7E54C22BE44C}" type="pres">
      <dgm:prSet presAssocID="{418E91D7-994B-8548-B0CA-DB05AF7DF7BD}" presName="descendantText" presStyleLbl="alignAccFollowNode1" presStyleIdx="1" presStyleCnt="2">
        <dgm:presLayoutVars>
          <dgm:bulletEnabled val="1"/>
        </dgm:presLayoutVars>
      </dgm:prSet>
      <dgm:spPr/>
    </dgm:pt>
  </dgm:ptLst>
  <dgm:cxnLst>
    <dgm:cxn modelId="{816D9A00-44CA-B349-A266-1CA93C82E658}" type="presOf" srcId="{D61BDDC4-021A-334C-AF3B-92FCE0045DDC}" destId="{2509E6C5-E558-994C-B4C7-DCDCB4762F21}" srcOrd="0" destOrd="0" presId="urn:microsoft.com/office/officeart/2005/8/layout/vList5"/>
    <dgm:cxn modelId="{4CBAB50D-030C-354A-A900-097EB61B00D8}" type="presOf" srcId="{38C4CF35-159D-B040-B663-4EE5FA728A8A}" destId="{C5B77D11-2F3F-3E47-8FD0-E91B151C1214}" srcOrd="0" destOrd="0" presId="urn:microsoft.com/office/officeart/2005/8/layout/vList5"/>
    <dgm:cxn modelId="{93EA031F-F7BD-6740-BD83-532FA1E312E6}" type="presOf" srcId="{9AC3C1B4-FAA8-0B44-8934-51056F222B1D}" destId="{0443FC87-0DAA-FE4F-B3DC-59C91B1530E0}" srcOrd="0" destOrd="0" presId="urn:microsoft.com/office/officeart/2005/8/layout/vList5"/>
    <dgm:cxn modelId="{FC060B20-383A-BC46-8391-BAC911F73166}" srcId="{38C4CF35-159D-B040-B663-4EE5FA728A8A}" destId="{D61BDDC4-021A-334C-AF3B-92FCE0045DDC}" srcOrd="0" destOrd="0" parTransId="{8CF9F419-4236-2D45-8EAC-3B4313354A1B}" sibTransId="{82C337BF-5EB9-D94B-B919-FB76190BED5F}"/>
    <dgm:cxn modelId="{A4693350-DC78-E840-8EED-843BCD583772}" srcId="{38C4CF35-159D-B040-B663-4EE5FA728A8A}" destId="{418E91D7-994B-8548-B0CA-DB05AF7DF7BD}" srcOrd="1" destOrd="0" parTransId="{1E1B022F-B487-2D42-B62C-7BD722C48649}" sibTransId="{88AB0E77-89E1-2044-836F-565191019A63}"/>
    <dgm:cxn modelId="{6EADD451-2D8B-1F4B-82CF-9DDDC9804229}" srcId="{418E91D7-994B-8548-B0CA-DB05AF7DF7BD}" destId="{43C2D0AA-44C1-CD40-AD9D-A7BF1413A317}" srcOrd="0" destOrd="0" parTransId="{50374D4B-6DF8-0749-94C4-52DAD862232A}" sibTransId="{FBB7887B-F6FA-E246-91AD-70C1D21B4B4E}"/>
    <dgm:cxn modelId="{0F07EB83-5D7A-AD44-8006-1D7E659FC174}" type="presOf" srcId="{418E91D7-994B-8548-B0CA-DB05AF7DF7BD}" destId="{5887623D-96BC-B747-A79F-E37C93CDAE33}" srcOrd="0" destOrd="0" presId="urn:microsoft.com/office/officeart/2005/8/layout/vList5"/>
    <dgm:cxn modelId="{646B19F0-E29E-B440-9E15-A3C82A72876D}" type="presOf" srcId="{43C2D0AA-44C1-CD40-AD9D-A7BF1413A317}" destId="{AEC64D76-254D-5C4C-89E0-7E54C22BE44C}" srcOrd="0" destOrd="0" presId="urn:microsoft.com/office/officeart/2005/8/layout/vList5"/>
    <dgm:cxn modelId="{49ECBBF4-46D8-3D40-972F-7343F8A859D8}" srcId="{D61BDDC4-021A-334C-AF3B-92FCE0045DDC}" destId="{9AC3C1B4-FAA8-0B44-8934-51056F222B1D}" srcOrd="0" destOrd="0" parTransId="{56C80B86-2404-144D-A687-81AF58C51ED4}" sibTransId="{E978C564-54DD-3845-B714-CD25FD728E83}"/>
    <dgm:cxn modelId="{D091F2F5-7E49-2241-9072-B09B2E75013F}" type="presParOf" srcId="{C5B77D11-2F3F-3E47-8FD0-E91B151C1214}" destId="{484235DD-557E-DF46-8A61-284B4D627B50}" srcOrd="0" destOrd="0" presId="urn:microsoft.com/office/officeart/2005/8/layout/vList5"/>
    <dgm:cxn modelId="{A41859D7-4E8B-454F-A9EF-48194CB87564}" type="presParOf" srcId="{484235DD-557E-DF46-8A61-284B4D627B50}" destId="{2509E6C5-E558-994C-B4C7-DCDCB4762F21}" srcOrd="0" destOrd="0" presId="urn:microsoft.com/office/officeart/2005/8/layout/vList5"/>
    <dgm:cxn modelId="{7D60C9D0-EB06-4146-9BC3-F305B29A7C3D}" type="presParOf" srcId="{484235DD-557E-DF46-8A61-284B4D627B50}" destId="{0443FC87-0DAA-FE4F-B3DC-59C91B1530E0}" srcOrd="1" destOrd="0" presId="urn:microsoft.com/office/officeart/2005/8/layout/vList5"/>
    <dgm:cxn modelId="{180F93EA-903B-2241-862D-5559A2194F2A}" type="presParOf" srcId="{C5B77D11-2F3F-3E47-8FD0-E91B151C1214}" destId="{988A4A4A-8BDF-CA4C-B5FB-20EDC888CF5E}" srcOrd="1" destOrd="0" presId="urn:microsoft.com/office/officeart/2005/8/layout/vList5"/>
    <dgm:cxn modelId="{EA3B59B7-8A3F-5E49-A6D6-FF0CD8A3741A}" type="presParOf" srcId="{C5B77D11-2F3F-3E47-8FD0-E91B151C1214}" destId="{4E9D0C5D-5FC8-1342-B60E-E8436BBDFCAE}" srcOrd="2" destOrd="0" presId="urn:microsoft.com/office/officeart/2005/8/layout/vList5"/>
    <dgm:cxn modelId="{93E4F2E5-C7F2-B840-B581-3D009E96869B}" type="presParOf" srcId="{4E9D0C5D-5FC8-1342-B60E-E8436BBDFCAE}" destId="{5887623D-96BC-B747-A79F-E37C93CDAE33}" srcOrd="0" destOrd="0" presId="urn:microsoft.com/office/officeart/2005/8/layout/vList5"/>
    <dgm:cxn modelId="{DDF190ED-D1EE-044D-AF14-7DDAF9036F49}" type="presParOf" srcId="{4E9D0C5D-5FC8-1342-B60E-E8436BBDFCAE}" destId="{AEC64D76-254D-5C4C-89E0-7E54C22BE44C}" srcOrd="1" destOrd="0" presId="urn:microsoft.com/office/officeart/2005/8/layout/vList5"/>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38AF250-C028-6944-BC0B-F23F48DF3317}" type="doc">
      <dgm:prSet loTypeId="urn:microsoft.com/office/officeart/2005/8/layout/vList2" loCatId="icon" qsTypeId="urn:microsoft.com/office/officeart/2005/8/quickstyle/simple1" qsCatId="simple" csTypeId="urn:microsoft.com/office/officeart/2005/8/colors/colorful2" csCatId="colorful" phldr="1"/>
      <dgm:spPr/>
      <dgm:t>
        <a:bodyPr/>
        <a:lstStyle/>
        <a:p>
          <a:endParaRPr lang="en-GB"/>
        </a:p>
      </dgm:t>
    </dgm:pt>
    <dgm:pt modelId="{8F74A032-9576-2D40-9099-0C427CF11689}">
      <dgm:prSet phldrT="[Text]" custT="1"/>
      <dgm:spPr/>
      <dgm:t>
        <a:bodyPr/>
        <a:lstStyle/>
        <a:p>
          <a:r>
            <a:rPr lang="en-IN" sz="2200" b="1" dirty="0"/>
            <a:t>Game-Theory-Based Balance</a:t>
          </a:r>
          <a:endParaRPr lang="en-GB" sz="2200" dirty="0">
            <a:latin typeface="Times New Roman" panose="02020603050405020304" pitchFamily="18" charset="0"/>
            <a:cs typeface="Times New Roman" panose="02020603050405020304" pitchFamily="18" charset="0"/>
          </a:endParaRPr>
        </a:p>
      </dgm:t>
    </dgm:pt>
    <dgm:pt modelId="{8A484799-44C8-ED4D-B604-6A7D023B089B}" type="parTrans" cxnId="{0E763C88-7F51-AA46-AF92-AC50AFC40136}">
      <dgm:prSet/>
      <dgm:spPr/>
      <dgm:t>
        <a:bodyPr/>
        <a:lstStyle/>
        <a:p>
          <a:endParaRPr lang="en-GB">
            <a:latin typeface="Times New Roman" panose="02020603050405020304" pitchFamily="18" charset="0"/>
            <a:cs typeface="Times New Roman" panose="02020603050405020304" pitchFamily="18" charset="0"/>
          </a:endParaRPr>
        </a:p>
      </dgm:t>
    </dgm:pt>
    <dgm:pt modelId="{780B9E1A-9435-E247-80F1-B342CD0160A4}" type="sibTrans" cxnId="{0E763C88-7F51-AA46-AF92-AC50AFC40136}">
      <dgm:prSet/>
      <dgm:spPr/>
      <dgm:t>
        <a:bodyPr/>
        <a:lstStyle/>
        <a:p>
          <a:endParaRPr lang="en-GB">
            <a:latin typeface="Times New Roman" panose="02020603050405020304" pitchFamily="18" charset="0"/>
            <a:cs typeface="Times New Roman" panose="02020603050405020304" pitchFamily="18" charset="0"/>
          </a:endParaRPr>
        </a:p>
      </dgm:t>
    </dgm:pt>
    <dgm:pt modelId="{9EB1543C-699C-A74D-843C-AC6FFED63362}">
      <dgm:prSet phldrT="[Text]" custT="1"/>
      <dgm:spPr/>
      <dgm:t>
        <a:bodyPr/>
        <a:lstStyle/>
        <a:p>
          <a:r>
            <a:rPr lang="en-IN" sz="2200" b="1" dirty="0"/>
            <a:t>Feature-Based Unlearning</a:t>
          </a:r>
          <a:endParaRPr lang="en-GB" sz="2200" dirty="0">
            <a:latin typeface="Times New Roman" panose="02020603050405020304" pitchFamily="18" charset="0"/>
            <a:cs typeface="Times New Roman" panose="02020603050405020304" pitchFamily="18" charset="0"/>
          </a:endParaRPr>
        </a:p>
      </dgm:t>
    </dgm:pt>
    <dgm:pt modelId="{EE597CEE-6F7A-0848-9ACA-2D6E1DD58385}" type="parTrans" cxnId="{E36CE871-15EE-6E49-B116-A37D63413853}">
      <dgm:prSet/>
      <dgm:spPr/>
      <dgm:t>
        <a:bodyPr/>
        <a:lstStyle/>
        <a:p>
          <a:endParaRPr lang="en-GB">
            <a:latin typeface="Times New Roman" panose="02020603050405020304" pitchFamily="18" charset="0"/>
            <a:cs typeface="Times New Roman" panose="02020603050405020304" pitchFamily="18" charset="0"/>
          </a:endParaRPr>
        </a:p>
      </dgm:t>
    </dgm:pt>
    <dgm:pt modelId="{DC5B6B44-DBD0-9D4E-892C-906816B10986}" type="sibTrans" cxnId="{E36CE871-15EE-6E49-B116-A37D63413853}">
      <dgm:prSet/>
      <dgm:spPr/>
      <dgm:t>
        <a:bodyPr/>
        <a:lstStyle/>
        <a:p>
          <a:endParaRPr lang="en-GB">
            <a:latin typeface="Times New Roman" panose="02020603050405020304" pitchFamily="18" charset="0"/>
            <a:cs typeface="Times New Roman" panose="02020603050405020304" pitchFamily="18" charset="0"/>
          </a:endParaRPr>
        </a:p>
      </dgm:t>
    </dgm:pt>
    <dgm:pt modelId="{D43EDD9D-20DE-0A4D-9AAF-520020EEB65E}">
      <dgm:prSet phldrT="[Text]" custT="1"/>
      <dgm:spPr/>
      <dgm:t>
        <a:bodyPr/>
        <a:lstStyle/>
        <a:p>
          <a:r>
            <a:rPr lang="en-IN" sz="2200" b="1" dirty="0"/>
            <a:t>Adversarial Threats</a:t>
          </a:r>
          <a:endParaRPr lang="en-GB" sz="2200" dirty="0">
            <a:latin typeface="Times New Roman" panose="02020603050405020304" pitchFamily="18" charset="0"/>
            <a:cs typeface="Times New Roman" panose="02020603050405020304" pitchFamily="18" charset="0"/>
          </a:endParaRPr>
        </a:p>
      </dgm:t>
    </dgm:pt>
    <dgm:pt modelId="{C5197630-82C6-C947-8C60-4CDE23C08E4D}" type="parTrans" cxnId="{148B352C-F7DB-6345-9391-68CA30B72ED1}">
      <dgm:prSet/>
      <dgm:spPr/>
      <dgm:t>
        <a:bodyPr/>
        <a:lstStyle/>
        <a:p>
          <a:endParaRPr lang="en-GB">
            <a:latin typeface="Times New Roman" panose="02020603050405020304" pitchFamily="18" charset="0"/>
            <a:cs typeface="Times New Roman" panose="02020603050405020304" pitchFamily="18" charset="0"/>
          </a:endParaRPr>
        </a:p>
      </dgm:t>
    </dgm:pt>
    <dgm:pt modelId="{27F755E2-58B9-A64B-8C75-B126D16F2685}" type="sibTrans" cxnId="{148B352C-F7DB-6345-9391-68CA30B72ED1}">
      <dgm:prSet/>
      <dgm:spPr/>
      <dgm:t>
        <a:bodyPr/>
        <a:lstStyle/>
        <a:p>
          <a:endParaRPr lang="en-GB">
            <a:latin typeface="Times New Roman" panose="02020603050405020304" pitchFamily="18" charset="0"/>
            <a:cs typeface="Times New Roman" panose="02020603050405020304" pitchFamily="18" charset="0"/>
          </a:endParaRPr>
        </a:p>
      </dgm:t>
    </dgm:pt>
    <dgm:pt modelId="{061B567A-E794-B041-8E22-1D6F78335851}">
      <dgm:prSet phldrT="[Text]" custT="1"/>
      <dgm:spPr/>
      <dgm:t>
        <a:bodyPr/>
        <a:lstStyle/>
        <a:p>
          <a:r>
            <a:rPr lang="en-IN" sz="2200" b="1" dirty="0"/>
            <a:t>Incentive Mechanisms</a:t>
          </a:r>
          <a:endParaRPr lang="en-GB" sz="2200" dirty="0">
            <a:latin typeface="Times New Roman" panose="02020603050405020304" pitchFamily="18" charset="0"/>
            <a:cs typeface="Times New Roman" panose="02020603050405020304" pitchFamily="18" charset="0"/>
          </a:endParaRPr>
        </a:p>
      </dgm:t>
    </dgm:pt>
    <dgm:pt modelId="{FBF4ABEA-C5DD-A043-8D29-49CDD8716FAC}" type="parTrans" cxnId="{53970047-FDFB-E34C-AEE8-C163DB8C057A}">
      <dgm:prSet/>
      <dgm:spPr/>
      <dgm:t>
        <a:bodyPr/>
        <a:lstStyle/>
        <a:p>
          <a:endParaRPr lang="en-GB">
            <a:latin typeface="Times New Roman" panose="02020603050405020304" pitchFamily="18" charset="0"/>
            <a:cs typeface="Times New Roman" panose="02020603050405020304" pitchFamily="18" charset="0"/>
          </a:endParaRPr>
        </a:p>
      </dgm:t>
    </dgm:pt>
    <dgm:pt modelId="{1AF0D980-443B-8C44-8373-2C4B86A1B8A6}" type="sibTrans" cxnId="{53970047-FDFB-E34C-AEE8-C163DB8C057A}">
      <dgm:prSet/>
      <dgm:spPr/>
      <dgm:t>
        <a:bodyPr/>
        <a:lstStyle/>
        <a:p>
          <a:endParaRPr lang="en-GB">
            <a:latin typeface="Times New Roman" panose="02020603050405020304" pitchFamily="18" charset="0"/>
            <a:cs typeface="Times New Roman" panose="02020603050405020304" pitchFamily="18" charset="0"/>
          </a:endParaRPr>
        </a:p>
      </dgm:t>
    </dgm:pt>
    <dgm:pt modelId="{F72B4CC1-94B7-422A-85EF-323467A31766}">
      <dgm:prSet phldrT="[Text]"/>
      <dgm:spPr/>
      <dgm:t>
        <a:bodyPr/>
        <a:lstStyle/>
        <a:p>
          <a:r>
            <a:rPr lang="en-IN" b="1" dirty="0"/>
            <a:t>Sequential &amp; Dynamic Unlearning</a:t>
          </a:r>
          <a:endParaRPr lang="en-GB" dirty="0">
            <a:latin typeface="Times New Roman" panose="02020603050405020304" pitchFamily="18" charset="0"/>
            <a:cs typeface="Times New Roman" panose="02020603050405020304" pitchFamily="18" charset="0"/>
          </a:endParaRPr>
        </a:p>
      </dgm:t>
    </dgm:pt>
    <dgm:pt modelId="{1864EC64-9A0C-4963-ADD7-88DCDE345F47}" type="parTrans" cxnId="{0096F966-45A6-489E-A043-315D4C026E90}">
      <dgm:prSet/>
      <dgm:spPr/>
      <dgm:t>
        <a:bodyPr/>
        <a:lstStyle/>
        <a:p>
          <a:endParaRPr lang="en-IN"/>
        </a:p>
      </dgm:t>
    </dgm:pt>
    <dgm:pt modelId="{924CE729-BA4B-43A2-A0BA-4FE45B3956EC}" type="sibTrans" cxnId="{0096F966-45A6-489E-A043-315D4C026E90}">
      <dgm:prSet/>
      <dgm:spPr/>
      <dgm:t>
        <a:bodyPr/>
        <a:lstStyle/>
        <a:p>
          <a:endParaRPr lang="en-IN"/>
        </a:p>
      </dgm:t>
    </dgm:pt>
    <dgm:pt modelId="{8C25F368-F0AA-4436-AA91-B1239C9B8F46}">
      <dgm:prSet phldrT="[Text]"/>
      <dgm:spPr/>
      <dgm:t>
        <a:bodyPr/>
        <a:lstStyle/>
        <a:p>
          <a:r>
            <a:rPr lang="en-IN" b="1" dirty="0"/>
            <a:t>Foundational Models (LLMs)</a:t>
          </a:r>
          <a:endParaRPr lang="en-GB" dirty="0">
            <a:latin typeface="Times New Roman" panose="02020603050405020304" pitchFamily="18" charset="0"/>
            <a:cs typeface="Times New Roman" panose="02020603050405020304" pitchFamily="18" charset="0"/>
          </a:endParaRPr>
        </a:p>
      </dgm:t>
    </dgm:pt>
    <dgm:pt modelId="{8A97F509-DB92-49F5-972C-885934337545}" type="parTrans" cxnId="{99BAF419-65A1-4D8E-8955-52AC44F63034}">
      <dgm:prSet/>
      <dgm:spPr/>
      <dgm:t>
        <a:bodyPr/>
        <a:lstStyle/>
        <a:p>
          <a:endParaRPr lang="en-IN"/>
        </a:p>
      </dgm:t>
    </dgm:pt>
    <dgm:pt modelId="{3863100F-2D2B-4D82-9C08-B9AB0870D477}" type="sibTrans" cxnId="{99BAF419-65A1-4D8E-8955-52AC44F63034}">
      <dgm:prSet/>
      <dgm:spPr/>
      <dgm:t>
        <a:bodyPr/>
        <a:lstStyle/>
        <a:p>
          <a:endParaRPr lang="en-IN"/>
        </a:p>
      </dgm:t>
    </dgm:pt>
    <dgm:pt modelId="{B38352D3-7D97-F943-BEDF-BF879ABABC15}" type="pres">
      <dgm:prSet presAssocID="{338AF250-C028-6944-BC0B-F23F48DF3317}" presName="linear" presStyleCnt="0">
        <dgm:presLayoutVars>
          <dgm:animLvl val="lvl"/>
          <dgm:resizeHandles val="exact"/>
        </dgm:presLayoutVars>
      </dgm:prSet>
      <dgm:spPr/>
    </dgm:pt>
    <dgm:pt modelId="{A4E04F62-09DD-B54F-A5F1-00C00774E7AE}" type="pres">
      <dgm:prSet presAssocID="{8F74A032-9576-2D40-9099-0C427CF11689}" presName="parentText" presStyleLbl="node1" presStyleIdx="0" presStyleCnt="6" custScaleY="62130">
        <dgm:presLayoutVars>
          <dgm:chMax val="0"/>
          <dgm:bulletEnabled val="1"/>
        </dgm:presLayoutVars>
      </dgm:prSet>
      <dgm:spPr/>
    </dgm:pt>
    <dgm:pt modelId="{FCF2DE0B-C01E-4F48-86A0-032E90C00540}" type="pres">
      <dgm:prSet presAssocID="{780B9E1A-9435-E247-80F1-B342CD0160A4}" presName="spacer" presStyleCnt="0"/>
      <dgm:spPr/>
    </dgm:pt>
    <dgm:pt modelId="{7E84986F-31ED-3B4E-8C92-3D7F9539EABC}" type="pres">
      <dgm:prSet presAssocID="{9EB1543C-699C-A74D-843C-AC6FFED63362}" presName="parentText" presStyleLbl="node1" presStyleIdx="1" presStyleCnt="6" custScaleY="59172">
        <dgm:presLayoutVars>
          <dgm:chMax val="0"/>
          <dgm:bulletEnabled val="1"/>
        </dgm:presLayoutVars>
      </dgm:prSet>
      <dgm:spPr/>
    </dgm:pt>
    <dgm:pt modelId="{0FA3C643-E5B2-0F44-800A-85CB383E99C8}" type="pres">
      <dgm:prSet presAssocID="{DC5B6B44-DBD0-9D4E-892C-906816B10986}" presName="spacer" presStyleCnt="0"/>
      <dgm:spPr/>
    </dgm:pt>
    <dgm:pt modelId="{5B741CD7-A409-0245-B1BB-C75CE64ABDB1}" type="pres">
      <dgm:prSet presAssocID="{D43EDD9D-20DE-0A4D-9AAF-520020EEB65E}" presName="parentText" presStyleLbl="node1" presStyleIdx="2" presStyleCnt="6" custScaleY="59172">
        <dgm:presLayoutVars>
          <dgm:chMax val="0"/>
          <dgm:bulletEnabled val="1"/>
        </dgm:presLayoutVars>
      </dgm:prSet>
      <dgm:spPr/>
    </dgm:pt>
    <dgm:pt modelId="{73AC5768-3635-684F-A10F-7AB6AD167016}" type="pres">
      <dgm:prSet presAssocID="{27F755E2-58B9-A64B-8C75-B126D16F2685}" presName="spacer" presStyleCnt="0"/>
      <dgm:spPr/>
    </dgm:pt>
    <dgm:pt modelId="{1696C1F1-52CA-C841-9B6E-D9D865D87518}" type="pres">
      <dgm:prSet presAssocID="{061B567A-E794-B041-8E22-1D6F78335851}" presName="parentText" presStyleLbl="node1" presStyleIdx="3" presStyleCnt="6" custScaleY="59172">
        <dgm:presLayoutVars>
          <dgm:chMax val="0"/>
          <dgm:bulletEnabled val="1"/>
        </dgm:presLayoutVars>
      </dgm:prSet>
      <dgm:spPr/>
    </dgm:pt>
    <dgm:pt modelId="{DFFFBED5-6E6B-42FA-BE62-27966EB5963F}" type="pres">
      <dgm:prSet presAssocID="{1AF0D980-443B-8C44-8373-2C4B86A1B8A6}" presName="spacer" presStyleCnt="0"/>
      <dgm:spPr/>
    </dgm:pt>
    <dgm:pt modelId="{9189BD81-23D6-4F41-A2AC-0BEB7D8C5E5A}" type="pres">
      <dgm:prSet presAssocID="{F72B4CC1-94B7-422A-85EF-323467A31766}" presName="parentText" presStyleLbl="node1" presStyleIdx="4" presStyleCnt="6" custScaleY="59172">
        <dgm:presLayoutVars>
          <dgm:chMax val="0"/>
          <dgm:bulletEnabled val="1"/>
        </dgm:presLayoutVars>
      </dgm:prSet>
      <dgm:spPr/>
    </dgm:pt>
    <dgm:pt modelId="{81893C84-4667-436F-B91C-64D4222230F8}" type="pres">
      <dgm:prSet presAssocID="{924CE729-BA4B-43A2-A0BA-4FE45B3956EC}" presName="spacer" presStyleCnt="0"/>
      <dgm:spPr/>
    </dgm:pt>
    <dgm:pt modelId="{82BA55FB-0385-4620-AF75-7A75F6FC5B84}" type="pres">
      <dgm:prSet presAssocID="{8C25F368-F0AA-4436-AA91-B1239C9B8F46}" presName="parentText" presStyleLbl="node1" presStyleIdx="5" presStyleCnt="6" custScaleY="59172">
        <dgm:presLayoutVars>
          <dgm:chMax val="0"/>
          <dgm:bulletEnabled val="1"/>
        </dgm:presLayoutVars>
      </dgm:prSet>
      <dgm:spPr/>
    </dgm:pt>
  </dgm:ptLst>
  <dgm:cxnLst>
    <dgm:cxn modelId="{5A578813-A1CA-4AB4-BFA3-19D6B84A271D}" type="presOf" srcId="{8C25F368-F0AA-4436-AA91-B1239C9B8F46}" destId="{82BA55FB-0385-4620-AF75-7A75F6FC5B84}" srcOrd="0" destOrd="0" presId="urn:microsoft.com/office/officeart/2005/8/layout/vList2"/>
    <dgm:cxn modelId="{99BAF419-65A1-4D8E-8955-52AC44F63034}" srcId="{338AF250-C028-6944-BC0B-F23F48DF3317}" destId="{8C25F368-F0AA-4436-AA91-B1239C9B8F46}" srcOrd="5" destOrd="0" parTransId="{8A97F509-DB92-49F5-972C-885934337545}" sibTransId="{3863100F-2D2B-4D82-9C08-B9AB0870D477}"/>
    <dgm:cxn modelId="{31BDBA27-8991-4C4E-8BA7-09921148B70D}" type="presOf" srcId="{338AF250-C028-6944-BC0B-F23F48DF3317}" destId="{B38352D3-7D97-F943-BEDF-BF879ABABC15}" srcOrd="0" destOrd="0" presId="urn:microsoft.com/office/officeart/2005/8/layout/vList2"/>
    <dgm:cxn modelId="{148B352C-F7DB-6345-9391-68CA30B72ED1}" srcId="{338AF250-C028-6944-BC0B-F23F48DF3317}" destId="{D43EDD9D-20DE-0A4D-9AAF-520020EEB65E}" srcOrd="2" destOrd="0" parTransId="{C5197630-82C6-C947-8C60-4CDE23C08E4D}" sibTransId="{27F755E2-58B9-A64B-8C75-B126D16F2685}"/>
    <dgm:cxn modelId="{0096F966-45A6-489E-A043-315D4C026E90}" srcId="{338AF250-C028-6944-BC0B-F23F48DF3317}" destId="{F72B4CC1-94B7-422A-85EF-323467A31766}" srcOrd="4" destOrd="0" parTransId="{1864EC64-9A0C-4963-ADD7-88DCDE345F47}" sibTransId="{924CE729-BA4B-43A2-A0BA-4FE45B3956EC}"/>
    <dgm:cxn modelId="{53970047-FDFB-E34C-AEE8-C163DB8C057A}" srcId="{338AF250-C028-6944-BC0B-F23F48DF3317}" destId="{061B567A-E794-B041-8E22-1D6F78335851}" srcOrd="3" destOrd="0" parTransId="{FBF4ABEA-C5DD-A043-8D29-49CDD8716FAC}" sibTransId="{1AF0D980-443B-8C44-8373-2C4B86A1B8A6}"/>
    <dgm:cxn modelId="{E36CE871-15EE-6E49-B116-A37D63413853}" srcId="{338AF250-C028-6944-BC0B-F23F48DF3317}" destId="{9EB1543C-699C-A74D-843C-AC6FFED63362}" srcOrd="1" destOrd="0" parTransId="{EE597CEE-6F7A-0848-9ACA-2D6E1DD58385}" sibTransId="{DC5B6B44-DBD0-9D4E-892C-906816B10986}"/>
    <dgm:cxn modelId="{DBD82076-68D2-C746-AEDA-09C393B9FFBB}" type="presOf" srcId="{D43EDD9D-20DE-0A4D-9AAF-520020EEB65E}" destId="{5B741CD7-A409-0245-B1BB-C75CE64ABDB1}" srcOrd="0" destOrd="0" presId="urn:microsoft.com/office/officeart/2005/8/layout/vList2"/>
    <dgm:cxn modelId="{0E763C88-7F51-AA46-AF92-AC50AFC40136}" srcId="{338AF250-C028-6944-BC0B-F23F48DF3317}" destId="{8F74A032-9576-2D40-9099-0C427CF11689}" srcOrd="0" destOrd="0" parTransId="{8A484799-44C8-ED4D-B604-6A7D023B089B}" sibTransId="{780B9E1A-9435-E247-80F1-B342CD0160A4}"/>
    <dgm:cxn modelId="{1845F9A6-E19E-FD48-B4EA-2CA89A8B0348}" type="presOf" srcId="{9EB1543C-699C-A74D-843C-AC6FFED63362}" destId="{7E84986F-31ED-3B4E-8C92-3D7F9539EABC}" srcOrd="0" destOrd="0" presId="urn:microsoft.com/office/officeart/2005/8/layout/vList2"/>
    <dgm:cxn modelId="{4901ADC4-79A1-A64C-B700-FB0D05D5B2E9}" type="presOf" srcId="{8F74A032-9576-2D40-9099-0C427CF11689}" destId="{A4E04F62-09DD-B54F-A5F1-00C00774E7AE}" srcOrd="0" destOrd="0" presId="urn:microsoft.com/office/officeart/2005/8/layout/vList2"/>
    <dgm:cxn modelId="{7721DDC7-F92B-4644-9102-BBDAD58A4506}" type="presOf" srcId="{061B567A-E794-B041-8E22-1D6F78335851}" destId="{1696C1F1-52CA-C841-9B6E-D9D865D87518}" srcOrd="0" destOrd="0" presId="urn:microsoft.com/office/officeart/2005/8/layout/vList2"/>
    <dgm:cxn modelId="{7B689CFB-52C0-4E7B-AA5E-2FAFB10CF668}" type="presOf" srcId="{F72B4CC1-94B7-422A-85EF-323467A31766}" destId="{9189BD81-23D6-4F41-A2AC-0BEB7D8C5E5A}" srcOrd="0" destOrd="0" presId="urn:microsoft.com/office/officeart/2005/8/layout/vList2"/>
    <dgm:cxn modelId="{F045E6E4-DE7F-B34B-BBB3-5220F993A565}" type="presParOf" srcId="{B38352D3-7D97-F943-BEDF-BF879ABABC15}" destId="{A4E04F62-09DD-B54F-A5F1-00C00774E7AE}" srcOrd="0" destOrd="0" presId="urn:microsoft.com/office/officeart/2005/8/layout/vList2"/>
    <dgm:cxn modelId="{E0927A46-35EE-C642-9477-8DF27F389E5F}" type="presParOf" srcId="{B38352D3-7D97-F943-BEDF-BF879ABABC15}" destId="{FCF2DE0B-C01E-4F48-86A0-032E90C00540}" srcOrd="1" destOrd="0" presId="urn:microsoft.com/office/officeart/2005/8/layout/vList2"/>
    <dgm:cxn modelId="{A2CDA19F-0F02-4543-A105-72AC82446A67}" type="presParOf" srcId="{B38352D3-7D97-F943-BEDF-BF879ABABC15}" destId="{7E84986F-31ED-3B4E-8C92-3D7F9539EABC}" srcOrd="2" destOrd="0" presId="urn:microsoft.com/office/officeart/2005/8/layout/vList2"/>
    <dgm:cxn modelId="{3771CDC2-7D53-814C-A6DF-8212B9990079}" type="presParOf" srcId="{B38352D3-7D97-F943-BEDF-BF879ABABC15}" destId="{0FA3C643-E5B2-0F44-800A-85CB383E99C8}" srcOrd="3" destOrd="0" presId="urn:microsoft.com/office/officeart/2005/8/layout/vList2"/>
    <dgm:cxn modelId="{0BC96533-2E39-6044-9D39-A13357BFBDF6}" type="presParOf" srcId="{B38352D3-7D97-F943-BEDF-BF879ABABC15}" destId="{5B741CD7-A409-0245-B1BB-C75CE64ABDB1}" srcOrd="4" destOrd="0" presId="urn:microsoft.com/office/officeart/2005/8/layout/vList2"/>
    <dgm:cxn modelId="{33EB2C4A-E6E3-C54F-B354-161AF22F9C0E}" type="presParOf" srcId="{B38352D3-7D97-F943-BEDF-BF879ABABC15}" destId="{73AC5768-3635-684F-A10F-7AB6AD167016}" srcOrd="5" destOrd="0" presId="urn:microsoft.com/office/officeart/2005/8/layout/vList2"/>
    <dgm:cxn modelId="{3BA33A48-26CF-A44D-8831-93F31D70F4DE}" type="presParOf" srcId="{B38352D3-7D97-F943-BEDF-BF879ABABC15}" destId="{1696C1F1-52CA-C841-9B6E-D9D865D87518}" srcOrd="6" destOrd="0" presId="urn:microsoft.com/office/officeart/2005/8/layout/vList2"/>
    <dgm:cxn modelId="{27A69DA8-33B7-4FE9-BFFD-F41A8C29026A}" type="presParOf" srcId="{B38352D3-7D97-F943-BEDF-BF879ABABC15}" destId="{DFFFBED5-6E6B-42FA-BE62-27966EB5963F}" srcOrd="7" destOrd="0" presId="urn:microsoft.com/office/officeart/2005/8/layout/vList2"/>
    <dgm:cxn modelId="{C1A71493-885B-42BE-9838-FEFD7419D01C}" type="presParOf" srcId="{B38352D3-7D97-F943-BEDF-BF879ABABC15}" destId="{9189BD81-23D6-4F41-A2AC-0BEB7D8C5E5A}" srcOrd="8" destOrd="0" presId="urn:microsoft.com/office/officeart/2005/8/layout/vList2"/>
    <dgm:cxn modelId="{39EFCEAF-6861-4981-9B5B-855134C7BE43}" type="presParOf" srcId="{B38352D3-7D97-F943-BEDF-BF879ABABC15}" destId="{81893C84-4667-436F-B91C-64D4222230F8}" srcOrd="9" destOrd="0" presId="urn:microsoft.com/office/officeart/2005/8/layout/vList2"/>
    <dgm:cxn modelId="{D0B4CED4-2669-43B2-B1C0-4B763564D89E}" type="presParOf" srcId="{B38352D3-7D97-F943-BEDF-BF879ABABC15}" destId="{82BA55FB-0385-4620-AF75-7A75F6FC5B84}"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38AF250-C028-6944-BC0B-F23F48DF3317}" type="doc">
      <dgm:prSet loTypeId="urn:microsoft.com/office/officeart/2005/8/layout/vList2" loCatId="icon" qsTypeId="urn:microsoft.com/office/officeart/2005/8/quickstyle/simple1" qsCatId="simple" csTypeId="urn:microsoft.com/office/officeart/2005/8/colors/colorful2" csCatId="colorful" phldr="1"/>
      <dgm:spPr/>
      <dgm:t>
        <a:bodyPr/>
        <a:lstStyle/>
        <a:p>
          <a:endParaRPr lang="en-GB"/>
        </a:p>
      </dgm:t>
    </dgm:pt>
    <dgm:pt modelId="{8F74A032-9576-2D40-9099-0C427CF11689}">
      <dgm:prSet phldrT="[Text]" custT="1"/>
      <dgm:spPr/>
      <dgm:t>
        <a:bodyPr/>
        <a:lstStyle/>
        <a:p>
          <a:r>
            <a:rPr lang="en-US" sz="1400" dirty="0"/>
            <a:t>Systematically analyze and incorporate attack models (membership inference, attribute inference, reconstruction, poisoning, jailbreaks) into unlearning frameworks.</a:t>
          </a:r>
          <a:endParaRPr lang="en-GB" sz="1400" dirty="0">
            <a:latin typeface="Times New Roman" panose="02020603050405020304" pitchFamily="18" charset="0"/>
            <a:cs typeface="Times New Roman" panose="02020603050405020304" pitchFamily="18" charset="0"/>
          </a:endParaRPr>
        </a:p>
      </dgm:t>
    </dgm:pt>
    <dgm:pt modelId="{8A484799-44C8-ED4D-B604-6A7D023B089B}" type="parTrans" cxnId="{0E763C88-7F51-AA46-AF92-AC50AFC40136}">
      <dgm:prSet/>
      <dgm:spPr/>
      <dgm:t>
        <a:bodyPr/>
        <a:lstStyle/>
        <a:p>
          <a:endParaRPr lang="en-GB">
            <a:latin typeface="Times New Roman" panose="02020603050405020304" pitchFamily="18" charset="0"/>
            <a:cs typeface="Times New Roman" panose="02020603050405020304" pitchFamily="18" charset="0"/>
          </a:endParaRPr>
        </a:p>
      </dgm:t>
    </dgm:pt>
    <dgm:pt modelId="{780B9E1A-9435-E247-80F1-B342CD0160A4}" type="sibTrans" cxnId="{0E763C88-7F51-AA46-AF92-AC50AFC40136}">
      <dgm:prSet/>
      <dgm:spPr/>
      <dgm:t>
        <a:bodyPr/>
        <a:lstStyle/>
        <a:p>
          <a:endParaRPr lang="en-GB">
            <a:latin typeface="Times New Roman" panose="02020603050405020304" pitchFamily="18" charset="0"/>
            <a:cs typeface="Times New Roman" panose="02020603050405020304" pitchFamily="18" charset="0"/>
          </a:endParaRPr>
        </a:p>
      </dgm:t>
    </dgm:pt>
    <dgm:pt modelId="{D43EDD9D-20DE-0A4D-9AAF-520020EEB65E}">
      <dgm:prSet phldrT="[Text]" custT="1"/>
      <dgm:spPr/>
      <dgm:t>
        <a:bodyPr/>
        <a:lstStyle/>
        <a:p>
          <a:r>
            <a:rPr lang="en-US" sz="1400" dirty="0"/>
            <a:t>Design and evaluate unlearning mechanisms that operate at the feature level (extraction, generation, selection) </a:t>
          </a:r>
          <a:endParaRPr lang="en-GB" sz="1400" dirty="0">
            <a:latin typeface="Times New Roman" panose="02020603050405020304" pitchFamily="18" charset="0"/>
            <a:cs typeface="Times New Roman" panose="02020603050405020304" pitchFamily="18" charset="0"/>
          </a:endParaRPr>
        </a:p>
      </dgm:t>
    </dgm:pt>
    <dgm:pt modelId="{C5197630-82C6-C947-8C60-4CDE23C08E4D}" type="parTrans" cxnId="{148B352C-F7DB-6345-9391-68CA30B72ED1}">
      <dgm:prSet/>
      <dgm:spPr/>
      <dgm:t>
        <a:bodyPr/>
        <a:lstStyle/>
        <a:p>
          <a:endParaRPr lang="en-GB">
            <a:latin typeface="Times New Roman" panose="02020603050405020304" pitchFamily="18" charset="0"/>
            <a:cs typeface="Times New Roman" panose="02020603050405020304" pitchFamily="18" charset="0"/>
          </a:endParaRPr>
        </a:p>
      </dgm:t>
    </dgm:pt>
    <dgm:pt modelId="{27F755E2-58B9-A64B-8C75-B126D16F2685}" type="sibTrans" cxnId="{148B352C-F7DB-6345-9391-68CA30B72ED1}">
      <dgm:prSet/>
      <dgm:spPr/>
      <dgm:t>
        <a:bodyPr/>
        <a:lstStyle/>
        <a:p>
          <a:endParaRPr lang="en-GB">
            <a:latin typeface="Times New Roman" panose="02020603050405020304" pitchFamily="18" charset="0"/>
            <a:cs typeface="Times New Roman" panose="02020603050405020304" pitchFamily="18" charset="0"/>
          </a:endParaRPr>
        </a:p>
      </dgm:t>
    </dgm:pt>
    <dgm:pt modelId="{061B567A-E794-B041-8E22-1D6F78335851}">
      <dgm:prSet phldrT="[Text]" custT="1"/>
      <dgm:spPr/>
      <dgm:t>
        <a:bodyPr/>
        <a:lstStyle/>
        <a:p>
          <a:r>
            <a:rPr lang="en-US" sz="1400" dirty="0"/>
            <a:t>Investigate scalable methods for applying unlearning to large language models, addressing challenges of parameter scale and uncertainty in individual data contributions. </a:t>
          </a:r>
          <a:endParaRPr lang="en-GB" sz="1400" dirty="0">
            <a:latin typeface="Times New Roman" panose="02020603050405020304" pitchFamily="18" charset="0"/>
            <a:cs typeface="Times New Roman" panose="02020603050405020304" pitchFamily="18" charset="0"/>
          </a:endParaRPr>
        </a:p>
      </dgm:t>
    </dgm:pt>
    <dgm:pt modelId="{FBF4ABEA-C5DD-A043-8D29-49CDD8716FAC}" type="parTrans" cxnId="{53970047-FDFB-E34C-AEE8-C163DB8C057A}">
      <dgm:prSet/>
      <dgm:spPr/>
      <dgm:t>
        <a:bodyPr/>
        <a:lstStyle/>
        <a:p>
          <a:endParaRPr lang="en-GB">
            <a:latin typeface="Times New Roman" panose="02020603050405020304" pitchFamily="18" charset="0"/>
            <a:cs typeface="Times New Roman" panose="02020603050405020304" pitchFamily="18" charset="0"/>
          </a:endParaRPr>
        </a:p>
      </dgm:t>
    </dgm:pt>
    <dgm:pt modelId="{1AF0D980-443B-8C44-8373-2C4B86A1B8A6}" type="sibTrans" cxnId="{53970047-FDFB-E34C-AEE8-C163DB8C057A}">
      <dgm:prSet/>
      <dgm:spPr/>
      <dgm:t>
        <a:bodyPr/>
        <a:lstStyle/>
        <a:p>
          <a:endParaRPr lang="en-GB">
            <a:latin typeface="Times New Roman" panose="02020603050405020304" pitchFamily="18" charset="0"/>
            <a:cs typeface="Times New Roman" panose="02020603050405020304" pitchFamily="18" charset="0"/>
          </a:endParaRPr>
        </a:p>
      </dgm:t>
    </dgm:pt>
    <dgm:pt modelId="{31513268-C06B-4DE2-B8DE-5773AEA66826}">
      <dgm:prSet custT="1"/>
      <dgm:spPr/>
      <dgm:t>
        <a:bodyPr/>
        <a:lstStyle/>
        <a:p>
          <a:pPr>
            <a:buNone/>
          </a:pPr>
          <a:r>
            <a:rPr lang="en-US" sz="1400" dirty="0"/>
            <a:t>Develop adaptive strategies for unlearning in evolving data ecosystems, including streaming contexts and sequential deletion requests, federated settings. </a:t>
          </a:r>
          <a:endParaRPr lang="en-IN" sz="1400" dirty="0"/>
        </a:p>
      </dgm:t>
    </dgm:pt>
    <dgm:pt modelId="{15B5DB14-3DF1-4A16-B9E2-DC88087FD494}" type="parTrans" cxnId="{B435268D-4E21-4D04-A1F0-DA7FE86D6ABA}">
      <dgm:prSet/>
      <dgm:spPr/>
      <dgm:t>
        <a:bodyPr/>
        <a:lstStyle/>
        <a:p>
          <a:endParaRPr lang="en-IN"/>
        </a:p>
      </dgm:t>
    </dgm:pt>
    <dgm:pt modelId="{21DED1AF-8265-4FA8-8465-E31B4403E455}" type="sibTrans" cxnId="{B435268D-4E21-4D04-A1F0-DA7FE86D6ABA}">
      <dgm:prSet/>
      <dgm:spPr/>
      <dgm:t>
        <a:bodyPr/>
        <a:lstStyle/>
        <a:p>
          <a:endParaRPr lang="en-IN"/>
        </a:p>
      </dgm:t>
    </dgm:pt>
    <dgm:pt modelId="{B38352D3-7D97-F943-BEDF-BF879ABABC15}" type="pres">
      <dgm:prSet presAssocID="{338AF250-C028-6944-BC0B-F23F48DF3317}" presName="linear" presStyleCnt="0">
        <dgm:presLayoutVars>
          <dgm:animLvl val="lvl"/>
          <dgm:resizeHandles val="exact"/>
        </dgm:presLayoutVars>
      </dgm:prSet>
      <dgm:spPr/>
    </dgm:pt>
    <dgm:pt modelId="{A4E04F62-09DD-B54F-A5F1-00C00774E7AE}" type="pres">
      <dgm:prSet presAssocID="{8F74A032-9576-2D40-9099-0C427CF11689}" presName="parentText" presStyleLbl="node1" presStyleIdx="0" presStyleCnt="4" custScaleY="78352" custLinFactY="-55717" custLinFactNeighborX="149" custLinFactNeighborY="-100000">
        <dgm:presLayoutVars>
          <dgm:chMax val="0"/>
          <dgm:bulletEnabled val="1"/>
        </dgm:presLayoutVars>
      </dgm:prSet>
      <dgm:spPr/>
    </dgm:pt>
    <dgm:pt modelId="{FCF2DE0B-C01E-4F48-86A0-032E90C00540}" type="pres">
      <dgm:prSet presAssocID="{780B9E1A-9435-E247-80F1-B342CD0160A4}" presName="spacer" presStyleCnt="0"/>
      <dgm:spPr/>
    </dgm:pt>
    <dgm:pt modelId="{5B741CD7-A409-0245-B1BB-C75CE64ABDB1}" type="pres">
      <dgm:prSet presAssocID="{D43EDD9D-20DE-0A4D-9AAF-520020EEB65E}" presName="parentText" presStyleLbl="node1" presStyleIdx="1" presStyleCnt="4" custScaleY="59172" custLinFactNeighborY="-29652">
        <dgm:presLayoutVars>
          <dgm:chMax val="0"/>
          <dgm:bulletEnabled val="1"/>
        </dgm:presLayoutVars>
      </dgm:prSet>
      <dgm:spPr/>
    </dgm:pt>
    <dgm:pt modelId="{73AC5768-3635-684F-A10F-7AB6AD167016}" type="pres">
      <dgm:prSet presAssocID="{27F755E2-58B9-A64B-8C75-B126D16F2685}" presName="spacer" presStyleCnt="0"/>
      <dgm:spPr/>
    </dgm:pt>
    <dgm:pt modelId="{1696C1F1-52CA-C841-9B6E-D9D865D87518}" type="pres">
      <dgm:prSet presAssocID="{061B567A-E794-B041-8E22-1D6F78335851}" presName="parentText" presStyleLbl="node1" presStyleIdx="2" presStyleCnt="4" custScaleY="98316" custLinFactY="2087" custLinFactNeighborY="100000">
        <dgm:presLayoutVars>
          <dgm:chMax val="0"/>
          <dgm:bulletEnabled val="1"/>
        </dgm:presLayoutVars>
      </dgm:prSet>
      <dgm:spPr/>
    </dgm:pt>
    <dgm:pt modelId="{D6FD60E2-AAD7-484A-BFA5-BD5B9B780CFC}" type="pres">
      <dgm:prSet presAssocID="{1AF0D980-443B-8C44-8373-2C4B86A1B8A6}" presName="spacer" presStyleCnt="0"/>
      <dgm:spPr/>
    </dgm:pt>
    <dgm:pt modelId="{C907FC63-99B8-4DF8-BA04-9408DC83F7DD}" type="pres">
      <dgm:prSet presAssocID="{31513268-C06B-4DE2-B8DE-5773AEA66826}" presName="parentText" presStyleLbl="node1" presStyleIdx="3" presStyleCnt="4">
        <dgm:presLayoutVars>
          <dgm:chMax val="0"/>
          <dgm:bulletEnabled val="1"/>
        </dgm:presLayoutVars>
      </dgm:prSet>
      <dgm:spPr/>
    </dgm:pt>
  </dgm:ptLst>
  <dgm:cxnLst>
    <dgm:cxn modelId="{31BDBA27-8991-4C4E-8BA7-09921148B70D}" type="presOf" srcId="{338AF250-C028-6944-BC0B-F23F48DF3317}" destId="{B38352D3-7D97-F943-BEDF-BF879ABABC15}" srcOrd="0" destOrd="0" presId="urn:microsoft.com/office/officeart/2005/8/layout/vList2"/>
    <dgm:cxn modelId="{148B352C-F7DB-6345-9391-68CA30B72ED1}" srcId="{338AF250-C028-6944-BC0B-F23F48DF3317}" destId="{D43EDD9D-20DE-0A4D-9AAF-520020EEB65E}" srcOrd="1" destOrd="0" parTransId="{C5197630-82C6-C947-8C60-4CDE23C08E4D}" sibTransId="{27F755E2-58B9-A64B-8C75-B126D16F2685}"/>
    <dgm:cxn modelId="{53970047-FDFB-E34C-AEE8-C163DB8C057A}" srcId="{338AF250-C028-6944-BC0B-F23F48DF3317}" destId="{061B567A-E794-B041-8E22-1D6F78335851}" srcOrd="2" destOrd="0" parTransId="{FBF4ABEA-C5DD-A043-8D29-49CDD8716FAC}" sibTransId="{1AF0D980-443B-8C44-8373-2C4B86A1B8A6}"/>
    <dgm:cxn modelId="{DBD82076-68D2-C746-AEDA-09C393B9FFBB}" type="presOf" srcId="{D43EDD9D-20DE-0A4D-9AAF-520020EEB65E}" destId="{5B741CD7-A409-0245-B1BB-C75CE64ABDB1}" srcOrd="0" destOrd="0" presId="urn:microsoft.com/office/officeart/2005/8/layout/vList2"/>
    <dgm:cxn modelId="{0E763C88-7F51-AA46-AF92-AC50AFC40136}" srcId="{338AF250-C028-6944-BC0B-F23F48DF3317}" destId="{8F74A032-9576-2D40-9099-0C427CF11689}" srcOrd="0" destOrd="0" parTransId="{8A484799-44C8-ED4D-B604-6A7D023B089B}" sibTransId="{780B9E1A-9435-E247-80F1-B342CD0160A4}"/>
    <dgm:cxn modelId="{B435268D-4E21-4D04-A1F0-DA7FE86D6ABA}" srcId="{338AF250-C028-6944-BC0B-F23F48DF3317}" destId="{31513268-C06B-4DE2-B8DE-5773AEA66826}" srcOrd="3" destOrd="0" parTransId="{15B5DB14-3DF1-4A16-B9E2-DC88087FD494}" sibTransId="{21DED1AF-8265-4FA8-8465-E31B4403E455}"/>
    <dgm:cxn modelId="{4901ADC4-79A1-A64C-B700-FB0D05D5B2E9}" type="presOf" srcId="{8F74A032-9576-2D40-9099-0C427CF11689}" destId="{A4E04F62-09DD-B54F-A5F1-00C00774E7AE}" srcOrd="0" destOrd="0" presId="urn:microsoft.com/office/officeart/2005/8/layout/vList2"/>
    <dgm:cxn modelId="{7721DDC7-F92B-4644-9102-BBDAD58A4506}" type="presOf" srcId="{061B567A-E794-B041-8E22-1D6F78335851}" destId="{1696C1F1-52CA-C841-9B6E-D9D865D87518}" srcOrd="0" destOrd="0" presId="urn:microsoft.com/office/officeart/2005/8/layout/vList2"/>
    <dgm:cxn modelId="{B2CAFEF9-94EC-4576-B5E2-A722FEB62205}" type="presOf" srcId="{31513268-C06B-4DE2-B8DE-5773AEA66826}" destId="{C907FC63-99B8-4DF8-BA04-9408DC83F7DD}" srcOrd="0" destOrd="0" presId="urn:microsoft.com/office/officeart/2005/8/layout/vList2"/>
    <dgm:cxn modelId="{F045E6E4-DE7F-B34B-BBB3-5220F993A565}" type="presParOf" srcId="{B38352D3-7D97-F943-BEDF-BF879ABABC15}" destId="{A4E04F62-09DD-B54F-A5F1-00C00774E7AE}" srcOrd="0" destOrd="0" presId="urn:microsoft.com/office/officeart/2005/8/layout/vList2"/>
    <dgm:cxn modelId="{E0927A46-35EE-C642-9477-8DF27F389E5F}" type="presParOf" srcId="{B38352D3-7D97-F943-BEDF-BF879ABABC15}" destId="{FCF2DE0B-C01E-4F48-86A0-032E90C00540}" srcOrd="1" destOrd="0" presId="urn:microsoft.com/office/officeart/2005/8/layout/vList2"/>
    <dgm:cxn modelId="{0BC96533-2E39-6044-9D39-A13357BFBDF6}" type="presParOf" srcId="{B38352D3-7D97-F943-BEDF-BF879ABABC15}" destId="{5B741CD7-A409-0245-B1BB-C75CE64ABDB1}" srcOrd="2" destOrd="0" presId="urn:microsoft.com/office/officeart/2005/8/layout/vList2"/>
    <dgm:cxn modelId="{33EB2C4A-E6E3-C54F-B354-161AF22F9C0E}" type="presParOf" srcId="{B38352D3-7D97-F943-BEDF-BF879ABABC15}" destId="{73AC5768-3635-684F-A10F-7AB6AD167016}" srcOrd="3" destOrd="0" presId="urn:microsoft.com/office/officeart/2005/8/layout/vList2"/>
    <dgm:cxn modelId="{3BA33A48-26CF-A44D-8831-93F31D70F4DE}" type="presParOf" srcId="{B38352D3-7D97-F943-BEDF-BF879ABABC15}" destId="{1696C1F1-52CA-C841-9B6E-D9D865D87518}" srcOrd="4" destOrd="0" presId="urn:microsoft.com/office/officeart/2005/8/layout/vList2"/>
    <dgm:cxn modelId="{675457BA-5E11-4527-B6BE-256444374220}" type="presParOf" srcId="{B38352D3-7D97-F943-BEDF-BF879ABABC15}" destId="{D6FD60E2-AAD7-484A-BFA5-BD5B9B780CFC}" srcOrd="5" destOrd="0" presId="urn:microsoft.com/office/officeart/2005/8/layout/vList2"/>
    <dgm:cxn modelId="{3C003E78-E6ED-4AD5-83E5-61B0E67867A6}" type="presParOf" srcId="{B38352D3-7D97-F943-BEDF-BF879ABABC15}" destId="{C907FC63-99B8-4DF8-BA04-9408DC83F7DD}" srcOrd="6"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7D455D8-428A-9F43-A691-EF8F8F5689BD}" type="doc">
      <dgm:prSet loTypeId="urn:microsoft.com/office/officeart/2005/8/layout/vList3" loCatId="" qsTypeId="urn:microsoft.com/office/officeart/2005/8/quickstyle/simple1" qsCatId="simple" csTypeId="urn:microsoft.com/office/officeart/2005/8/colors/colorful2" csCatId="colorful" phldr="1"/>
      <dgm:spPr/>
      <dgm:t>
        <a:bodyPr/>
        <a:lstStyle/>
        <a:p>
          <a:endParaRPr lang="en-GB"/>
        </a:p>
      </dgm:t>
    </dgm:pt>
    <dgm:pt modelId="{94C4543E-8B7F-CF4D-978A-BB77AA6B98B1}">
      <dgm:prSet phldrT="[Text]" custT="1"/>
      <dgm:spPr/>
      <dgm:t>
        <a:bodyPr/>
        <a:lstStyle/>
        <a:p>
          <a:pPr algn="ctr">
            <a:buNone/>
          </a:pPr>
          <a:r>
            <a:rPr lang="en-US" sz="2000" dirty="0"/>
            <a:t>Systematically analyze and incorporate attack models (membership inference, attribute inference, reconstruction, poisoning, jailbreaks) into unlearning frameworks.</a:t>
          </a:r>
          <a:endParaRPr lang="en-GB" sz="1600" dirty="0">
            <a:latin typeface="Times New Roman" panose="02020603050405020304" pitchFamily="18" charset="0"/>
            <a:cs typeface="Times New Roman" panose="02020603050405020304" pitchFamily="18" charset="0"/>
          </a:endParaRPr>
        </a:p>
      </dgm:t>
    </dgm:pt>
    <dgm:pt modelId="{CE3128F8-293E-BF4B-8436-7533A0C03A4C}" type="parTrans" cxnId="{2B1F1224-9549-E146-B02C-CA759A605711}">
      <dgm:prSet/>
      <dgm:spPr/>
      <dgm:t>
        <a:bodyPr/>
        <a:lstStyle/>
        <a:p>
          <a:endParaRPr lang="en-GB">
            <a:latin typeface="Times New Roman" panose="02020603050405020304" pitchFamily="18" charset="0"/>
            <a:cs typeface="Times New Roman" panose="02020603050405020304" pitchFamily="18" charset="0"/>
          </a:endParaRPr>
        </a:p>
      </dgm:t>
    </dgm:pt>
    <dgm:pt modelId="{3C8FACC6-2853-D94E-BEE8-6D7C40D7A6C8}" type="sibTrans" cxnId="{2B1F1224-9549-E146-B02C-CA759A605711}">
      <dgm:prSet/>
      <dgm:spPr/>
      <dgm:t>
        <a:bodyPr/>
        <a:lstStyle/>
        <a:p>
          <a:endParaRPr lang="en-GB">
            <a:latin typeface="Times New Roman" panose="02020603050405020304" pitchFamily="18" charset="0"/>
            <a:cs typeface="Times New Roman" panose="02020603050405020304" pitchFamily="18" charset="0"/>
          </a:endParaRPr>
        </a:p>
      </dgm:t>
    </dgm:pt>
    <dgm:pt modelId="{92C01232-065A-014A-965D-E9288E28F34B}">
      <dgm:prSet phldrT="[Text]" custT="1"/>
      <dgm:spPr/>
      <dgm:t>
        <a:bodyPr/>
        <a:lstStyle/>
        <a:p>
          <a:pPr>
            <a:buNone/>
          </a:pPr>
          <a:r>
            <a:rPr lang="en-US" sz="2000" dirty="0"/>
            <a:t>Design and evaluate unlearning mechanisms that operate at the feature level (extraction, generation, selection) </a:t>
          </a:r>
          <a:endParaRPr lang="en-GB" sz="2000" dirty="0">
            <a:solidFill>
              <a:schemeClr val="tx1"/>
            </a:solidFill>
            <a:latin typeface="Times New Roman" panose="02020603050405020304" pitchFamily="18" charset="0"/>
            <a:cs typeface="Times New Roman" panose="02020603050405020304" pitchFamily="18" charset="0"/>
          </a:endParaRPr>
        </a:p>
      </dgm:t>
    </dgm:pt>
    <dgm:pt modelId="{A56A16F5-9883-A745-A5C2-DCDF389A05C6}" type="parTrans" cxnId="{032F300D-E06D-3143-8971-812C2111D361}">
      <dgm:prSet/>
      <dgm:spPr/>
      <dgm:t>
        <a:bodyPr/>
        <a:lstStyle/>
        <a:p>
          <a:endParaRPr lang="en-GB">
            <a:latin typeface="Times New Roman" panose="02020603050405020304" pitchFamily="18" charset="0"/>
            <a:cs typeface="Times New Roman" panose="02020603050405020304" pitchFamily="18" charset="0"/>
          </a:endParaRPr>
        </a:p>
      </dgm:t>
    </dgm:pt>
    <dgm:pt modelId="{838AD7A8-470F-4048-8A08-1567EB84A626}" type="sibTrans" cxnId="{032F300D-E06D-3143-8971-812C2111D361}">
      <dgm:prSet/>
      <dgm:spPr/>
      <dgm:t>
        <a:bodyPr/>
        <a:lstStyle/>
        <a:p>
          <a:endParaRPr lang="en-GB">
            <a:latin typeface="Times New Roman" panose="02020603050405020304" pitchFamily="18" charset="0"/>
            <a:cs typeface="Times New Roman" panose="02020603050405020304" pitchFamily="18" charset="0"/>
          </a:endParaRPr>
        </a:p>
      </dgm:t>
    </dgm:pt>
    <dgm:pt modelId="{F985175A-4A06-F84C-A96B-04E9B3053C29}">
      <dgm:prSet phldrT="[Text]" custT="1"/>
      <dgm:spPr/>
      <dgm:t>
        <a:bodyPr/>
        <a:lstStyle/>
        <a:p>
          <a:pPr>
            <a:buNone/>
          </a:pPr>
          <a:r>
            <a:rPr lang="en-US" sz="2000" dirty="0"/>
            <a:t>Investigate scalable methods for applying unlearning to large language models, addressing challenges of parameter scale and uncertainty in individual data contributions. </a:t>
          </a:r>
          <a:endParaRPr lang="en-GB" sz="1600" dirty="0">
            <a:solidFill>
              <a:schemeClr val="tx1"/>
            </a:solidFill>
            <a:latin typeface="Times New Roman" panose="02020603050405020304" pitchFamily="18" charset="0"/>
            <a:cs typeface="Times New Roman" panose="02020603050405020304" pitchFamily="18" charset="0"/>
          </a:endParaRPr>
        </a:p>
      </dgm:t>
    </dgm:pt>
    <dgm:pt modelId="{3A6C4510-4A84-6844-B45D-D4EF2963695F}" type="parTrans" cxnId="{0F3AD537-392A-124E-87DB-76998C889913}">
      <dgm:prSet/>
      <dgm:spPr/>
      <dgm:t>
        <a:bodyPr/>
        <a:lstStyle/>
        <a:p>
          <a:endParaRPr lang="en-GB">
            <a:latin typeface="Times New Roman" panose="02020603050405020304" pitchFamily="18" charset="0"/>
            <a:cs typeface="Times New Roman" panose="02020603050405020304" pitchFamily="18" charset="0"/>
          </a:endParaRPr>
        </a:p>
      </dgm:t>
    </dgm:pt>
    <dgm:pt modelId="{F19AE27C-0FA8-DF46-9A7C-66E399C15731}" type="sibTrans" cxnId="{0F3AD537-392A-124E-87DB-76998C889913}">
      <dgm:prSet/>
      <dgm:spPr/>
      <dgm:t>
        <a:bodyPr/>
        <a:lstStyle/>
        <a:p>
          <a:endParaRPr lang="en-GB">
            <a:latin typeface="Times New Roman" panose="02020603050405020304" pitchFamily="18" charset="0"/>
            <a:cs typeface="Times New Roman" panose="02020603050405020304" pitchFamily="18" charset="0"/>
          </a:endParaRPr>
        </a:p>
      </dgm:t>
    </dgm:pt>
    <dgm:pt modelId="{1042AB73-0910-484B-8632-ACA69BB908E3}">
      <dgm:prSet phldrT="[Text]" custT="1"/>
      <dgm:spPr/>
      <dgm:t>
        <a:bodyPr/>
        <a:lstStyle/>
        <a:p>
          <a:pPr>
            <a:buNone/>
          </a:pPr>
          <a:r>
            <a:rPr lang="en-US" sz="2000" kern="1200" dirty="0"/>
            <a:t>Develop adaptive strategies for unlearning in evolving data ecosystems, including streaming contexts and sequential deletion requests, federated settings. </a:t>
          </a:r>
          <a:endParaRPr lang="en-GB" sz="2000" kern="1200" dirty="0">
            <a:solidFill>
              <a:schemeClr val="tx1"/>
            </a:solidFill>
            <a:latin typeface="Times New Roman" panose="02020603050405020304" pitchFamily="18" charset="0"/>
            <a:cs typeface="Times New Roman" panose="02020603050405020304" pitchFamily="18" charset="0"/>
          </a:endParaRPr>
        </a:p>
      </dgm:t>
    </dgm:pt>
    <dgm:pt modelId="{44A66077-7F2B-42E0-9F13-F21D286B6E3B}" type="parTrans" cxnId="{99A58BF9-A42C-4C46-9930-3C40543EFDC0}">
      <dgm:prSet/>
      <dgm:spPr/>
      <dgm:t>
        <a:bodyPr/>
        <a:lstStyle/>
        <a:p>
          <a:endParaRPr lang="en-IN"/>
        </a:p>
      </dgm:t>
    </dgm:pt>
    <dgm:pt modelId="{7895E3B5-67AC-49B7-8F4E-BF11C6CD5BFE}" type="sibTrans" cxnId="{99A58BF9-A42C-4C46-9930-3C40543EFDC0}">
      <dgm:prSet/>
      <dgm:spPr/>
      <dgm:t>
        <a:bodyPr/>
        <a:lstStyle/>
        <a:p>
          <a:endParaRPr lang="en-IN"/>
        </a:p>
      </dgm:t>
    </dgm:pt>
    <dgm:pt modelId="{E4D9EFDC-825D-B345-AB14-AE12FBB69B9D}" type="pres">
      <dgm:prSet presAssocID="{57D455D8-428A-9F43-A691-EF8F8F5689BD}" presName="linearFlow" presStyleCnt="0">
        <dgm:presLayoutVars>
          <dgm:dir/>
          <dgm:resizeHandles val="exact"/>
        </dgm:presLayoutVars>
      </dgm:prSet>
      <dgm:spPr/>
    </dgm:pt>
    <dgm:pt modelId="{79566DC5-9EA1-6044-9CE0-52FA8D7D9C4F}" type="pres">
      <dgm:prSet presAssocID="{94C4543E-8B7F-CF4D-978A-BB77AA6B98B1}" presName="composite" presStyleCnt="0"/>
      <dgm:spPr/>
    </dgm:pt>
    <dgm:pt modelId="{E370F7E1-3417-D347-85AA-C3941A450E3F}" type="pres">
      <dgm:prSet presAssocID="{94C4543E-8B7F-CF4D-978A-BB77AA6B98B1}" presName="imgShp" presStyleLbl="fgImgPlace1" presStyleIdx="0" presStyleCnt="4" custLinFactX="-154030" custLinFactNeighborX="-200000" custLinFactNeighborY="1141"/>
      <dgm:spPr>
        <a:prstGeom prst="ellipse">
          <a:avLst/>
        </a:prstGeom>
        <a:blipFill rotWithShape="1">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pt>
    <dgm:pt modelId="{C6EDA068-6DCD-5B44-A711-56E467C655BB}" type="pres">
      <dgm:prSet presAssocID="{94C4543E-8B7F-CF4D-978A-BB77AA6B98B1}" presName="txShp" presStyleLbl="node1" presStyleIdx="0" presStyleCnt="4" custScaleX="133851">
        <dgm:presLayoutVars>
          <dgm:bulletEnabled val="1"/>
        </dgm:presLayoutVars>
      </dgm:prSet>
      <dgm:spPr/>
    </dgm:pt>
    <dgm:pt modelId="{69B5F443-8C6E-F249-84A2-CA1629DC0B9E}" type="pres">
      <dgm:prSet presAssocID="{3C8FACC6-2853-D94E-BEE8-6D7C40D7A6C8}" presName="spacing" presStyleCnt="0"/>
      <dgm:spPr/>
    </dgm:pt>
    <dgm:pt modelId="{38592B41-025B-104E-AF83-4B3221EF96DD}" type="pres">
      <dgm:prSet presAssocID="{92C01232-065A-014A-965D-E9288E28F34B}" presName="composite" presStyleCnt="0"/>
      <dgm:spPr/>
    </dgm:pt>
    <dgm:pt modelId="{BFA21859-67FE-0744-B3BE-5E8C851783A7}" type="pres">
      <dgm:prSet presAssocID="{92C01232-065A-014A-965D-E9288E28F34B}" presName="imgShp" presStyleLbl="fgImgPlace1" presStyleIdx="1" presStyleCnt="4" custLinFactX="-100000" custLinFactNeighborX="-134477" custLinFactNeighborY="1141"/>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Badge with solid fill"/>
        </a:ext>
      </dgm:extLst>
    </dgm:pt>
    <dgm:pt modelId="{600B32BE-338D-354F-945F-1972DB549D0F}" type="pres">
      <dgm:prSet presAssocID="{92C01232-065A-014A-965D-E9288E28F34B}" presName="txShp" presStyleLbl="node1" presStyleIdx="1" presStyleCnt="4" custScaleX="133851">
        <dgm:presLayoutVars>
          <dgm:bulletEnabled val="1"/>
        </dgm:presLayoutVars>
      </dgm:prSet>
      <dgm:spPr/>
    </dgm:pt>
    <dgm:pt modelId="{60A13FE8-9BF1-954C-BB15-4394D2E1FF0D}" type="pres">
      <dgm:prSet presAssocID="{838AD7A8-470F-4048-8A08-1567EB84A626}" presName="spacing" presStyleCnt="0"/>
      <dgm:spPr/>
    </dgm:pt>
    <dgm:pt modelId="{200DA732-5DD0-9F47-BD28-3653C94079A0}" type="pres">
      <dgm:prSet presAssocID="{F985175A-4A06-F84C-A96B-04E9B3053C29}" presName="composite" presStyleCnt="0"/>
      <dgm:spPr/>
    </dgm:pt>
    <dgm:pt modelId="{ABADC83B-53C8-154E-9872-C19DFA547FBA}" type="pres">
      <dgm:prSet presAssocID="{F985175A-4A06-F84C-A96B-04E9B3053C29}" presName="imgShp" presStyleLbl="fgImgPlace1" presStyleIdx="2" presStyleCnt="4" custLinFactX="-127842" custLinFactNeighborX="-200000" custLinFactNeighborY="-114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Badge 3 with solid fill"/>
        </a:ext>
      </dgm:extLst>
    </dgm:pt>
    <dgm:pt modelId="{39A2A09D-B1FC-4448-8A7B-3E4A7C41367A}" type="pres">
      <dgm:prSet presAssocID="{F985175A-4A06-F84C-A96B-04E9B3053C29}" presName="txShp" presStyleLbl="node1" presStyleIdx="2" presStyleCnt="4" custScaleX="133831">
        <dgm:presLayoutVars>
          <dgm:bulletEnabled val="1"/>
        </dgm:presLayoutVars>
      </dgm:prSet>
      <dgm:spPr/>
    </dgm:pt>
    <dgm:pt modelId="{B90603BD-AAB1-4BA1-9AD1-A6E7DE21B54F}" type="pres">
      <dgm:prSet presAssocID="{F19AE27C-0FA8-DF46-9A7C-66E399C15731}" presName="spacing" presStyleCnt="0"/>
      <dgm:spPr/>
    </dgm:pt>
    <dgm:pt modelId="{A184A265-B889-4D92-A87F-6E15D0070F9A}" type="pres">
      <dgm:prSet presAssocID="{1042AB73-0910-484B-8632-ACA69BB908E3}" presName="composite" presStyleCnt="0"/>
      <dgm:spPr/>
    </dgm:pt>
    <dgm:pt modelId="{CA87F486-DF9B-4BED-AB5B-E495441EB9D7}" type="pres">
      <dgm:prSet presAssocID="{1042AB73-0910-484B-8632-ACA69BB908E3}" presName="imgShp" presStyleLbl="fgImgPlace1" presStyleIdx="3" presStyleCnt="4" custLinFactX="-101890" custLinFactNeighborX="-200000" custLinFactNeighborY="2081"/>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Badge 3 with solid fill"/>
        </a:ext>
      </dgm:extLst>
    </dgm:pt>
    <dgm:pt modelId="{0B3460A5-0C14-4337-9EFF-60B22B6C22C9}" type="pres">
      <dgm:prSet presAssocID="{1042AB73-0910-484B-8632-ACA69BB908E3}" presName="txShp" presStyleLbl="node1" presStyleIdx="3" presStyleCnt="4" custScaleX="133831" custScaleY="101511">
        <dgm:presLayoutVars>
          <dgm:bulletEnabled val="1"/>
        </dgm:presLayoutVars>
      </dgm:prSet>
      <dgm:spPr/>
    </dgm:pt>
  </dgm:ptLst>
  <dgm:cxnLst>
    <dgm:cxn modelId="{032F300D-E06D-3143-8971-812C2111D361}" srcId="{57D455D8-428A-9F43-A691-EF8F8F5689BD}" destId="{92C01232-065A-014A-965D-E9288E28F34B}" srcOrd="1" destOrd="0" parTransId="{A56A16F5-9883-A745-A5C2-DCDF389A05C6}" sibTransId="{838AD7A8-470F-4048-8A08-1567EB84A626}"/>
    <dgm:cxn modelId="{2B1F1224-9549-E146-B02C-CA759A605711}" srcId="{57D455D8-428A-9F43-A691-EF8F8F5689BD}" destId="{94C4543E-8B7F-CF4D-978A-BB77AA6B98B1}" srcOrd="0" destOrd="0" parTransId="{CE3128F8-293E-BF4B-8436-7533A0C03A4C}" sibTransId="{3C8FACC6-2853-D94E-BEE8-6D7C40D7A6C8}"/>
    <dgm:cxn modelId="{0F3AD537-392A-124E-87DB-76998C889913}" srcId="{57D455D8-428A-9F43-A691-EF8F8F5689BD}" destId="{F985175A-4A06-F84C-A96B-04E9B3053C29}" srcOrd="2" destOrd="0" parTransId="{3A6C4510-4A84-6844-B45D-D4EF2963695F}" sibTransId="{F19AE27C-0FA8-DF46-9A7C-66E399C15731}"/>
    <dgm:cxn modelId="{233AC338-4B0D-3A47-B795-857FE6BB12DB}" type="presOf" srcId="{57D455D8-428A-9F43-A691-EF8F8F5689BD}" destId="{E4D9EFDC-825D-B345-AB14-AE12FBB69B9D}" srcOrd="0" destOrd="0" presId="urn:microsoft.com/office/officeart/2005/8/layout/vList3"/>
    <dgm:cxn modelId="{19C77262-F634-4D6D-AA7E-CC3F96712C72}" type="presOf" srcId="{1042AB73-0910-484B-8632-ACA69BB908E3}" destId="{0B3460A5-0C14-4337-9EFF-60B22B6C22C9}" srcOrd="0" destOrd="0" presId="urn:microsoft.com/office/officeart/2005/8/layout/vList3"/>
    <dgm:cxn modelId="{D6C202B6-9D18-4E47-8DC8-405FC5D5506C}" type="presOf" srcId="{92C01232-065A-014A-965D-E9288E28F34B}" destId="{600B32BE-338D-354F-945F-1972DB549D0F}" srcOrd="0" destOrd="0" presId="urn:microsoft.com/office/officeart/2005/8/layout/vList3"/>
    <dgm:cxn modelId="{76DA6ADE-2B59-5145-8CEB-0E45A0D1F3D2}" type="presOf" srcId="{F985175A-4A06-F84C-A96B-04E9B3053C29}" destId="{39A2A09D-B1FC-4448-8A7B-3E4A7C41367A}" srcOrd="0" destOrd="0" presId="urn:microsoft.com/office/officeart/2005/8/layout/vList3"/>
    <dgm:cxn modelId="{9E663EE2-563F-8B45-B3E0-DE0D677B42FF}" type="presOf" srcId="{94C4543E-8B7F-CF4D-978A-BB77AA6B98B1}" destId="{C6EDA068-6DCD-5B44-A711-56E467C655BB}" srcOrd="0" destOrd="0" presId="urn:microsoft.com/office/officeart/2005/8/layout/vList3"/>
    <dgm:cxn modelId="{99A58BF9-A42C-4C46-9930-3C40543EFDC0}" srcId="{57D455D8-428A-9F43-A691-EF8F8F5689BD}" destId="{1042AB73-0910-484B-8632-ACA69BB908E3}" srcOrd="3" destOrd="0" parTransId="{44A66077-7F2B-42E0-9F13-F21D286B6E3B}" sibTransId="{7895E3B5-67AC-49B7-8F4E-BF11C6CD5BFE}"/>
    <dgm:cxn modelId="{E9C8772D-0727-F64D-8242-8B9E37F58438}" type="presParOf" srcId="{E4D9EFDC-825D-B345-AB14-AE12FBB69B9D}" destId="{79566DC5-9EA1-6044-9CE0-52FA8D7D9C4F}" srcOrd="0" destOrd="0" presId="urn:microsoft.com/office/officeart/2005/8/layout/vList3"/>
    <dgm:cxn modelId="{3743F910-6590-9949-9362-2F489F2DE048}" type="presParOf" srcId="{79566DC5-9EA1-6044-9CE0-52FA8D7D9C4F}" destId="{E370F7E1-3417-D347-85AA-C3941A450E3F}" srcOrd="0" destOrd="0" presId="urn:microsoft.com/office/officeart/2005/8/layout/vList3"/>
    <dgm:cxn modelId="{7E7A699F-6FC3-EF41-9CD9-E4C3E781CEDB}" type="presParOf" srcId="{79566DC5-9EA1-6044-9CE0-52FA8D7D9C4F}" destId="{C6EDA068-6DCD-5B44-A711-56E467C655BB}" srcOrd="1" destOrd="0" presId="urn:microsoft.com/office/officeart/2005/8/layout/vList3"/>
    <dgm:cxn modelId="{64A3D68F-4B42-864D-84CB-6C075B8050F8}" type="presParOf" srcId="{E4D9EFDC-825D-B345-AB14-AE12FBB69B9D}" destId="{69B5F443-8C6E-F249-84A2-CA1629DC0B9E}" srcOrd="1" destOrd="0" presId="urn:microsoft.com/office/officeart/2005/8/layout/vList3"/>
    <dgm:cxn modelId="{34422AC7-11C6-6945-A020-0CF1E4C28494}" type="presParOf" srcId="{E4D9EFDC-825D-B345-AB14-AE12FBB69B9D}" destId="{38592B41-025B-104E-AF83-4B3221EF96DD}" srcOrd="2" destOrd="0" presId="urn:microsoft.com/office/officeart/2005/8/layout/vList3"/>
    <dgm:cxn modelId="{EED10489-4DED-CA46-A49F-A3C7AD2F748C}" type="presParOf" srcId="{38592B41-025B-104E-AF83-4B3221EF96DD}" destId="{BFA21859-67FE-0744-B3BE-5E8C851783A7}" srcOrd="0" destOrd="0" presId="urn:microsoft.com/office/officeart/2005/8/layout/vList3"/>
    <dgm:cxn modelId="{DB64D688-0A03-F24F-A18B-97761C9AF335}" type="presParOf" srcId="{38592B41-025B-104E-AF83-4B3221EF96DD}" destId="{600B32BE-338D-354F-945F-1972DB549D0F}" srcOrd="1" destOrd="0" presId="urn:microsoft.com/office/officeart/2005/8/layout/vList3"/>
    <dgm:cxn modelId="{3A9843C2-8C58-6449-B9AD-56DF3A18E126}" type="presParOf" srcId="{E4D9EFDC-825D-B345-AB14-AE12FBB69B9D}" destId="{60A13FE8-9BF1-954C-BB15-4394D2E1FF0D}" srcOrd="3" destOrd="0" presId="urn:microsoft.com/office/officeart/2005/8/layout/vList3"/>
    <dgm:cxn modelId="{BFC84D40-347F-FF4E-B787-F31D1F1367FF}" type="presParOf" srcId="{E4D9EFDC-825D-B345-AB14-AE12FBB69B9D}" destId="{200DA732-5DD0-9F47-BD28-3653C94079A0}" srcOrd="4" destOrd="0" presId="urn:microsoft.com/office/officeart/2005/8/layout/vList3"/>
    <dgm:cxn modelId="{7E22A9C7-E753-A841-AA6D-D884F830150C}" type="presParOf" srcId="{200DA732-5DD0-9F47-BD28-3653C94079A0}" destId="{ABADC83B-53C8-154E-9872-C19DFA547FBA}" srcOrd="0" destOrd="0" presId="urn:microsoft.com/office/officeart/2005/8/layout/vList3"/>
    <dgm:cxn modelId="{C1B26CCF-A4AB-EF4D-804F-8D4E5C2FBB75}" type="presParOf" srcId="{200DA732-5DD0-9F47-BD28-3653C94079A0}" destId="{39A2A09D-B1FC-4448-8A7B-3E4A7C41367A}" srcOrd="1" destOrd="0" presId="urn:microsoft.com/office/officeart/2005/8/layout/vList3"/>
    <dgm:cxn modelId="{F35E931F-E89B-4101-8CFA-A30022415EF6}" type="presParOf" srcId="{E4D9EFDC-825D-B345-AB14-AE12FBB69B9D}" destId="{B90603BD-AAB1-4BA1-9AD1-A6E7DE21B54F}" srcOrd="5" destOrd="0" presId="urn:microsoft.com/office/officeart/2005/8/layout/vList3"/>
    <dgm:cxn modelId="{F4BA5AB1-FECF-4FB4-BE95-C999920FEF50}" type="presParOf" srcId="{E4D9EFDC-825D-B345-AB14-AE12FBB69B9D}" destId="{A184A265-B889-4D92-A87F-6E15D0070F9A}" srcOrd="6" destOrd="0" presId="urn:microsoft.com/office/officeart/2005/8/layout/vList3"/>
    <dgm:cxn modelId="{F333A787-6558-40F5-9F50-42B1E75240E9}" type="presParOf" srcId="{A184A265-B889-4D92-A87F-6E15D0070F9A}" destId="{CA87F486-DF9B-4BED-AB5B-E495441EB9D7}" srcOrd="0" destOrd="0" presId="urn:microsoft.com/office/officeart/2005/8/layout/vList3"/>
    <dgm:cxn modelId="{10F8492E-749A-41F1-9DFD-C2E420E09FB3}" type="presParOf" srcId="{A184A265-B889-4D92-A87F-6E15D0070F9A}" destId="{0B3460A5-0C14-4337-9EFF-60B22B6C22C9}"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86EEC13-64BA-4AE7-9ADD-2DBE2BEF9D16}" type="doc">
      <dgm:prSet loTypeId="urn:microsoft.com/office/officeart/2005/8/layout/funnel1" loCatId="relationship" qsTypeId="urn:microsoft.com/office/officeart/2005/8/quickstyle/simple1" qsCatId="simple" csTypeId="urn:microsoft.com/office/officeart/2005/8/colors/colorful2" csCatId="colorful" phldr="1"/>
      <dgm:spPr/>
      <dgm:t>
        <a:bodyPr/>
        <a:lstStyle/>
        <a:p>
          <a:endParaRPr lang="en-IN"/>
        </a:p>
      </dgm:t>
    </dgm:pt>
    <dgm:pt modelId="{6AF3583D-B44D-42BE-A47B-FCE295362E3A}">
      <dgm:prSet phldrT="[Text]" phldr="0"/>
      <dgm:spPr/>
      <dgm:t>
        <a:bodyPr/>
        <a:lstStyle/>
        <a:p>
          <a:r>
            <a:rPr lang="en-IN" dirty="0"/>
            <a:t>Extraction</a:t>
          </a:r>
        </a:p>
      </dgm:t>
    </dgm:pt>
    <dgm:pt modelId="{F6241A2C-19F1-4C4E-8439-31EA5E718CE2}" type="parTrans" cxnId="{31666FCB-B4E3-418C-A67A-180AD832923B}">
      <dgm:prSet/>
      <dgm:spPr/>
      <dgm:t>
        <a:bodyPr/>
        <a:lstStyle/>
        <a:p>
          <a:endParaRPr lang="en-IN"/>
        </a:p>
      </dgm:t>
    </dgm:pt>
    <dgm:pt modelId="{364BE5AA-A3B6-4B71-AF00-AB69470EDB5F}" type="sibTrans" cxnId="{31666FCB-B4E3-418C-A67A-180AD832923B}">
      <dgm:prSet/>
      <dgm:spPr/>
      <dgm:t>
        <a:bodyPr/>
        <a:lstStyle/>
        <a:p>
          <a:endParaRPr lang="en-IN"/>
        </a:p>
      </dgm:t>
    </dgm:pt>
    <dgm:pt modelId="{0C1C9338-DC6D-4D8C-B2E9-4D82C2C5B9D1}">
      <dgm:prSet phldrT="[Text]" phldr="0"/>
      <dgm:spPr/>
      <dgm:t>
        <a:bodyPr/>
        <a:lstStyle/>
        <a:p>
          <a:r>
            <a:rPr lang="en-IN" dirty="0"/>
            <a:t>Generation</a:t>
          </a:r>
        </a:p>
      </dgm:t>
    </dgm:pt>
    <dgm:pt modelId="{270B0283-CEAE-461C-AD04-9246C390B9CB}" type="parTrans" cxnId="{0B9F5F46-1E89-42FB-A795-5C9B8E0DFB59}">
      <dgm:prSet/>
      <dgm:spPr/>
      <dgm:t>
        <a:bodyPr/>
        <a:lstStyle/>
        <a:p>
          <a:endParaRPr lang="en-IN"/>
        </a:p>
      </dgm:t>
    </dgm:pt>
    <dgm:pt modelId="{E6D39D11-298B-44CD-BB03-413AAD7ED911}" type="sibTrans" cxnId="{0B9F5F46-1E89-42FB-A795-5C9B8E0DFB59}">
      <dgm:prSet/>
      <dgm:spPr/>
      <dgm:t>
        <a:bodyPr/>
        <a:lstStyle/>
        <a:p>
          <a:endParaRPr lang="en-IN"/>
        </a:p>
      </dgm:t>
    </dgm:pt>
    <dgm:pt modelId="{E8FA3679-FB1C-450C-B129-4C6CD48B915D}">
      <dgm:prSet phldrT="[Text]" phldr="0"/>
      <dgm:spPr/>
      <dgm:t>
        <a:bodyPr/>
        <a:lstStyle/>
        <a:p>
          <a:r>
            <a:rPr lang="en-IN" dirty="0"/>
            <a:t>Selection</a:t>
          </a:r>
        </a:p>
      </dgm:t>
    </dgm:pt>
    <dgm:pt modelId="{E7B4B0BD-AE28-46CC-8585-C93A80DBF996}" type="parTrans" cxnId="{4F1FF7C1-3AC8-4BAF-A703-92BDB85E0938}">
      <dgm:prSet/>
      <dgm:spPr/>
      <dgm:t>
        <a:bodyPr/>
        <a:lstStyle/>
        <a:p>
          <a:endParaRPr lang="en-IN"/>
        </a:p>
      </dgm:t>
    </dgm:pt>
    <dgm:pt modelId="{1062FE01-98E2-4A2D-A8BB-560539CF8C01}" type="sibTrans" cxnId="{4F1FF7C1-3AC8-4BAF-A703-92BDB85E0938}">
      <dgm:prSet/>
      <dgm:spPr/>
      <dgm:t>
        <a:bodyPr/>
        <a:lstStyle/>
        <a:p>
          <a:endParaRPr lang="en-IN"/>
        </a:p>
      </dgm:t>
    </dgm:pt>
    <dgm:pt modelId="{58C7D7AA-4C01-41B1-B100-B5325E744BA4}">
      <dgm:prSet phldrT="[Text]" phldr="0"/>
      <dgm:spPr/>
      <dgm:t>
        <a:bodyPr/>
        <a:lstStyle/>
        <a:p>
          <a:r>
            <a:rPr lang="en-IN" dirty="0"/>
            <a:t>Feature</a:t>
          </a:r>
        </a:p>
      </dgm:t>
    </dgm:pt>
    <dgm:pt modelId="{5FC7222E-F6D8-41BD-A454-BA06ADA2B427}" type="parTrans" cxnId="{98068582-09E1-44C0-B027-FFB74470EA8C}">
      <dgm:prSet/>
      <dgm:spPr/>
      <dgm:t>
        <a:bodyPr/>
        <a:lstStyle/>
        <a:p>
          <a:endParaRPr lang="en-IN"/>
        </a:p>
      </dgm:t>
    </dgm:pt>
    <dgm:pt modelId="{9965C352-2881-4E4F-B3B6-9FF3A8CF0FF2}" type="sibTrans" cxnId="{98068582-09E1-44C0-B027-FFB74470EA8C}">
      <dgm:prSet/>
      <dgm:spPr/>
      <dgm:t>
        <a:bodyPr/>
        <a:lstStyle/>
        <a:p>
          <a:endParaRPr lang="en-IN"/>
        </a:p>
      </dgm:t>
    </dgm:pt>
    <dgm:pt modelId="{6BAC840E-5598-42E4-B2F5-E6A2EF25FD5D}" type="pres">
      <dgm:prSet presAssocID="{586EEC13-64BA-4AE7-9ADD-2DBE2BEF9D16}" presName="Name0" presStyleCnt="0">
        <dgm:presLayoutVars>
          <dgm:chMax val="4"/>
          <dgm:resizeHandles val="exact"/>
        </dgm:presLayoutVars>
      </dgm:prSet>
      <dgm:spPr/>
    </dgm:pt>
    <dgm:pt modelId="{DFE6B71B-021C-4B1A-BDDD-1DBA76355BDC}" type="pres">
      <dgm:prSet presAssocID="{586EEC13-64BA-4AE7-9ADD-2DBE2BEF9D16}" presName="ellipse" presStyleLbl="trBgShp" presStyleIdx="0" presStyleCnt="1"/>
      <dgm:spPr/>
    </dgm:pt>
    <dgm:pt modelId="{A240C6BA-0160-437B-982B-8EE48F3DBC40}" type="pres">
      <dgm:prSet presAssocID="{586EEC13-64BA-4AE7-9ADD-2DBE2BEF9D16}" presName="arrow1" presStyleLbl="fgShp" presStyleIdx="0" presStyleCnt="1"/>
      <dgm:spPr/>
    </dgm:pt>
    <dgm:pt modelId="{09717FFF-01A6-46DC-B699-D0A4E0762375}" type="pres">
      <dgm:prSet presAssocID="{586EEC13-64BA-4AE7-9ADD-2DBE2BEF9D16}" presName="rectangle" presStyleLbl="revTx" presStyleIdx="0" presStyleCnt="1">
        <dgm:presLayoutVars>
          <dgm:bulletEnabled val="1"/>
        </dgm:presLayoutVars>
      </dgm:prSet>
      <dgm:spPr/>
    </dgm:pt>
    <dgm:pt modelId="{E12ECCEF-965D-481A-90AD-68065F3DA944}" type="pres">
      <dgm:prSet presAssocID="{0C1C9338-DC6D-4D8C-B2E9-4D82C2C5B9D1}" presName="item1" presStyleLbl="node1" presStyleIdx="0" presStyleCnt="3">
        <dgm:presLayoutVars>
          <dgm:bulletEnabled val="1"/>
        </dgm:presLayoutVars>
      </dgm:prSet>
      <dgm:spPr/>
    </dgm:pt>
    <dgm:pt modelId="{5552493B-15A5-4AB3-B3DA-B2C7327B1056}" type="pres">
      <dgm:prSet presAssocID="{E8FA3679-FB1C-450C-B129-4C6CD48B915D}" presName="item2" presStyleLbl="node1" presStyleIdx="1" presStyleCnt="3">
        <dgm:presLayoutVars>
          <dgm:bulletEnabled val="1"/>
        </dgm:presLayoutVars>
      </dgm:prSet>
      <dgm:spPr/>
    </dgm:pt>
    <dgm:pt modelId="{67B1959A-1A74-40A0-8B7D-CE4032885DEB}" type="pres">
      <dgm:prSet presAssocID="{58C7D7AA-4C01-41B1-B100-B5325E744BA4}" presName="item3" presStyleLbl="node1" presStyleIdx="2" presStyleCnt="3">
        <dgm:presLayoutVars>
          <dgm:bulletEnabled val="1"/>
        </dgm:presLayoutVars>
      </dgm:prSet>
      <dgm:spPr/>
    </dgm:pt>
    <dgm:pt modelId="{3757AC3A-F031-47B0-A6F1-FFF174A6B0BC}" type="pres">
      <dgm:prSet presAssocID="{586EEC13-64BA-4AE7-9ADD-2DBE2BEF9D16}" presName="funnel" presStyleLbl="trAlignAcc1" presStyleIdx="0" presStyleCnt="1"/>
      <dgm:spPr/>
    </dgm:pt>
  </dgm:ptLst>
  <dgm:cxnLst>
    <dgm:cxn modelId="{F7C80D0C-20C4-443C-8E91-5B1E69FA28D0}" type="presOf" srcId="{586EEC13-64BA-4AE7-9ADD-2DBE2BEF9D16}" destId="{6BAC840E-5598-42E4-B2F5-E6A2EF25FD5D}" srcOrd="0" destOrd="0" presId="urn:microsoft.com/office/officeart/2005/8/layout/funnel1"/>
    <dgm:cxn modelId="{0B9F5F46-1E89-42FB-A795-5C9B8E0DFB59}" srcId="{586EEC13-64BA-4AE7-9ADD-2DBE2BEF9D16}" destId="{0C1C9338-DC6D-4D8C-B2E9-4D82C2C5B9D1}" srcOrd="1" destOrd="0" parTransId="{270B0283-CEAE-461C-AD04-9246C390B9CB}" sibTransId="{E6D39D11-298B-44CD-BB03-413AAD7ED911}"/>
    <dgm:cxn modelId="{5ED35A53-1F6E-4C2D-8A65-53EB547FD6C5}" type="presOf" srcId="{E8FA3679-FB1C-450C-B129-4C6CD48B915D}" destId="{E12ECCEF-965D-481A-90AD-68065F3DA944}" srcOrd="0" destOrd="0" presId="urn:microsoft.com/office/officeart/2005/8/layout/funnel1"/>
    <dgm:cxn modelId="{98068582-09E1-44C0-B027-FFB74470EA8C}" srcId="{586EEC13-64BA-4AE7-9ADD-2DBE2BEF9D16}" destId="{58C7D7AA-4C01-41B1-B100-B5325E744BA4}" srcOrd="3" destOrd="0" parTransId="{5FC7222E-F6D8-41BD-A454-BA06ADA2B427}" sibTransId="{9965C352-2881-4E4F-B3B6-9FF3A8CF0FF2}"/>
    <dgm:cxn modelId="{70FECDA4-68C8-4127-9CD8-553C8CA378B0}" type="presOf" srcId="{0C1C9338-DC6D-4D8C-B2E9-4D82C2C5B9D1}" destId="{5552493B-15A5-4AB3-B3DA-B2C7327B1056}" srcOrd="0" destOrd="0" presId="urn:microsoft.com/office/officeart/2005/8/layout/funnel1"/>
    <dgm:cxn modelId="{4F1FF7C1-3AC8-4BAF-A703-92BDB85E0938}" srcId="{586EEC13-64BA-4AE7-9ADD-2DBE2BEF9D16}" destId="{E8FA3679-FB1C-450C-B129-4C6CD48B915D}" srcOrd="2" destOrd="0" parTransId="{E7B4B0BD-AE28-46CC-8585-C93A80DBF996}" sibTransId="{1062FE01-98E2-4A2D-A8BB-560539CF8C01}"/>
    <dgm:cxn modelId="{D79288CA-C196-47E8-AB16-2A77E8FAF4A7}" type="presOf" srcId="{58C7D7AA-4C01-41B1-B100-B5325E744BA4}" destId="{09717FFF-01A6-46DC-B699-D0A4E0762375}" srcOrd="0" destOrd="0" presId="urn:microsoft.com/office/officeart/2005/8/layout/funnel1"/>
    <dgm:cxn modelId="{31666FCB-B4E3-418C-A67A-180AD832923B}" srcId="{586EEC13-64BA-4AE7-9ADD-2DBE2BEF9D16}" destId="{6AF3583D-B44D-42BE-A47B-FCE295362E3A}" srcOrd="0" destOrd="0" parTransId="{F6241A2C-19F1-4C4E-8439-31EA5E718CE2}" sibTransId="{364BE5AA-A3B6-4B71-AF00-AB69470EDB5F}"/>
    <dgm:cxn modelId="{4C5F36F4-A994-4958-B7FE-FA87E5241091}" type="presOf" srcId="{6AF3583D-B44D-42BE-A47B-FCE295362E3A}" destId="{67B1959A-1A74-40A0-8B7D-CE4032885DEB}" srcOrd="0" destOrd="0" presId="urn:microsoft.com/office/officeart/2005/8/layout/funnel1"/>
    <dgm:cxn modelId="{F884F42C-4155-4F53-B97D-3215F4A8E533}" type="presParOf" srcId="{6BAC840E-5598-42E4-B2F5-E6A2EF25FD5D}" destId="{DFE6B71B-021C-4B1A-BDDD-1DBA76355BDC}" srcOrd="0" destOrd="0" presId="urn:microsoft.com/office/officeart/2005/8/layout/funnel1"/>
    <dgm:cxn modelId="{4FC84436-410B-4A25-9D2F-1AF1B48D06AD}" type="presParOf" srcId="{6BAC840E-5598-42E4-B2F5-E6A2EF25FD5D}" destId="{A240C6BA-0160-437B-982B-8EE48F3DBC40}" srcOrd="1" destOrd="0" presId="urn:microsoft.com/office/officeart/2005/8/layout/funnel1"/>
    <dgm:cxn modelId="{4D411A88-8B85-4C87-A977-CAA0EBBD42DE}" type="presParOf" srcId="{6BAC840E-5598-42E4-B2F5-E6A2EF25FD5D}" destId="{09717FFF-01A6-46DC-B699-D0A4E0762375}" srcOrd="2" destOrd="0" presId="urn:microsoft.com/office/officeart/2005/8/layout/funnel1"/>
    <dgm:cxn modelId="{0B5298A0-5C20-4F2F-A907-E2F06261C89B}" type="presParOf" srcId="{6BAC840E-5598-42E4-B2F5-E6A2EF25FD5D}" destId="{E12ECCEF-965D-481A-90AD-68065F3DA944}" srcOrd="3" destOrd="0" presId="urn:microsoft.com/office/officeart/2005/8/layout/funnel1"/>
    <dgm:cxn modelId="{FDDC732C-D3AB-4A50-8810-93E73CB051B5}" type="presParOf" srcId="{6BAC840E-5598-42E4-B2F5-E6A2EF25FD5D}" destId="{5552493B-15A5-4AB3-B3DA-B2C7327B1056}" srcOrd="4" destOrd="0" presId="urn:microsoft.com/office/officeart/2005/8/layout/funnel1"/>
    <dgm:cxn modelId="{763B06EC-1FF3-4881-B04A-69886DCC69BB}" type="presParOf" srcId="{6BAC840E-5598-42E4-B2F5-E6A2EF25FD5D}" destId="{67B1959A-1A74-40A0-8B7D-CE4032885DEB}" srcOrd="5" destOrd="0" presId="urn:microsoft.com/office/officeart/2005/8/layout/funnel1"/>
    <dgm:cxn modelId="{B1DDB1BB-9835-4812-A427-C707A93EB6E4}" type="presParOf" srcId="{6BAC840E-5598-42E4-B2F5-E6A2EF25FD5D}" destId="{3757AC3A-F031-47B0-A6F1-FFF174A6B0BC}" srcOrd="6" destOrd="0" presId="urn:microsoft.com/office/officeart/2005/8/layout/funnel1"/>
  </dgm:cxnLst>
  <dgm:bg/>
  <dgm:whole>
    <a:ln>
      <a:solidFill>
        <a:schemeClr val="bg2"/>
      </a:solidFill>
    </a:ln>
  </dgm:whole>
  <dgm:extLst>
    <a:ext uri="http://schemas.microsoft.com/office/drawing/2008/diagram">
      <dsp:dataModelExt xmlns:dsp="http://schemas.microsoft.com/office/drawing/2008/diagram" relId="rId12"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E96CEB1-FD86-408E-A370-1897C347C880}" type="doc">
      <dgm:prSet loTypeId="urn:microsoft.com/office/officeart/2009/3/layout/OpposingIdeas" loCatId="relationship" qsTypeId="urn:microsoft.com/office/officeart/2005/8/quickstyle/simple1" qsCatId="simple" csTypeId="urn:microsoft.com/office/officeart/2005/8/colors/colorful5" csCatId="colorful" phldr="1"/>
      <dgm:spPr/>
      <dgm:t>
        <a:bodyPr/>
        <a:lstStyle/>
        <a:p>
          <a:endParaRPr lang="en-IN"/>
        </a:p>
      </dgm:t>
    </dgm:pt>
    <dgm:pt modelId="{9DF798A5-4A9C-42AE-B8E3-D38E3E1340CC}">
      <dgm:prSet phldrT="[Text]" phldr="0"/>
      <dgm:spPr/>
      <dgm:t>
        <a:bodyPr/>
        <a:lstStyle/>
        <a:p>
          <a:r>
            <a:rPr lang="en-IN" dirty="0"/>
            <a:t>Influence</a:t>
          </a:r>
        </a:p>
      </dgm:t>
    </dgm:pt>
    <dgm:pt modelId="{7808E83E-7FBA-4402-A204-01E7B92EC8A3}" type="parTrans" cxnId="{5EA7A0F6-B633-4C36-BF46-D0B4D7C8FEA0}">
      <dgm:prSet/>
      <dgm:spPr/>
      <dgm:t>
        <a:bodyPr/>
        <a:lstStyle/>
        <a:p>
          <a:endParaRPr lang="en-IN"/>
        </a:p>
      </dgm:t>
    </dgm:pt>
    <dgm:pt modelId="{0CB772FF-D5DF-4FCB-8EFF-EC29C297AD5D}" type="sibTrans" cxnId="{5EA7A0F6-B633-4C36-BF46-D0B4D7C8FEA0}">
      <dgm:prSet/>
      <dgm:spPr/>
      <dgm:t>
        <a:bodyPr/>
        <a:lstStyle/>
        <a:p>
          <a:endParaRPr lang="en-IN"/>
        </a:p>
      </dgm:t>
    </dgm:pt>
    <dgm:pt modelId="{1AFFAC45-6F41-403F-9B87-9DD2C1E0BB1F}">
      <dgm:prSet phldrT="[Text]" phldr="0"/>
      <dgm:spPr/>
      <dgm:t>
        <a:bodyPr/>
        <a:lstStyle/>
        <a:p>
          <a:r>
            <a:rPr lang="en-IN" dirty="0"/>
            <a:t>Influence of Sample</a:t>
          </a:r>
        </a:p>
      </dgm:t>
    </dgm:pt>
    <dgm:pt modelId="{191DE969-6016-4A55-A9C9-3CBF3BB8E3D2}" type="parTrans" cxnId="{C4D8B952-F029-49BA-9CF9-22211EB35E2B}">
      <dgm:prSet/>
      <dgm:spPr/>
      <dgm:t>
        <a:bodyPr/>
        <a:lstStyle/>
        <a:p>
          <a:endParaRPr lang="en-IN"/>
        </a:p>
      </dgm:t>
    </dgm:pt>
    <dgm:pt modelId="{4B3169AA-0B4D-470C-BA41-206E0FA1A9F3}" type="sibTrans" cxnId="{C4D8B952-F029-49BA-9CF9-22211EB35E2B}">
      <dgm:prSet/>
      <dgm:spPr/>
      <dgm:t>
        <a:bodyPr/>
        <a:lstStyle/>
        <a:p>
          <a:endParaRPr lang="en-IN"/>
        </a:p>
      </dgm:t>
    </dgm:pt>
    <dgm:pt modelId="{CA56D3DC-6659-42F4-82DE-026A32A3C505}">
      <dgm:prSet phldrT="[Text]" phldr="0"/>
      <dgm:spPr/>
      <dgm:t>
        <a:bodyPr/>
        <a:lstStyle/>
        <a:p>
          <a:r>
            <a:rPr lang="en-IN" dirty="0"/>
            <a:t>Influence</a:t>
          </a:r>
        </a:p>
      </dgm:t>
    </dgm:pt>
    <dgm:pt modelId="{D79879A3-E94F-4B3B-9E3F-91CDC1328CD5}" type="parTrans" cxnId="{E4ABC51F-DBFA-42A0-87F4-D1617A626469}">
      <dgm:prSet/>
      <dgm:spPr/>
      <dgm:t>
        <a:bodyPr/>
        <a:lstStyle/>
        <a:p>
          <a:endParaRPr lang="en-IN"/>
        </a:p>
      </dgm:t>
    </dgm:pt>
    <dgm:pt modelId="{182E19B6-685A-4E13-9599-EDA487C05C99}" type="sibTrans" cxnId="{E4ABC51F-DBFA-42A0-87F4-D1617A626469}">
      <dgm:prSet/>
      <dgm:spPr/>
      <dgm:t>
        <a:bodyPr/>
        <a:lstStyle/>
        <a:p>
          <a:endParaRPr lang="en-IN"/>
        </a:p>
      </dgm:t>
    </dgm:pt>
    <dgm:pt modelId="{B258006D-7221-4BD4-9183-8A70973959F4}">
      <dgm:prSet phldrT="[Text]" phldr="0"/>
      <dgm:spPr/>
      <dgm:t>
        <a:bodyPr/>
        <a:lstStyle/>
        <a:p>
          <a:r>
            <a:rPr lang="en-IN" dirty="0"/>
            <a:t>Influence of  Feature</a:t>
          </a:r>
        </a:p>
      </dgm:t>
    </dgm:pt>
    <dgm:pt modelId="{36B69BC3-7536-451B-959E-38931F63750F}" type="parTrans" cxnId="{E0DE3BB7-5BFF-44B8-996A-F3A84590E90E}">
      <dgm:prSet/>
      <dgm:spPr/>
      <dgm:t>
        <a:bodyPr/>
        <a:lstStyle/>
        <a:p>
          <a:endParaRPr lang="en-IN"/>
        </a:p>
      </dgm:t>
    </dgm:pt>
    <dgm:pt modelId="{2FB522DE-A24F-4541-A913-C3F117DCF951}" type="sibTrans" cxnId="{E0DE3BB7-5BFF-44B8-996A-F3A84590E90E}">
      <dgm:prSet/>
      <dgm:spPr/>
      <dgm:t>
        <a:bodyPr/>
        <a:lstStyle/>
        <a:p>
          <a:endParaRPr lang="en-IN"/>
        </a:p>
      </dgm:t>
    </dgm:pt>
    <dgm:pt modelId="{68A80D52-43F0-4946-ACD5-4EE1CF2576F4}" type="pres">
      <dgm:prSet presAssocID="{8E96CEB1-FD86-408E-A370-1897C347C880}" presName="Name0" presStyleCnt="0">
        <dgm:presLayoutVars>
          <dgm:chMax val="2"/>
          <dgm:dir/>
          <dgm:animOne val="branch"/>
          <dgm:animLvl val="lvl"/>
          <dgm:resizeHandles val="exact"/>
        </dgm:presLayoutVars>
      </dgm:prSet>
      <dgm:spPr/>
    </dgm:pt>
    <dgm:pt modelId="{7B8768B7-8A51-4E0F-ABEE-3CF71C2669BD}" type="pres">
      <dgm:prSet presAssocID="{8E96CEB1-FD86-408E-A370-1897C347C880}" presName="Background" presStyleLbl="node1" presStyleIdx="0" presStyleCnt="1"/>
      <dgm:spPr/>
    </dgm:pt>
    <dgm:pt modelId="{DFC76EFE-8E8C-43D2-9466-BB1682D73BEE}" type="pres">
      <dgm:prSet presAssocID="{8E96CEB1-FD86-408E-A370-1897C347C880}" presName="Divider" presStyleLbl="callout" presStyleIdx="0" presStyleCnt="1"/>
      <dgm:spPr/>
    </dgm:pt>
    <dgm:pt modelId="{C0A9ECE0-D703-404C-AE3A-80AFABD2C7B3}" type="pres">
      <dgm:prSet presAssocID="{8E96CEB1-FD86-408E-A370-1897C347C880}" presName="ChildText1" presStyleLbl="revTx" presStyleIdx="0" presStyleCnt="0">
        <dgm:presLayoutVars>
          <dgm:chMax val="0"/>
          <dgm:chPref val="0"/>
          <dgm:bulletEnabled val="1"/>
        </dgm:presLayoutVars>
      </dgm:prSet>
      <dgm:spPr/>
    </dgm:pt>
    <dgm:pt modelId="{64715656-D76C-4D70-9420-F6C617B706B8}" type="pres">
      <dgm:prSet presAssocID="{8E96CEB1-FD86-408E-A370-1897C347C880}" presName="ChildText2" presStyleLbl="revTx" presStyleIdx="0" presStyleCnt="0">
        <dgm:presLayoutVars>
          <dgm:chMax val="0"/>
          <dgm:chPref val="0"/>
          <dgm:bulletEnabled val="1"/>
        </dgm:presLayoutVars>
      </dgm:prSet>
      <dgm:spPr/>
    </dgm:pt>
    <dgm:pt modelId="{D89ABAA0-8DAF-4E5C-AF22-7EC595633AB8}" type="pres">
      <dgm:prSet presAssocID="{8E96CEB1-FD86-408E-A370-1897C347C880}" presName="ParentText1" presStyleLbl="revTx" presStyleIdx="0" presStyleCnt="0">
        <dgm:presLayoutVars>
          <dgm:chMax val="1"/>
          <dgm:chPref val="1"/>
        </dgm:presLayoutVars>
      </dgm:prSet>
      <dgm:spPr/>
    </dgm:pt>
    <dgm:pt modelId="{B3E6BED8-D75A-4964-86AE-0234122633AA}" type="pres">
      <dgm:prSet presAssocID="{8E96CEB1-FD86-408E-A370-1897C347C880}" presName="ParentShape1" presStyleLbl="alignImgPlace1" presStyleIdx="0" presStyleCnt="2">
        <dgm:presLayoutVars/>
      </dgm:prSet>
      <dgm:spPr/>
    </dgm:pt>
    <dgm:pt modelId="{971B4FDF-32A7-4F3F-A2C0-9BB6BE5102F4}" type="pres">
      <dgm:prSet presAssocID="{8E96CEB1-FD86-408E-A370-1897C347C880}" presName="ParentText2" presStyleLbl="revTx" presStyleIdx="0" presStyleCnt="0">
        <dgm:presLayoutVars>
          <dgm:chMax val="1"/>
          <dgm:chPref val="1"/>
        </dgm:presLayoutVars>
      </dgm:prSet>
      <dgm:spPr/>
    </dgm:pt>
    <dgm:pt modelId="{770E98E5-693C-4665-8BD3-5DEF247B1053}" type="pres">
      <dgm:prSet presAssocID="{8E96CEB1-FD86-408E-A370-1897C347C880}" presName="ParentShape2" presStyleLbl="alignImgPlace1" presStyleIdx="1" presStyleCnt="2">
        <dgm:presLayoutVars/>
      </dgm:prSet>
      <dgm:spPr/>
    </dgm:pt>
  </dgm:ptLst>
  <dgm:cxnLst>
    <dgm:cxn modelId="{E4ABC51F-DBFA-42A0-87F4-D1617A626469}" srcId="{8E96CEB1-FD86-408E-A370-1897C347C880}" destId="{CA56D3DC-6659-42F4-82DE-026A32A3C505}" srcOrd="1" destOrd="0" parTransId="{D79879A3-E94F-4B3B-9E3F-91CDC1328CD5}" sibTransId="{182E19B6-685A-4E13-9599-EDA487C05C99}"/>
    <dgm:cxn modelId="{59CB8F24-DD6B-4922-9E51-D072460A12B8}" type="presOf" srcId="{CA56D3DC-6659-42F4-82DE-026A32A3C505}" destId="{971B4FDF-32A7-4F3F-A2C0-9BB6BE5102F4}" srcOrd="0" destOrd="0" presId="urn:microsoft.com/office/officeart/2009/3/layout/OpposingIdeas"/>
    <dgm:cxn modelId="{B9503B2A-1E77-484F-B27C-72AD1EF70045}" type="presOf" srcId="{CA56D3DC-6659-42F4-82DE-026A32A3C505}" destId="{770E98E5-693C-4665-8BD3-5DEF247B1053}" srcOrd="1" destOrd="0" presId="urn:microsoft.com/office/officeart/2009/3/layout/OpposingIdeas"/>
    <dgm:cxn modelId="{5488E036-0F0B-4607-8667-0F2779208F2A}" type="presOf" srcId="{9DF798A5-4A9C-42AE-B8E3-D38E3E1340CC}" destId="{B3E6BED8-D75A-4964-86AE-0234122633AA}" srcOrd="1" destOrd="0" presId="urn:microsoft.com/office/officeart/2009/3/layout/OpposingIdeas"/>
    <dgm:cxn modelId="{C4D8B952-F029-49BA-9CF9-22211EB35E2B}" srcId="{9DF798A5-4A9C-42AE-B8E3-D38E3E1340CC}" destId="{1AFFAC45-6F41-403F-9B87-9DD2C1E0BB1F}" srcOrd="0" destOrd="0" parTransId="{191DE969-6016-4A55-A9C9-3CBF3BB8E3D2}" sibTransId="{4B3169AA-0B4D-470C-BA41-206E0FA1A9F3}"/>
    <dgm:cxn modelId="{5903EEB2-144C-44AD-B59D-094F0210824E}" type="presOf" srcId="{8E96CEB1-FD86-408E-A370-1897C347C880}" destId="{68A80D52-43F0-4946-ACD5-4EE1CF2576F4}" srcOrd="0" destOrd="0" presId="urn:microsoft.com/office/officeart/2009/3/layout/OpposingIdeas"/>
    <dgm:cxn modelId="{E0DE3BB7-5BFF-44B8-996A-F3A84590E90E}" srcId="{CA56D3DC-6659-42F4-82DE-026A32A3C505}" destId="{B258006D-7221-4BD4-9183-8A70973959F4}" srcOrd="0" destOrd="0" parTransId="{36B69BC3-7536-451B-959E-38931F63750F}" sibTransId="{2FB522DE-A24F-4541-A913-C3F117DCF951}"/>
    <dgm:cxn modelId="{B86C7DC9-C109-4B91-87FA-9436F0B312F4}" type="presOf" srcId="{B258006D-7221-4BD4-9183-8A70973959F4}" destId="{64715656-D76C-4D70-9420-F6C617B706B8}" srcOrd="0" destOrd="0" presId="urn:microsoft.com/office/officeart/2009/3/layout/OpposingIdeas"/>
    <dgm:cxn modelId="{363E25D0-8B72-412C-A538-06B43D862B18}" type="presOf" srcId="{9DF798A5-4A9C-42AE-B8E3-D38E3E1340CC}" destId="{D89ABAA0-8DAF-4E5C-AF22-7EC595633AB8}" srcOrd="0" destOrd="0" presId="urn:microsoft.com/office/officeart/2009/3/layout/OpposingIdeas"/>
    <dgm:cxn modelId="{9E7A7BDC-2473-4D04-A769-72ED6CF31DEC}" type="presOf" srcId="{1AFFAC45-6F41-403F-9B87-9DD2C1E0BB1F}" destId="{C0A9ECE0-D703-404C-AE3A-80AFABD2C7B3}" srcOrd="0" destOrd="0" presId="urn:microsoft.com/office/officeart/2009/3/layout/OpposingIdeas"/>
    <dgm:cxn modelId="{5EA7A0F6-B633-4C36-BF46-D0B4D7C8FEA0}" srcId="{8E96CEB1-FD86-408E-A370-1897C347C880}" destId="{9DF798A5-4A9C-42AE-B8E3-D38E3E1340CC}" srcOrd="0" destOrd="0" parTransId="{7808E83E-7FBA-4402-A204-01E7B92EC8A3}" sibTransId="{0CB772FF-D5DF-4FCB-8EFF-EC29C297AD5D}"/>
    <dgm:cxn modelId="{FB0438E6-4AF9-4577-B31E-5274013A4144}" type="presParOf" srcId="{68A80D52-43F0-4946-ACD5-4EE1CF2576F4}" destId="{7B8768B7-8A51-4E0F-ABEE-3CF71C2669BD}" srcOrd="0" destOrd="0" presId="urn:microsoft.com/office/officeart/2009/3/layout/OpposingIdeas"/>
    <dgm:cxn modelId="{6C155DFF-6AAA-4412-BE01-E4D66E4922D9}" type="presParOf" srcId="{68A80D52-43F0-4946-ACD5-4EE1CF2576F4}" destId="{DFC76EFE-8E8C-43D2-9466-BB1682D73BEE}" srcOrd="1" destOrd="0" presId="urn:microsoft.com/office/officeart/2009/3/layout/OpposingIdeas"/>
    <dgm:cxn modelId="{113D7022-A80A-4D7A-B4B4-34FEE2096A02}" type="presParOf" srcId="{68A80D52-43F0-4946-ACD5-4EE1CF2576F4}" destId="{C0A9ECE0-D703-404C-AE3A-80AFABD2C7B3}" srcOrd="2" destOrd="0" presId="urn:microsoft.com/office/officeart/2009/3/layout/OpposingIdeas"/>
    <dgm:cxn modelId="{30BFC508-1E33-4F07-A6C3-D8056B799731}" type="presParOf" srcId="{68A80D52-43F0-4946-ACD5-4EE1CF2576F4}" destId="{64715656-D76C-4D70-9420-F6C617B706B8}" srcOrd="3" destOrd="0" presId="urn:microsoft.com/office/officeart/2009/3/layout/OpposingIdeas"/>
    <dgm:cxn modelId="{116B109B-C205-4543-8F5F-B8F332B03876}" type="presParOf" srcId="{68A80D52-43F0-4946-ACD5-4EE1CF2576F4}" destId="{D89ABAA0-8DAF-4E5C-AF22-7EC595633AB8}" srcOrd="4" destOrd="0" presId="urn:microsoft.com/office/officeart/2009/3/layout/OpposingIdeas"/>
    <dgm:cxn modelId="{2A831FF3-10FD-4837-A964-250B80C9245E}" type="presParOf" srcId="{68A80D52-43F0-4946-ACD5-4EE1CF2576F4}" destId="{B3E6BED8-D75A-4964-86AE-0234122633AA}" srcOrd="5" destOrd="0" presId="urn:microsoft.com/office/officeart/2009/3/layout/OpposingIdeas"/>
    <dgm:cxn modelId="{4130DE59-5E9B-4C2E-80D5-DF2632A7E6CB}" type="presParOf" srcId="{68A80D52-43F0-4946-ACD5-4EE1CF2576F4}" destId="{971B4FDF-32A7-4F3F-A2C0-9BB6BE5102F4}" srcOrd="6" destOrd="0" presId="urn:microsoft.com/office/officeart/2009/3/layout/OpposingIdeas"/>
    <dgm:cxn modelId="{B51C587E-5A09-4CB4-B6B3-F47619190EB1}" type="presParOf" srcId="{68A80D52-43F0-4946-ACD5-4EE1CF2576F4}" destId="{770E98E5-693C-4665-8BD3-5DEF247B1053}" srcOrd="7" destOrd="0" presId="urn:microsoft.com/office/officeart/2009/3/layout/OpposingIdeas"/>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2FAC3BE-71C6-4BB1-AF7B-AEF5C66870DD}" type="doc">
      <dgm:prSet loTypeId="urn:microsoft.com/office/officeart/2005/8/layout/hierarchy4" loCatId="relationship" qsTypeId="urn:microsoft.com/office/officeart/2005/8/quickstyle/simple1" qsCatId="simple" csTypeId="urn:microsoft.com/office/officeart/2005/8/colors/colorful1" csCatId="colorful" phldr="1"/>
      <dgm:spPr/>
      <dgm:t>
        <a:bodyPr/>
        <a:lstStyle/>
        <a:p>
          <a:endParaRPr lang="en-IN"/>
        </a:p>
      </dgm:t>
    </dgm:pt>
    <dgm:pt modelId="{C0205F5B-C721-48F7-A6BC-123C7BA6AE1C}">
      <dgm:prSet phldrT="[Text]" phldr="0"/>
      <dgm:spPr/>
      <dgm:t>
        <a:bodyPr/>
        <a:lstStyle/>
        <a:p>
          <a:r>
            <a:rPr lang="en-IN" dirty="0"/>
            <a:t>Game-Theoretic Framework </a:t>
          </a:r>
        </a:p>
      </dgm:t>
    </dgm:pt>
    <dgm:pt modelId="{1441FDC1-E316-4E3E-B826-F63CA33B5F26}" type="parTrans" cxnId="{9BBCBA81-0B85-4D74-AAD2-D9784A4FC45B}">
      <dgm:prSet/>
      <dgm:spPr/>
      <dgm:t>
        <a:bodyPr/>
        <a:lstStyle/>
        <a:p>
          <a:endParaRPr lang="en-IN"/>
        </a:p>
      </dgm:t>
    </dgm:pt>
    <dgm:pt modelId="{46247759-01F0-4767-BC38-0B267971A27F}" type="sibTrans" cxnId="{9BBCBA81-0B85-4D74-AAD2-D9784A4FC45B}">
      <dgm:prSet/>
      <dgm:spPr/>
      <dgm:t>
        <a:bodyPr/>
        <a:lstStyle/>
        <a:p>
          <a:endParaRPr lang="en-IN"/>
        </a:p>
      </dgm:t>
    </dgm:pt>
    <dgm:pt modelId="{1464E9A2-585E-4B4D-A9AD-DFB4DA6AE96D}">
      <dgm:prSet phldrT="[Text]"/>
      <dgm:spPr/>
      <dgm:t>
        <a:bodyPr/>
        <a:lstStyle/>
        <a:p>
          <a:pPr>
            <a:buNone/>
          </a:pPr>
          <a:r>
            <a:rPr lang="en-IN" b="1" dirty="0"/>
            <a:t>Game Type:</a:t>
          </a:r>
          <a:r>
            <a:rPr lang="en-IN" dirty="0"/>
            <a:t> Stackelberg game, </a:t>
          </a:r>
          <a:r>
            <a:rPr lang="en-IN" dirty="0" err="1"/>
            <a:t>static,dynamic</a:t>
          </a:r>
          <a:r>
            <a:rPr lang="en-IN" dirty="0"/>
            <a:t> ,etc</a:t>
          </a:r>
        </a:p>
      </dgm:t>
    </dgm:pt>
    <dgm:pt modelId="{AA85F697-BF30-4B72-918C-2C6F7F1C5D38}" type="parTrans" cxnId="{E8A12F04-5B76-4EF2-B44F-7254CFF9502B}">
      <dgm:prSet/>
      <dgm:spPr/>
      <dgm:t>
        <a:bodyPr/>
        <a:lstStyle/>
        <a:p>
          <a:endParaRPr lang="en-IN"/>
        </a:p>
      </dgm:t>
    </dgm:pt>
    <dgm:pt modelId="{A99F1001-B5F6-45EC-A64E-03C7660CBD35}" type="sibTrans" cxnId="{E8A12F04-5B76-4EF2-B44F-7254CFF9502B}">
      <dgm:prSet/>
      <dgm:spPr/>
      <dgm:t>
        <a:bodyPr/>
        <a:lstStyle/>
        <a:p>
          <a:endParaRPr lang="en-IN"/>
        </a:p>
      </dgm:t>
    </dgm:pt>
    <dgm:pt modelId="{125C1EF0-6F8A-4FEE-BF65-10AFDC161563}">
      <dgm:prSet phldrT="[Text]" phldr="0"/>
      <dgm:spPr/>
      <dgm:t>
        <a:bodyPr/>
        <a:lstStyle/>
        <a:p>
          <a:r>
            <a:rPr lang="en-IN" dirty="0"/>
            <a:t>Strategy Space : Feature weights and selection masks </a:t>
          </a:r>
        </a:p>
      </dgm:t>
    </dgm:pt>
    <dgm:pt modelId="{3AA1AFD7-7CBA-424D-843C-E25205568CC1}" type="parTrans" cxnId="{4812052B-AF19-4934-A9CF-1B21A10AE54D}">
      <dgm:prSet/>
      <dgm:spPr/>
      <dgm:t>
        <a:bodyPr/>
        <a:lstStyle/>
        <a:p>
          <a:endParaRPr lang="en-IN"/>
        </a:p>
      </dgm:t>
    </dgm:pt>
    <dgm:pt modelId="{952884A3-D908-4921-8E0E-00E492BF84EA}" type="sibTrans" cxnId="{4812052B-AF19-4934-A9CF-1B21A10AE54D}">
      <dgm:prSet/>
      <dgm:spPr/>
      <dgm:t>
        <a:bodyPr/>
        <a:lstStyle/>
        <a:p>
          <a:endParaRPr lang="en-IN"/>
        </a:p>
      </dgm:t>
    </dgm:pt>
    <dgm:pt modelId="{9C85A26D-DDA4-43F9-8FB0-DEAEA5F364A9}">
      <dgm:prSet phldrT="[Text]" phldr="0"/>
      <dgm:spPr/>
      <dgm:t>
        <a:bodyPr/>
        <a:lstStyle/>
        <a:p>
          <a:r>
            <a:rPr lang="en-IN" dirty="0"/>
            <a:t>Player : </a:t>
          </a:r>
          <a:r>
            <a:rPr lang="en-IN" b="1" dirty="0"/>
            <a:t>Model Provider </a:t>
          </a:r>
          <a:endParaRPr lang="en-IN" dirty="0"/>
        </a:p>
      </dgm:t>
    </dgm:pt>
    <dgm:pt modelId="{21937E37-CAFB-41DA-BEF4-CBAFF6844BB1}" type="parTrans" cxnId="{EFF713E4-EB86-4CBB-BD89-CE4260B4315E}">
      <dgm:prSet/>
      <dgm:spPr/>
      <dgm:t>
        <a:bodyPr/>
        <a:lstStyle/>
        <a:p>
          <a:endParaRPr lang="en-IN"/>
        </a:p>
      </dgm:t>
    </dgm:pt>
    <dgm:pt modelId="{EF5B4A51-142C-475B-9D8B-C32841804006}" type="sibTrans" cxnId="{EFF713E4-EB86-4CBB-BD89-CE4260B4315E}">
      <dgm:prSet/>
      <dgm:spPr/>
      <dgm:t>
        <a:bodyPr/>
        <a:lstStyle/>
        <a:p>
          <a:endParaRPr lang="en-IN"/>
        </a:p>
      </dgm:t>
    </dgm:pt>
    <dgm:pt modelId="{DFB005F4-F16D-4B27-B5BD-0CAC54D87D6A}">
      <dgm:prSet phldrT="[Text]" phldr="0"/>
      <dgm:spPr/>
      <dgm:t>
        <a:bodyPr/>
        <a:lstStyle/>
        <a:p>
          <a:r>
            <a:rPr lang="en-IN" dirty="0"/>
            <a:t>Player : Data Provider</a:t>
          </a:r>
        </a:p>
      </dgm:t>
    </dgm:pt>
    <dgm:pt modelId="{FA06BA44-6370-4AA2-A6AD-EA6516D52987}" type="parTrans" cxnId="{27B40A17-13DD-4E39-BA50-6D9251D8BB6C}">
      <dgm:prSet/>
      <dgm:spPr/>
      <dgm:t>
        <a:bodyPr/>
        <a:lstStyle/>
        <a:p>
          <a:endParaRPr lang="en-IN"/>
        </a:p>
      </dgm:t>
    </dgm:pt>
    <dgm:pt modelId="{D7513C86-8E85-449E-9AB4-385EB0B6FF5C}" type="sibTrans" cxnId="{27B40A17-13DD-4E39-BA50-6D9251D8BB6C}">
      <dgm:prSet/>
      <dgm:spPr/>
      <dgm:t>
        <a:bodyPr/>
        <a:lstStyle/>
        <a:p>
          <a:endParaRPr lang="en-IN"/>
        </a:p>
      </dgm:t>
    </dgm:pt>
    <dgm:pt modelId="{F34E3E42-E8A9-49A7-B910-C5F2FCD7894E}">
      <dgm:prSet phldrT="[Text]" phldr="0"/>
      <dgm:spPr/>
      <dgm:t>
        <a:bodyPr/>
        <a:lstStyle/>
        <a:p>
          <a:r>
            <a:rPr lang="en-IN" dirty="0"/>
            <a:t>Adversary</a:t>
          </a:r>
        </a:p>
      </dgm:t>
    </dgm:pt>
    <dgm:pt modelId="{10298D8E-A5B1-466F-8D49-4601BDBC0BA7}" type="sibTrans" cxnId="{FE186A14-E482-454C-B28F-D9E0D9FF2622}">
      <dgm:prSet/>
      <dgm:spPr/>
      <dgm:t>
        <a:bodyPr/>
        <a:lstStyle/>
        <a:p>
          <a:endParaRPr lang="en-IN"/>
        </a:p>
      </dgm:t>
    </dgm:pt>
    <dgm:pt modelId="{D3511BB5-5DF5-48C6-BFAE-0762267B688E}" type="parTrans" cxnId="{FE186A14-E482-454C-B28F-D9E0D9FF2622}">
      <dgm:prSet/>
      <dgm:spPr/>
      <dgm:t>
        <a:bodyPr/>
        <a:lstStyle/>
        <a:p>
          <a:endParaRPr lang="en-IN"/>
        </a:p>
      </dgm:t>
    </dgm:pt>
    <dgm:pt modelId="{2AAC891F-EDE0-4217-97A2-507FC9C2D6D3}" type="pres">
      <dgm:prSet presAssocID="{72FAC3BE-71C6-4BB1-AF7B-AEF5C66870DD}" presName="Name0" presStyleCnt="0">
        <dgm:presLayoutVars>
          <dgm:chPref val="1"/>
          <dgm:dir/>
          <dgm:animOne val="branch"/>
          <dgm:animLvl val="lvl"/>
          <dgm:resizeHandles/>
        </dgm:presLayoutVars>
      </dgm:prSet>
      <dgm:spPr/>
    </dgm:pt>
    <dgm:pt modelId="{2EFEEBD6-C14B-4CAA-9DCD-A53874D43879}" type="pres">
      <dgm:prSet presAssocID="{C0205F5B-C721-48F7-A6BC-123C7BA6AE1C}" presName="vertOne" presStyleCnt="0"/>
      <dgm:spPr/>
    </dgm:pt>
    <dgm:pt modelId="{93DAA2F0-E50E-43C9-9542-CBB340770DAE}" type="pres">
      <dgm:prSet presAssocID="{C0205F5B-C721-48F7-A6BC-123C7BA6AE1C}" presName="txOne" presStyleLbl="node0" presStyleIdx="0" presStyleCnt="1" custLinFactY="-172" custLinFactNeighborX="-63311" custLinFactNeighborY="-100000">
        <dgm:presLayoutVars>
          <dgm:chPref val="3"/>
        </dgm:presLayoutVars>
      </dgm:prSet>
      <dgm:spPr/>
    </dgm:pt>
    <dgm:pt modelId="{C2E61B1B-A151-4791-B7DC-B63B0C2A9158}" type="pres">
      <dgm:prSet presAssocID="{C0205F5B-C721-48F7-A6BC-123C7BA6AE1C}" presName="parTransOne" presStyleCnt="0"/>
      <dgm:spPr/>
    </dgm:pt>
    <dgm:pt modelId="{5489BA46-CC54-45C9-8D0C-F53C38ECE4B4}" type="pres">
      <dgm:prSet presAssocID="{C0205F5B-C721-48F7-A6BC-123C7BA6AE1C}" presName="horzOne" presStyleCnt="0"/>
      <dgm:spPr/>
    </dgm:pt>
    <dgm:pt modelId="{47F1D6B1-FC3B-4425-BC4C-E011A794D86A}" type="pres">
      <dgm:prSet presAssocID="{1464E9A2-585E-4B4D-A9AD-DFB4DA6AE96D}" presName="vertTwo" presStyleCnt="0"/>
      <dgm:spPr/>
    </dgm:pt>
    <dgm:pt modelId="{B83B3617-3CDB-4FCA-91F2-41B0AF9F2F6E}" type="pres">
      <dgm:prSet presAssocID="{1464E9A2-585E-4B4D-A9AD-DFB4DA6AE96D}" presName="txTwo" presStyleLbl="node2" presStyleIdx="0" presStyleCnt="2">
        <dgm:presLayoutVars>
          <dgm:chPref val="3"/>
        </dgm:presLayoutVars>
      </dgm:prSet>
      <dgm:spPr/>
    </dgm:pt>
    <dgm:pt modelId="{5B8F9F97-D1DE-49C0-BA5B-BCD3C247A91E}" type="pres">
      <dgm:prSet presAssocID="{1464E9A2-585E-4B4D-A9AD-DFB4DA6AE96D}" presName="parTransTwo" presStyleCnt="0"/>
      <dgm:spPr/>
    </dgm:pt>
    <dgm:pt modelId="{A5B5FEA4-DAF2-4FCE-B5B8-5F3F535A54EF}" type="pres">
      <dgm:prSet presAssocID="{1464E9A2-585E-4B4D-A9AD-DFB4DA6AE96D}" presName="horzTwo" presStyleCnt="0"/>
      <dgm:spPr/>
    </dgm:pt>
    <dgm:pt modelId="{34E62553-6822-4F66-8B86-6763862F3B6D}" type="pres">
      <dgm:prSet presAssocID="{125C1EF0-6F8A-4FEE-BF65-10AFDC161563}" presName="vertThree" presStyleCnt="0"/>
      <dgm:spPr/>
    </dgm:pt>
    <dgm:pt modelId="{CE1AEF6B-AF7D-46A7-998D-5C944A0DB194}" type="pres">
      <dgm:prSet presAssocID="{125C1EF0-6F8A-4FEE-BF65-10AFDC161563}" presName="txThree" presStyleLbl="node3" presStyleIdx="0" presStyleCnt="3">
        <dgm:presLayoutVars>
          <dgm:chPref val="3"/>
        </dgm:presLayoutVars>
      </dgm:prSet>
      <dgm:spPr/>
    </dgm:pt>
    <dgm:pt modelId="{D466F751-B064-461D-8D15-6E13A79DBFC9}" type="pres">
      <dgm:prSet presAssocID="{125C1EF0-6F8A-4FEE-BF65-10AFDC161563}" presName="horzThree" presStyleCnt="0"/>
      <dgm:spPr/>
    </dgm:pt>
    <dgm:pt modelId="{21A7FAAB-641C-4974-A180-7CACC7052031}" type="pres">
      <dgm:prSet presAssocID="{952884A3-D908-4921-8E0E-00E492BF84EA}" presName="sibSpaceThree" presStyleCnt="0"/>
      <dgm:spPr/>
    </dgm:pt>
    <dgm:pt modelId="{5E3A03EB-7943-4EF1-BF38-46A56980FD9D}" type="pres">
      <dgm:prSet presAssocID="{F34E3E42-E8A9-49A7-B910-C5F2FCD7894E}" presName="vertThree" presStyleCnt="0"/>
      <dgm:spPr/>
    </dgm:pt>
    <dgm:pt modelId="{A42D9089-B22A-4D7D-B993-93067F58451C}" type="pres">
      <dgm:prSet presAssocID="{F34E3E42-E8A9-49A7-B910-C5F2FCD7894E}" presName="txThree" presStyleLbl="node3" presStyleIdx="1" presStyleCnt="3">
        <dgm:presLayoutVars>
          <dgm:chPref val="3"/>
        </dgm:presLayoutVars>
      </dgm:prSet>
      <dgm:spPr/>
    </dgm:pt>
    <dgm:pt modelId="{7534CD5D-A9C3-435C-BA42-14C5295F7CB3}" type="pres">
      <dgm:prSet presAssocID="{F34E3E42-E8A9-49A7-B910-C5F2FCD7894E}" presName="horzThree" presStyleCnt="0"/>
      <dgm:spPr/>
    </dgm:pt>
    <dgm:pt modelId="{DA31B109-A8C0-4895-ADDA-1A238B5D864C}" type="pres">
      <dgm:prSet presAssocID="{A99F1001-B5F6-45EC-A64E-03C7660CBD35}" presName="sibSpaceTwo" presStyleCnt="0"/>
      <dgm:spPr/>
    </dgm:pt>
    <dgm:pt modelId="{863D4103-1159-4D04-BB4C-B5D2A00B2EE4}" type="pres">
      <dgm:prSet presAssocID="{9C85A26D-DDA4-43F9-8FB0-DEAEA5F364A9}" presName="vertTwo" presStyleCnt="0"/>
      <dgm:spPr/>
    </dgm:pt>
    <dgm:pt modelId="{BDACE347-F15D-4EF6-AB4C-CB7B0A6D4296}" type="pres">
      <dgm:prSet presAssocID="{9C85A26D-DDA4-43F9-8FB0-DEAEA5F364A9}" presName="txTwo" presStyleLbl="node2" presStyleIdx="1" presStyleCnt="2">
        <dgm:presLayoutVars>
          <dgm:chPref val="3"/>
        </dgm:presLayoutVars>
      </dgm:prSet>
      <dgm:spPr/>
    </dgm:pt>
    <dgm:pt modelId="{B158C6F7-3165-494B-A669-4751C17E2630}" type="pres">
      <dgm:prSet presAssocID="{9C85A26D-DDA4-43F9-8FB0-DEAEA5F364A9}" presName="parTransTwo" presStyleCnt="0"/>
      <dgm:spPr/>
    </dgm:pt>
    <dgm:pt modelId="{C93766ED-D34C-4545-8E4B-028713AE63CF}" type="pres">
      <dgm:prSet presAssocID="{9C85A26D-DDA4-43F9-8FB0-DEAEA5F364A9}" presName="horzTwo" presStyleCnt="0"/>
      <dgm:spPr/>
    </dgm:pt>
    <dgm:pt modelId="{0DE0D15D-AAC9-43F2-8F63-50F5FAB12EFE}" type="pres">
      <dgm:prSet presAssocID="{DFB005F4-F16D-4B27-B5BD-0CAC54D87D6A}" presName="vertThree" presStyleCnt="0"/>
      <dgm:spPr/>
    </dgm:pt>
    <dgm:pt modelId="{C5E9B9DE-0D40-4C0B-9D55-ACBE17E1B9EC}" type="pres">
      <dgm:prSet presAssocID="{DFB005F4-F16D-4B27-B5BD-0CAC54D87D6A}" presName="txThree" presStyleLbl="node3" presStyleIdx="2" presStyleCnt="3">
        <dgm:presLayoutVars>
          <dgm:chPref val="3"/>
        </dgm:presLayoutVars>
      </dgm:prSet>
      <dgm:spPr/>
    </dgm:pt>
    <dgm:pt modelId="{BD21490C-0936-4EDE-80DC-CDC9DF77D71C}" type="pres">
      <dgm:prSet presAssocID="{DFB005F4-F16D-4B27-B5BD-0CAC54D87D6A}" presName="horzThree" presStyleCnt="0"/>
      <dgm:spPr/>
    </dgm:pt>
  </dgm:ptLst>
  <dgm:cxnLst>
    <dgm:cxn modelId="{4B8A1B01-4FF8-416B-83DE-31B2919AD33B}" type="presOf" srcId="{C0205F5B-C721-48F7-A6BC-123C7BA6AE1C}" destId="{93DAA2F0-E50E-43C9-9542-CBB340770DAE}" srcOrd="0" destOrd="0" presId="urn:microsoft.com/office/officeart/2005/8/layout/hierarchy4"/>
    <dgm:cxn modelId="{E8A12F04-5B76-4EF2-B44F-7254CFF9502B}" srcId="{C0205F5B-C721-48F7-A6BC-123C7BA6AE1C}" destId="{1464E9A2-585E-4B4D-A9AD-DFB4DA6AE96D}" srcOrd="0" destOrd="0" parTransId="{AA85F697-BF30-4B72-918C-2C6F7F1C5D38}" sibTransId="{A99F1001-B5F6-45EC-A64E-03C7660CBD35}"/>
    <dgm:cxn modelId="{FE186A14-E482-454C-B28F-D9E0D9FF2622}" srcId="{1464E9A2-585E-4B4D-A9AD-DFB4DA6AE96D}" destId="{F34E3E42-E8A9-49A7-B910-C5F2FCD7894E}" srcOrd="1" destOrd="0" parTransId="{D3511BB5-5DF5-48C6-BFAE-0762267B688E}" sibTransId="{10298D8E-A5B1-466F-8D49-4601BDBC0BA7}"/>
    <dgm:cxn modelId="{27B40A17-13DD-4E39-BA50-6D9251D8BB6C}" srcId="{9C85A26D-DDA4-43F9-8FB0-DEAEA5F364A9}" destId="{DFB005F4-F16D-4B27-B5BD-0CAC54D87D6A}" srcOrd="0" destOrd="0" parTransId="{FA06BA44-6370-4AA2-A6AD-EA6516D52987}" sibTransId="{D7513C86-8E85-449E-9AB4-385EB0B6FF5C}"/>
    <dgm:cxn modelId="{4812052B-AF19-4934-A9CF-1B21A10AE54D}" srcId="{1464E9A2-585E-4B4D-A9AD-DFB4DA6AE96D}" destId="{125C1EF0-6F8A-4FEE-BF65-10AFDC161563}" srcOrd="0" destOrd="0" parTransId="{3AA1AFD7-7CBA-424D-843C-E25205568CC1}" sibTransId="{952884A3-D908-4921-8E0E-00E492BF84EA}"/>
    <dgm:cxn modelId="{7005495C-53C4-4D11-A997-EAD90416BBFA}" type="presOf" srcId="{DFB005F4-F16D-4B27-B5BD-0CAC54D87D6A}" destId="{C5E9B9DE-0D40-4C0B-9D55-ACBE17E1B9EC}" srcOrd="0" destOrd="0" presId="urn:microsoft.com/office/officeart/2005/8/layout/hierarchy4"/>
    <dgm:cxn modelId="{58AFD664-3C1C-471B-95C0-3568D989E954}" type="presOf" srcId="{F34E3E42-E8A9-49A7-B910-C5F2FCD7894E}" destId="{A42D9089-B22A-4D7D-B993-93067F58451C}" srcOrd="0" destOrd="0" presId="urn:microsoft.com/office/officeart/2005/8/layout/hierarchy4"/>
    <dgm:cxn modelId="{D8F61965-948E-4749-BF11-7874D21CA661}" type="presOf" srcId="{72FAC3BE-71C6-4BB1-AF7B-AEF5C66870DD}" destId="{2AAC891F-EDE0-4217-97A2-507FC9C2D6D3}" srcOrd="0" destOrd="0" presId="urn:microsoft.com/office/officeart/2005/8/layout/hierarchy4"/>
    <dgm:cxn modelId="{746A3347-4E04-4AAA-A506-4200EF3A31DD}" type="presOf" srcId="{9C85A26D-DDA4-43F9-8FB0-DEAEA5F364A9}" destId="{BDACE347-F15D-4EF6-AB4C-CB7B0A6D4296}" srcOrd="0" destOrd="0" presId="urn:microsoft.com/office/officeart/2005/8/layout/hierarchy4"/>
    <dgm:cxn modelId="{9BBCBA81-0B85-4D74-AAD2-D9784A4FC45B}" srcId="{72FAC3BE-71C6-4BB1-AF7B-AEF5C66870DD}" destId="{C0205F5B-C721-48F7-A6BC-123C7BA6AE1C}" srcOrd="0" destOrd="0" parTransId="{1441FDC1-E316-4E3E-B826-F63CA33B5F26}" sibTransId="{46247759-01F0-4767-BC38-0B267971A27F}"/>
    <dgm:cxn modelId="{A3F31A88-CCF7-4DB2-98F0-8A7071C0897E}" type="presOf" srcId="{1464E9A2-585E-4B4D-A9AD-DFB4DA6AE96D}" destId="{B83B3617-3CDB-4FCA-91F2-41B0AF9F2F6E}" srcOrd="0" destOrd="0" presId="urn:microsoft.com/office/officeart/2005/8/layout/hierarchy4"/>
    <dgm:cxn modelId="{04F1ACC5-69D7-4FD8-972E-97657075397A}" type="presOf" srcId="{125C1EF0-6F8A-4FEE-BF65-10AFDC161563}" destId="{CE1AEF6B-AF7D-46A7-998D-5C944A0DB194}" srcOrd="0" destOrd="0" presId="urn:microsoft.com/office/officeart/2005/8/layout/hierarchy4"/>
    <dgm:cxn modelId="{EFF713E4-EB86-4CBB-BD89-CE4260B4315E}" srcId="{C0205F5B-C721-48F7-A6BC-123C7BA6AE1C}" destId="{9C85A26D-DDA4-43F9-8FB0-DEAEA5F364A9}" srcOrd="1" destOrd="0" parTransId="{21937E37-CAFB-41DA-BEF4-CBAFF6844BB1}" sibTransId="{EF5B4A51-142C-475B-9D8B-C32841804006}"/>
    <dgm:cxn modelId="{CF6AF6B8-16BD-4715-9E73-9EA738102CC3}" type="presParOf" srcId="{2AAC891F-EDE0-4217-97A2-507FC9C2D6D3}" destId="{2EFEEBD6-C14B-4CAA-9DCD-A53874D43879}" srcOrd="0" destOrd="0" presId="urn:microsoft.com/office/officeart/2005/8/layout/hierarchy4"/>
    <dgm:cxn modelId="{AC1104F7-12B8-4DB7-A50B-3E130C371809}" type="presParOf" srcId="{2EFEEBD6-C14B-4CAA-9DCD-A53874D43879}" destId="{93DAA2F0-E50E-43C9-9542-CBB340770DAE}" srcOrd="0" destOrd="0" presId="urn:microsoft.com/office/officeart/2005/8/layout/hierarchy4"/>
    <dgm:cxn modelId="{104C9EAC-BF65-4DF9-B61B-ED4D014BF292}" type="presParOf" srcId="{2EFEEBD6-C14B-4CAA-9DCD-A53874D43879}" destId="{C2E61B1B-A151-4791-B7DC-B63B0C2A9158}" srcOrd="1" destOrd="0" presId="urn:microsoft.com/office/officeart/2005/8/layout/hierarchy4"/>
    <dgm:cxn modelId="{C50B090C-85EB-4074-93BC-B61BDF5A246F}" type="presParOf" srcId="{2EFEEBD6-C14B-4CAA-9DCD-A53874D43879}" destId="{5489BA46-CC54-45C9-8D0C-F53C38ECE4B4}" srcOrd="2" destOrd="0" presId="urn:microsoft.com/office/officeart/2005/8/layout/hierarchy4"/>
    <dgm:cxn modelId="{7072723F-6342-4188-874C-549E1F76DD76}" type="presParOf" srcId="{5489BA46-CC54-45C9-8D0C-F53C38ECE4B4}" destId="{47F1D6B1-FC3B-4425-BC4C-E011A794D86A}" srcOrd="0" destOrd="0" presId="urn:microsoft.com/office/officeart/2005/8/layout/hierarchy4"/>
    <dgm:cxn modelId="{D0DA4079-06D9-41EC-9A00-093A7F154AAB}" type="presParOf" srcId="{47F1D6B1-FC3B-4425-BC4C-E011A794D86A}" destId="{B83B3617-3CDB-4FCA-91F2-41B0AF9F2F6E}" srcOrd="0" destOrd="0" presId="urn:microsoft.com/office/officeart/2005/8/layout/hierarchy4"/>
    <dgm:cxn modelId="{13D3D7BE-10AF-4AA0-A8EC-7219F60CA37C}" type="presParOf" srcId="{47F1D6B1-FC3B-4425-BC4C-E011A794D86A}" destId="{5B8F9F97-D1DE-49C0-BA5B-BCD3C247A91E}" srcOrd="1" destOrd="0" presId="urn:microsoft.com/office/officeart/2005/8/layout/hierarchy4"/>
    <dgm:cxn modelId="{EA0145AF-952C-428F-B913-6B66612D9918}" type="presParOf" srcId="{47F1D6B1-FC3B-4425-BC4C-E011A794D86A}" destId="{A5B5FEA4-DAF2-4FCE-B5B8-5F3F535A54EF}" srcOrd="2" destOrd="0" presId="urn:microsoft.com/office/officeart/2005/8/layout/hierarchy4"/>
    <dgm:cxn modelId="{16F36D50-10BB-4E9A-82C7-0C53DB818A41}" type="presParOf" srcId="{A5B5FEA4-DAF2-4FCE-B5B8-5F3F535A54EF}" destId="{34E62553-6822-4F66-8B86-6763862F3B6D}" srcOrd="0" destOrd="0" presId="urn:microsoft.com/office/officeart/2005/8/layout/hierarchy4"/>
    <dgm:cxn modelId="{CCB645BC-83D1-4D7F-B2CE-CAEE20C3BE38}" type="presParOf" srcId="{34E62553-6822-4F66-8B86-6763862F3B6D}" destId="{CE1AEF6B-AF7D-46A7-998D-5C944A0DB194}" srcOrd="0" destOrd="0" presId="urn:microsoft.com/office/officeart/2005/8/layout/hierarchy4"/>
    <dgm:cxn modelId="{A4F395FE-68B6-4EF2-9967-D6928BA9C22C}" type="presParOf" srcId="{34E62553-6822-4F66-8B86-6763862F3B6D}" destId="{D466F751-B064-461D-8D15-6E13A79DBFC9}" srcOrd="1" destOrd="0" presId="urn:microsoft.com/office/officeart/2005/8/layout/hierarchy4"/>
    <dgm:cxn modelId="{2EEB7445-5160-4445-8245-FBCA03AC458E}" type="presParOf" srcId="{A5B5FEA4-DAF2-4FCE-B5B8-5F3F535A54EF}" destId="{21A7FAAB-641C-4974-A180-7CACC7052031}" srcOrd="1" destOrd="0" presId="urn:microsoft.com/office/officeart/2005/8/layout/hierarchy4"/>
    <dgm:cxn modelId="{75BD5B25-F8B8-44F5-8100-1B0C7F35CB7A}" type="presParOf" srcId="{A5B5FEA4-DAF2-4FCE-B5B8-5F3F535A54EF}" destId="{5E3A03EB-7943-4EF1-BF38-46A56980FD9D}" srcOrd="2" destOrd="0" presId="urn:microsoft.com/office/officeart/2005/8/layout/hierarchy4"/>
    <dgm:cxn modelId="{67BFF2A9-EFBD-42FA-9334-A5A46F3FA011}" type="presParOf" srcId="{5E3A03EB-7943-4EF1-BF38-46A56980FD9D}" destId="{A42D9089-B22A-4D7D-B993-93067F58451C}" srcOrd="0" destOrd="0" presId="urn:microsoft.com/office/officeart/2005/8/layout/hierarchy4"/>
    <dgm:cxn modelId="{F3568CA3-7712-4BAE-BD45-982A4895B5F1}" type="presParOf" srcId="{5E3A03EB-7943-4EF1-BF38-46A56980FD9D}" destId="{7534CD5D-A9C3-435C-BA42-14C5295F7CB3}" srcOrd="1" destOrd="0" presId="urn:microsoft.com/office/officeart/2005/8/layout/hierarchy4"/>
    <dgm:cxn modelId="{237F8B7F-8920-433B-8E20-2BC2F43F8161}" type="presParOf" srcId="{5489BA46-CC54-45C9-8D0C-F53C38ECE4B4}" destId="{DA31B109-A8C0-4895-ADDA-1A238B5D864C}" srcOrd="1" destOrd="0" presId="urn:microsoft.com/office/officeart/2005/8/layout/hierarchy4"/>
    <dgm:cxn modelId="{49076BC8-2E69-4E92-9DD9-0005F12B923A}" type="presParOf" srcId="{5489BA46-CC54-45C9-8D0C-F53C38ECE4B4}" destId="{863D4103-1159-4D04-BB4C-B5D2A00B2EE4}" srcOrd="2" destOrd="0" presId="urn:microsoft.com/office/officeart/2005/8/layout/hierarchy4"/>
    <dgm:cxn modelId="{33E11FCC-5ED2-44C0-8878-C4AAAD478758}" type="presParOf" srcId="{863D4103-1159-4D04-BB4C-B5D2A00B2EE4}" destId="{BDACE347-F15D-4EF6-AB4C-CB7B0A6D4296}" srcOrd="0" destOrd="0" presId="urn:microsoft.com/office/officeart/2005/8/layout/hierarchy4"/>
    <dgm:cxn modelId="{40371CBD-C668-4571-A81E-03115BED927A}" type="presParOf" srcId="{863D4103-1159-4D04-BB4C-B5D2A00B2EE4}" destId="{B158C6F7-3165-494B-A669-4751C17E2630}" srcOrd="1" destOrd="0" presId="urn:microsoft.com/office/officeart/2005/8/layout/hierarchy4"/>
    <dgm:cxn modelId="{37B3DA54-123C-44AD-8186-313BFF391231}" type="presParOf" srcId="{863D4103-1159-4D04-BB4C-B5D2A00B2EE4}" destId="{C93766ED-D34C-4545-8E4B-028713AE63CF}" srcOrd="2" destOrd="0" presId="urn:microsoft.com/office/officeart/2005/8/layout/hierarchy4"/>
    <dgm:cxn modelId="{567DDD84-1088-4F66-8D28-F423A1B43F9E}" type="presParOf" srcId="{C93766ED-D34C-4545-8E4B-028713AE63CF}" destId="{0DE0D15D-AAC9-43F2-8F63-50F5FAB12EFE}" srcOrd="0" destOrd="0" presId="urn:microsoft.com/office/officeart/2005/8/layout/hierarchy4"/>
    <dgm:cxn modelId="{738AE141-B650-4B49-AA9A-D197C5AD7C48}" type="presParOf" srcId="{0DE0D15D-AAC9-43F2-8F63-50F5FAB12EFE}" destId="{C5E9B9DE-0D40-4C0B-9D55-ACBE17E1B9EC}" srcOrd="0" destOrd="0" presId="urn:microsoft.com/office/officeart/2005/8/layout/hierarchy4"/>
    <dgm:cxn modelId="{ECEB5EB5-131E-4B4F-92F0-4E138DFC9680}" type="presParOf" srcId="{0DE0D15D-AAC9-43F2-8F63-50F5FAB12EFE}" destId="{BD21490C-0936-4EDE-80DC-CDC9DF77D71C}" srcOrd="1" destOrd="0" presId="urn:microsoft.com/office/officeart/2005/8/layout/hierarchy4"/>
  </dgm:cxnLst>
  <dgm:bg/>
  <dgm:whole/>
  <dgm:extLst>
    <a:ext uri="http://schemas.microsoft.com/office/drawing/2008/diagram">
      <dsp:dataModelExt xmlns:dsp="http://schemas.microsoft.com/office/drawing/2008/diagram" relId="rId23"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5B7D328-C201-46E3-B0A3-FDDC7A164F7F}"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IN"/>
        </a:p>
      </dgm:t>
    </dgm:pt>
    <dgm:pt modelId="{C9D81B65-A086-47FF-98B3-2CA8AFEDE5EC}" type="pres">
      <dgm:prSet presAssocID="{65B7D328-C201-46E3-B0A3-FDDC7A164F7F}" presName="Name0" presStyleCnt="0">
        <dgm:presLayoutVars>
          <dgm:dir/>
          <dgm:animLvl val="lvl"/>
          <dgm:resizeHandles/>
        </dgm:presLayoutVars>
      </dgm:prSet>
      <dgm:spPr/>
    </dgm:pt>
  </dgm:ptLst>
  <dgm:cxnLst>
    <dgm:cxn modelId="{FAF871ED-0956-4637-AA13-5E236FCD1CE7}" type="presOf" srcId="{65B7D328-C201-46E3-B0A3-FDDC7A164F7F}" destId="{C9D81B65-A086-47FF-98B3-2CA8AFEDE5EC}" srcOrd="0" destOrd="0" presId="urn:microsoft.com/office/officeart/2005/8/layout/vList6"/>
  </dgm:cxnLst>
  <dgm:bg/>
  <dgm:whole/>
  <dgm:extLst>
    <a:ext uri="http://schemas.microsoft.com/office/drawing/2008/diagram">
      <dsp:dataModelExt xmlns:dsp="http://schemas.microsoft.com/office/drawing/2008/diagram" relId="rId2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43FC87-0DAA-FE4F-B3DC-59C91B1530E0}">
      <dsp:nvSpPr>
        <dsp:cNvPr id="0" name=""/>
        <dsp:cNvSpPr/>
      </dsp:nvSpPr>
      <dsp:spPr>
        <a:xfrm rot="5400000">
          <a:off x="6470119" y="-2841457"/>
          <a:ext cx="704226" cy="6513267"/>
        </a:xfrm>
        <a:prstGeom prst="round2Same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IN" sz="1600" kern="1200" dirty="0"/>
            <a:t>Lack of equilibrium strategies between data providers (privacy, minimal sharing) and model providers (performance, utility).</a:t>
          </a:r>
          <a:endParaRPr lang="en-GB" sz="1600" kern="1200" dirty="0">
            <a:latin typeface="Times New Roman" panose="02020603050405020304" pitchFamily="18" charset="0"/>
            <a:cs typeface="Times New Roman" panose="02020603050405020304" pitchFamily="18" charset="0"/>
          </a:endParaRPr>
        </a:p>
      </dsp:txBody>
      <dsp:txXfrm rot="-5400000">
        <a:off x="3565599" y="97440"/>
        <a:ext cx="6478890" cy="635472"/>
      </dsp:txXfrm>
    </dsp:sp>
    <dsp:sp modelId="{2509E6C5-E558-994C-B4C7-DCDCB4762F21}">
      <dsp:nvSpPr>
        <dsp:cNvPr id="0" name=""/>
        <dsp:cNvSpPr/>
      </dsp:nvSpPr>
      <dsp:spPr>
        <a:xfrm>
          <a:off x="98114" y="1719"/>
          <a:ext cx="3467484" cy="82691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IN" sz="2000" b="1" kern="1200" dirty="0"/>
            <a:t>Game-Theory-Based Balance</a:t>
          </a:r>
          <a:endParaRPr lang="en-GB" sz="2000" kern="1200" dirty="0">
            <a:latin typeface="Times New Roman" panose="02020603050405020304" pitchFamily="18" charset="0"/>
            <a:cs typeface="Times New Roman" panose="02020603050405020304" pitchFamily="18" charset="0"/>
          </a:endParaRPr>
        </a:p>
      </dsp:txBody>
      <dsp:txXfrm>
        <a:off x="138481" y="42086"/>
        <a:ext cx="3386750" cy="746180"/>
      </dsp:txXfrm>
    </dsp:sp>
    <dsp:sp modelId="{AEC64D76-254D-5C4C-89E0-7E54C22BE44C}">
      <dsp:nvSpPr>
        <dsp:cNvPr id="0" name=""/>
        <dsp:cNvSpPr/>
      </dsp:nvSpPr>
      <dsp:spPr>
        <a:xfrm rot="5400000">
          <a:off x="6491467" y="-1973197"/>
          <a:ext cx="661531" cy="6513267"/>
        </a:xfrm>
        <a:prstGeom prst="round2SameRect">
          <a:avLst/>
        </a:prstGeom>
        <a:solidFill>
          <a:schemeClr val="accent2">
            <a:tint val="40000"/>
            <a:alpha val="90000"/>
            <a:hueOff val="-283075"/>
            <a:satOff val="-25115"/>
            <a:lumOff val="-256"/>
            <a:alphaOff val="0"/>
          </a:schemeClr>
        </a:solidFill>
        <a:ln w="12700" cap="flat" cmpd="sng" algn="ctr">
          <a:solidFill>
            <a:schemeClr val="accent2">
              <a:tint val="40000"/>
              <a:alpha val="90000"/>
              <a:hueOff val="-283075"/>
              <a:satOff val="-25115"/>
              <a:lumOff val="-25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IN" sz="1600" kern="1200" dirty="0"/>
            <a:t>Limited exploration of feature-aware strategies (feature extraction, generation, selection) integrated into unlearning operations.</a:t>
          </a:r>
          <a:endParaRPr lang="en-GB" sz="1600" kern="1200" dirty="0">
            <a:latin typeface="Times New Roman" panose="02020603050405020304" pitchFamily="18" charset="0"/>
            <a:cs typeface="Times New Roman" panose="02020603050405020304" pitchFamily="18" charset="0"/>
          </a:endParaRPr>
        </a:p>
      </dsp:txBody>
      <dsp:txXfrm rot="-5400000">
        <a:off x="3565600" y="984963"/>
        <a:ext cx="6480974" cy="596945"/>
      </dsp:txXfrm>
    </dsp:sp>
    <dsp:sp modelId="{5887623D-96BC-B747-A79F-E37C93CDAE33}">
      <dsp:nvSpPr>
        <dsp:cNvPr id="0" name=""/>
        <dsp:cNvSpPr/>
      </dsp:nvSpPr>
      <dsp:spPr>
        <a:xfrm>
          <a:off x="98114" y="869979"/>
          <a:ext cx="3467484" cy="826914"/>
        </a:xfrm>
        <a:prstGeom prst="roundRect">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IN" sz="2000" b="1" kern="1200" dirty="0"/>
            <a:t>Feature-Based Unlearning</a:t>
          </a:r>
          <a:endParaRPr lang="en-GB" sz="2000" kern="1200" dirty="0">
            <a:latin typeface="Times New Roman" panose="02020603050405020304" pitchFamily="18" charset="0"/>
            <a:cs typeface="Times New Roman" panose="02020603050405020304" pitchFamily="18" charset="0"/>
          </a:endParaRPr>
        </a:p>
      </dsp:txBody>
      <dsp:txXfrm>
        <a:off x="138481" y="910346"/>
        <a:ext cx="3386750" cy="746180"/>
      </dsp:txXfrm>
    </dsp:sp>
    <dsp:sp modelId="{E7972576-5D6F-FA4B-903C-6084BEDFFCF5}">
      <dsp:nvSpPr>
        <dsp:cNvPr id="0" name=""/>
        <dsp:cNvSpPr/>
      </dsp:nvSpPr>
      <dsp:spPr>
        <a:xfrm rot="5400000">
          <a:off x="6491467" y="-1104937"/>
          <a:ext cx="661531" cy="6513267"/>
        </a:xfrm>
        <a:prstGeom prst="round2SameRect">
          <a:avLst/>
        </a:prstGeom>
        <a:solidFill>
          <a:schemeClr val="accent2">
            <a:tint val="40000"/>
            <a:alpha val="90000"/>
            <a:hueOff val="-566151"/>
            <a:satOff val="-50231"/>
            <a:lumOff val="-513"/>
            <a:alphaOff val="0"/>
          </a:schemeClr>
        </a:solidFill>
        <a:ln w="12700" cap="flat" cmpd="sng" algn="ctr">
          <a:solidFill>
            <a:schemeClr val="accent2">
              <a:tint val="40000"/>
              <a:alpha val="90000"/>
              <a:hueOff val="-566151"/>
              <a:satOff val="-50231"/>
              <a:lumOff val="-51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IN" sz="1600" kern="1200" dirty="0"/>
            <a:t>Limited integration of broader attack models (membership inference, attribute inference, reconstruction, poisoning) into unlearning frameworks.</a:t>
          </a:r>
          <a:endParaRPr lang="en-GB" sz="1600" kern="1200" dirty="0">
            <a:latin typeface="Times New Roman" panose="02020603050405020304" pitchFamily="18" charset="0"/>
            <a:cs typeface="Times New Roman" panose="02020603050405020304" pitchFamily="18" charset="0"/>
          </a:endParaRPr>
        </a:p>
      </dsp:txBody>
      <dsp:txXfrm rot="-5400000">
        <a:off x="3565600" y="1853223"/>
        <a:ext cx="6480974" cy="596945"/>
      </dsp:txXfrm>
    </dsp:sp>
    <dsp:sp modelId="{A28434E8-C752-4344-82EF-D4F915620887}">
      <dsp:nvSpPr>
        <dsp:cNvPr id="0" name=""/>
        <dsp:cNvSpPr/>
      </dsp:nvSpPr>
      <dsp:spPr>
        <a:xfrm>
          <a:off x="98114" y="1738239"/>
          <a:ext cx="3467484" cy="826914"/>
        </a:xfrm>
        <a:prstGeom prst="roundRect">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IN" sz="2000" b="1" kern="1200" dirty="0"/>
            <a:t>Adversarial Threats</a:t>
          </a:r>
          <a:endParaRPr lang="en-GB" sz="2000" kern="1200" dirty="0">
            <a:latin typeface="Times New Roman" panose="02020603050405020304" pitchFamily="18" charset="0"/>
            <a:cs typeface="Times New Roman" panose="02020603050405020304" pitchFamily="18" charset="0"/>
          </a:endParaRPr>
        </a:p>
      </dsp:txBody>
      <dsp:txXfrm>
        <a:off x="138481" y="1778606"/>
        <a:ext cx="3386750" cy="746180"/>
      </dsp:txXfrm>
    </dsp:sp>
    <dsp:sp modelId="{3A7982CA-9FA5-FF49-8B87-8915B8F21519}">
      <dsp:nvSpPr>
        <dsp:cNvPr id="0" name=""/>
        <dsp:cNvSpPr/>
      </dsp:nvSpPr>
      <dsp:spPr>
        <a:xfrm rot="5400000">
          <a:off x="6491467" y="-236677"/>
          <a:ext cx="661531" cy="6513267"/>
        </a:xfrm>
        <a:prstGeom prst="round2SameRect">
          <a:avLst/>
        </a:prstGeom>
        <a:solidFill>
          <a:schemeClr val="accent2">
            <a:tint val="40000"/>
            <a:alpha val="90000"/>
            <a:hueOff val="-849226"/>
            <a:satOff val="-75346"/>
            <a:lumOff val="-769"/>
            <a:alphaOff val="0"/>
          </a:schemeClr>
        </a:solidFill>
        <a:ln w="12700" cap="flat" cmpd="sng" algn="ctr">
          <a:solidFill>
            <a:schemeClr val="accent2">
              <a:tint val="40000"/>
              <a:alpha val="90000"/>
              <a:hueOff val="-849226"/>
              <a:satOff val="-75346"/>
              <a:lumOff val="-7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IN" sz="1600" kern="1200" dirty="0"/>
            <a:t>Need for systems that incentivize users to share data responsibly while preventing misuse.</a:t>
          </a:r>
          <a:endParaRPr lang="en-GB" sz="1600" kern="1200" dirty="0">
            <a:latin typeface="Times New Roman" panose="02020603050405020304" pitchFamily="18" charset="0"/>
            <a:cs typeface="Times New Roman" panose="02020603050405020304" pitchFamily="18" charset="0"/>
          </a:endParaRPr>
        </a:p>
      </dsp:txBody>
      <dsp:txXfrm rot="-5400000">
        <a:off x="3565600" y="2721483"/>
        <a:ext cx="6480974" cy="596945"/>
      </dsp:txXfrm>
    </dsp:sp>
    <dsp:sp modelId="{CC229CB6-8123-A641-8FF9-976A0B779F84}">
      <dsp:nvSpPr>
        <dsp:cNvPr id="0" name=""/>
        <dsp:cNvSpPr/>
      </dsp:nvSpPr>
      <dsp:spPr>
        <a:xfrm>
          <a:off x="98114" y="2606499"/>
          <a:ext cx="3467484" cy="826914"/>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IN" sz="2000" b="1" kern="1200" dirty="0"/>
            <a:t>Incentive Mechanisms</a:t>
          </a:r>
          <a:endParaRPr lang="en-GB" sz="2000" kern="1200" dirty="0">
            <a:latin typeface="Times New Roman" panose="02020603050405020304" pitchFamily="18" charset="0"/>
            <a:cs typeface="Times New Roman" panose="02020603050405020304" pitchFamily="18" charset="0"/>
          </a:endParaRPr>
        </a:p>
      </dsp:txBody>
      <dsp:txXfrm>
        <a:off x="138481" y="2646866"/>
        <a:ext cx="3386750" cy="7461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43FC87-0DAA-FE4F-B3DC-59C91B1530E0}">
      <dsp:nvSpPr>
        <dsp:cNvPr id="0" name=""/>
        <dsp:cNvSpPr/>
      </dsp:nvSpPr>
      <dsp:spPr>
        <a:xfrm rot="5400000">
          <a:off x="6452600" y="-2877479"/>
          <a:ext cx="739265" cy="6513267"/>
        </a:xfrm>
        <a:prstGeom prst="round2Same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IN" sz="1600" kern="1200" dirty="0"/>
            <a:t>Difficulty in applying unlearning to large language models with billions of parameters; contributions of individual data points remain uncertain.</a:t>
          </a:r>
          <a:endParaRPr lang="en-GB" sz="1600" kern="1200" dirty="0">
            <a:latin typeface="Times New Roman" panose="02020603050405020304" pitchFamily="18" charset="0"/>
            <a:cs typeface="Times New Roman" panose="02020603050405020304" pitchFamily="18" charset="0"/>
          </a:endParaRPr>
        </a:p>
      </dsp:txBody>
      <dsp:txXfrm rot="-5400000">
        <a:off x="3565599" y="45610"/>
        <a:ext cx="6477179" cy="667089"/>
      </dsp:txXfrm>
    </dsp:sp>
    <dsp:sp modelId="{2509E6C5-E558-994C-B4C7-DCDCB4762F21}">
      <dsp:nvSpPr>
        <dsp:cNvPr id="0" name=""/>
        <dsp:cNvSpPr/>
      </dsp:nvSpPr>
      <dsp:spPr>
        <a:xfrm>
          <a:off x="98114" y="21"/>
          <a:ext cx="3467484" cy="868057"/>
        </a:xfrm>
        <a:prstGeom prst="roundRect">
          <a:avLst/>
        </a:prstGeom>
        <a:solidFill>
          <a:schemeClr val="accent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IN" sz="2000" b="1" kern="1200" dirty="0"/>
            <a:t>Foundational Models (LLMs)</a:t>
          </a:r>
          <a:endParaRPr lang="en-GB" sz="2000" kern="1200" dirty="0">
            <a:latin typeface="Times New Roman" panose="02020603050405020304" pitchFamily="18" charset="0"/>
            <a:cs typeface="Times New Roman" panose="02020603050405020304" pitchFamily="18" charset="0"/>
          </a:endParaRPr>
        </a:p>
      </dsp:txBody>
      <dsp:txXfrm>
        <a:off x="140489" y="42396"/>
        <a:ext cx="3382734" cy="783307"/>
      </dsp:txXfrm>
    </dsp:sp>
    <dsp:sp modelId="{AEC64D76-254D-5C4C-89E0-7E54C22BE44C}">
      <dsp:nvSpPr>
        <dsp:cNvPr id="0" name=""/>
        <dsp:cNvSpPr/>
      </dsp:nvSpPr>
      <dsp:spPr>
        <a:xfrm rot="5400000">
          <a:off x="6475009" y="-1911123"/>
          <a:ext cx="694445" cy="6513267"/>
        </a:xfrm>
        <a:prstGeom prst="round2SameRect">
          <a:avLst/>
        </a:prstGeom>
        <a:solidFill>
          <a:schemeClr val="accent2">
            <a:tint val="40000"/>
            <a:alpha val="90000"/>
            <a:hueOff val="-849226"/>
            <a:satOff val="-75346"/>
            <a:lumOff val="-769"/>
            <a:alphaOff val="0"/>
          </a:schemeClr>
        </a:solidFill>
        <a:ln w="12700" cap="flat" cmpd="sng" algn="ctr">
          <a:solidFill>
            <a:schemeClr val="accent2">
              <a:tint val="40000"/>
              <a:alpha val="90000"/>
              <a:hueOff val="-849226"/>
              <a:satOff val="-75346"/>
              <a:lumOff val="-7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IN" sz="1600" kern="1200" dirty="0"/>
            <a:t>Insufficient research on unlearning in evolving/streaming data ecosystems and sequential deletion requests.</a:t>
          </a:r>
          <a:endParaRPr lang="en-GB" sz="1600" kern="1200" dirty="0">
            <a:latin typeface="Times New Roman" panose="02020603050405020304" pitchFamily="18" charset="0"/>
            <a:cs typeface="Times New Roman" panose="02020603050405020304" pitchFamily="18" charset="0"/>
          </a:endParaRPr>
        </a:p>
      </dsp:txBody>
      <dsp:txXfrm rot="-5400000">
        <a:off x="3565598" y="1032188"/>
        <a:ext cx="6479367" cy="626645"/>
      </dsp:txXfrm>
    </dsp:sp>
    <dsp:sp modelId="{5887623D-96BC-B747-A79F-E37C93CDAE33}">
      <dsp:nvSpPr>
        <dsp:cNvPr id="0" name=""/>
        <dsp:cNvSpPr/>
      </dsp:nvSpPr>
      <dsp:spPr>
        <a:xfrm>
          <a:off x="98114" y="911481"/>
          <a:ext cx="3467484" cy="868057"/>
        </a:xfrm>
        <a:prstGeom prst="roundRect">
          <a:avLst/>
        </a:prstGeom>
        <a:solidFill>
          <a:schemeClr val="accent5">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IN" sz="2000" b="1" kern="1200" dirty="0"/>
            <a:t>Sequential &amp; Dynamic Unlearning</a:t>
          </a:r>
          <a:endParaRPr lang="en-GB" sz="2000" kern="1200" dirty="0">
            <a:latin typeface="Times New Roman" panose="02020603050405020304" pitchFamily="18" charset="0"/>
            <a:cs typeface="Times New Roman" panose="02020603050405020304" pitchFamily="18" charset="0"/>
          </a:endParaRPr>
        </a:p>
      </dsp:txBody>
      <dsp:txXfrm>
        <a:off x="140489" y="953856"/>
        <a:ext cx="3382734" cy="78330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E04F62-09DD-B54F-A5F1-00C00774E7AE}">
      <dsp:nvSpPr>
        <dsp:cNvPr id="0" name=""/>
        <dsp:cNvSpPr/>
      </dsp:nvSpPr>
      <dsp:spPr>
        <a:xfrm>
          <a:off x="0" y="71314"/>
          <a:ext cx="4726745" cy="79089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IN" sz="2200" b="1" kern="1200" dirty="0"/>
            <a:t>Game-Theory-Based Balance</a:t>
          </a:r>
          <a:endParaRPr lang="en-GB" sz="2200" kern="1200" dirty="0">
            <a:latin typeface="Times New Roman" panose="02020603050405020304" pitchFamily="18" charset="0"/>
            <a:cs typeface="Times New Roman" panose="02020603050405020304" pitchFamily="18" charset="0"/>
          </a:endParaRPr>
        </a:p>
      </dsp:txBody>
      <dsp:txXfrm>
        <a:off x="38608" y="109922"/>
        <a:ext cx="4649529" cy="713674"/>
      </dsp:txXfrm>
    </dsp:sp>
    <dsp:sp modelId="{7E84986F-31ED-3B4E-8C92-3D7F9539EABC}">
      <dsp:nvSpPr>
        <dsp:cNvPr id="0" name=""/>
        <dsp:cNvSpPr/>
      </dsp:nvSpPr>
      <dsp:spPr>
        <a:xfrm>
          <a:off x="0" y="954364"/>
          <a:ext cx="4726745" cy="753235"/>
        </a:xfrm>
        <a:prstGeom prst="roundRect">
          <a:avLst/>
        </a:prstGeom>
        <a:solidFill>
          <a:schemeClr val="accent2">
            <a:hueOff val="-291073"/>
            <a:satOff val="-16786"/>
            <a:lumOff val="172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IN" sz="2200" b="1" kern="1200" dirty="0"/>
            <a:t>Feature-Based Unlearning</a:t>
          </a:r>
          <a:endParaRPr lang="en-GB" sz="2200" kern="1200" dirty="0">
            <a:latin typeface="Times New Roman" panose="02020603050405020304" pitchFamily="18" charset="0"/>
            <a:cs typeface="Times New Roman" panose="02020603050405020304" pitchFamily="18" charset="0"/>
          </a:endParaRPr>
        </a:p>
      </dsp:txBody>
      <dsp:txXfrm>
        <a:off x="36770" y="991134"/>
        <a:ext cx="4653205" cy="679695"/>
      </dsp:txXfrm>
    </dsp:sp>
    <dsp:sp modelId="{5B741CD7-A409-0245-B1BB-C75CE64ABDB1}">
      <dsp:nvSpPr>
        <dsp:cNvPr id="0" name=""/>
        <dsp:cNvSpPr/>
      </dsp:nvSpPr>
      <dsp:spPr>
        <a:xfrm>
          <a:off x="0" y="1799760"/>
          <a:ext cx="4726745" cy="753235"/>
        </a:xfrm>
        <a:prstGeom prst="roundRect">
          <a:avLst/>
        </a:prstGeom>
        <a:solidFill>
          <a:schemeClr val="accent2">
            <a:hueOff val="-582145"/>
            <a:satOff val="-33571"/>
            <a:lumOff val="345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IN" sz="2200" b="1" kern="1200" dirty="0"/>
            <a:t>Adversarial Threats</a:t>
          </a:r>
          <a:endParaRPr lang="en-GB" sz="2200" kern="1200" dirty="0">
            <a:latin typeface="Times New Roman" panose="02020603050405020304" pitchFamily="18" charset="0"/>
            <a:cs typeface="Times New Roman" panose="02020603050405020304" pitchFamily="18" charset="0"/>
          </a:endParaRPr>
        </a:p>
      </dsp:txBody>
      <dsp:txXfrm>
        <a:off x="36770" y="1836530"/>
        <a:ext cx="4653205" cy="679695"/>
      </dsp:txXfrm>
    </dsp:sp>
    <dsp:sp modelId="{1696C1F1-52CA-C841-9B6E-D9D865D87518}">
      <dsp:nvSpPr>
        <dsp:cNvPr id="0" name=""/>
        <dsp:cNvSpPr/>
      </dsp:nvSpPr>
      <dsp:spPr>
        <a:xfrm>
          <a:off x="0" y="2645156"/>
          <a:ext cx="4726745" cy="753235"/>
        </a:xfrm>
        <a:prstGeom prst="roundRect">
          <a:avLst/>
        </a:prstGeom>
        <a:solidFill>
          <a:schemeClr val="accent2">
            <a:hueOff val="-873218"/>
            <a:satOff val="-50357"/>
            <a:lumOff val="51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IN" sz="2200" b="1" kern="1200" dirty="0"/>
            <a:t>Incentive Mechanisms</a:t>
          </a:r>
          <a:endParaRPr lang="en-GB" sz="2200" kern="1200" dirty="0">
            <a:latin typeface="Times New Roman" panose="02020603050405020304" pitchFamily="18" charset="0"/>
            <a:cs typeface="Times New Roman" panose="02020603050405020304" pitchFamily="18" charset="0"/>
          </a:endParaRPr>
        </a:p>
      </dsp:txBody>
      <dsp:txXfrm>
        <a:off x="36770" y="2681926"/>
        <a:ext cx="4653205" cy="679695"/>
      </dsp:txXfrm>
    </dsp:sp>
    <dsp:sp modelId="{9189BD81-23D6-4F41-A2AC-0BEB7D8C5E5A}">
      <dsp:nvSpPr>
        <dsp:cNvPr id="0" name=""/>
        <dsp:cNvSpPr/>
      </dsp:nvSpPr>
      <dsp:spPr>
        <a:xfrm>
          <a:off x="0" y="3490551"/>
          <a:ext cx="4726745" cy="753235"/>
        </a:xfrm>
        <a:prstGeom prst="roundRect">
          <a:avLst/>
        </a:prstGeom>
        <a:solidFill>
          <a:schemeClr val="accent2">
            <a:hueOff val="-1164290"/>
            <a:satOff val="-67142"/>
            <a:lumOff val="69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IN" sz="2500" b="1" kern="1200" dirty="0"/>
            <a:t>Sequential &amp; Dynamic Unlearning</a:t>
          </a:r>
          <a:endParaRPr lang="en-GB" sz="2500" kern="1200" dirty="0">
            <a:latin typeface="Times New Roman" panose="02020603050405020304" pitchFamily="18" charset="0"/>
            <a:cs typeface="Times New Roman" panose="02020603050405020304" pitchFamily="18" charset="0"/>
          </a:endParaRPr>
        </a:p>
      </dsp:txBody>
      <dsp:txXfrm>
        <a:off x="36770" y="3527321"/>
        <a:ext cx="4653205" cy="679695"/>
      </dsp:txXfrm>
    </dsp:sp>
    <dsp:sp modelId="{82BA55FB-0385-4620-AF75-7A75F6FC5B84}">
      <dsp:nvSpPr>
        <dsp:cNvPr id="0" name=""/>
        <dsp:cNvSpPr/>
      </dsp:nvSpPr>
      <dsp:spPr>
        <a:xfrm>
          <a:off x="0" y="4335947"/>
          <a:ext cx="4726745" cy="753235"/>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IN" sz="2500" b="1" kern="1200" dirty="0"/>
            <a:t>Foundational Models (LLMs)</a:t>
          </a:r>
          <a:endParaRPr lang="en-GB" sz="2500" kern="1200" dirty="0">
            <a:latin typeface="Times New Roman" panose="02020603050405020304" pitchFamily="18" charset="0"/>
            <a:cs typeface="Times New Roman" panose="02020603050405020304" pitchFamily="18" charset="0"/>
          </a:endParaRPr>
        </a:p>
      </dsp:txBody>
      <dsp:txXfrm>
        <a:off x="36770" y="4372717"/>
        <a:ext cx="4653205" cy="67969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E04F62-09DD-B54F-A5F1-00C00774E7AE}">
      <dsp:nvSpPr>
        <dsp:cNvPr id="0" name=""/>
        <dsp:cNvSpPr/>
      </dsp:nvSpPr>
      <dsp:spPr>
        <a:xfrm>
          <a:off x="0" y="0"/>
          <a:ext cx="4336211" cy="924052"/>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Systematically analyze and incorporate attack models (membership inference, attribute inference, reconstruction, poisoning, jailbreaks) into unlearning frameworks.</a:t>
          </a:r>
          <a:endParaRPr lang="en-GB" sz="1400" kern="1200" dirty="0">
            <a:latin typeface="Times New Roman" panose="02020603050405020304" pitchFamily="18" charset="0"/>
            <a:cs typeface="Times New Roman" panose="02020603050405020304" pitchFamily="18" charset="0"/>
          </a:endParaRPr>
        </a:p>
      </dsp:txBody>
      <dsp:txXfrm>
        <a:off x="45109" y="45109"/>
        <a:ext cx="4245993" cy="833834"/>
      </dsp:txXfrm>
    </dsp:sp>
    <dsp:sp modelId="{5B741CD7-A409-0245-B1BB-C75CE64ABDB1}">
      <dsp:nvSpPr>
        <dsp:cNvPr id="0" name=""/>
        <dsp:cNvSpPr/>
      </dsp:nvSpPr>
      <dsp:spPr>
        <a:xfrm>
          <a:off x="0" y="1086247"/>
          <a:ext cx="4336211" cy="697850"/>
        </a:xfrm>
        <a:prstGeom prst="roundRect">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Design and evaluate unlearning mechanisms that operate at the feature level (extraction, generation, selection) </a:t>
          </a:r>
          <a:endParaRPr lang="en-GB" sz="1400" kern="1200" dirty="0">
            <a:latin typeface="Times New Roman" panose="02020603050405020304" pitchFamily="18" charset="0"/>
            <a:cs typeface="Times New Roman" panose="02020603050405020304" pitchFamily="18" charset="0"/>
          </a:endParaRPr>
        </a:p>
      </dsp:txBody>
      <dsp:txXfrm>
        <a:off x="34066" y="1120313"/>
        <a:ext cx="4268079" cy="629718"/>
      </dsp:txXfrm>
    </dsp:sp>
    <dsp:sp modelId="{1696C1F1-52CA-C841-9B6E-D9D865D87518}">
      <dsp:nvSpPr>
        <dsp:cNvPr id="0" name=""/>
        <dsp:cNvSpPr/>
      </dsp:nvSpPr>
      <dsp:spPr>
        <a:xfrm>
          <a:off x="0" y="2225391"/>
          <a:ext cx="4336211" cy="1159499"/>
        </a:xfrm>
        <a:prstGeom prst="roundRect">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Investigate scalable methods for applying unlearning to large language models, addressing challenges of parameter scale and uncertainty in individual data contributions. </a:t>
          </a:r>
          <a:endParaRPr lang="en-GB" sz="1400" kern="1200" dirty="0">
            <a:latin typeface="Times New Roman" panose="02020603050405020304" pitchFamily="18" charset="0"/>
            <a:cs typeface="Times New Roman" panose="02020603050405020304" pitchFamily="18" charset="0"/>
          </a:endParaRPr>
        </a:p>
      </dsp:txBody>
      <dsp:txXfrm>
        <a:off x="56602" y="2281993"/>
        <a:ext cx="4223007" cy="1046295"/>
      </dsp:txXfrm>
    </dsp:sp>
    <dsp:sp modelId="{C907FC63-99B8-4DF8-BA04-9408DC83F7DD}">
      <dsp:nvSpPr>
        <dsp:cNvPr id="0" name=""/>
        <dsp:cNvSpPr/>
      </dsp:nvSpPr>
      <dsp:spPr>
        <a:xfrm>
          <a:off x="0" y="3360278"/>
          <a:ext cx="4336211" cy="117936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Develop adaptive strategies for unlearning in evolving data ecosystems, including streaming contexts and sequential deletion requests, federated settings. </a:t>
          </a:r>
          <a:endParaRPr lang="en-IN" sz="1400" kern="1200" dirty="0"/>
        </a:p>
      </dsp:txBody>
      <dsp:txXfrm>
        <a:off x="57572" y="3417850"/>
        <a:ext cx="4221067" cy="106421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EDA068-6DCD-5B44-A711-56E467C655BB}">
      <dsp:nvSpPr>
        <dsp:cNvPr id="0" name=""/>
        <dsp:cNvSpPr/>
      </dsp:nvSpPr>
      <dsp:spPr>
        <a:xfrm rot="10800000">
          <a:off x="607012" y="3203"/>
          <a:ext cx="9833535" cy="1098714"/>
        </a:xfrm>
        <a:prstGeom prst="homePlat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4503" tIns="76200" rIns="142240" bIns="76200" numCol="1" spcCol="1270" anchor="ctr" anchorCtr="0">
          <a:noAutofit/>
        </a:bodyPr>
        <a:lstStyle/>
        <a:p>
          <a:pPr marL="0" lvl="0" indent="0" algn="ctr" defTabSz="889000">
            <a:lnSpc>
              <a:spcPct val="90000"/>
            </a:lnSpc>
            <a:spcBef>
              <a:spcPct val="0"/>
            </a:spcBef>
            <a:spcAft>
              <a:spcPct val="35000"/>
            </a:spcAft>
            <a:buNone/>
          </a:pPr>
          <a:r>
            <a:rPr lang="en-US" sz="2000" kern="1200" dirty="0"/>
            <a:t>Systematically analyze and incorporate attack models (membership inference, attribute inference, reconstruction, poisoning, jailbreaks) into unlearning frameworks.</a:t>
          </a:r>
          <a:endParaRPr lang="en-GB" sz="1600" kern="1200" dirty="0">
            <a:latin typeface="Times New Roman" panose="02020603050405020304" pitchFamily="18" charset="0"/>
            <a:cs typeface="Times New Roman" panose="02020603050405020304" pitchFamily="18" charset="0"/>
          </a:endParaRPr>
        </a:p>
      </dsp:txBody>
      <dsp:txXfrm rot="10800000">
        <a:off x="881690" y="3203"/>
        <a:ext cx="9558857" cy="1098714"/>
      </dsp:txXfrm>
    </dsp:sp>
    <dsp:sp modelId="{E370F7E1-3417-D347-85AA-C3941A450E3F}">
      <dsp:nvSpPr>
        <dsp:cNvPr id="0" name=""/>
        <dsp:cNvSpPr/>
      </dsp:nvSpPr>
      <dsp:spPr>
        <a:xfrm>
          <a:off x="0" y="15739"/>
          <a:ext cx="1098714" cy="1098714"/>
        </a:xfrm>
        <a:prstGeom prst="ellipse">
          <a:avLst/>
        </a:prstGeom>
        <a:blipFill rotWithShape="1">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00B32BE-338D-354F-945F-1972DB549D0F}">
      <dsp:nvSpPr>
        <dsp:cNvPr id="0" name=""/>
        <dsp:cNvSpPr/>
      </dsp:nvSpPr>
      <dsp:spPr>
        <a:xfrm rot="10800000">
          <a:off x="607012" y="1429892"/>
          <a:ext cx="9833535" cy="1098714"/>
        </a:xfrm>
        <a:prstGeom prst="homePlate">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4503" tIns="76200" rIns="142240" bIns="76200" numCol="1" spcCol="1270" anchor="ctr" anchorCtr="0">
          <a:noAutofit/>
        </a:bodyPr>
        <a:lstStyle/>
        <a:p>
          <a:pPr marL="0" lvl="0" indent="0" algn="ctr" defTabSz="889000">
            <a:lnSpc>
              <a:spcPct val="90000"/>
            </a:lnSpc>
            <a:spcBef>
              <a:spcPct val="0"/>
            </a:spcBef>
            <a:spcAft>
              <a:spcPct val="35000"/>
            </a:spcAft>
            <a:buNone/>
          </a:pPr>
          <a:r>
            <a:rPr lang="en-US" sz="2000" kern="1200" dirty="0"/>
            <a:t>Design and evaluate unlearning mechanisms that operate at the feature level (extraction, generation, selection) </a:t>
          </a:r>
          <a:endParaRPr lang="en-GB" sz="2000" kern="1200" dirty="0">
            <a:solidFill>
              <a:schemeClr val="tx1"/>
            </a:solidFill>
            <a:latin typeface="Times New Roman" panose="02020603050405020304" pitchFamily="18" charset="0"/>
            <a:cs typeface="Times New Roman" panose="02020603050405020304" pitchFamily="18" charset="0"/>
          </a:endParaRPr>
        </a:p>
      </dsp:txBody>
      <dsp:txXfrm rot="10800000">
        <a:off x="881690" y="1429892"/>
        <a:ext cx="9558857" cy="1098714"/>
      </dsp:txXfrm>
    </dsp:sp>
    <dsp:sp modelId="{BFA21859-67FE-0744-B3BE-5E8C851783A7}">
      <dsp:nvSpPr>
        <dsp:cNvPr id="0" name=""/>
        <dsp:cNvSpPr/>
      </dsp:nvSpPr>
      <dsp:spPr>
        <a:xfrm>
          <a:off x="0" y="1442428"/>
          <a:ext cx="1098714" cy="1098714"/>
        </a:xfrm>
        <a:prstGeom prst="ellipse">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9A2A09D-B1FC-4448-8A7B-3E4A7C41367A}">
      <dsp:nvSpPr>
        <dsp:cNvPr id="0" name=""/>
        <dsp:cNvSpPr/>
      </dsp:nvSpPr>
      <dsp:spPr>
        <a:xfrm rot="10800000">
          <a:off x="607747" y="2856581"/>
          <a:ext cx="9832065" cy="1098714"/>
        </a:xfrm>
        <a:prstGeom prst="homePlate">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4503" tIns="76200" rIns="142240" bIns="76200" numCol="1" spcCol="1270" anchor="ctr" anchorCtr="0">
          <a:noAutofit/>
        </a:bodyPr>
        <a:lstStyle/>
        <a:p>
          <a:pPr marL="0" lvl="0" indent="0" algn="ctr" defTabSz="889000">
            <a:lnSpc>
              <a:spcPct val="90000"/>
            </a:lnSpc>
            <a:spcBef>
              <a:spcPct val="0"/>
            </a:spcBef>
            <a:spcAft>
              <a:spcPct val="35000"/>
            </a:spcAft>
            <a:buNone/>
          </a:pPr>
          <a:r>
            <a:rPr lang="en-US" sz="2000" kern="1200" dirty="0"/>
            <a:t>Investigate scalable methods for applying unlearning to large language models, addressing challenges of parameter scale and uncertainty in individual data contributions. </a:t>
          </a:r>
          <a:endParaRPr lang="en-GB" sz="1600" kern="1200" dirty="0">
            <a:solidFill>
              <a:schemeClr val="tx1"/>
            </a:solidFill>
            <a:latin typeface="Times New Roman" panose="02020603050405020304" pitchFamily="18" charset="0"/>
            <a:cs typeface="Times New Roman" panose="02020603050405020304" pitchFamily="18" charset="0"/>
          </a:endParaRPr>
        </a:p>
      </dsp:txBody>
      <dsp:txXfrm rot="10800000">
        <a:off x="882425" y="2856581"/>
        <a:ext cx="9557387" cy="1098714"/>
      </dsp:txXfrm>
    </dsp:sp>
    <dsp:sp modelId="{ABADC83B-53C8-154E-9872-C19DFA547FBA}">
      <dsp:nvSpPr>
        <dsp:cNvPr id="0" name=""/>
        <dsp:cNvSpPr/>
      </dsp:nvSpPr>
      <dsp:spPr>
        <a:xfrm>
          <a:off x="0" y="2844023"/>
          <a:ext cx="1098714" cy="1098714"/>
        </a:xfrm>
        <a:prstGeom prst="ellipse">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B3460A5-0C14-4337-9EFF-60B22B6C22C9}">
      <dsp:nvSpPr>
        <dsp:cNvPr id="0" name=""/>
        <dsp:cNvSpPr/>
      </dsp:nvSpPr>
      <dsp:spPr>
        <a:xfrm rot="10800000">
          <a:off x="607747" y="4283270"/>
          <a:ext cx="9832065" cy="1115316"/>
        </a:xfrm>
        <a:prstGeom prst="homePlate">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4503" tIns="76200" rIns="142240" bIns="76200" numCol="1" spcCol="1270" anchor="ctr" anchorCtr="0">
          <a:noAutofit/>
        </a:bodyPr>
        <a:lstStyle/>
        <a:p>
          <a:pPr marL="0" lvl="0" indent="0" algn="ctr" defTabSz="889000">
            <a:lnSpc>
              <a:spcPct val="90000"/>
            </a:lnSpc>
            <a:spcBef>
              <a:spcPct val="0"/>
            </a:spcBef>
            <a:spcAft>
              <a:spcPct val="35000"/>
            </a:spcAft>
            <a:buNone/>
          </a:pPr>
          <a:r>
            <a:rPr lang="en-US" sz="2000" kern="1200" dirty="0"/>
            <a:t>Develop adaptive strategies for unlearning in evolving data ecosystems, including streaming contexts and sequential deletion requests, federated settings. </a:t>
          </a:r>
          <a:endParaRPr lang="en-GB" sz="2000" kern="1200" dirty="0">
            <a:solidFill>
              <a:schemeClr val="tx1"/>
            </a:solidFill>
            <a:latin typeface="Times New Roman" panose="02020603050405020304" pitchFamily="18" charset="0"/>
            <a:cs typeface="Times New Roman" panose="02020603050405020304" pitchFamily="18" charset="0"/>
          </a:endParaRPr>
        </a:p>
      </dsp:txBody>
      <dsp:txXfrm rot="10800000">
        <a:off x="886576" y="4283270"/>
        <a:ext cx="9553236" cy="1115316"/>
      </dsp:txXfrm>
    </dsp:sp>
    <dsp:sp modelId="{CA87F486-DF9B-4BED-AB5B-E495441EB9D7}">
      <dsp:nvSpPr>
        <dsp:cNvPr id="0" name=""/>
        <dsp:cNvSpPr/>
      </dsp:nvSpPr>
      <dsp:spPr>
        <a:xfrm>
          <a:off x="0" y="4303075"/>
          <a:ext cx="1098714" cy="1098714"/>
        </a:xfrm>
        <a:prstGeom prst="ellipse">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E6B71B-021C-4B1A-BDDD-1DBA76355BDC}">
      <dsp:nvSpPr>
        <dsp:cNvPr id="0" name=""/>
        <dsp:cNvSpPr/>
      </dsp:nvSpPr>
      <dsp:spPr>
        <a:xfrm>
          <a:off x="645646" y="78014"/>
          <a:ext cx="1548281" cy="537697"/>
        </a:xfrm>
        <a:prstGeom prst="ellipse">
          <a:avLst/>
        </a:prstGeom>
        <a:solidFill>
          <a:schemeClr val="accent2">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240C6BA-0160-437B-982B-8EE48F3DBC40}">
      <dsp:nvSpPr>
        <dsp:cNvPr id="0" name=""/>
        <dsp:cNvSpPr/>
      </dsp:nvSpPr>
      <dsp:spPr>
        <a:xfrm>
          <a:off x="1272160" y="1394653"/>
          <a:ext cx="300054" cy="192034"/>
        </a:xfrm>
        <a:prstGeom prst="downArrow">
          <a:avLst/>
        </a:prstGeom>
        <a:solidFill>
          <a:schemeClr val="accent2">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9717FFF-01A6-46DC-B699-D0A4E0762375}">
      <dsp:nvSpPr>
        <dsp:cNvPr id="0" name=""/>
        <dsp:cNvSpPr/>
      </dsp:nvSpPr>
      <dsp:spPr>
        <a:xfrm>
          <a:off x="702057" y="1548281"/>
          <a:ext cx="1440261" cy="3600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IN" sz="1200" kern="1200" dirty="0"/>
            <a:t>Feature</a:t>
          </a:r>
        </a:p>
      </dsp:txBody>
      <dsp:txXfrm>
        <a:off x="702057" y="1548281"/>
        <a:ext cx="1440261" cy="360065"/>
      </dsp:txXfrm>
    </dsp:sp>
    <dsp:sp modelId="{E12ECCEF-965D-481A-90AD-68065F3DA944}">
      <dsp:nvSpPr>
        <dsp:cNvPr id="0" name=""/>
        <dsp:cNvSpPr/>
      </dsp:nvSpPr>
      <dsp:spPr>
        <a:xfrm>
          <a:off x="1208549" y="657239"/>
          <a:ext cx="540098" cy="540098"/>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IN" sz="600" kern="1200" dirty="0"/>
            <a:t>Selection</a:t>
          </a:r>
        </a:p>
      </dsp:txBody>
      <dsp:txXfrm>
        <a:off x="1287645" y="736335"/>
        <a:ext cx="381906" cy="381906"/>
      </dsp:txXfrm>
    </dsp:sp>
    <dsp:sp modelId="{5552493B-15A5-4AB3-B3DA-B2C7327B1056}">
      <dsp:nvSpPr>
        <dsp:cNvPr id="0" name=""/>
        <dsp:cNvSpPr/>
      </dsp:nvSpPr>
      <dsp:spPr>
        <a:xfrm>
          <a:off x="822078" y="252045"/>
          <a:ext cx="540098" cy="540098"/>
        </a:xfrm>
        <a:prstGeom prst="ellipse">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IN" sz="600" kern="1200" dirty="0"/>
            <a:t>Generation</a:t>
          </a:r>
        </a:p>
      </dsp:txBody>
      <dsp:txXfrm>
        <a:off x="901174" y="331141"/>
        <a:ext cx="381906" cy="381906"/>
      </dsp:txXfrm>
    </dsp:sp>
    <dsp:sp modelId="{67B1959A-1A74-40A0-8B7D-CE4032885DEB}">
      <dsp:nvSpPr>
        <dsp:cNvPr id="0" name=""/>
        <dsp:cNvSpPr/>
      </dsp:nvSpPr>
      <dsp:spPr>
        <a:xfrm>
          <a:off x="1374179" y="121462"/>
          <a:ext cx="540098" cy="540098"/>
        </a:xfrm>
        <a:prstGeom prst="ellipse">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IN" sz="600" kern="1200" dirty="0"/>
            <a:t>Extraction</a:t>
          </a:r>
        </a:p>
      </dsp:txBody>
      <dsp:txXfrm>
        <a:off x="1453275" y="200558"/>
        <a:ext cx="381906" cy="381906"/>
      </dsp:txXfrm>
    </dsp:sp>
    <dsp:sp modelId="{3757AC3A-F031-47B0-A6F1-FFF174A6B0BC}">
      <dsp:nvSpPr>
        <dsp:cNvPr id="0" name=""/>
        <dsp:cNvSpPr/>
      </dsp:nvSpPr>
      <dsp:spPr>
        <a:xfrm>
          <a:off x="582035" y="12002"/>
          <a:ext cx="1680305" cy="1344244"/>
        </a:xfrm>
        <a:prstGeom prst="funnel">
          <a:avLst/>
        </a:prstGeom>
        <a:solidFill>
          <a:schemeClr val="lt1">
            <a:alpha val="4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8768B7-8A51-4E0F-ABEE-3CF71C2669BD}">
      <dsp:nvSpPr>
        <dsp:cNvPr id="0" name=""/>
        <dsp:cNvSpPr/>
      </dsp:nvSpPr>
      <dsp:spPr>
        <a:xfrm>
          <a:off x="1085798" y="262126"/>
          <a:ext cx="1892402" cy="1017669"/>
        </a:xfrm>
        <a:prstGeom prst="round2DiagRect">
          <a:avLst>
            <a:gd name="adj1" fmla="val 0"/>
            <a:gd name="adj2" fmla="val 1667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C76EFE-8E8C-43D2-9466-BB1682D73BEE}">
      <dsp:nvSpPr>
        <dsp:cNvPr id="0" name=""/>
        <dsp:cNvSpPr/>
      </dsp:nvSpPr>
      <dsp:spPr>
        <a:xfrm>
          <a:off x="2031999" y="370061"/>
          <a:ext cx="252" cy="801799"/>
        </a:xfrm>
        <a:prstGeom prst="line">
          <a:avLst/>
        </a:prstGeom>
        <a:solidFill>
          <a:schemeClr val="accent5">
            <a:hueOff val="0"/>
            <a:satOff val="0"/>
            <a:lumOff val="0"/>
            <a:alphaOff val="0"/>
          </a:schemeClr>
        </a:solidFill>
        <a:ln w="12700" cap="flat" cmpd="sng" algn="ctr">
          <a:solidFill>
            <a:schemeClr val="accent5">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0A9ECE0-D703-404C-AE3A-80AFABD2C7B3}">
      <dsp:nvSpPr>
        <dsp:cNvPr id="0" name=""/>
        <dsp:cNvSpPr/>
      </dsp:nvSpPr>
      <dsp:spPr>
        <a:xfrm>
          <a:off x="1148879" y="339223"/>
          <a:ext cx="820040" cy="863476"/>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kern="1200" dirty="0"/>
            <a:t>Influence of Sample</a:t>
          </a:r>
        </a:p>
      </dsp:txBody>
      <dsp:txXfrm>
        <a:off x="1148879" y="339223"/>
        <a:ext cx="820040" cy="863476"/>
      </dsp:txXfrm>
    </dsp:sp>
    <dsp:sp modelId="{64715656-D76C-4D70-9420-F6C617B706B8}">
      <dsp:nvSpPr>
        <dsp:cNvPr id="0" name=""/>
        <dsp:cNvSpPr/>
      </dsp:nvSpPr>
      <dsp:spPr>
        <a:xfrm>
          <a:off x="2095080" y="339223"/>
          <a:ext cx="820040" cy="863476"/>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kern="1200" dirty="0"/>
            <a:t>Influence of  Feature</a:t>
          </a:r>
        </a:p>
      </dsp:txBody>
      <dsp:txXfrm>
        <a:off x="2095080" y="339223"/>
        <a:ext cx="820040" cy="863476"/>
      </dsp:txXfrm>
    </dsp:sp>
    <dsp:sp modelId="{B3E6BED8-D75A-4964-86AE-0234122633AA}">
      <dsp:nvSpPr>
        <dsp:cNvPr id="0" name=""/>
        <dsp:cNvSpPr/>
      </dsp:nvSpPr>
      <dsp:spPr>
        <a:xfrm rot="16200000">
          <a:off x="373006" y="397392"/>
          <a:ext cx="1110184" cy="315400"/>
        </a:xfrm>
        <a:prstGeom prst="rightArrow">
          <a:avLst>
            <a:gd name="adj1" fmla="val 49830"/>
            <a:gd name="adj2" fmla="val 60660"/>
          </a:avLst>
        </a:prstGeom>
        <a:solidFill>
          <a:schemeClr val="accent5">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r" defTabSz="311150">
            <a:lnSpc>
              <a:spcPct val="90000"/>
            </a:lnSpc>
            <a:spcBef>
              <a:spcPct val="0"/>
            </a:spcBef>
            <a:spcAft>
              <a:spcPct val="35000"/>
            </a:spcAft>
            <a:buNone/>
          </a:pPr>
          <a:r>
            <a:rPr lang="en-IN" sz="700" kern="1200" dirty="0"/>
            <a:t>Influence</a:t>
          </a:r>
        </a:p>
      </dsp:txBody>
      <dsp:txXfrm>
        <a:off x="420674" y="524178"/>
        <a:ext cx="1014848" cy="157164"/>
      </dsp:txXfrm>
    </dsp:sp>
    <dsp:sp modelId="{770E98E5-693C-4665-8BD3-5DEF247B1053}">
      <dsp:nvSpPr>
        <dsp:cNvPr id="0" name=""/>
        <dsp:cNvSpPr/>
      </dsp:nvSpPr>
      <dsp:spPr>
        <a:xfrm rot="5400000">
          <a:off x="2580808" y="829130"/>
          <a:ext cx="1110184" cy="315400"/>
        </a:xfrm>
        <a:prstGeom prst="rightArrow">
          <a:avLst>
            <a:gd name="adj1" fmla="val 49830"/>
            <a:gd name="adj2" fmla="val 60660"/>
          </a:avLst>
        </a:prstGeom>
        <a:solidFill>
          <a:schemeClr val="accent5">
            <a:tint val="50000"/>
            <a:hueOff val="-6685025"/>
            <a:satOff val="-25325"/>
            <a:lumOff val="841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r" defTabSz="311150">
            <a:lnSpc>
              <a:spcPct val="90000"/>
            </a:lnSpc>
            <a:spcBef>
              <a:spcPct val="0"/>
            </a:spcBef>
            <a:spcAft>
              <a:spcPct val="35000"/>
            </a:spcAft>
            <a:buNone/>
          </a:pPr>
          <a:r>
            <a:rPr lang="en-IN" sz="700" kern="1200" dirty="0"/>
            <a:t>Influence</a:t>
          </a:r>
        </a:p>
      </dsp:txBody>
      <dsp:txXfrm>
        <a:off x="2628476" y="860580"/>
        <a:ext cx="1014848" cy="15716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DAA2F0-E50E-43C9-9542-CBB340770DAE}">
      <dsp:nvSpPr>
        <dsp:cNvPr id="0" name=""/>
        <dsp:cNvSpPr/>
      </dsp:nvSpPr>
      <dsp:spPr>
        <a:xfrm>
          <a:off x="0" y="0"/>
          <a:ext cx="3815833" cy="52740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IN" sz="2300" kern="1200" dirty="0"/>
            <a:t>Game-Theoretic Framework </a:t>
          </a:r>
        </a:p>
      </dsp:txBody>
      <dsp:txXfrm>
        <a:off x="15447" y="15447"/>
        <a:ext cx="3784939" cy="496515"/>
      </dsp:txXfrm>
    </dsp:sp>
    <dsp:sp modelId="{B83B3617-3CDB-4FCA-91F2-41B0AF9F2F6E}">
      <dsp:nvSpPr>
        <dsp:cNvPr id="0" name=""/>
        <dsp:cNvSpPr/>
      </dsp:nvSpPr>
      <dsp:spPr>
        <a:xfrm>
          <a:off x="437" y="593545"/>
          <a:ext cx="2492620" cy="52740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b="1" kern="1200" dirty="0"/>
            <a:t>Game Type:</a:t>
          </a:r>
          <a:r>
            <a:rPr lang="en-IN" sz="1300" kern="1200" dirty="0"/>
            <a:t> Stackelberg game, </a:t>
          </a:r>
          <a:r>
            <a:rPr lang="en-IN" sz="1300" kern="1200" dirty="0" err="1"/>
            <a:t>static,dynamic</a:t>
          </a:r>
          <a:r>
            <a:rPr lang="en-IN" sz="1300" kern="1200" dirty="0"/>
            <a:t> ,etc</a:t>
          </a:r>
        </a:p>
      </dsp:txBody>
      <dsp:txXfrm>
        <a:off x="15884" y="608992"/>
        <a:ext cx="2461726" cy="496515"/>
      </dsp:txXfrm>
    </dsp:sp>
    <dsp:sp modelId="{CE1AEF6B-AF7D-46A7-998D-5C944A0DB194}">
      <dsp:nvSpPr>
        <dsp:cNvPr id="0" name=""/>
        <dsp:cNvSpPr/>
      </dsp:nvSpPr>
      <dsp:spPr>
        <a:xfrm>
          <a:off x="437" y="1186703"/>
          <a:ext cx="1220675" cy="527409"/>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IN" sz="1000" kern="1200" dirty="0"/>
            <a:t>Strategy Space : Feature weights and selection masks </a:t>
          </a:r>
        </a:p>
      </dsp:txBody>
      <dsp:txXfrm>
        <a:off x="15884" y="1202150"/>
        <a:ext cx="1189781" cy="496515"/>
      </dsp:txXfrm>
    </dsp:sp>
    <dsp:sp modelId="{A42D9089-B22A-4D7D-B993-93067F58451C}">
      <dsp:nvSpPr>
        <dsp:cNvPr id="0" name=""/>
        <dsp:cNvSpPr/>
      </dsp:nvSpPr>
      <dsp:spPr>
        <a:xfrm>
          <a:off x="1272382" y="1186703"/>
          <a:ext cx="1220675" cy="527409"/>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IN" sz="1000" kern="1200" dirty="0"/>
            <a:t>Adversary</a:t>
          </a:r>
        </a:p>
      </dsp:txBody>
      <dsp:txXfrm>
        <a:off x="1287829" y="1202150"/>
        <a:ext cx="1189781" cy="496515"/>
      </dsp:txXfrm>
    </dsp:sp>
    <dsp:sp modelId="{BDACE347-F15D-4EF6-AB4C-CB7B0A6D4296}">
      <dsp:nvSpPr>
        <dsp:cNvPr id="0" name=""/>
        <dsp:cNvSpPr/>
      </dsp:nvSpPr>
      <dsp:spPr>
        <a:xfrm>
          <a:off x="2595595" y="593545"/>
          <a:ext cx="1220675" cy="52740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dirty="0"/>
            <a:t>Player : </a:t>
          </a:r>
          <a:r>
            <a:rPr lang="en-IN" sz="1300" b="1" kern="1200" dirty="0"/>
            <a:t>Model Provider </a:t>
          </a:r>
          <a:endParaRPr lang="en-IN" sz="1300" kern="1200" dirty="0"/>
        </a:p>
      </dsp:txBody>
      <dsp:txXfrm>
        <a:off x="2611042" y="608992"/>
        <a:ext cx="1189781" cy="496515"/>
      </dsp:txXfrm>
    </dsp:sp>
    <dsp:sp modelId="{C5E9B9DE-0D40-4C0B-9D55-ACBE17E1B9EC}">
      <dsp:nvSpPr>
        <dsp:cNvPr id="0" name=""/>
        <dsp:cNvSpPr/>
      </dsp:nvSpPr>
      <dsp:spPr>
        <a:xfrm>
          <a:off x="2595595" y="1186703"/>
          <a:ext cx="1220675" cy="527409"/>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IN" sz="1000" kern="1200" dirty="0"/>
            <a:t>Player : Data Provider</a:t>
          </a:r>
        </a:p>
      </dsp:txBody>
      <dsp:txXfrm>
        <a:off x="2611042" y="1202150"/>
        <a:ext cx="1189781" cy="49651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layout7.xml><?xml version="1.0" encoding="utf-8"?>
<dgm:layoutDef xmlns:dgm="http://schemas.openxmlformats.org/drawingml/2006/diagram" xmlns:a="http://schemas.openxmlformats.org/drawingml/2006/main" uniqueId="urn:microsoft.com/office/officeart/2009/3/layout/OpposingIdeas">
  <dgm:title val=""/>
  <dgm:desc val=""/>
  <dgm:catLst>
    <dgm:cat type="relationship" pri="3400"/>
  </dgm:catLst>
  <dgm:sampData>
    <dgm:dataModel>
      <dgm:ptLst>
        <dgm:pt modelId="0" type="doc"/>
        <dgm:pt modelId="10">
          <dgm:prSet phldr="1"/>
        </dgm:pt>
        <dgm:pt modelId="11">
          <dgm:prSet phldr="1"/>
        </dgm:pt>
        <dgm:pt modelId="20">
          <dgm:prSet phldr="1"/>
        </dgm:pt>
        <dgm:pt modelId="21">
          <dgm:prSet phldr="1"/>
        </dgm:pt>
      </dgm:ptLst>
      <dgm:cxnLst>
        <dgm:cxn modelId="30" srcId="0" destId="10" srcOrd="0" destOrd="0"/>
        <dgm:cxn modelId="12" srcId="10" destId="11" srcOrd="0" destOrd="0"/>
        <dgm:cxn modelId="40" srcId="0" destId="20" srcOrd="1" destOrd="0"/>
        <dgm:cxn modelId="22" srcId="20" destId="2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30" srcId="0" destId="10" srcOrd="0" destOrd="0"/>
        <dgm:cxn modelId="12" srcId="10" destId="11" srcOrd="0" destOrd="0"/>
        <dgm:cxn modelId="4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Lst>
      <dgm:cxnLst>
        <dgm:cxn modelId="30" srcId="0" destId="10" srcOrd="0" destOrd="0"/>
        <dgm:cxn modelId="12" srcId="10" destId="11" srcOrd="0" destOrd="0"/>
        <dgm:cxn modelId="40" srcId="0" destId="20" srcOrd="1" destOrd="0"/>
        <dgm:cxn modelId="22" srcId="20" destId="21" srcOrd="0" destOrd="0"/>
      </dgm:cxnLst>
      <dgm:bg/>
      <dgm:whole/>
    </dgm:dataModel>
  </dgm:clrData>
  <dgm:layoutNode name="Name0">
    <dgm:varLst>
      <dgm:chMax val="2"/>
      <dgm:dir/>
      <dgm:animOne val="branch"/>
      <dgm:animLvl val="lvl"/>
      <dgm:resizeHandles val="exact"/>
    </dgm:varLst>
    <dgm:choose name="Name1">
      <dgm:if name="Name2" axis="ch" ptType="node" func="cnt" op="lte" val="1">
        <dgm:alg type="composite">
          <dgm:param type="ar" val="0.9928"/>
        </dgm:alg>
      </dgm:if>
      <dgm:else name="Name3">
        <dgm:alg type="composite">
          <dgm:param type="ar" val="1.6364"/>
        </dgm:alg>
      </dgm:else>
    </dgm:choose>
    <dgm:shape xmlns:r="http://schemas.openxmlformats.org/officeDocument/2006/relationships" r:blip="">
      <dgm:adjLst/>
    </dgm:shape>
    <dgm:choose name="Name4">
      <dgm:if name="Name5" func="var" arg="dir" op="equ" val="norm">
        <dgm:choose name="Name6">
          <dgm:if name="Name7" axis="ch" ptType="node" func="cnt" op="lte" val="1">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l" for="ch" forName="ChildText1" refType="w" fact="0.2963"/>
              <dgm:constr type="t" for="ch" forName="ChildText1" refType="h" fact="0.2722"/>
              <dgm:constr type="w" for="ch" forName="ChildText1" refType="w" fact="0.6534"/>
              <dgm:constr type="h" for="ch" forName="ChildText1" refType="h" fact="0.6682"/>
              <dgm:constr type="l" for="ch" forName="Background" refType="w" fact="0.246"/>
              <dgm:constr type="t" for="ch" forName="Background" refType="h" fact="0.2125"/>
              <dgm:constr type="w" for="ch" forName="Background" refType="w" fact="0.754"/>
              <dgm:constr type="h" for="ch" forName="Background" refType="h" fact="0.7875"/>
              <dgm:constr type="l" for="ch" forName="ParentText1" refType="w" fact="0"/>
              <dgm:constr type="t" for="ch" forName="ParentText1" refType="h" fact="0"/>
              <dgm:constr type="w" for="ch" forName="ParentText1" refType="w" fact="0.234"/>
              <dgm:constr type="h" for="ch" forName="ParentText1" refType="h" fact="0.8713"/>
              <dgm:constr type="l" for="ch" forName="ParentShape1" refType="w" fact="0"/>
              <dgm:constr type="t" for="ch" forName="ParentShape1" refType="h" fact="0"/>
              <dgm:constr type="w" for="ch" forName="ParentShape1" refType="w" fact="0.234"/>
              <dgm:constr type="h" for="ch" forName="ParentShape1" refType="h" fact="0.8713"/>
            </dgm:constrLst>
          </dgm:if>
          <dgm:else name="Name8">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l" for="ch" forName="ChildText1" refType="w" fact="0.15"/>
              <dgm:constr type="t" for="ch" forName="ChildText1" refType="h" fact="0.22"/>
              <dgm:constr type="w" for="ch" forName="ChildText1" refType="w" fact="0.325"/>
              <dgm:constr type="h" for="ch" forName="ChildText1" refType="h" fact="0.56"/>
              <dgm:constr type="l" for="ch" forName="ChildText2" refType="w" fact="0.525"/>
              <dgm:constr type="t" for="ch" forName="ChildText2" refType="h" fact="0.22"/>
              <dgm:constr type="w" for="ch" forName="ChildText2" refType="w" fact="0.325"/>
              <dgm:constr type="h" for="ch" forName="ChildText2" refType="h" fact="0.56"/>
              <dgm:constr type="l" for="ch" forName="Background" refType="w" fact="0.125"/>
              <dgm:constr type="t" for="ch" forName="Background" refType="h" fact="0.17"/>
              <dgm:constr type="w" for="ch" forName="Background" refType="w" fact="0.75"/>
              <dgm:constr type="h" for="ch" forName="Background" refType="h" fact="0.66"/>
              <dgm:constr type="l" for="ch" forName="ParentText1" refType="w" fact="0"/>
              <dgm:constr type="t" for="ch" forName="ParentText1" refType="h" fact="0"/>
              <dgm:constr type="w" for="ch" forName="ParentText1" refType="w" fact="0.125"/>
              <dgm:constr type="h" for="ch" forName="ParentText1" refType="h" fact="0.72"/>
              <dgm:constr type="l" for="ch" forName="ParentShape1" refType="w" fact="0"/>
              <dgm:constr type="t" for="ch" forName="ParentShape1" refType="h" fact="0"/>
              <dgm:constr type="w" for="ch" forName="ParentShape1" refType="w" fact="0.125"/>
              <dgm:constr type="h" for="ch" forName="ParentShape1" refType="h" fact="0.72"/>
              <dgm:constr type="l" for="ch" forName="ParentText2" refType="w" fact="0.875"/>
              <dgm:constr type="t" for="ch" forName="ParentText2" refType="h" fact="0.28"/>
              <dgm:constr type="w" for="ch" forName="ParentText2" refType="w" fact="0.125"/>
              <dgm:constr type="h" for="ch" forName="ParentText2" refType="h" fact="0.72"/>
              <dgm:constr type="l" for="ch" forName="ParentShape2" refType="w" fact="0.875"/>
              <dgm:constr type="t" for="ch" forName="ParentShape2" refType="h" fact="0.28"/>
              <dgm:constr type="w" for="ch" forName="ParentShape2" refType="w" fact="0.125"/>
              <dgm:constr type="h" for="ch" forName="ParentShape2" refType="h" fact="0.72"/>
              <dgm:constr type="l" for="ch" forName="Divider" refType="w" fact="0.5"/>
              <dgm:constr type="t" for="ch" forName="Divider" refType="h" fact="0.24"/>
              <dgm:constr type="w" for="ch" forName="Divider" refType="w" fact="0.0001"/>
              <dgm:constr type="h" for="ch" forName="Divider" refType="h" fact="0.52"/>
            </dgm:constrLst>
          </dgm:else>
        </dgm:choose>
      </dgm:if>
      <dgm:else name="Name9">
        <dgm:choose name="Name10">
          <dgm:if name="Name11" axis="ch" ptType="node" func="cnt" op="lte" val="1">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r" for="ch" forName="ChildText1" refType="w" fact="-0.2455"/>
              <dgm:constr type="t" for="ch" forName="ChildText1" refType="h" fact="0.2651"/>
              <dgm:constr type="w" for="ch" forName="ChildText1" refType="w" fact="0.5351"/>
              <dgm:constr type="h" for="ch" forName="ChildText1" refType="h" fact="0.56"/>
              <dgm:constr type="r" for="ch" forName="Background" refType="w" fact="-0.246"/>
              <dgm:constr type="t" for="ch" forName="Background" refType="h" fact="0.2125"/>
              <dgm:constr type="w" for="ch" forName="Background" refType="w" fact="0.754"/>
              <dgm:constr type="h" for="ch" forName="Background" refType="h" fact="0.7875"/>
              <dgm:constr type="r" for="ch" forName="ParentText1" refType="w" fact="0"/>
              <dgm:constr type="t" for="ch" forName="ParentText1" refType="h" fact="0"/>
              <dgm:constr type="w" for="ch" forName="ParentText1" refType="w" fact="0.234"/>
              <dgm:constr type="h" for="ch" forName="ParentText1" refType="h" fact="0.8713"/>
              <dgm:constr type="r" for="ch" forName="ParentShape1" refType="w" fact="0"/>
              <dgm:constr type="t" for="ch" forName="ParentShape1" refType="h" fact="0"/>
              <dgm:constr type="w" for="ch" forName="ParentShape1" refType="w" fact="0.234"/>
              <dgm:constr type="h" for="ch" forName="ParentShape1" refType="h" fact="0.8713"/>
            </dgm:constrLst>
          </dgm:if>
          <dgm:else name="Name12">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r" for="ch" forName="ChildText1" refType="w" fact="-0.15"/>
              <dgm:constr type="t" for="ch" forName="ChildText1" refType="h" fact="0.22"/>
              <dgm:constr type="w" for="ch" forName="ChildText1" refType="w" fact="0.325"/>
              <dgm:constr type="h" for="ch" forName="ChildText1" refType="h" fact="0.56"/>
              <dgm:constr type="r" for="ch" forName="ChildText2" refType="w" fact="-0.525"/>
              <dgm:constr type="t" for="ch" forName="ChildText2" refType="h" fact="0.22"/>
              <dgm:constr type="w" for="ch" forName="ChildText2" refType="w" fact="0.325"/>
              <dgm:constr type="h" for="ch" forName="ChildText2" refType="h" fact="0.56"/>
              <dgm:constr type="r" for="ch" forName="Background" refType="w" fact="-0.125"/>
              <dgm:constr type="t" for="ch" forName="Background" refType="h" fact="0.17"/>
              <dgm:constr type="w" for="ch" forName="Background" refType="w" fact="0.75"/>
              <dgm:constr type="h" for="ch" forName="Background" refType="h" fact="0.66"/>
              <dgm:constr type="r" for="ch" forName="ParentText1" refType="w" fact="0"/>
              <dgm:constr type="t" for="ch" forName="ParentText1" refType="h" fact="0"/>
              <dgm:constr type="w" for="ch" forName="ParentText1" refType="w" fact="0.125"/>
              <dgm:constr type="h" for="ch" forName="ParentText1" refType="h" fact="0.72"/>
              <dgm:constr type="r" for="ch" forName="ParentShape1" refType="w" fact="0"/>
              <dgm:constr type="t" for="ch" forName="ParentShape1" refType="h" fact="0"/>
              <dgm:constr type="w" for="ch" forName="ParentShape1" refType="w" fact="0.125"/>
              <dgm:constr type="h" for="ch" forName="ParentShape1" refType="h" fact="0.72"/>
              <dgm:constr type="r" for="ch" forName="ParentText2" refType="w" fact="-0.875"/>
              <dgm:constr type="t" for="ch" forName="ParentText2" refType="h" fact="0.28"/>
              <dgm:constr type="w" for="ch" forName="ParentText2" refType="w" fact="0.125"/>
              <dgm:constr type="h" for="ch" forName="ParentText2" refType="h" fact="0.72"/>
              <dgm:constr type="r" for="ch" forName="ParentShape2" refType="w" fact="-0.875"/>
              <dgm:constr type="t" for="ch" forName="ParentShape2" refType="h" fact="0.28"/>
              <dgm:constr type="w" for="ch" forName="ParentShape2" refType="w" fact="0.125"/>
              <dgm:constr type="h" for="ch" forName="ParentShape2" refType="h" fact="0.72"/>
              <dgm:constr type="r" for="ch" forName="Divider" refType="w" fact="-0.5"/>
              <dgm:constr type="t" for="ch" forName="Divider" refType="h" fact="0.24"/>
              <dgm:constr type="w" for="ch" forName="Divider" refType="w" fact="0.0001"/>
              <dgm:constr type="h" for="ch" forName="Divider" refType="h" fact="0.52"/>
            </dgm:constrLst>
          </dgm:else>
        </dgm:choose>
      </dgm:else>
    </dgm:choose>
    <dgm:choose name="Name13">
      <dgm:if name="Name14" axis="ch" ptType="node" func="cnt" op="gte" val="1">
        <dgm:layoutNode name="Background" styleLbl="node1">
          <dgm:alg type="sp"/>
          <dgm:choose name="Name15">
            <dgm:if name="Name16" func="var" arg="dir" op="equ" val="norm">
              <dgm:shape xmlns:r="http://schemas.openxmlformats.org/officeDocument/2006/relationships" type="round2DiagRect" r:blip="">
                <dgm:adjLst>
                  <dgm:adj idx="1" val="0"/>
                  <dgm:adj idx="2" val="0.1667"/>
                </dgm:adjLst>
              </dgm:shape>
            </dgm:if>
            <dgm:else name="Name17">
              <dgm:shape xmlns:r="http://schemas.openxmlformats.org/officeDocument/2006/relationships" type="round2DiagRect" r:blip="">
                <dgm:adjLst>
                  <dgm:adj idx="1" val="0.1667"/>
                  <dgm:adj idx="2" val="0"/>
                </dgm:adjLst>
              </dgm:shape>
            </dgm:else>
          </dgm:choose>
          <dgm:presOf/>
        </dgm:layoutNode>
        <dgm:choose name="Name18">
          <dgm:if name="Name19" axis="ch" ptType="node" func="cnt" op="gte" val="2">
            <dgm:layoutNode name="Divider" styleLbl="callout">
              <dgm:alg type="sp"/>
              <dgm:shape xmlns:r="http://schemas.openxmlformats.org/officeDocument/2006/relationships" type="line" r:blip="">
                <dgm:adjLst/>
              </dgm:shape>
              <dgm:presOf/>
            </dgm:layoutNode>
          </dgm:if>
          <dgm:else name="Name20"/>
        </dgm:choose>
        <dgm:layoutNode name="ChildText1" styleLbl="revTx">
          <dgm:varLst>
            <dgm:chMax val="0"/>
            <dgm:chPref val="0"/>
            <dgm:bulletEnabled val="1"/>
          </dgm:varLst>
          <dgm:alg type="tx">
            <dgm:param type="parTxLTRAlign" val="l"/>
            <dgm:param type="txAnchorVert" val="t"/>
          </dgm:alg>
          <dgm:shape xmlns:r="http://schemas.openxmlformats.org/officeDocument/2006/relationships" type="rect" r:blip="" hideGeom="1">
            <dgm:adjLst/>
          </dgm:shape>
          <dgm:presOf axis="ch des"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21">
          <dgm:if name="Name22" axis="ch" ptType="node" func="cnt" op="gte" val="2">
            <dgm:layoutNode name="ChildText2" styleLbl="revTx">
              <dgm:varLst>
                <dgm:chMax val="0"/>
                <dgm:chPref val="0"/>
                <dgm:bulletEnabled val="1"/>
              </dgm:varLst>
              <dgm:alg type="tx">
                <dgm:param type="parTxLTRAlign" val="l"/>
                <dgm:param type="txAnchorVert" val="t"/>
              </dgm:alg>
              <dgm:shape xmlns:r="http://schemas.openxmlformats.org/officeDocument/2006/relationships" type="rect" r:blip="" hideGeom="1">
                <dgm:adjLst/>
              </dgm:shape>
              <dgm:presOf axis="ch des"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3"/>
        </dgm:choose>
        <dgm:layoutNode name="ParentText1" styleLbl="revTx">
          <dgm:varLst>
            <dgm:chMax val="1"/>
            <dgm:chPref val="1"/>
          </dgm:varLst>
          <dgm:choose name="Name24">
            <dgm:if name="Name25" func="var" arg="dir" op="equ" val="norm">
              <dgm:alg type="tx">
                <dgm:param type="parTxLTRAlign" val="r"/>
                <dgm:param type="shpTxLTRAlignCh" val="r"/>
                <dgm:param type="txAnchorVertCh" val="mid"/>
                <dgm:param type="autoTxRot" val="grav"/>
              </dgm:alg>
            </dgm:if>
            <dgm:else name="Name26">
              <dgm:alg type="tx">
                <dgm:param type="parTxLTRAlign" val="l"/>
                <dgm:param type="shpTxLTRAlignCh" val="r"/>
                <dgm:param type="txAnchorVertCh" val="mid"/>
                <dgm:param type="autoTxRot" val="grav"/>
              </dgm:alg>
            </dgm:else>
          </dgm:choose>
          <dgm:choose name="Name27">
            <dgm:if name="Name28" func="var" arg="dir" op="equ" val="norm">
              <dgm:shape xmlns:r="http://schemas.openxmlformats.org/officeDocument/2006/relationships" rot="-90" type="rightArrow" r:blip="" hideGeom="1">
                <dgm:adjLst>
                  <dgm:adj idx="1" val="0.4983"/>
                  <dgm:adj idx="2" val="0.6066"/>
                </dgm:adjLst>
              </dgm:shape>
            </dgm:if>
            <dgm:else name="Name29">
              <dgm:shape xmlns:r="http://schemas.openxmlformats.org/officeDocument/2006/relationships" rot="90" type="leftArrow" r:blip="" hideGeom="1">
                <dgm:adjLst>
                  <dgm:adj idx="1" val="0.4983"/>
                  <dgm:adj idx="2" val="0.6066"/>
                </dgm:adjLst>
              </dgm:shape>
            </dgm:else>
          </dgm:choose>
          <dgm:presOf axis="ch 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Shape1" styleLbl="alignImgPlace1">
          <dgm:varLst/>
          <dgm:alg type="sp"/>
          <dgm:presOf axis="ch self" ptType="node node" st="1 1" cnt="1 0"/>
          <dgm:choose name="Name30">
            <dgm:if name="Name31" func="var" arg="dir" op="equ" val="norm">
              <dgm:shape xmlns:r="http://schemas.openxmlformats.org/officeDocument/2006/relationships" rot="-90" type="rightArrow" r:blip="">
                <dgm:adjLst>
                  <dgm:adj idx="1" val="0.4983"/>
                  <dgm:adj idx="2" val="0.6066"/>
                </dgm:adjLst>
              </dgm:shape>
            </dgm:if>
            <dgm:else name="Name32">
              <dgm:shape xmlns:r="http://schemas.openxmlformats.org/officeDocument/2006/relationships" rot="90" type="leftArrow" r:blip="">
                <dgm:adjLst>
                  <dgm:adj idx="1" val="0.4983"/>
                  <dgm:adj idx="2" val="0.6066"/>
                </dgm:adjLst>
              </dgm:shape>
            </dgm:else>
          </dgm:choose>
        </dgm:layoutNode>
        <dgm:choose name="Name33">
          <dgm:if name="Name34" axis="ch" ptType="node" func="cnt" op="gte" val="2">
            <dgm:layoutNode name="ParentText2" styleLbl="revTx">
              <dgm:varLst>
                <dgm:chMax val="1"/>
                <dgm:chPref val="1"/>
              </dgm:varLst>
              <dgm:choose name="Name35">
                <dgm:if name="Name36" func="var" arg="dir" op="equ" val="norm">
                  <dgm:alg type="tx">
                    <dgm:param type="parTxLTRAlign" val="r"/>
                    <dgm:param type="shpTxLTRAlignCh" val="r"/>
                    <dgm:param type="txAnchorVertCh" val="mid"/>
                    <dgm:param type="autoTxRot" val="grav"/>
                  </dgm:alg>
                </dgm:if>
                <dgm:else name="Name37">
                  <dgm:alg type="tx">
                    <dgm:param type="parTxLTRAlign" val="l"/>
                    <dgm:param type="shpTxLTRAlignCh" val="r"/>
                    <dgm:param type="txAnchorVertCh" val="mid"/>
                    <dgm:param type="autoTxRot" val="grav"/>
                  </dgm:alg>
                </dgm:else>
              </dgm:choose>
              <dgm:choose name="Name38">
                <dgm:if name="Name39" func="var" arg="dir" op="equ" val="norm">
                  <dgm:shape xmlns:r="http://schemas.openxmlformats.org/officeDocument/2006/relationships" rot="90" type="rightArrow" r:blip="" hideGeom="1">
                    <dgm:adjLst>
                      <dgm:adj idx="1" val="0.4983"/>
                      <dgm:adj idx="2" val="0.6066"/>
                    </dgm:adjLst>
                  </dgm:shape>
                </dgm:if>
                <dgm:else name="Name40">
                  <dgm:shape xmlns:r="http://schemas.openxmlformats.org/officeDocument/2006/relationships" rot="-90" type="leftArrow" r:blip="" hideGeom="1">
                    <dgm:adjLst>
                      <dgm:adj idx="1" val="0.4983"/>
                      <dgm:adj idx="2" val="0.6066"/>
                    </dgm:adjLst>
                  </dgm:shape>
                </dgm:else>
              </dgm:choose>
              <dgm:presOf axis="ch 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Shape2" styleLbl="alignImgPlace1">
              <dgm:varLst/>
              <dgm:alg type="sp"/>
              <dgm:choose name="Name41">
                <dgm:if name="Name42" func="var" arg="dir" op="equ" val="norm">
                  <dgm:shape xmlns:r="http://schemas.openxmlformats.org/officeDocument/2006/relationships" rot="90" type="rightArrow" r:blip="">
                    <dgm:adjLst>
                      <dgm:adj idx="1" val="0.4983"/>
                      <dgm:adj idx="2" val="0.6066"/>
                    </dgm:adjLst>
                  </dgm:shape>
                </dgm:if>
                <dgm:else name="Name43">
                  <dgm:shape xmlns:r="http://schemas.openxmlformats.org/officeDocument/2006/relationships" rot="-90" type="leftArrow" r:blip="">
                    <dgm:adjLst>
                      <dgm:adj idx="1" val="0.4983"/>
                      <dgm:adj idx="2" val="0.6066"/>
                    </dgm:adjLst>
                  </dgm:shape>
                </dgm:else>
              </dgm:choose>
              <dgm:presOf axis="ch self" ptType="node node" st="2 1" cnt="1 0"/>
            </dgm:layoutNode>
          </dgm:if>
          <dgm:else name="Name44"/>
        </dgm:choose>
      </dgm:if>
      <dgm:else name="Name45"/>
    </dgm:choose>
  </dgm:layoutNode>
</dgm:layoutDef>
</file>

<file path=ppt/diagrams/layout8.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9T10:27:36.327"/>
    </inkml:context>
    <inkml:brush xml:id="br0">
      <inkml:brushProperty name="width" value="0.3" units="cm"/>
      <inkml:brushProperty name="height" value="0.6" units="cm"/>
      <inkml:brushProperty name="color" value="#F7FFFC"/>
      <inkml:brushProperty name="tip" value="rectangle"/>
      <inkml:brushProperty name="rasterOp" value="maskPen"/>
    </inkml:brush>
  </inkml:definitions>
  <inkml:trace contextRef="#ctx0" brushRef="#br0">0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9T10:29:14.529"/>
    </inkml:context>
    <inkml:brush xml:id="br0">
      <inkml:brushProperty name="width" value="0.3" units="cm"/>
      <inkml:brushProperty name="height" value="0.6" units="cm"/>
      <inkml:brushProperty name="color" value="#F7FFFC"/>
      <inkml:brushProperty name="tip" value="rectangle"/>
      <inkml:brushProperty name="rasterOp" value="maskPen"/>
    </inkml:brush>
  </inkml:definitions>
  <inkml:trace contextRef="#ctx0" brushRef="#br0">1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9T10:29:16.661"/>
    </inkml:context>
    <inkml:brush xml:id="br0">
      <inkml:brushProperty name="width" value="0.3" units="cm"/>
      <inkml:brushProperty name="height" value="0.6" units="cm"/>
      <inkml:brushProperty name="color" value="#F7FFFC"/>
      <inkml:brushProperty name="tip" value="rectangle"/>
      <inkml:brushProperty name="rasterOp" value="maskPen"/>
    </inkml:brush>
  </inkml:definitions>
  <inkml:trace contextRef="#ctx0" brushRef="#br0">0 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9T10:29:16.721"/>
    </inkml:context>
    <inkml:brush xml:id="br0">
      <inkml:brushProperty name="width" value="0.3" units="cm"/>
      <inkml:brushProperty name="height" value="0.6" units="cm"/>
      <inkml:brushProperty name="color" value="#F7FFFC"/>
      <inkml:brushProperty name="tip" value="rectangle"/>
      <inkml:brushProperty name="rasterOp" value="maskPen"/>
    </inkml:brush>
  </inkml:definitions>
  <inkml:trace contextRef="#ctx0" brushRef="#br0">0 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9T10:29:18.716"/>
    </inkml:context>
    <inkml:brush xml:id="br0">
      <inkml:brushProperty name="width" value="0.3" units="cm"/>
      <inkml:brushProperty name="height" value="0.6" units="cm"/>
      <inkml:brushProperty name="color" value="#F7FFFC"/>
      <inkml:brushProperty name="tip" value="rectangle"/>
      <inkml:brushProperty name="rasterOp" value="maskPen"/>
    </inkml:brush>
  </inkml:definitions>
  <inkml:trace contextRef="#ctx0" brushRef="#br0">1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4C6DDA-EC43-4BFF-B7B8-190BECB9F21C}" type="datetimeFigureOut">
              <a:rPr lang="en-IN" smtClean="0"/>
              <a:t>17-03-2026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D323AD-D4C6-4860-8944-ADA84F789B7C}" type="slidenum">
              <a:rPr lang="en-IN" smtClean="0"/>
              <a:t>‹#›</a:t>
            </a:fld>
            <a:endParaRPr lang="en-IN"/>
          </a:p>
        </p:txBody>
      </p:sp>
    </p:spTree>
    <p:extLst>
      <p:ext uri="{BB962C8B-B14F-4D97-AF65-F5344CB8AC3E}">
        <p14:creationId xmlns:p14="http://schemas.microsoft.com/office/powerpoint/2010/main" val="41190076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2D323AD-D4C6-4860-8944-ADA84F789B7C}" type="slidenum">
              <a:rPr lang="en-IN" smtClean="0"/>
              <a:t>3</a:t>
            </a:fld>
            <a:endParaRPr lang="en-IN"/>
          </a:p>
        </p:txBody>
      </p:sp>
    </p:spTree>
    <p:extLst>
      <p:ext uri="{BB962C8B-B14F-4D97-AF65-F5344CB8AC3E}">
        <p14:creationId xmlns:p14="http://schemas.microsoft.com/office/powerpoint/2010/main" val="7685907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2D323AD-D4C6-4860-8944-ADA84F789B7C}" type="slidenum">
              <a:rPr lang="en-IN" smtClean="0"/>
              <a:t>7</a:t>
            </a:fld>
            <a:endParaRPr lang="en-IN"/>
          </a:p>
        </p:txBody>
      </p:sp>
    </p:spTree>
    <p:extLst>
      <p:ext uri="{BB962C8B-B14F-4D97-AF65-F5344CB8AC3E}">
        <p14:creationId xmlns:p14="http://schemas.microsoft.com/office/powerpoint/2010/main" val="35843185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2D323AD-D4C6-4860-8944-ADA84F789B7C}" type="slidenum">
              <a:rPr lang="en-IN" smtClean="0"/>
              <a:t>10</a:t>
            </a:fld>
            <a:endParaRPr lang="en-IN"/>
          </a:p>
        </p:txBody>
      </p:sp>
    </p:spTree>
    <p:extLst>
      <p:ext uri="{BB962C8B-B14F-4D97-AF65-F5344CB8AC3E}">
        <p14:creationId xmlns:p14="http://schemas.microsoft.com/office/powerpoint/2010/main" val="12798307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2D323AD-D4C6-4860-8944-ADA84F789B7C}" type="slidenum">
              <a:rPr lang="en-IN" smtClean="0"/>
              <a:t>13</a:t>
            </a:fld>
            <a:endParaRPr lang="en-IN"/>
          </a:p>
        </p:txBody>
      </p:sp>
    </p:spTree>
    <p:extLst>
      <p:ext uri="{BB962C8B-B14F-4D97-AF65-F5344CB8AC3E}">
        <p14:creationId xmlns:p14="http://schemas.microsoft.com/office/powerpoint/2010/main" val="35206682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2D323AD-D4C6-4860-8944-ADA84F789B7C}" type="slidenum">
              <a:rPr lang="en-IN" smtClean="0"/>
              <a:t>14</a:t>
            </a:fld>
            <a:endParaRPr lang="en-IN"/>
          </a:p>
        </p:txBody>
      </p:sp>
    </p:spTree>
    <p:extLst>
      <p:ext uri="{BB962C8B-B14F-4D97-AF65-F5344CB8AC3E}">
        <p14:creationId xmlns:p14="http://schemas.microsoft.com/office/powerpoint/2010/main" val="37868883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2D323AD-D4C6-4860-8944-ADA84F789B7C}" type="slidenum">
              <a:rPr lang="en-IN" smtClean="0"/>
              <a:t>17</a:t>
            </a:fld>
            <a:endParaRPr lang="en-IN"/>
          </a:p>
        </p:txBody>
      </p:sp>
    </p:spTree>
    <p:extLst>
      <p:ext uri="{BB962C8B-B14F-4D97-AF65-F5344CB8AC3E}">
        <p14:creationId xmlns:p14="http://schemas.microsoft.com/office/powerpoint/2010/main" val="12886137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2D323AD-D4C6-4860-8944-ADA84F789B7C}" type="slidenum">
              <a:rPr lang="en-IN" smtClean="0"/>
              <a:t>27</a:t>
            </a:fld>
            <a:endParaRPr lang="en-IN"/>
          </a:p>
        </p:txBody>
      </p:sp>
    </p:spTree>
    <p:extLst>
      <p:ext uri="{BB962C8B-B14F-4D97-AF65-F5344CB8AC3E}">
        <p14:creationId xmlns:p14="http://schemas.microsoft.com/office/powerpoint/2010/main" val="316906907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F3FFD-6421-0BC4-88F2-E8AC00EC053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E5BA723-4FE8-DFB3-7EC3-BFB53720686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2BEFA2C-D327-A1CC-7115-93AC08207FE0}"/>
              </a:ext>
            </a:extLst>
          </p:cNvPr>
          <p:cNvSpPr>
            <a:spLocks noGrp="1"/>
          </p:cNvSpPr>
          <p:nvPr>
            <p:ph type="dt" sz="half" idx="10"/>
          </p:nvPr>
        </p:nvSpPr>
        <p:spPr/>
        <p:txBody>
          <a:bodyPr/>
          <a:lstStyle/>
          <a:p>
            <a:r>
              <a:rPr lang="en-US"/>
              <a:t>222</a:t>
            </a:r>
            <a:endParaRPr lang="en-IN"/>
          </a:p>
        </p:txBody>
      </p:sp>
      <p:sp>
        <p:nvSpPr>
          <p:cNvPr id="5" name="Footer Placeholder 4">
            <a:extLst>
              <a:ext uri="{FF2B5EF4-FFF2-40B4-BE49-F238E27FC236}">
                <a16:creationId xmlns:a16="http://schemas.microsoft.com/office/drawing/2014/main" id="{93408CCA-F578-7170-2DD9-3D9AF4078B9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BFADA1-F7F4-4450-940B-66608F1F9771}"/>
              </a:ext>
            </a:extLst>
          </p:cNvPr>
          <p:cNvSpPr>
            <a:spLocks noGrp="1"/>
          </p:cNvSpPr>
          <p:nvPr>
            <p:ph type="sldNum" sz="quarter" idx="12"/>
          </p:nvPr>
        </p:nvSpPr>
        <p:spPr/>
        <p:txBody>
          <a:bodyPr/>
          <a:lstStyle/>
          <a:p>
            <a:fld id="{4A9795D8-83FD-4522-A0A1-E4DAAF0E10D3}" type="slidenum">
              <a:rPr lang="en-IN" smtClean="0"/>
              <a:t>‹#›</a:t>
            </a:fld>
            <a:endParaRPr lang="en-IN"/>
          </a:p>
        </p:txBody>
      </p:sp>
      <p:pic>
        <p:nvPicPr>
          <p:cNvPr id="8" name="Picture 7">
            <a:extLst>
              <a:ext uri="{FF2B5EF4-FFF2-40B4-BE49-F238E27FC236}">
                <a16:creationId xmlns:a16="http://schemas.microsoft.com/office/drawing/2014/main" id="{8D525969-0A34-DF0B-964B-9E6AD8797DD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2653" b="9694"/>
          <a:stretch/>
        </p:blipFill>
        <p:spPr>
          <a:xfrm>
            <a:off x="9286875" y="0"/>
            <a:ext cx="2905125" cy="843190"/>
          </a:xfrm>
          <a:prstGeom prst="rect">
            <a:avLst/>
          </a:prstGeom>
        </p:spPr>
      </p:pic>
      <p:cxnSp>
        <p:nvCxnSpPr>
          <p:cNvPr id="11" name="Straight Connector 10">
            <a:extLst>
              <a:ext uri="{FF2B5EF4-FFF2-40B4-BE49-F238E27FC236}">
                <a16:creationId xmlns:a16="http://schemas.microsoft.com/office/drawing/2014/main" id="{E4EBE7EC-2AB0-202E-B391-44F7A87EA329}"/>
              </a:ext>
            </a:extLst>
          </p:cNvPr>
          <p:cNvCxnSpPr>
            <a:cxnSpLocks/>
          </p:cNvCxnSpPr>
          <p:nvPr userDrawn="1"/>
        </p:nvCxnSpPr>
        <p:spPr>
          <a:xfrm>
            <a:off x="838200" y="886409"/>
            <a:ext cx="10515600"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07C5F899-3DB1-3E07-B77B-1036FF5AB8BF}"/>
              </a:ext>
            </a:extLst>
          </p:cNvPr>
          <p:cNvSpPr/>
          <p:nvPr userDrawn="1"/>
        </p:nvSpPr>
        <p:spPr>
          <a:xfrm>
            <a:off x="0" y="6428792"/>
            <a:ext cx="12192000" cy="429207"/>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ea typeface="Instrument Sans" pitchFamily="34" charset="-122"/>
                <a:cs typeface="Times New Roman" panose="02020603050405020304" pitchFamily="18" charset="0"/>
              </a:rPr>
              <a:t>      </a:t>
            </a:r>
            <a:endParaRPr lang="en-IN" dirty="0">
              <a:solidFill>
                <a:schemeClr val="tx1"/>
              </a:solidFill>
            </a:endParaRPr>
          </a:p>
        </p:txBody>
      </p:sp>
    </p:spTree>
    <p:extLst>
      <p:ext uri="{BB962C8B-B14F-4D97-AF65-F5344CB8AC3E}">
        <p14:creationId xmlns:p14="http://schemas.microsoft.com/office/powerpoint/2010/main" val="319159218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C96D0-69C1-A146-4C49-F3E462DF608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ACFE2D8-F99E-CDF8-23DA-D9757CD6FDC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FC3A61-57E3-6142-E438-56E6BB4D9218}"/>
              </a:ext>
            </a:extLst>
          </p:cNvPr>
          <p:cNvSpPr>
            <a:spLocks noGrp="1"/>
          </p:cNvSpPr>
          <p:nvPr>
            <p:ph type="dt" sz="half" idx="10"/>
          </p:nvPr>
        </p:nvSpPr>
        <p:spPr/>
        <p:txBody>
          <a:bodyPr/>
          <a:lstStyle/>
          <a:p>
            <a:r>
              <a:rPr lang="en-US"/>
              <a:t>222</a:t>
            </a:r>
            <a:endParaRPr lang="en-IN"/>
          </a:p>
        </p:txBody>
      </p:sp>
      <p:sp>
        <p:nvSpPr>
          <p:cNvPr id="5" name="Footer Placeholder 4">
            <a:extLst>
              <a:ext uri="{FF2B5EF4-FFF2-40B4-BE49-F238E27FC236}">
                <a16:creationId xmlns:a16="http://schemas.microsoft.com/office/drawing/2014/main" id="{DE416CB1-B4F4-3FED-ED90-F3CAFA9CCF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782A5AB-694D-6A36-7AAC-F116E75C749F}"/>
              </a:ext>
            </a:extLst>
          </p:cNvPr>
          <p:cNvSpPr>
            <a:spLocks noGrp="1"/>
          </p:cNvSpPr>
          <p:nvPr>
            <p:ph type="sldNum" sz="quarter" idx="12"/>
          </p:nvPr>
        </p:nvSpPr>
        <p:spPr/>
        <p:txBody>
          <a:bodyPr/>
          <a:lstStyle/>
          <a:p>
            <a:fld id="{4A9795D8-83FD-4522-A0A1-E4DAAF0E10D3}" type="slidenum">
              <a:rPr lang="en-IN" smtClean="0"/>
              <a:t>‹#›</a:t>
            </a:fld>
            <a:endParaRPr lang="en-IN"/>
          </a:p>
        </p:txBody>
      </p:sp>
      <p:cxnSp>
        <p:nvCxnSpPr>
          <p:cNvPr id="7" name="Straight Connector 6">
            <a:extLst>
              <a:ext uri="{FF2B5EF4-FFF2-40B4-BE49-F238E27FC236}">
                <a16:creationId xmlns:a16="http://schemas.microsoft.com/office/drawing/2014/main" id="{82DC8FC3-3B81-1F59-8DD8-39B9112FFB21}"/>
              </a:ext>
            </a:extLst>
          </p:cNvPr>
          <p:cNvCxnSpPr>
            <a:cxnSpLocks/>
          </p:cNvCxnSpPr>
          <p:nvPr userDrawn="1"/>
        </p:nvCxnSpPr>
        <p:spPr>
          <a:xfrm>
            <a:off x="838200" y="886409"/>
            <a:ext cx="10515600"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C2A70A2C-93DD-FC21-B6C8-35BF5126731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2653" b="9694"/>
          <a:stretch/>
        </p:blipFill>
        <p:spPr>
          <a:xfrm>
            <a:off x="9286875" y="0"/>
            <a:ext cx="2905125" cy="843190"/>
          </a:xfrm>
          <a:prstGeom prst="rect">
            <a:avLst/>
          </a:prstGeom>
        </p:spPr>
      </p:pic>
      <p:sp>
        <p:nvSpPr>
          <p:cNvPr id="9" name="Rectangle 8">
            <a:extLst>
              <a:ext uri="{FF2B5EF4-FFF2-40B4-BE49-F238E27FC236}">
                <a16:creationId xmlns:a16="http://schemas.microsoft.com/office/drawing/2014/main" id="{5B48CF8E-9E9A-5AFD-B84A-F6E159B6421A}"/>
              </a:ext>
            </a:extLst>
          </p:cNvPr>
          <p:cNvSpPr/>
          <p:nvPr userDrawn="1"/>
        </p:nvSpPr>
        <p:spPr>
          <a:xfrm>
            <a:off x="0" y="6428792"/>
            <a:ext cx="12192000" cy="429207"/>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ea typeface="Instrument Sans" pitchFamily="34" charset="-122"/>
                <a:cs typeface="Times New Roman" panose="02020603050405020304" pitchFamily="18" charset="0"/>
              </a:rPr>
              <a:t>      </a:t>
            </a:r>
            <a:endParaRPr lang="en-IN" dirty="0">
              <a:solidFill>
                <a:schemeClr val="tx1"/>
              </a:solidFill>
            </a:endParaRPr>
          </a:p>
        </p:txBody>
      </p:sp>
    </p:spTree>
    <p:extLst>
      <p:ext uri="{BB962C8B-B14F-4D97-AF65-F5344CB8AC3E}">
        <p14:creationId xmlns:p14="http://schemas.microsoft.com/office/powerpoint/2010/main" val="4381842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CDF38-26EE-1CF3-83A6-89734BCB734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4C32331-9404-0A87-962D-1ED739D6AAD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9F0E6B-0DFE-8A06-415B-292C6BB4F4D1}"/>
              </a:ext>
            </a:extLst>
          </p:cNvPr>
          <p:cNvSpPr>
            <a:spLocks noGrp="1"/>
          </p:cNvSpPr>
          <p:nvPr>
            <p:ph type="dt" sz="half" idx="10"/>
          </p:nvPr>
        </p:nvSpPr>
        <p:spPr/>
        <p:txBody>
          <a:bodyPr/>
          <a:lstStyle/>
          <a:p>
            <a:r>
              <a:rPr lang="en-US"/>
              <a:t>222</a:t>
            </a:r>
            <a:endParaRPr lang="en-IN"/>
          </a:p>
        </p:txBody>
      </p:sp>
      <p:sp>
        <p:nvSpPr>
          <p:cNvPr id="5" name="Footer Placeholder 4">
            <a:extLst>
              <a:ext uri="{FF2B5EF4-FFF2-40B4-BE49-F238E27FC236}">
                <a16:creationId xmlns:a16="http://schemas.microsoft.com/office/drawing/2014/main" id="{71B9CC43-C986-7E98-EB2A-09BAEB29B2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7E99AE-DF6D-21E3-EFAD-DEB40CC0FF55}"/>
              </a:ext>
            </a:extLst>
          </p:cNvPr>
          <p:cNvSpPr>
            <a:spLocks noGrp="1"/>
          </p:cNvSpPr>
          <p:nvPr>
            <p:ph type="sldNum" sz="quarter" idx="12"/>
          </p:nvPr>
        </p:nvSpPr>
        <p:spPr/>
        <p:txBody>
          <a:bodyPr/>
          <a:lstStyle/>
          <a:p>
            <a:fld id="{4A9795D8-83FD-4522-A0A1-E4DAAF0E10D3}" type="slidenum">
              <a:rPr lang="en-IN" smtClean="0"/>
              <a:t>‹#›</a:t>
            </a:fld>
            <a:endParaRPr lang="en-IN"/>
          </a:p>
        </p:txBody>
      </p:sp>
    </p:spTree>
    <p:extLst>
      <p:ext uri="{BB962C8B-B14F-4D97-AF65-F5344CB8AC3E}">
        <p14:creationId xmlns:p14="http://schemas.microsoft.com/office/powerpoint/2010/main" val="3443829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9E5FD-A00E-4A03-DCD0-835AFD41F88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71A4C61-8732-B15B-0B4E-9F1EA1491EA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FE45A3E-421A-C9E5-AEFE-5198E4D6AF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50D9584-8B0D-29B4-39E8-5E1179D49DF7}"/>
              </a:ext>
            </a:extLst>
          </p:cNvPr>
          <p:cNvSpPr>
            <a:spLocks noGrp="1"/>
          </p:cNvSpPr>
          <p:nvPr>
            <p:ph type="dt" sz="half" idx="10"/>
          </p:nvPr>
        </p:nvSpPr>
        <p:spPr/>
        <p:txBody>
          <a:bodyPr/>
          <a:lstStyle/>
          <a:p>
            <a:r>
              <a:rPr lang="en-US"/>
              <a:t>222</a:t>
            </a:r>
            <a:endParaRPr lang="en-IN"/>
          </a:p>
        </p:txBody>
      </p:sp>
      <p:sp>
        <p:nvSpPr>
          <p:cNvPr id="6" name="Footer Placeholder 5">
            <a:extLst>
              <a:ext uri="{FF2B5EF4-FFF2-40B4-BE49-F238E27FC236}">
                <a16:creationId xmlns:a16="http://schemas.microsoft.com/office/drawing/2014/main" id="{74B28F0C-F569-C595-61C3-4B5BA1E3273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1DC42D7-A3CE-ABA2-351A-F729EE920F79}"/>
              </a:ext>
            </a:extLst>
          </p:cNvPr>
          <p:cNvSpPr>
            <a:spLocks noGrp="1"/>
          </p:cNvSpPr>
          <p:nvPr>
            <p:ph type="sldNum" sz="quarter" idx="12"/>
          </p:nvPr>
        </p:nvSpPr>
        <p:spPr/>
        <p:txBody>
          <a:bodyPr/>
          <a:lstStyle/>
          <a:p>
            <a:fld id="{4A9795D8-83FD-4522-A0A1-E4DAAF0E10D3}" type="slidenum">
              <a:rPr lang="en-IN" smtClean="0"/>
              <a:t>‹#›</a:t>
            </a:fld>
            <a:endParaRPr lang="en-IN"/>
          </a:p>
        </p:txBody>
      </p:sp>
    </p:spTree>
    <p:extLst>
      <p:ext uri="{BB962C8B-B14F-4D97-AF65-F5344CB8AC3E}">
        <p14:creationId xmlns:p14="http://schemas.microsoft.com/office/powerpoint/2010/main" val="31731097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91CE2-A701-0B74-EF99-44768578653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B3E375B-DF98-BD18-7776-CB61F4B2A6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947425-43DD-1FE9-773F-C6834E32A71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4D72BD0-84AE-494C-5572-7AD24F3AA4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BFE251E-763B-E470-9AB0-4FB63D0FA6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AF75951-64E1-103D-6F0D-54554F5CF917}"/>
              </a:ext>
            </a:extLst>
          </p:cNvPr>
          <p:cNvSpPr>
            <a:spLocks noGrp="1"/>
          </p:cNvSpPr>
          <p:nvPr>
            <p:ph type="dt" sz="half" idx="10"/>
          </p:nvPr>
        </p:nvSpPr>
        <p:spPr/>
        <p:txBody>
          <a:bodyPr/>
          <a:lstStyle/>
          <a:p>
            <a:r>
              <a:rPr lang="en-US"/>
              <a:t>222</a:t>
            </a:r>
            <a:endParaRPr lang="en-IN"/>
          </a:p>
        </p:txBody>
      </p:sp>
      <p:sp>
        <p:nvSpPr>
          <p:cNvPr id="8" name="Footer Placeholder 7">
            <a:extLst>
              <a:ext uri="{FF2B5EF4-FFF2-40B4-BE49-F238E27FC236}">
                <a16:creationId xmlns:a16="http://schemas.microsoft.com/office/drawing/2014/main" id="{CCF088D1-62BF-44A7-A712-1AEC049FAD4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0349D8C-495B-F0E1-3093-40AC6ADDF8F6}"/>
              </a:ext>
            </a:extLst>
          </p:cNvPr>
          <p:cNvSpPr>
            <a:spLocks noGrp="1"/>
          </p:cNvSpPr>
          <p:nvPr>
            <p:ph type="sldNum" sz="quarter" idx="12"/>
          </p:nvPr>
        </p:nvSpPr>
        <p:spPr/>
        <p:txBody>
          <a:bodyPr/>
          <a:lstStyle/>
          <a:p>
            <a:fld id="{4A9795D8-83FD-4522-A0A1-E4DAAF0E10D3}" type="slidenum">
              <a:rPr lang="en-IN" smtClean="0"/>
              <a:t>‹#›</a:t>
            </a:fld>
            <a:endParaRPr lang="en-IN"/>
          </a:p>
        </p:txBody>
      </p:sp>
    </p:spTree>
    <p:extLst>
      <p:ext uri="{BB962C8B-B14F-4D97-AF65-F5344CB8AC3E}">
        <p14:creationId xmlns:p14="http://schemas.microsoft.com/office/powerpoint/2010/main" val="24957337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ADD67-8853-D863-D56B-48416106451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9F2F676-7869-E046-8F15-52887D4C50D1}"/>
              </a:ext>
            </a:extLst>
          </p:cNvPr>
          <p:cNvSpPr>
            <a:spLocks noGrp="1"/>
          </p:cNvSpPr>
          <p:nvPr>
            <p:ph type="dt" sz="half" idx="10"/>
          </p:nvPr>
        </p:nvSpPr>
        <p:spPr/>
        <p:txBody>
          <a:bodyPr/>
          <a:lstStyle/>
          <a:p>
            <a:r>
              <a:rPr lang="en-US"/>
              <a:t>222</a:t>
            </a:r>
            <a:endParaRPr lang="en-IN"/>
          </a:p>
        </p:txBody>
      </p:sp>
      <p:sp>
        <p:nvSpPr>
          <p:cNvPr id="4" name="Footer Placeholder 3">
            <a:extLst>
              <a:ext uri="{FF2B5EF4-FFF2-40B4-BE49-F238E27FC236}">
                <a16:creationId xmlns:a16="http://schemas.microsoft.com/office/drawing/2014/main" id="{5D11BE55-527D-258E-166C-26C674A129D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C95DDD3-504C-C229-F806-4A451A339FFE}"/>
              </a:ext>
            </a:extLst>
          </p:cNvPr>
          <p:cNvSpPr>
            <a:spLocks noGrp="1"/>
          </p:cNvSpPr>
          <p:nvPr>
            <p:ph type="sldNum" sz="quarter" idx="12"/>
          </p:nvPr>
        </p:nvSpPr>
        <p:spPr/>
        <p:txBody>
          <a:bodyPr/>
          <a:lstStyle/>
          <a:p>
            <a:fld id="{4A9795D8-83FD-4522-A0A1-E4DAAF0E10D3}" type="slidenum">
              <a:rPr lang="en-IN" smtClean="0"/>
              <a:t>‹#›</a:t>
            </a:fld>
            <a:endParaRPr lang="en-IN"/>
          </a:p>
        </p:txBody>
      </p:sp>
    </p:spTree>
    <p:extLst>
      <p:ext uri="{BB962C8B-B14F-4D97-AF65-F5344CB8AC3E}">
        <p14:creationId xmlns:p14="http://schemas.microsoft.com/office/powerpoint/2010/main" val="3690146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26099D-4E2C-D6BD-FD83-3A458998D8F9}"/>
              </a:ext>
            </a:extLst>
          </p:cNvPr>
          <p:cNvSpPr>
            <a:spLocks noGrp="1"/>
          </p:cNvSpPr>
          <p:nvPr>
            <p:ph type="dt" sz="half" idx="10"/>
          </p:nvPr>
        </p:nvSpPr>
        <p:spPr/>
        <p:txBody>
          <a:bodyPr/>
          <a:lstStyle/>
          <a:p>
            <a:r>
              <a:rPr lang="en-US"/>
              <a:t>222</a:t>
            </a:r>
            <a:endParaRPr lang="en-IN"/>
          </a:p>
        </p:txBody>
      </p:sp>
      <p:sp>
        <p:nvSpPr>
          <p:cNvPr id="3" name="Footer Placeholder 2">
            <a:extLst>
              <a:ext uri="{FF2B5EF4-FFF2-40B4-BE49-F238E27FC236}">
                <a16:creationId xmlns:a16="http://schemas.microsoft.com/office/drawing/2014/main" id="{2976FEAE-69CB-E862-4C35-0E38E27ED06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EFB2282-FD2E-4E61-99EA-9E5B31D0647A}"/>
              </a:ext>
            </a:extLst>
          </p:cNvPr>
          <p:cNvSpPr>
            <a:spLocks noGrp="1"/>
          </p:cNvSpPr>
          <p:nvPr>
            <p:ph type="sldNum" sz="quarter" idx="12"/>
          </p:nvPr>
        </p:nvSpPr>
        <p:spPr/>
        <p:txBody>
          <a:bodyPr/>
          <a:lstStyle/>
          <a:p>
            <a:fld id="{4A9795D8-83FD-4522-A0A1-E4DAAF0E10D3}" type="slidenum">
              <a:rPr lang="en-IN" smtClean="0"/>
              <a:t>‹#›</a:t>
            </a:fld>
            <a:endParaRPr lang="en-IN"/>
          </a:p>
        </p:txBody>
      </p:sp>
    </p:spTree>
    <p:extLst>
      <p:ext uri="{BB962C8B-B14F-4D97-AF65-F5344CB8AC3E}">
        <p14:creationId xmlns:p14="http://schemas.microsoft.com/office/powerpoint/2010/main" val="2655105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53ABA-3E9A-8CF4-3218-0ECD9CA8F9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60EF167-A762-D097-AA35-8D0AB9A0B2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69568E5-7B2B-0B65-0E05-FD22DB537A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787988-C3FC-C4E8-4EED-9DAB8A6DAE01}"/>
              </a:ext>
            </a:extLst>
          </p:cNvPr>
          <p:cNvSpPr>
            <a:spLocks noGrp="1"/>
          </p:cNvSpPr>
          <p:nvPr>
            <p:ph type="dt" sz="half" idx="10"/>
          </p:nvPr>
        </p:nvSpPr>
        <p:spPr/>
        <p:txBody>
          <a:bodyPr/>
          <a:lstStyle/>
          <a:p>
            <a:r>
              <a:rPr lang="en-US"/>
              <a:t>222</a:t>
            </a:r>
            <a:endParaRPr lang="en-IN"/>
          </a:p>
        </p:txBody>
      </p:sp>
      <p:sp>
        <p:nvSpPr>
          <p:cNvPr id="6" name="Footer Placeholder 5">
            <a:extLst>
              <a:ext uri="{FF2B5EF4-FFF2-40B4-BE49-F238E27FC236}">
                <a16:creationId xmlns:a16="http://schemas.microsoft.com/office/drawing/2014/main" id="{6DC96F33-517B-13A7-8D6F-E4A19DBD071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0C58ACD-7A84-A622-156C-9F66D0492106}"/>
              </a:ext>
            </a:extLst>
          </p:cNvPr>
          <p:cNvSpPr>
            <a:spLocks noGrp="1"/>
          </p:cNvSpPr>
          <p:nvPr>
            <p:ph type="sldNum" sz="quarter" idx="12"/>
          </p:nvPr>
        </p:nvSpPr>
        <p:spPr/>
        <p:txBody>
          <a:bodyPr/>
          <a:lstStyle/>
          <a:p>
            <a:fld id="{4A9795D8-83FD-4522-A0A1-E4DAAF0E10D3}" type="slidenum">
              <a:rPr lang="en-IN" smtClean="0"/>
              <a:t>‹#›</a:t>
            </a:fld>
            <a:endParaRPr lang="en-IN"/>
          </a:p>
        </p:txBody>
      </p:sp>
    </p:spTree>
    <p:extLst>
      <p:ext uri="{BB962C8B-B14F-4D97-AF65-F5344CB8AC3E}">
        <p14:creationId xmlns:p14="http://schemas.microsoft.com/office/powerpoint/2010/main" val="37187481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C3B68-B5F6-3541-DAAD-03437256DC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D13C991-DFB1-042F-E524-DB71B6806B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958B70C-7EAF-75D3-2656-72D9D08F44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8EF521-CFA3-5556-769E-3EED465F6E77}"/>
              </a:ext>
            </a:extLst>
          </p:cNvPr>
          <p:cNvSpPr>
            <a:spLocks noGrp="1"/>
          </p:cNvSpPr>
          <p:nvPr>
            <p:ph type="dt" sz="half" idx="10"/>
          </p:nvPr>
        </p:nvSpPr>
        <p:spPr/>
        <p:txBody>
          <a:bodyPr/>
          <a:lstStyle/>
          <a:p>
            <a:r>
              <a:rPr lang="en-US"/>
              <a:t>222</a:t>
            </a:r>
            <a:endParaRPr lang="en-IN"/>
          </a:p>
        </p:txBody>
      </p:sp>
      <p:sp>
        <p:nvSpPr>
          <p:cNvPr id="6" name="Footer Placeholder 5">
            <a:extLst>
              <a:ext uri="{FF2B5EF4-FFF2-40B4-BE49-F238E27FC236}">
                <a16:creationId xmlns:a16="http://schemas.microsoft.com/office/drawing/2014/main" id="{57A87C24-FBBA-B4DD-1B42-CD671017F3B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06A4C8B-B562-13D1-004C-17C584071227}"/>
              </a:ext>
            </a:extLst>
          </p:cNvPr>
          <p:cNvSpPr>
            <a:spLocks noGrp="1"/>
          </p:cNvSpPr>
          <p:nvPr>
            <p:ph type="sldNum" sz="quarter" idx="12"/>
          </p:nvPr>
        </p:nvSpPr>
        <p:spPr/>
        <p:txBody>
          <a:bodyPr/>
          <a:lstStyle/>
          <a:p>
            <a:fld id="{4A9795D8-83FD-4522-A0A1-E4DAAF0E10D3}" type="slidenum">
              <a:rPr lang="en-IN" smtClean="0"/>
              <a:t>‹#›</a:t>
            </a:fld>
            <a:endParaRPr lang="en-IN"/>
          </a:p>
        </p:txBody>
      </p:sp>
    </p:spTree>
    <p:extLst>
      <p:ext uri="{BB962C8B-B14F-4D97-AF65-F5344CB8AC3E}">
        <p14:creationId xmlns:p14="http://schemas.microsoft.com/office/powerpoint/2010/main" val="35074654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41DA9-AD34-0FFB-5774-9D0B6771F3F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4352225-2A8A-087C-E85D-3A8DAB836FB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B90B07-B91A-43C9-8861-178C9842F327}"/>
              </a:ext>
            </a:extLst>
          </p:cNvPr>
          <p:cNvSpPr>
            <a:spLocks noGrp="1"/>
          </p:cNvSpPr>
          <p:nvPr>
            <p:ph type="dt" sz="half" idx="10"/>
          </p:nvPr>
        </p:nvSpPr>
        <p:spPr/>
        <p:txBody>
          <a:bodyPr/>
          <a:lstStyle/>
          <a:p>
            <a:r>
              <a:rPr lang="en-US"/>
              <a:t>222</a:t>
            </a:r>
            <a:endParaRPr lang="en-IN"/>
          </a:p>
        </p:txBody>
      </p:sp>
      <p:sp>
        <p:nvSpPr>
          <p:cNvPr id="5" name="Footer Placeholder 4">
            <a:extLst>
              <a:ext uri="{FF2B5EF4-FFF2-40B4-BE49-F238E27FC236}">
                <a16:creationId xmlns:a16="http://schemas.microsoft.com/office/drawing/2014/main" id="{866152B7-F69D-9BA2-DAAC-2ABF27110D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F8B4FA-6967-AE45-B69D-530FF079FA69}"/>
              </a:ext>
            </a:extLst>
          </p:cNvPr>
          <p:cNvSpPr>
            <a:spLocks noGrp="1"/>
          </p:cNvSpPr>
          <p:nvPr>
            <p:ph type="sldNum" sz="quarter" idx="12"/>
          </p:nvPr>
        </p:nvSpPr>
        <p:spPr/>
        <p:txBody>
          <a:bodyPr/>
          <a:lstStyle/>
          <a:p>
            <a:fld id="{4A9795D8-83FD-4522-A0A1-E4DAAF0E10D3}" type="slidenum">
              <a:rPr lang="en-IN" smtClean="0"/>
              <a:t>‹#›</a:t>
            </a:fld>
            <a:endParaRPr lang="en-IN"/>
          </a:p>
        </p:txBody>
      </p:sp>
    </p:spTree>
    <p:extLst>
      <p:ext uri="{BB962C8B-B14F-4D97-AF65-F5344CB8AC3E}">
        <p14:creationId xmlns:p14="http://schemas.microsoft.com/office/powerpoint/2010/main" val="6333921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E28CAE2-907F-24BC-D9CB-F8A24314F5E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C615A29-E9EE-2467-B11B-0B1D08BF23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0D7541-B633-9D0E-588A-9CCA089123B2}"/>
              </a:ext>
            </a:extLst>
          </p:cNvPr>
          <p:cNvSpPr>
            <a:spLocks noGrp="1"/>
          </p:cNvSpPr>
          <p:nvPr>
            <p:ph type="dt" sz="half" idx="10"/>
          </p:nvPr>
        </p:nvSpPr>
        <p:spPr/>
        <p:txBody>
          <a:bodyPr/>
          <a:lstStyle/>
          <a:p>
            <a:r>
              <a:rPr lang="en-US"/>
              <a:t>222</a:t>
            </a:r>
            <a:endParaRPr lang="en-IN"/>
          </a:p>
        </p:txBody>
      </p:sp>
      <p:sp>
        <p:nvSpPr>
          <p:cNvPr id="5" name="Footer Placeholder 4">
            <a:extLst>
              <a:ext uri="{FF2B5EF4-FFF2-40B4-BE49-F238E27FC236}">
                <a16:creationId xmlns:a16="http://schemas.microsoft.com/office/drawing/2014/main" id="{53EA5740-BB89-0D72-449A-B86EA1E3FE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573FE4-A134-8C0F-E327-86B2CD26A361}"/>
              </a:ext>
            </a:extLst>
          </p:cNvPr>
          <p:cNvSpPr>
            <a:spLocks noGrp="1"/>
          </p:cNvSpPr>
          <p:nvPr>
            <p:ph type="sldNum" sz="quarter" idx="12"/>
          </p:nvPr>
        </p:nvSpPr>
        <p:spPr/>
        <p:txBody>
          <a:bodyPr/>
          <a:lstStyle/>
          <a:p>
            <a:fld id="{4A9795D8-83FD-4522-A0A1-E4DAAF0E10D3}" type="slidenum">
              <a:rPr lang="en-IN" smtClean="0"/>
              <a:t>‹#›</a:t>
            </a:fld>
            <a:endParaRPr lang="en-IN"/>
          </a:p>
        </p:txBody>
      </p:sp>
    </p:spTree>
    <p:extLst>
      <p:ext uri="{BB962C8B-B14F-4D97-AF65-F5344CB8AC3E}">
        <p14:creationId xmlns:p14="http://schemas.microsoft.com/office/powerpoint/2010/main" val="39544883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B8C858-6053-E6E5-BA16-11D1E2A4A8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330DFCB-2517-751C-FDA1-C6BDC919DE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6868CF-E733-6B21-54EA-1BD0051A69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222</a:t>
            </a:r>
            <a:endParaRPr lang="en-IN"/>
          </a:p>
        </p:txBody>
      </p:sp>
      <p:sp>
        <p:nvSpPr>
          <p:cNvPr id="5" name="Footer Placeholder 4">
            <a:extLst>
              <a:ext uri="{FF2B5EF4-FFF2-40B4-BE49-F238E27FC236}">
                <a16:creationId xmlns:a16="http://schemas.microsoft.com/office/drawing/2014/main" id="{01D331BD-4280-7BF5-84BB-3C22E53598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E5B5DAE-52BA-8DC8-4B1F-A8521EC9A5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9795D8-83FD-4522-A0A1-E4DAAF0E10D3}" type="slidenum">
              <a:rPr lang="en-IN" smtClean="0"/>
              <a:t>‹#›</a:t>
            </a:fld>
            <a:endParaRPr lang="en-IN"/>
          </a:p>
        </p:txBody>
      </p:sp>
    </p:spTree>
    <p:extLst>
      <p:ext uri="{BB962C8B-B14F-4D97-AF65-F5344CB8AC3E}">
        <p14:creationId xmlns:p14="http://schemas.microsoft.com/office/powerpoint/2010/main" val="17612095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1.png"/><Relationship Id="rId7"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1.jpeg"/><Relationship Id="rId11" Type="http://schemas.openxmlformats.org/officeDocument/2006/relationships/image" Target="../media/image16.png"/><Relationship Id="rId5" Type="http://schemas.openxmlformats.org/officeDocument/2006/relationships/image" Target="../media/image10.jpe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jpeg"/></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microsoft.com/office/2007/relationships/diagramDrawing" Target="../diagrams/drawing1.xml"/><Relationship Id="rId13" Type="http://schemas.microsoft.com/office/2007/relationships/diagramDrawing" Target="../diagrams/drawing2.xml"/><Relationship Id="rId3" Type="http://schemas.openxmlformats.org/officeDocument/2006/relationships/image" Target="../media/image1.png"/><Relationship Id="rId7" Type="http://schemas.openxmlformats.org/officeDocument/2006/relationships/diagramColors" Target="../diagrams/colors1.xml"/><Relationship Id="rId12" Type="http://schemas.openxmlformats.org/officeDocument/2006/relationships/diagramColors" Target="../diagrams/colors2.xm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diagramQuickStyle" Target="../diagrams/quickStyle1.xml"/><Relationship Id="rId11" Type="http://schemas.openxmlformats.org/officeDocument/2006/relationships/diagramQuickStyle" Target="../diagrams/quickStyle2.xml"/><Relationship Id="rId5" Type="http://schemas.openxmlformats.org/officeDocument/2006/relationships/diagramLayout" Target="../diagrams/layout1.xml"/><Relationship Id="rId10" Type="http://schemas.openxmlformats.org/officeDocument/2006/relationships/diagramLayout" Target="../diagrams/layout2.xml"/><Relationship Id="rId4" Type="http://schemas.openxmlformats.org/officeDocument/2006/relationships/diagramData" Target="../diagrams/data1.xml"/><Relationship Id="rId9" Type="http://schemas.openxmlformats.org/officeDocument/2006/relationships/diagramData" Target="../diagrams/data2.xml"/></Relationships>
</file>

<file path=ppt/slides/_rels/slide15.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3.jpg"/><Relationship Id="rId5" Type="http://schemas.openxmlformats.org/officeDocument/2006/relationships/image" Target="../media/image220.png"/><Relationship Id="rId4" Type="http://schemas.openxmlformats.org/officeDocument/2006/relationships/customXml" Target="../ink/ink1.xml"/></Relationships>
</file>

<file path=ppt/slides/_rels/slide18.xml.rels><?xml version="1.0" encoding="UTF-8" standalone="yes"?>
<Relationships xmlns="http://schemas.openxmlformats.org/package/2006/relationships"><Relationship Id="rId8" Type="http://schemas.openxmlformats.org/officeDocument/2006/relationships/diagramData" Target="../diagrams/data6.xml"/><Relationship Id="rId13" Type="http://schemas.openxmlformats.org/officeDocument/2006/relationships/diagramData" Target="../diagrams/data7.xml"/><Relationship Id="rId18" Type="http://schemas.openxmlformats.org/officeDocument/2006/relationships/image" Target="../media/image25.jpeg"/><Relationship Id="rId26" Type="http://schemas.openxmlformats.org/officeDocument/2006/relationships/diagramQuickStyle" Target="../diagrams/quickStyle9.xml"/><Relationship Id="rId3" Type="http://schemas.openxmlformats.org/officeDocument/2006/relationships/customXml" Target="../ink/ink2.xml"/><Relationship Id="rId21" Type="http://schemas.openxmlformats.org/officeDocument/2006/relationships/diagramQuickStyle" Target="../diagrams/quickStyle8.xml"/><Relationship Id="rId7" Type="http://schemas.openxmlformats.org/officeDocument/2006/relationships/customXml" Target="../ink/ink5.xml"/><Relationship Id="rId12" Type="http://schemas.microsoft.com/office/2007/relationships/diagramDrawing" Target="../diagrams/drawing6.xml"/><Relationship Id="rId17" Type="http://schemas.microsoft.com/office/2007/relationships/diagramDrawing" Target="../diagrams/drawing7.xml"/><Relationship Id="rId25" Type="http://schemas.openxmlformats.org/officeDocument/2006/relationships/diagramLayout" Target="../diagrams/layout9.xml"/><Relationship Id="rId2" Type="http://schemas.openxmlformats.org/officeDocument/2006/relationships/image" Target="../media/image1.png"/><Relationship Id="rId16" Type="http://schemas.openxmlformats.org/officeDocument/2006/relationships/diagramColors" Target="../diagrams/colors7.xml"/><Relationship Id="rId20" Type="http://schemas.openxmlformats.org/officeDocument/2006/relationships/diagramLayout" Target="../diagrams/layout8.xml"/><Relationship Id="rId1" Type="http://schemas.openxmlformats.org/officeDocument/2006/relationships/slideLayout" Target="../slideLayouts/slideLayout7.xml"/><Relationship Id="rId6" Type="http://schemas.openxmlformats.org/officeDocument/2006/relationships/customXml" Target="../ink/ink4.xml"/><Relationship Id="rId11" Type="http://schemas.openxmlformats.org/officeDocument/2006/relationships/diagramColors" Target="../diagrams/colors6.xml"/><Relationship Id="rId24" Type="http://schemas.openxmlformats.org/officeDocument/2006/relationships/diagramData" Target="../diagrams/data9.xml"/><Relationship Id="rId5" Type="http://schemas.openxmlformats.org/officeDocument/2006/relationships/customXml" Target="../ink/ink3.xml"/><Relationship Id="rId15" Type="http://schemas.openxmlformats.org/officeDocument/2006/relationships/diagramQuickStyle" Target="../diagrams/quickStyle7.xml"/><Relationship Id="rId23" Type="http://schemas.microsoft.com/office/2007/relationships/diagramDrawing" Target="../diagrams/drawing8.xml"/><Relationship Id="rId28" Type="http://schemas.microsoft.com/office/2007/relationships/diagramDrawing" Target="../diagrams/drawing9.xml"/><Relationship Id="rId10" Type="http://schemas.openxmlformats.org/officeDocument/2006/relationships/diagramQuickStyle" Target="../diagrams/quickStyle6.xml"/><Relationship Id="rId19" Type="http://schemas.openxmlformats.org/officeDocument/2006/relationships/diagramData" Target="../diagrams/data8.xml"/><Relationship Id="rId4" Type="http://schemas.openxmlformats.org/officeDocument/2006/relationships/image" Target="../media/image220.png"/><Relationship Id="rId9" Type="http://schemas.openxmlformats.org/officeDocument/2006/relationships/diagramLayout" Target="../diagrams/layout6.xml"/><Relationship Id="rId14" Type="http://schemas.openxmlformats.org/officeDocument/2006/relationships/diagramLayout" Target="../diagrams/layout7.xml"/><Relationship Id="rId22" Type="http://schemas.openxmlformats.org/officeDocument/2006/relationships/diagramColors" Target="../diagrams/colors8.xml"/><Relationship Id="rId27" Type="http://schemas.openxmlformats.org/officeDocument/2006/relationships/diagramColors" Target="../diagrams/colors9.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34.jpeg"/><Relationship Id="rId5" Type="http://schemas.openxmlformats.org/officeDocument/2006/relationships/image" Target="../media/image33.jpeg"/><Relationship Id="rId4" Type="http://schemas.openxmlformats.org/officeDocument/2006/relationships/image" Target="../media/image32.jpeg"/></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8" Type="http://schemas.openxmlformats.org/officeDocument/2006/relationships/hyperlink" Target="https://arxiv.org/search/cs?searchtype=author&amp;query=Wang,+Y" TargetMode="External"/><Relationship Id="rId3" Type="http://schemas.openxmlformats.org/officeDocument/2006/relationships/hyperlink" Target="https://arxiv.org/search/cs?searchtype=author&amp;query=Geng,+J" TargetMode="External"/><Relationship Id="rId7" Type="http://schemas.openxmlformats.org/officeDocument/2006/relationships/hyperlink" Target="https://arxiv.org/search/cs?searchtype=author&amp;query=Cai,+F" TargetMode="External"/><Relationship Id="rId12" Type="http://schemas.openxmlformats.org/officeDocument/2006/relationships/hyperlink" Target="https://doi.org/10.48550/arXiv.2503.01854"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arxiv.org/search/cs?searchtype=author&amp;query=Chen,+Z" TargetMode="External"/><Relationship Id="rId11" Type="http://schemas.openxmlformats.org/officeDocument/2006/relationships/hyperlink" Target="https://arxiv.org/search/cs?searchtype=author&amp;query=Karray,+F" TargetMode="External"/><Relationship Id="rId5" Type="http://schemas.openxmlformats.org/officeDocument/2006/relationships/hyperlink" Target="https://arxiv.org/search/cs?searchtype=author&amp;query=Woisetschlaeger,+H" TargetMode="External"/><Relationship Id="rId10" Type="http://schemas.openxmlformats.org/officeDocument/2006/relationships/hyperlink" Target="https://arxiv.org/search/cs?searchtype=author&amp;query=Jacobsen,+H" TargetMode="External"/><Relationship Id="rId4" Type="http://schemas.openxmlformats.org/officeDocument/2006/relationships/hyperlink" Target="https://arxiv.org/search/cs?searchtype=author&amp;query=Li,+Q" TargetMode="External"/><Relationship Id="rId9" Type="http://schemas.openxmlformats.org/officeDocument/2006/relationships/hyperlink" Target="https://arxiv.org/search/cs?searchtype=author&amp;query=Nakov,+P"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http://proceedings.mlr.press/v119/guo20c.html" TargetMode="Externa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hyperlink" Target="https://arxiv.org/pdf/2312.15910" TargetMode="External"/></Relationships>
</file>

<file path=ppt/slides/_rels/slide32.xml.rels><?xml version="1.0" encoding="UTF-8" standalone="yes"?>
<Relationships xmlns="http://schemas.openxmlformats.org/package/2006/relationships"><Relationship Id="rId3" Type="http://schemas.openxmlformats.org/officeDocument/2006/relationships/hyperlink" Target="https://www.meity.gov.in/static/uploads/2024/06/2bf1f0e9f04e6fb4f8fef35e82c42aa5.pdf" TargetMode="Externa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hyperlink" Target="https://www.udemy.com/course/responsible-ai-principles-practices-and-applications/?srsltid=AfmBOorcJDN91T-1RxFtCerA13W6GAUedvgXI_K5mlDnzcsPdM9ebOlg" TargetMode="Externa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hyperlink" Target="https://www.manipal.edu/mu/academics/phd/admissions---phd-program/full-time-phd-with-dr-tma-pai-scholarship.html" TargetMode="External"/><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7CB6EE5-8B8C-6F79-C7AC-F02C24B6EDB1}"/>
              </a:ext>
            </a:extLst>
          </p:cNvPr>
          <p:cNvSpPr/>
          <p:nvPr/>
        </p:nvSpPr>
        <p:spPr>
          <a:xfrm>
            <a:off x="3241006" y="2662091"/>
            <a:ext cx="5705061" cy="1077218"/>
          </a:xfrm>
          <a:prstGeom prst="rect">
            <a:avLst/>
          </a:prstGeom>
        </p:spPr>
        <p:txBody>
          <a:bodyPr wrap="square">
            <a:spAutoFit/>
          </a:bodyPr>
          <a:lstStyle/>
          <a:p>
            <a:pPr algn="ctr"/>
            <a:r>
              <a:rPr lang="en-US" sz="1600" b="1" dirty="0">
                <a:latin typeface="Times New Roman" panose="02020603050405020304" pitchFamily="18" charset="0"/>
                <a:cs typeface="Times New Roman" panose="02020603050405020304" pitchFamily="18" charset="0"/>
              </a:rPr>
              <a:t>Abhishek Hupele</a:t>
            </a:r>
          </a:p>
          <a:p>
            <a:pPr algn="ctr"/>
            <a:r>
              <a:rPr lang="en-US" sz="1600" dirty="0">
                <a:latin typeface="Times New Roman" panose="02020603050405020304" pitchFamily="18" charset="0"/>
                <a:cs typeface="Times New Roman" panose="02020603050405020304" pitchFamily="18" charset="0"/>
              </a:rPr>
              <a:t>Reg. No.: 240900465</a:t>
            </a:r>
          </a:p>
          <a:p>
            <a:pPr algn="ctr"/>
            <a:r>
              <a:rPr lang="en-US" sz="1600" dirty="0">
                <a:latin typeface="Times New Roman" panose="02020603050405020304" pitchFamily="18" charset="0"/>
                <a:cs typeface="Times New Roman" panose="02020603050405020304" pitchFamily="18" charset="0"/>
              </a:rPr>
              <a:t>Computer Scientist (PE), Research and Development - EV</a:t>
            </a:r>
          </a:p>
          <a:p>
            <a:pPr algn="ctr"/>
            <a:r>
              <a:rPr lang="en-US" sz="1600" dirty="0">
                <a:latin typeface="Times New Roman" panose="02020603050405020304" pitchFamily="18" charset="0"/>
                <a:cs typeface="Times New Roman" panose="02020603050405020304" pitchFamily="18" charset="0"/>
              </a:rPr>
              <a:t>EdgeVerve Systems Limited, An Infosys Company</a:t>
            </a:r>
          </a:p>
        </p:txBody>
      </p:sp>
      <p:sp>
        <p:nvSpPr>
          <p:cNvPr id="4" name="TextBox 3">
            <a:extLst>
              <a:ext uri="{FF2B5EF4-FFF2-40B4-BE49-F238E27FC236}">
                <a16:creationId xmlns:a16="http://schemas.microsoft.com/office/drawing/2014/main" id="{4C23ECF9-C73A-48FD-319C-ADCEAF5FCA80}"/>
              </a:ext>
            </a:extLst>
          </p:cNvPr>
          <p:cNvSpPr txBox="1"/>
          <p:nvPr/>
        </p:nvSpPr>
        <p:spPr>
          <a:xfrm flipH="1">
            <a:off x="3575399" y="4340869"/>
            <a:ext cx="5029200" cy="1077218"/>
          </a:xfrm>
          <a:prstGeom prst="rect">
            <a:avLst/>
          </a:prstGeom>
          <a:noFill/>
        </p:spPr>
        <p:txBody>
          <a:bodyPr wrap="square" rtlCol="0">
            <a:spAutoFit/>
          </a:bodyPr>
          <a:lstStyle/>
          <a:p>
            <a:pPr algn="ctr"/>
            <a:r>
              <a:rPr lang="en-US" sz="1600" b="1" dirty="0">
                <a:latin typeface="Times New Roman" panose="02020603050405020304" pitchFamily="18" charset="0"/>
                <a:cs typeface="Times New Roman" panose="02020603050405020304" pitchFamily="18" charset="0"/>
              </a:rPr>
              <a:t>Dr. Sanjay Singh</a:t>
            </a:r>
          </a:p>
          <a:p>
            <a:pPr algn="ctr"/>
            <a:r>
              <a:rPr lang="en-US" sz="1600" dirty="0">
                <a:latin typeface="Times New Roman" panose="02020603050405020304" pitchFamily="18" charset="0"/>
                <a:cs typeface="Times New Roman" panose="02020603050405020304" pitchFamily="18" charset="0"/>
              </a:rPr>
              <a:t>Professor (Guide)</a:t>
            </a:r>
          </a:p>
          <a:p>
            <a:pPr algn="ctr"/>
            <a:r>
              <a:rPr lang="en-US" sz="1600" dirty="0">
                <a:latin typeface="Times New Roman" panose="02020603050405020304" pitchFamily="18" charset="0"/>
                <a:cs typeface="Times New Roman" panose="02020603050405020304" pitchFamily="18" charset="0"/>
              </a:rPr>
              <a:t>School of Computer Engineering,</a:t>
            </a:r>
          </a:p>
          <a:p>
            <a:pPr algn="ctr"/>
            <a:r>
              <a:rPr lang="en-US" sz="1600" dirty="0">
                <a:latin typeface="Times New Roman" panose="02020603050405020304" pitchFamily="18" charset="0"/>
                <a:cs typeface="Times New Roman" panose="02020603050405020304" pitchFamily="18" charset="0"/>
              </a:rPr>
              <a:t>Manipal Institute of Technology, Manipal</a:t>
            </a:r>
            <a:endParaRPr lang="en-IN" sz="1600"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8C805A23-E79D-C3AA-0483-FCBF1B532C33}"/>
              </a:ext>
            </a:extLst>
          </p:cNvPr>
          <p:cNvSpPr/>
          <p:nvPr/>
        </p:nvSpPr>
        <p:spPr>
          <a:xfrm>
            <a:off x="-80021" y="5620385"/>
            <a:ext cx="4749786" cy="830997"/>
          </a:xfrm>
          <a:prstGeom prst="rect">
            <a:avLst/>
          </a:prstGeom>
        </p:spPr>
        <p:txBody>
          <a:bodyPr wrap="square">
            <a:spAutoFit/>
          </a:bodyPr>
          <a:lstStyle/>
          <a:p>
            <a:pPr algn="ctr"/>
            <a:r>
              <a:rPr lang="en-US" sz="1600" b="1" dirty="0">
                <a:latin typeface="Times New Roman" panose="02020603050405020304" pitchFamily="18" charset="0"/>
                <a:ea typeface="Times New Roman" panose="02020603050405020304" pitchFamily="18" charset="0"/>
              </a:rPr>
              <a:t>Dr. Naveen Kulkarni (Co-Guide)</a:t>
            </a:r>
            <a:endParaRPr lang="en-US" sz="1600" dirty="0">
              <a:latin typeface="Times New Roman" panose="02020603050405020304" pitchFamily="18" charset="0"/>
              <a:ea typeface="Times New Roman" panose="02020603050405020304" pitchFamily="18" charset="0"/>
            </a:endParaRPr>
          </a:p>
          <a:p>
            <a:pPr algn="ctr"/>
            <a:r>
              <a:rPr lang="en-US" sz="1600" dirty="0">
                <a:latin typeface="Times New Roman" panose="02020603050405020304" pitchFamily="18" charset="0"/>
                <a:ea typeface="Times New Roman" panose="02020603050405020304" pitchFamily="18" charset="0"/>
              </a:rPr>
              <a:t>Director – Product Engineering - AI</a:t>
            </a:r>
          </a:p>
          <a:p>
            <a:pPr algn="ctr"/>
            <a:r>
              <a:rPr lang="en-US" sz="1600" dirty="0">
                <a:latin typeface="Times New Roman" panose="02020603050405020304" pitchFamily="18" charset="0"/>
                <a:ea typeface="Times New Roman" panose="02020603050405020304" pitchFamily="18" charset="0"/>
              </a:rPr>
              <a:t>EdgeVerve Systems Limited</a:t>
            </a:r>
          </a:p>
        </p:txBody>
      </p:sp>
      <p:sp>
        <p:nvSpPr>
          <p:cNvPr id="6" name="TextBox 5">
            <a:extLst>
              <a:ext uri="{FF2B5EF4-FFF2-40B4-BE49-F238E27FC236}">
                <a16:creationId xmlns:a16="http://schemas.microsoft.com/office/drawing/2014/main" id="{0A4B357E-F3D3-9E74-EDA1-3E59F5248E7B}"/>
              </a:ext>
            </a:extLst>
          </p:cNvPr>
          <p:cNvSpPr txBox="1"/>
          <p:nvPr/>
        </p:nvSpPr>
        <p:spPr>
          <a:xfrm>
            <a:off x="2552686" y="2209859"/>
            <a:ext cx="7086600" cy="369332"/>
          </a:xfrm>
          <a:prstGeom prst="rect">
            <a:avLst/>
          </a:prstGeom>
          <a:noFill/>
        </p:spPr>
        <p:txBody>
          <a:bodyPr wrap="square" rtlCol="0">
            <a:spAutoFit/>
          </a:bodyPr>
          <a:lstStyle/>
          <a:p>
            <a:pPr algn="ctr"/>
            <a:r>
              <a:rPr lang="en-IN" dirty="0" err="1">
                <a:latin typeface="Times New Roman" panose="02020603050405020304" pitchFamily="18" charset="0"/>
                <a:cs typeface="Times New Roman" panose="02020603050405020304" pitchFamily="18" charset="0"/>
              </a:rPr>
              <a:t>Ph.D</a:t>
            </a:r>
            <a:r>
              <a:rPr lang="en-IN" dirty="0">
                <a:latin typeface="Times New Roman" panose="02020603050405020304" pitchFamily="18" charset="0"/>
                <a:cs typeface="Times New Roman" panose="02020603050405020304" pitchFamily="18" charset="0"/>
              </a:rPr>
              <a:t> Proposal Presentation by</a:t>
            </a:r>
          </a:p>
        </p:txBody>
      </p:sp>
      <p:sp>
        <p:nvSpPr>
          <p:cNvPr id="7" name="TextBox 6">
            <a:extLst>
              <a:ext uri="{FF2B5EF4-FFF2-40B4-BE49-F238E27FC236}">
                <a16:creationId xmlns:a16="http://schemas.microsoft.com/office/drawing/2014/main" id="{042AC434-5DCE-8421-B231-4354F196EFE2}"/>
              </a:ext>
            </a:extLst>
          </p:cNvPr>
          <p:cNvSpPr txBox="1"/>
          <p:nvPr/>
        </p:nvSpPr>
        <p:spPr>
          <a:xfrm>
            <a:off x="2742190" y="3945320"/>
            <a:ext cx="6702695" cy="338554"/>
          </a:xfrm>
          <a:prstGeom prst="rect">
            <a:avLst/>
          </a:prstGeom>
          <a:noFill/>
        </p:spPr>
        <p:txBody>
          <a:bodyPr wrap="square" rtlCol="0">
            <a:spAutoFit/>
          </a:bodyPr>
          <a:lstStyle/>
          <a:p>
            <a:pPr algn="ctr"/>
            <a:r>
              <a:rPr lang="en-IN" sz="1600" dirty="0">
                <a:latin typeface="Times New Roman" panose="02020603050405020304" pitchFamily="18" charset="0"/>
                <a:cs typeface="Times New Roman" panose="02020603050405020304" pitchFamily="18" charset="0"/>
              </a:rPr>
              <a:t>Under the supervision of </a:t>
            </a:r>
          </a:p>
        </p:txBody>
      </p:sp>
      <p:pic>
        <p:nvPicPr>
          <p:cNvPr id="9" name="Picture 8">
            <a:extLst>
              <a:ext uri="{FF2B5EF4-FFF2-40B4-BE49-F238E27FC236}">
                <a16:creationId xmlns:a16="http://schemas.microsoft.com/office/drawing/2014/main" id="{232AEAA8-BF52-6764-0DB0-4EA5E9591E0C}"/>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b="9694"/>
          <a:stretch/>
        </p:blipFill>
        <p:spPr>
          <a:xfrm>
            <a:off x="38086" y="30152"/>
            <a:ext cx="2905125" cy="843190"/>
          </a:xfrm>
          <a:prstGeom prst="rect">
            <a:avLst/>
          </a:prstGeom>
        </p:spPr>
      </p:pic>
      <p:sp>
        <p:nvSpPr>
          <p:cNvPr id="10" name="Rectangle 9">
            <a:extLst>
              <a:ext uri="{FF2B5EF4-FFF2-40B4-BE49-F238E27FC236}">
                <a16:creationId xmlns:a16="http://schemas.microsoft.com/office/drawing/2014/main" id="{E29EAFD0-30F0-67AA-DF85-F53353707270}"/>
              </a:ext>
            </a:extLst>
          </p:cNvPr>
          <p:cNvSpPr/>
          <p:nvPr/>
        </p:nvSpPr>
        <p:spPr>
          <a:xfrm>
            <a:off x="-6000" y="6606000"/>
            <a:ext cx="12192000" cy="252000"/>
          </a:xfrm>
          <a:prstGeom prst="rect">
            <a:avLst/>
          </a:prstGeom>
          <a:solidFill>
            <a:srgbClr val="FD9D39"/>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ea typeface="Instrument Sans" pitchFamily="34" charset="-122"/>
                <a:cs typeface="Times New Roman" panose="02020603050405020304" pitchFamily="18" charset="0"/>
              </a:rPr>
              <a:t>      </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9B9D8F5-5282-EC7B-6F49-AE55545A6448}"/>
              </a:ext>
            </a:extLst>
          </p:cNvPr>
          <p:cNvSpPr txBox="1"/>
          <p:nvPr/>
        </p:nvSpPr>
        <p:spPr>
          <a:xfrm>
            <a:off x="5291896" y="6578027"/>
            <a:ext cx="1596207" cy="307777"/>
          </a:xfrm>
          <a:prstGeom prst="rect">
            <a:avLst/>
          </a:prstGeom>
          <a:noFill/>
        </p:spPr>
        <p:txBody>
          <a:bodyPr wrap="square" rtlCol="0">
            <a:spAutoFit/>
          </a:bodyPr>
          <a:lstStyle/>
          <a:p>
            <a:pPr algn="ctr"/>
            <a:r>
              <a:rPr lang="en-IN" sz="1400" dirty="0">
                <a:solidFill>
                  <a:schemeClr val="bg1"/>
                </a:solidFill>
                <a:latin typeface="Times New Roman" panose="02020603050405020304" pitchFamily="18" charset="0"/>
                <a:cs typeface="Times New Roman" panose="02020603050405020304" pitchFamily="18" charset="0"/>
              </a:rPr>
              <a:t>Mar 17, 2026</a:t>
            </a:r>
          </a:p>
        </p:txBody>
      </p:sp>
      <p:sp>
        <p:nvSpPr>
          <p:cNvPr id="11" name="TextBox 10">
            <a:extLst>
              <a:ext uri="{FF2B5EF4-FFF2-40B4-BE49-F238E27FC236}">
                <a16:creationId xmlns:a16="http://schemas.microsoft.com/office/drawing/2014/main" id="{DB3891EB-7439-3E27-A229-497A81D341F1}"/>
              </a:ext>
            </a:extLst>
          </p:cNvPr>
          <p:cNvSpPr txBox="1"/>
          <p:nvPr/>
        </p:nvSpPr>
        <p:spPr>
          <a:xfrm flipH="1">
            <a:off x="7522236" y="5434835"/>
            <a:ext cx="4577880" cy="1077218"/>
          </a:xfrm>
          <a:prstGeom prst="rect">
            <a:avLst/>
          </a:prstGeom>
          <a:noFill/>
        </p:spPr>
        <p:txBody>
          <a:bodyPr wrap="square" rtlCol="0">
            <a:spAutoFit/>
          </a:bodyPr>
          <a:lstStyle/>
          <a:p>
            <a:pPr algn="ctr"/>
            <a:r>
              <a:rPr lang="en-US" sz="1600" b="1" dirty="0">
                <a:latin typeface="Times New Roman" panose="02020603050405020304" pitchFamily="18" charset="0"/>
                <a:cs typeface="Times New Roman" panose="02020603050405020304" pitchFamily="18" charset="0"/>
              </a:rPr>
              <a:t>Dr. P.C. Siddalingaswamy</a:t>
            </a:r>
          </a:p>
          <a:p>
            <a:pPr algn="ctr"/>
            <a:r>
              <a:rPr lang="en-US" sz="1600" dirty="0">
                <a:latin typeface="Times New Roman" panose="02020603050405020304" pitchFamily="18" charset="0"/>
                <a:cs typeface="Times New Roman" panose="02020603050405020304" pitchFamily="18" charset="0"/>
              </a:rPr>
              <a:t>Professor (Co-Guide)</a:t>
            </a:r>
          </a:p>
          <a:p>
            <a:pPr algn="ctr"/>
            <a:r>
              <a:rPr lang="en-US" sz="1600" dirty="0">
                <a:latin typeface="Times New Roman" panose="02020603050405020304" pitchFamily="18" charset="0"/>
                <a:cs typeface="Times New Roman" panose="02020603050405020304" pitchFamily="18" charset="0"/>
              </a:rPr>
              <a:t>School of Computer Engineering,</a:t>
            </a:r>
          </a:p>
          <a:p>
            <a:pPr algn="ctr"/>
            <a:r>
              <a:rPr lang="en-US" sz="1600" dirty="0">
                <a:latin typeface="Times New Roman" panose="02020603050405020304" pitchFamily="18" charset="0"/>
                <a:cs typeface="Times New Roman" panose="02020603050405020304" pitchFamily="18" charset="0"/>
              </a:rPr>
              <a:t>Manipal Institute of Technology, Manipal</a:t>
            </a:r>
            <a:endParaRPr lang="en-IN" sz="1600" dirty="0">
              <a:latin typeface="Times New Roman" panose="02020603050405020304" pitchFamily="18" charset="0"/>
              <a:cs typeface="Times New Roman" panose="02020603050405020304" pitchFamily="18" charset="0"/>
            </a:endParaRPr>
          </a:p>
        </p:txBody>
      </p:sp>
      <p:sp>
        <p:nvSpPr>
          <p:cNvPr id="12" name="Straight Arrow Connector 2">
            <a:extLst>
              <a:ext uri="{FF2B5EF4-FFF2-40B4-BE49-F238E27FC236}">
                <a16:creationId xmlns:a16="http://schemas.microsoft.com/office/drawing/2014/main" id="{B0663CA5-4518-4996-6023-E05E019E5C33}"/>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sp>
        <p:nvSpPr>
          <p:cNvPr id="13" name="Freeform 12">
            <a:extLst>
              <a:ext uri="{FF2B5EF4-FFF2-40B4-BE49-F238E27FC236}">
                <a16:creationId xmlns:a16="http://schemas.microsoft.com/office/drawing/2014/main" id="{3898CAAB-F096-0002-9EFD-5FCEDB5C8695}"/>
              </a:ext>
            </a:extLst>
          </p:cNvPr>
          <p:cNvSpPr/>
          <p:nvPr/>
        </p:nvSpPr>
        <p:spPr>
          <a:xfrm>
            <a:off x="1871002" y="1032822"/>
            <a:ext cx="8898575" cy="1072080"/>
          </a:xfrm>
          <a:custGeom>
            <a:avLst/>
            <a:gdLst/>
            <a:ahLst/>
            <a:cxnLst/>
            <a:rect l="l" t="t" r="r" b="b"/>
            <a:pathLst>
              <a:path w="26002" h="3002">
                <a:moveTo>
                  <a:pt x="500" y="0"/>
                </a:moveTo>
                <a:lnTo>
                  <a:pt x="500" y="0"/>
                </a:lnTo>
                <a:cubicBezTo>
                  <a:pt x="412" y="0"/>
                  <a:pt x="326" y="23"/>
                  <a:pt x="250" y="67"/>
                </a:cubicBezTo>
                <a:cubicBezTo>
                  <a:pt x="174" y="111"/>
                  <a:pt x="111" y="174"/>
                  <a:pt x="67" y="250"/>
                </a:cubicBezTo>
                <a:cubicBezTo>
                  <a:pt x="23" y="326"/>
                  <a:pt x="0" y="412"/>
                  <a:pt x="0" y="500"/>
                </a:cubicBezTo>
                <a:lnTo>
                  <a:pt x="0" y="2500"/>
                </a:lnTo>
                <a:lnTo>
                  <a:pt x="0" y="2501"/>
                </a:lnTo>
                <a:cubicBezTo>
                  <a:pt x="0" y="2589"/>
                  <a:pt x="23" y="2675"/>
                  <a:pt x="67" y="2751"/>
                </a:cubicBezTo>
                <a:cubicBezTo>
                  <a:pt x="111" y="2827"/>
                  <a:pt x="174" y="2890"/>
                  <a:pt x="250" y="2934"/>
                </a:cubicBezTo>
                <a:cubicBezTo>
                  <a:pt x="326" y="2978"/>
                  <a:pt x="412" y="3001"/>
                  <a:pt x="500" y="3001"/>
                </a:cubicBezTo>
                <a:lnTo>
                  <a:pt x="25500" y="3001"/>
                </a:lnTo>
                <a:lnTo>
                  <a:pt x="25501" y="3001"/>
                </a:lnTo>
                <a:cubicBezTo>
                  <a:pt x="25589" y="3001"/>
                  <a:pt x="25675" y="2978"/>
                  <a:pt x="25751" y="2934"/>
                </a:cubicBezTo>
                <a:cubicBezTo>
                  <a:pt x="25827" y="2890"/>
                  <a:pt x="25890" y="2827"/>
                  <a:pt x="25934" y="2751"/>
                </a:cubicBezTo>
                <a:cubicBezTo>
                  <a:pt x="25978" y="2675"/>
                  <a:pt x="26001" y="2589"/>
                  <a:pt x="26001" y="2501"/>
                </a:cubicBezTo>
                <a:lnTo>
                  <a:pt x="26001" y="500"/>
                </a:lnTo>
                <a:lnTo>
                  <a:pt x="26001" y="500"/>
                </a:lnTo>
                <a:lnTo>
                  <a:pt x="26001" y="500"/>
                </a:lnTo>
                <a:cubicBezTo>
                  <a:pt x="26001" y="412"/>
                  <a:pt x="25978" y="326"/>
                  <a:pt x="25934" y="250"/>
                </a:cubicBezTo>
                <a:cubicBezTo>
                  <a:pt x="25890" y="174"/>
                  <a:pt x="25827" y="111"/>
                  <a:pt x="25751" y="67"/>
                </a:cubicBezTo>
                <a:cubicBezTo>
                  <a:pt x="25675" y="23"/>
                  <a:pt x="25589" y="0"/>
                  <a:pt x="25501" y="0"/>
                </a:cubicBezTo>
                <a:lnTo>
                  <a:pt x="500" y="0"/>
                </a:lnTo>
              </a:path>
            </a:pathLst>
          </a:custGeom>
          <a:solidFill>
            <a:srgbClr val="FD9D39"/>
          </a:solidFill>
          <a:ln w="0">
            <a:noFill/>
          </a:ln>
          <a:effectLst>
            <a:outerShdw blurRad="63360" dist="89604" dir="2700000" rotWithShape="0">
              <a:srgbClr val="666666"/>
            </a:outerShdw>
          </a:effectLst>
        </p:spPr>
        <p:style>
          <a:lnRef idx="0">
            <a:scrgbClr r="0" g="0" b="0"/>
          </a:lnRef>
          <a:fillRef idx="0">
            <a:scrgbClr r="0" g="0" b="0"/>
          </a:fillRef>
          <a:effectRef idx="0">
            <a:scrgbClr r="0" g="0" b="0"/>
          </a:effectRef>
          <a:fontRef idx="minor"/>
        </p:style>
        <p:txBody>
          <a:bodyPr anchor="ctr"/>
          <a:lstStyle/>
          <a:p>
            <a:pPr algn="ctr">
              <a:lnSpc>
                <a:spcPct val="115000"/>
              </a:lnSpc>
              <a:spcAft>
                <a:spcPts val="1000"/>
              </a:spcAft>
            </a:pPr>
            <a:r>
              <a:rPr lang="en-US" sz="2000" b="1" dirty="0">
                <a:latin typeface="Cambria" panose="02040503050406030204" pitchFamily="18" charset="0"/>
                <a:ea typeface="MS Mincho" panose="02020609040205080304" pitchFamily="49" charset="-128"/>
                <a:cs typeface="Times New Roman" panose="02020603050405020304" pitchFamily="18" charset="0"/>
              </a:rPr>
              <a:t>Game-Theory-Based Balance: Formalizing the Machine Unlearning Problem as a Game Between Model Provider and Data Provider</a:t>
            </a:r>
          </a:p>
          <a:p>
            <a:pPr algn="ctr">
              <a:lnSpc>
                <a:spcPct val="115000"/>
              </a:lnSpc>
              <a:spcAft>
                <a:spcPts val="1000"/>
              </a:spcAft>
            </a:pPr>
            <a:r>
              <a:rPr lang="en-US" sz="1200" b="1" dirty="0">
                <a:latin typeface="Cambria" panose="02040503050406030204" pitchFamily="18" charset="0"/>
                <a:ea typeface="MS Mincho" panose="02020609040205080304" pitchFamily="49" charset="-128"/>
                <a:cs typeface="Times New Roman" panose="02020603050405020304" pitchFamily="18" charset="0"/>
              </a:rPr>
              <a:t>Machine Unlearning : Addressing the Challenge of Incorrectly Learned Information</a:t>
            </a:r>
            <a:endParaRPr lang="en-US" sz="1200" dirty="0">
              <a:latin typeface="Cambria" panose="020405030504060302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25843281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97160-1185-56BC-1A5A-B42B932E9460}"/>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284A200A-966B-AAE5-7E69-2B0F6D65000F}"/>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3C38B786-50DC-1F3D-0011-B517581B137A}"/>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86611793-5160-877E-8AC0-3930611F6914}"/>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14" name="TextBox 13">
            <a:extLst>
              <a:ext uri="{FF2B5EF4-FFF2-40B4-BE49-F238E27FC236}">
                <a16:creationId xmlns:a16="http://schemas.microsoft.com/office/drawing/2014/main" id="{10157B06-6E27-2B15-EEF6-EF6B65F914AA}"/>
              </a:ext>
            </a:extLst>
          </p:cNvPr>
          <p:cNvSpPr txBox="1"/>
          <p:nvPr/>
        </p:nvSpPr>
        <p:spPr>
          <a:xfrm>
            <a:off x="6096000" y="190137"/>
            <a:ext cx="5622387" cy="523220"/>
          </a:xfrm>
          <a:prstGeom prst="rect">
            <a:avLst/>
          </a:prstGeom>
          <a:noFill/>
        </p:spPr>
        <p:txBody>
          <a:bodyPr wrap="square" rtlCol="0">
            <a:spAutoFit/>
          </a:bodyPr>
          <a:lstStyle/>
          <a:p>
            <a:pPr algn="r"/>
            <a:r>
              <a:rPr lang="en-IN" sz="2800" b="1" dirty="0">
                <a:latin typeface="Times New Roman" panose="02020603050405020304" pitchFamily="18" charset="0"/>
                <a:cs typeface="Times New Roman" panose="02020603050405020304" pitchFamily="18" charset="0"/>
              </a:rPr>
              <a:t>Presentation Overview</a:t>
            </a:r>
          </a:p>
        </p:txBody>
      </p:sp>
      <p:sp>
        <p:nvSpPr>
          <p:cNvPr id="15" name="TextBox 14">
            <a:extLst>
              <a:ext uri="{FF2B5EF4-FFF2-40B4-BE49-F238E27FC236}">
                <a16:creationId xmlns:a16="http://schemas.microsoft.com/office/drawing/2014/main" id="{4A99735D-AF7D-3264-3022-5CBDB984C6DB}"/>
              </a:ext>
            </a:extLst>
          </p:cNvPr>
          <p:cNvSpPr txBox="1"/>
          <p:nvPr/>
        </p:nvSpPr>
        <p:spPr>
          <a:xfrm>
            <a:off x="868018" y="880602"/>
            <a:ext cx="10485782" cy="5115311"/>
          </a:xfrm>
          <a:prstGeom prst="rect">
            <a:avLst/>
          </a:prstGeom>
          <a:noFill/>
        </p:spPr>
        <p:txBody>
          <a:bodyPr wrap="square" rtlCol="0">
            <a:spAutoFit/>
          </a:bodyPr>
          <a:lstStyle/>
          <a:p>
            <a:pPr marL="457200" indent="-457200">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Introduction</a:t>
            </a:r>
          </a:p>
          <a:p>
            <a:pPr marL="457200" indent="-457200">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Literature Review</a:t>
            </a:r>
          </a:p>
          <a:p>
            <a:pPr marL="457200" indent="-457200">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Research Gaps</a:t>
            </a:r>
          </a:p>
          <a:p>
            <a:pPr marL="457200" indent="-457200">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Objectives</a:t>
            </a:r>
          </a:p>
          <a:p>
            <a:pPr marL="457200" indent="-4572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Methodology</a:t>
            </a:r>
            <a:endParaRPr lang="en-IN" sz="2000"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Expected Outcomes</a:t>
            </a:r>
          </a:p>
          <a:p>
            <a:pPr marL="457200" indent="-457200">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Importance </a:t>
            </a:r>
            <a:r>
              <a:rPr lang="en-IN" sz="2000" b="0" dirty="0">
                <a:effectLst/>
                <a:latin typeface="Times New Roman" panose="02020603050405020304" pitchFamily="18" charset="0"/>
                <a:cs typeface="Times New Roman" panose="02020603050405020304" pitchFamily="18" charset="0"/>
              </a:rPr>
              <a:t>of Proposed </a:t>
            </a:r>
            <a:r>
              <a:rPr lang="en-IN" sz="2000" dirty="0">
                <a:latin typeface="Times New Roman" panose="02020603050405020304" pitchFamily="18" charset="0"/>
                <a:cs typeface="Times New Roman" panose="02020603050405020304" pitchFamily="18" charset="0"/>
              </a:rPr>
              <a:t>R</a:t>
            </a:r>
            <a:r>
              <a:rPr lang="en-IN" sz="2000" b="0" dirty="0">
                <a:effectLst/>
                <a:latin typeface="Times New Roman" panose="02020603050405020304" pitchFamily="18" charset="0"/>
                <a:cs typeface="Times New Roman" panose="02020603050405020304" pitchFamily="18" charset="0"/>
              </a:rPr>
              <a:t>esearch </a:t>
            </a:r>
            <a:r>
              <a:rPr lang="en-IN" sz="2000" dirty="0">
                <a:latin typeface="Times New Roman" panose="02020603050405020304" pitchFamily="18" charset="0"/>
                <a:cs typeface="Times New Roman" panose="02020603050405020304" pitchFamily="18" charset="0"/>
              </a:rPr>
              <a:t>I</a:t>
            </a:r>
            <a:r>
              <a:rPr lang="en-IN" sz="2000" b="0" dirty="0">
                <a:effectLst/>
                <a:latin typeface="Times New Roman" panose="02020603050405020304" pitchFamily="18" charset="0"/>
                <a:cs typeface="Times New Roman" panose="02020603050405020304" pitchFamily="18" charset="0"/>
              </a:rPr>
              <a:t>nvestigation</a:t>
            </a:r>
          </a:p>
          <a:p>
            <a:pPr marL="457200" indent="-457200">
              <a:lnSpc>
                <a:spcPct val="150000"/>
              </a:lnSpc>
              <a:buFont typeface="+mj-lt"/>
              <a:buAutoNum type="arabicPeriod"/>
            </a:pPr>
            <a:r>
              <a:rPr lang="en-IN" sz="2000" b="0" dirty="0">
                <a:effectLst/>
                <a:latin typeface="Times New Roman" panose="02020603050405020304" pitchFamily="18" charset="0"/>
                <a:cs typeface="Times New Roman" panose="02020603050405020304" pitchFamily="18" charset="0"/>
              </a:rPr>
              <a:t>Research Time Plan  </a:t>
            </a:r>
          </a:p>
          <a:p>
            <a:pPr marL="457200" indent="-457200">
              <a:lnSpc>
                <a:spcPct val="150000"/>
              </a:lnSpc>
              <a:buFont typeface="+mj-lt"/>
              <a:buAutoNum type="arabicPeriod"/>
            </a:pPr>
            <a:r>
              <a:rPr lang="en-IN" sz="2000" b="0" dirty="0">
                <a:effectLst/>
                <a:latin typeface="Times New Roman" panose="02020603050405020304" pitchFamily="18" charset="0"/>
                <a:cs typeface="Times New Roman" panose="02020603050405020304" pitchFamily="18" charset="0"/>
              </a:rPr>
              <a:t>Pilot Study/Preliminary Work Done </a:t>
            </a:r>
          </a:p>
          <a:p>
            <a:pPr marL="457200" indent="-457200">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Course Work Details</a:t>
            </a:r>
          </a:p>
          <a:p>
            <a:pPr marL="457200" indent="-457200">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References </a:t>
            </a:r>
          </a:p>
        </p:txBody>
      </p:sp>
      <p:sp>
        <p:nvSpPr>
          <p:cNvPr id="18" name="Slide Number Placeholder 5">
            <a:extLst>
              <a:ext uri="{FF2B5EF4-FFF2-40B4-BE49-F238E27FC236}">
                <a16:creationId xmlns:a16="http://schemas.microsoft.com/office/drawing/2014/main" id="{0468BC83-FBCB-08B7-6B41-7DCE583F7395}"/>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2</a:t>
            </a:fld>
            <a:endParaRPr lang="en-IN" sz="1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56991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96E7B-E986-2006-250E-12D162AC2440}"/>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EC83047D-158B-6607-FE2B-42B1A9D38232}"/>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FB426C7E-9087-6CB9-D3B3-75986F397AC5}"/>
                </a:ext>
              </a:extLst>
            </p:cNvPr>
            <p:cNvPicPr>
              <a:picLocks noChangeAspect="1"/>
            </p:cNvPicPr>
            <p:nvPr/>
          </p:nvPicPr>
          <p:blipFill rotWithShape="1">
            <a:blip r:embed="rId3">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6C117594-F961-26F6-45B6-A7549DDFE651}"/>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14" name="TextBox 13">
            <a:extLst>
              <a:ext uri="{FF2B5EF4-FFF2-40B4-BE49-F238E27FC236}">
                <a16:creationId xmlns:a16="http://schemas.microsoft.com/office/drawing/2014/main" id="{5C5A4CEC-9CD2-5A9E-3B24-97A141DD9DD0}"/>
              </a:ext>
            </a:extLst>
          </p:cNvPr>
          <p:cNvSpPr txBox="1"/>
          <p:nvPr/>
        </p:nvSpPr>
        <p:spPr>
          <a:xfrm>
            <a:off x="6096000" y="190137"/>
            <a:ext cx="5622387"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Introduction-I</a:t>
            </a:r>
          </a:p>
        </p:txBody>
      </p:sp>
      <p:sp>
        <p:nvSpPr>
          <p:cNvPr id="3" name="TextBox 2">
            <a:extLst>
              <a:ext uri="{FF2B5EF4-FFF2-40B4-BE49-F238E27FC236}">
                <a16:creationId xmlns:a16="http://schemas.microsoft.com/office/drawing/2014/main" id="{0B1A4683-B37D-C0ED-0748-B3F128AC2884}"/>
              </a:ext>
            </a:extLst>
          </p:cNvPr>
          <p:cNvSpPr txBox="1"/>
          <p:nvPr/>
        </p:nvSpPr>
        <p:spPr>
          <a:xfrm>
            <a:off x="471422" y="890782"/>
            <a:ext cx="11244235" cy="6690550"/>
          </a:xfrm>
          <a:prstGeom prst="rect">
            <a:avLst/>
          </a:prstGeom>
          <a:noFill/>
        </p:spPr>
        <p:txBody>
          <a:bodyPr wrap="square" rtlCol="0">
            <a:spAutoFit/>
          </a:bodyPr>
          <a:lstStyle/>
          <a:p>
            <a:pPr>
              <a:lnSpc>
                <a:spcPct val="150000"/>
              </a:lnSpc>
            </a:pPr>
            <a:r>
              <a:rPr lang="en-US" b="1" dirty="0">
                <a:solidFill>
                  <a:srgbClr val="424242"/>
                </a:solidFill>
                <a:latin typeface="Times New Roman" panose="02020603050405020304" pitchFamily="18" charset="0"/>
                <a:cs typeface="Times New Roman" panose="02020603050405020304" pitchFamily="18" charset="0"/>
              </a:rPr>
              <a:t>Responsible AI: The Foundation</a:t>
            </a:r>
          </a:p>
          <a:p>
            <a:pPr lvl="1">
              <a:lnSpc>
                <a:spcPct val="150000"/>
              </a:lnSpc>
              <a:buFont typeface="Arial" panose="020B0604020202020204" pitchFamily="34" charset="0"/>
              <a:buChar char="•"/>
            </a:pPr>
            <a:r>
              <a:rPr lang="en-US" dirty="0">
                <a:solidFill>
                  <a:srgbClr val="424242"/>
                </a:solidFill>
                <a:latin typeface="Times New Roman" panose="02020603050405020304" pitchFamily="18" charset="0"/>
                <a:cs typeface="Times New Roman" panose="02020603050405020304" pitchFamily="18" charset="0"/>
              </a:rPr>
              <a:t> Responsible AI (RAI) is about building AI systems that are:</a:t>
            </a:r>
          </a:p>
          <a:p>
            <a:pPr marL="1200150" lvl="2" indent="-285750">
              <a:lnSpc>
                <a:spcPct val="150000"/>
              </a:lnSpc>
              <a:buFont typeface="Arial" panose="020B0604020202020204" pitchFamily="34" charset="0"/>
              <a:buChar char="•"/>
            </a:pPr>
            <a:r>
              <a:rPr lang="en-US" dirty="0">
                <a:solidFill>
                  <a:srgbClr val="424242"/>
                </a:solidFill>
                <a:latin typeface="Times New Roman" panose="02020603050405020304" pitchFamily="18" charset="0"/>
                <a:cs typeface="Times New Roman" panose="02020603050405020304" pitchFamily="18" charset="0"/>
              </a:rPr>
              <a:t>Fair and unbiased</a:t>
            </a:r>
          </a:p>
          <a:p>
            <a:pPr marL="1200150" lvl="2" indent="-285750">
              <a:lnSpc>
                <a:spcPct val="150000"/>
              </a:lnSpc>
              <a:buFont typeface="Arial" panose="020B0604020202020204" pitchFamily="34" charset="0"/>
              <a:buChar char="•"/>
            </a:pPr>
            <a:r>
              <a:rPr lang="en-US" dirty="0">
                <a:solidFill>
                  <a:srgbClr val="424242"/>
                </a:solidFill>
                <a:latin typeface="Times New Roman" panose="02020603050405020304" pitchFamily="18" charset="0"/>
                <a:cs typeface="Times New Roman" panose="02020603050405020304" pitchFamily="18" charset="0"/>
              </a:rPr>
              <a:t>Transparent and explainable</a:t>
            </a:r>
          </a:p>
          <a:p>
            <a:pPr marL="1200150" lvl="2" indent="-285750">
              <a:lnSpc>
                <a:spcPct val="150000"/>
              </a:lnSpc>
              <a:buFont typeface="Arial" panose="020B0604020202020204" pitchFamily="34" charset="0"/>
              <a:buChar char="•"/>
            </a:pPr>
            <a:r>
              <a:rPr lang="en-US" dirty="0">
                <a:solidFill>
                  <a:srgbClr val="424242"/>
                </a:solidFill>
                <a:latin typeface="Times New Roman" panose="02020603050405020304" pitchFamily="18" charset="0"/>
                <a:cs typeface="Times New Roman" panose="02020603050405020304" pitchFamily="18" charset="0"/>
              </a:rPr>
              <a:t>Accountable and auditable</a:t>
            </a:r>
          </a:p>
          <a:p>
            <a:pPr marL="1200150" lvl="2" indent="-285750">
              <a:lnSpc>
                <a:spcPct val="150000"/>
              </a:lnSpc>
              <a:buFont typeface="Arial" panose="020B0604020202020204" pitchFamily="34" charset="0"/>
              <a:buChar char="•"/>
            </a:pPr>
            <a:r>
              <a:rPr lang="en-US" dirty="0">
                <a:solidFill>
                  <a:srgbClr val="424242"/>
                </a:solidFill>
                <a:latin typeface="Times New Roman" panose="02020603050405020304" pitchFamily="18" charset="0"/>
                <a:cs typeface="Times New Roman" panose="02020603050405020304" pitchFamily="18" charset="0"/>
              </a:rPr>
              <a:t>Privacy-preserving and secure</a:t>
            </a:r>
          </a:p>
          <a:p>
            <a:pPr lvl="1">
              <a:lnSpc>
                <a:spcPct val="150000"/>
              </a:lnSpc>
              <a:buFont typeface="Arial" panose="020B0604020202020204" pitchFamily="34" charset="0"/>
              <a:buChar char="•"/>
            </a:pPr>
            <a:r>
              <a:rPr lang="en-US" dirty="0">
                <a:solidFill>
                  <a:srgbClr val="424242"/>
                </a:solidFill>
                <a:latin typeface="Times New Roman" panose="02020603050405020304" pitchFamily="18" charset="0"/>
                <a:cs typeface="Times New Roman" panose="02020603050405020304" pitchFamily="18" charset="0"/>
              </a:rPr>
              <a:t> It emphasizes user rights, ethical data use, and compliance with legal frameworks.</a:t>
            </a:r>
          </a:p>
          <a:p>
            <a:pPr lvl="1">
              <a:lnSpc>
                <a:spcPct val="150000"/>
              </a:lnSpc>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a:lnSpc>
                <a:spcPct val="150000"/>
              </a:lnSpc>
            </a:pPr>
            <a:r>
              <a:rPr lang="en-US" b="1" dirty="0">
                <a:solidFill>
                  <a:srgbClr val="424242"/>
                </a:solidFill>
                <a:latin typeface="Times New Roman" panose="02020603050405020304" pitchFamily="18" charset="0"/>
                <a:cs typeface="Times New Roman" panose="02020603050405020304" pitchFamily="18" charset="0"/>
              </a:rPr>
              <a:t>Machine Unlearning: A Pillar of Responsible AI </a:t>
            </a:r>
          </a:p>
          <a:p>
            <a:pPr lvl="1">
              <a:lnSpc>
                <a:spcPct val="150000"/>
              </a:lnSpc>
              <a:buFont typeface="Arial" panose="020B0604020202020204" pitchFamily="34" charset="0"/>
              <a:buChar char="•"/>
            </a:pPr>
            <a:r>
              <a:rPr lang="en-US" dirty="0">
                <a:solidFill>
                  <a:srgbClr val="424242"/>
                </a:solidFill>
                <a:latin typeface="Times New Roman" panose="02020603050405020304" pitchFamily="18" charset="0"/>
                <a:cs typeface="Times New Roman" panose="02020603050405020304" pitchFamily="18" charset="0"/>
              </a:rPr>
              <a:t> Process of removing the influence of specific data from a trained model.</a:t>
            </a:r>
          </a:p>
          <a:p>
            <a:pPr marL="1200150" lvl="2" indent="-285750">
              <a:lnSpc>
                <a:spcPct val="150000"/>
              </a:lnSpc>
              <a:buFont typeface="Arial" panose="020B0604020202020204" pitchFamily="34" charset="0"/>
              <a:buChar char="•"/>
            </a:pPr>
            <a:r>
              <a:rPr lang="en-US" dirty="0">
                <a:solidFill>
                  <a:srgbClr val="424242"/>
                </a:solidFill>
                <a:latin typeface="Times New Roman" panose="02020603050405020304" pitchFamily="18" charset="0"/>
                <a:cs typeface="Times New Roman" panose="02020603050405020304" pitchFamily="18" charset="0"/>
              </a:rPr>
              <a:t>The “Right to be Forgotten” (GDPR, CCPA), </a:t>
            </a:r>
            <a:r>
              <a:rPr lang="en-US" dirty="0"/>
              <a:t>DPDP Act (India)</a:t>
            </a:r>
            <a:endParaRPr lang="en-US" dirty="0">
              <a:solidFill>
                <a:srgbClr val="424242"/>
              </a:solidFill>
              <a:latin typeface="Times New Roman" panose="02020603050405020304" pitchFamily="18" charset="0"/>
              <a:cs typeface="Times New Roman" panose="02020603050405020304" pitchFamily="18" charset="0"/>
            </a:endParaRPr>
          </a:p>
          <a:p>
            <a:pPr marL="1200150" lvl="2" indent="-285750">
              <a:lnSpc>
                <a:spcPct val="150000"/>
              </a:lnSpc>
              <a:buFont typeface="Arial" panose="020B0604020202020204" pitchFamily="34" charset="0"/>
              <a:buChar char="•"/>
            </a:pPr>
            <a:r>
              <a:rPr lang="en-US" dirty="0">
                <a:solidFill>
                  <a:srgbClr val="424242"/>
                </a:solidFill>
                <a:latin typeface="Times New Roman" panose="02020603050405020304" pitchFamily="18" charset="0"/>
                <a:cs typeface="Times New Roman" panose="02020603050405020304" pitchFamily="18" charset="0"/>
              </a:rPr>
              <a:t>Ethical data revocation</a:t>
            </a:r>
          </a:p>
          <a:p>
            <a:pPr marL="1200150" lvl="2" indent="-285750">
              <a:lnSpc>
                <a:spcPct val="150000"/>
              </a:lnSpc>
              <a:buFont typeface="Arial" panose="020B0604020202020204" pitchFamily="34" charset="0"/>
              <a:buChar char="•"/>
            </a:pPr>
            <a:r>
              <a:rPr lang="en-US" dirty="0">
                <a:solidFill>
                  <a:srgbClr val="424242"/>
                </a:solidFill>
                <a:latin typeface="Times New Roman" panose="02020603050405020304" pitchFamily="18" charset="0"/>
                <a:cs typeface="Times New Roman" panose="02020603050405020304" pitchFamily="18" charset="0"/>
              </a:rPr>
              <a:t>Mitigation of bias and adversarial data</a:t>
            </a:r>
          </a:p>
          <a:p>
            <a:pPr lvl="1">
              <a:lnSpc>
                <a:spcPct val="150000"/>
              </a:lnSpc>
              <a:buFont typeface="Arial" panose="020B0604020202020204" pitchFamily="34" charset="0"/>
              <a:buChar char="•"/>
            </a:pPr>
            <a:r>
              <a:rPr lang="en-US" dirty="0">
                <a:solidFill>
                  <a:srgbClr val="424242"/>
                </a:solidFill>
                <a:latin typeface="Times New Roman" panose="02020603050405020304" pitchFamily="18" charset="0"/>
                <a:cs typeface="Times New Roman" panose="02020603050405020304" pitchFamily="18" charset="0"/>
              </a:rPr>
              <a:t>It ensures that AI systems remain compliant, fair, and adaptable.</a:t>
            </a:r>
          </a:p>
          <a:p>
            <a:pPr lvl="2">
              <a:lnSpc>
                <a:spcPct val="150000"/>
              </a:lnSpc>
            </a:pPr>
            <a:endParaRPr lang="en-IN" dirty="0">
              <a:latin typeface="Times New Roman" panose="02020603050405020304" pitchFamily="18" charset="0"/>
              <a:cs typeface="Times New Roman" panose="02020603050405020304" pitchFamily="18" charset="0"/>
            </a:endParaRPr>
          </a:p>
          <a:p>
            <a:pPr marL="1257300" lvl="2" indent="-342900">
              <a:lnSpc>
                <a:spcPct val="150000"/>
              </a:lnSpc>
              <a:buFont typeface="Wingdings" pitchFamily="2" charset="2"/>
              <a:buChar char="§"/>
            </a:pPr>
            <a:endParaRPr lang="en-IN" dirty="0">
              <a:latin typeface="Times New Roman" panose="02020603050405020304" pitchFamily="18" charset="0"/>
              <a:cs typeface="Times New Roman" panose="02020603050405020304" pitchFamily="18" charset="0"/>
            </a:endParaRPr>
          </a:p>
        </p:txBody>
      </p:sp>
      <p:sp>
        <p:nvSpPr>
          <p:cNvPr id="6" name="Footer Placeholder 4">
            <a:extLst>
              <a:ext uri="{FF2B5EF4-FFF2-40B4-BE49-F238E27FC236}">
                <a16:creationId xmlns:a16="http://schemas.microsoft.com/office/drawing/2014/main" id="{EB287B3B-E111-BF0D-86F3-54509A2EEB10}"/>
              </a:ext>
            </a:extLst>
          </p:cNvPr>
          <p:cNvSpPr txBox="1">
            <a:spLocks/>
          </p:cNvSpPr>
          <p:nvPr/>
        </p:nvSpPr>
        <p:spPr>
          <a:xfrm>
            <a:off x="7317277" y="6417951"/>
            <a:ext cx="5306984" cy="499824"/>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1" dirty="0">
                <a:solidFill>
                  <a:schemeClr val="tx1"/>
                </a:solidFill>
                <a:latin typeface="Times New Roman" panose="02020603050405020304" pitchFamily="18" charset="0"/>
                <a:cs typeface="Times New Roman" panose="02020603050405020304" pitchFamily="18" charset="0"/>
              </a:rPr>
              <a:t>Figure 2: Illustration of machine unlearning. </a:t>
            </a:r>
            <a:br>
              <a:rPr lang="en-US" sz="1000" b="1" dirty="0">
                <a:solidFill>
                  <a:schemeClr val="tx1"/>
                </a:solidFill>
                <a:latin typeface="Times New Roman" panose="02020603050405020304" pitchFamily="18" charset="0"/>
                <a:cs typeface="Times New Roman" panose="02020603050405020304" pitchFamily="18" charset="0"/>
              </a:rPr>
            </a:br>
            <a:r>
              <a:rPr lang="en-US" sz="1000" b="1" dirty="0">
                <a:solidFill>
                  <a:schemeClr val="tx1"/>
                </a:solidFill>
                <a:latin typeface="Times New Roman" panose="02020603050405020304" pitchFamily="18" charset="0"/>
                <a:cs typeface="Times New Roman" panose="02020603050405020304" pitchFamily="18" charset="0"/>
              </a:rPr>
              <a:t>(</a:t>
            </a:r>
            <a:r>
              <a:rPr lang="en-US" sz="1000" b="1" dirty="0" err="1">
                <a:solidFill>
                  <a:schemeClr val="tx1"/>
                </a:solidFill>
                <a:latin typeface="Times New Roman" panose="02020603050405020304" pitchFamily="18" charset="0"/>
                <a:cs typeface="Times New Roman" panose="02020603050405020304" pitchFamily="18" charset="0"/>
              </a:rPr>
              <a:t>Source:https</a:t>
            </a:r>
            <a:r>
              <a:rPr lang="en-US" sz="1000" b="1" dirty="0">
                <a:solidFill>
                  <a:schemeClr val="tx1"/>
                </a:solidFill>
                <a:latin typeface="Times New Roman" panose="02020603050405020304" pitchFamily="18" charset="0"/>
                <a:cs typeface="Times New Roman" panose="02020603050405020304" pitchFamily="18" charset="0"/>
              </a:rPr>
              <a:t>://doi.org/10.48550/arXiv.2306.03558)</a:t>
            </a:r>
          </a:p>
          <a:p>
            <a:endParaRPr lang="en-IN" sz="1000" b="1" dirty="0">
              <a:solidFill>
                <a:schemeClr val="tx1"/>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9E562B73-5A40-80C8-1BB8-54770FE8DD7E}"/>
              </a:ext>
            </a:extLst>
          </p:cNvPr>
          <p:cNvSpPr txBox="1">
            <a:spLocks/>
          </p:cNvSpPr>
          <p:nvPr/>
        </p:nvSpPr>
        <p:spPr>
          <a:xfrm>
            <a:off x="7092778" y="3049886"/>
            <a:ext cx="504295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solidFill>
                  <a:schemeClr val="tx1"/>
                </a:solidFill>
                <a:latin typeface="Times New Roman" panose="02020603050405020304" pitchFamily="18" charset="0"/>
                <a:cs typeface="Times New Roman" panose="02020603050405020304" pitchFamily="18" charset="0"/>
              </a:rPr>
              <a:t>Figure 1: Responsible AI (RAI): </a:t>
            </a:r>
          </a:p>
          <a:p>
            <a:r>
              <a:rPr lang="en-US" sz="1000" dirty="0">
                <a:solidFill>
                  <a:schemeClr val="tx1"/>
                </a:solidFill>
                <a:latin typeface="Times New Roman" panose="02020603050405020304" pitchFamily="18" charset="0"/>
                <a:cs typeface="Times New Roman" panose="02020603050405020304" pitchFamily="18" charset="0"/>
              </a:rPr>
              <a:t>(</a:t>
            </a:r>
            <a:r>
              <a:rPr lang="en-US" sz="1000" u="sng" dirty="0" err="1">
                <a:solidFill>
                  <a:schemeClr val="tx1"/>
                </a:solidFill>
                <a:latin typeface="Times New Roman" panose="02020603050405020304" pitchFamily="18" charset="0"/>
                <a:cs typeface="Times New Roman" panose="02020603050405020304" pitchFamily="18" charset="0"/>
              </a:rPr>
              <a:t>Source:https</a:t>
            </a:r>
            <a:r>
              <a:rPr lang="en-US" sz="1000" u="sng" dirty="0">
                <a:solidFill>
                  <a:schemeClr val="tx1"/>
                </a:solidFill>
                <a:latin typeface="Times New Roman" panose="02020603050405020304" pitchFamily="18" charset="0"/>
                <a:cs typeface="Times New Roman" panose="02020603050405020304" pitchFamily="18" charset="0"/>
              </a:rPr>
              <a:t>://www.linkedin.com/pulse/responsible-ai-rai-imperative-artificial-intelligence-mark-kovarski-iwsxc</a:t>
            </a:r>
            <a:r>
              <a:rPr lang="en-US" sz="1000" dirty="0">
                <a:solidFill>
                  <a:schemeClr val="tx1"/>
                </a:solidFill>
                <a:latin typeface="Times New Roman" panose="02020603050405020304" pitchFamily="18" charset="0"/>
                <a:cs typeface="Times New Roman" panose="02020603050405020304" pitchFamily="18" charset="0"/>
              </a:rPr>
              <a:t>/)</a:t>
            </a:r>
            <a:endParaRPr lang="en-IN" sz="1000" dirty="0">
              <a:solidFill>
                <a:schemeClr val="tx1"/>
              </a:solidFill>
              <a:latin typeface="Times New Roman" panose="02020603050405020304" pitchFamily="18" charset="0"/>
              <a:cs typeface="Times New Roman" panose="02020603050405020304" pitchFamily="18" charset="0"/>
            </a:endParaRPr>
          </a:p>
        </p:txBody>
      </p:sp>
      <p:sp>
        <p:nvSpPr>
          <p:cNvPr id="11" name="Slide Number Placeholder 5">
            <a:extLst>
              <a:ext uri="{FF2B5EF4-FFF2-40B4-BE49-F238E27FC236}">
                <a16:creationId xmlns:a16="http://schemas.microsoft.com/office/drawing/2014/main" id="{0EA01FD0-8C7E-7AFC-58AD-6C75EC91BDDD}"/>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3</a:t>
            </a:fld>
            <a:endParaRPr lang="en-IN" sz="1400" dirty="0">
              <a:solidFill>
                <a:schemeClr val="tx1"/>
              </a:solidFill>
              <a:latin typeface="Times New Roman" panose="02020603050405020304" pitchFamily="18" charset="0"/>
              <a:cs typeface="Times New Roman" panose="02020603050405020304" pitchFamily="18" charset="0"/>
            </a:endParaRPr>
          </a:p>
        </p:txBody>
      </p:sp>
      <p:pic>
        <p:nvPicPr>
          <p:cNvPr id="1026" name="Picture 2" descr="Responsible AI (RAI): The Imperative of Responsible Artificial Intelligence">
            <a:extLst>
              <a:ext uri="{FF2B5EF4-FFF2-40B4-BE49-F238E27FC236}">
                <a16:creationId xmlns:a16="http://schemas.microsoft.com/office/drawing/2014/main" id="{A031384A-7E35-D89B-2223-E9CB789CE8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23386" y="1014206"/>
            <a:ext cx="3555240" cy="199982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descr="The image illustrates the process of training a machine learning model using a dataset, followed by the retention of learned data and the unlearning of unused data.&#10;&#10;AI-generated content may be incorrect.">
            <a:extLst>
              <a:ext uri="{FF2B5EF4-FFF2-40B4-BE49-F238E27FC236}">
                <a16:creationId xmlns:a16="http://schemas.microsoft.com/office/drawing/2014/main" id="{CA00AB16-BE0A-8FD2-91DA-A56792D9C55F}"/>
              </a:ext>
            </a:extLst>
          </p:cNvPr>
          <p:cNvPicPr>
            <a:picLocks noChangeAspect="1"/>
          </p:cNvPicPr>
          <p:nvPr/>
        </p:nvPicPr>
        <p:blipFill>
          <a:blip r:embed="rId5"/>
          <a:srcRect l="9035" r="11111"/>
          <a:stretch>
            <a:fillRect/>
          </a:stretch>
        </p:blipFill>
        <p:spPr>
          <a:xfrm>
            <a:off x="7817187" y="4285797"/>
            <a:ext cx="4048133" cy="2031814"/>
          </a:xfrm>
          <a:prstGeom prst="rect">
            <a:avLst/>
          </a:prstGeom>
        </p:spPr>
      </p:pic>
    </p:spTree>
    <p:extLst>
      <p:ext uri="{BB962C8B-B14F-4D97-AF65-F5344CB8AC3E}">
        <p14:creationId xmlns:p14="http://schemas.microsoft.com/office/powerpoint/2010/main" val="41261523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2130D-6CAE-25E2-BF55-BB222901C698}"/>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4C46BCF2-D88C-9908-3291-19161C9243A0}"/>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21F88EEC-5198-99E1-975D-C95B20AD6DEE}"/>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B4A0AEA0-261A-A8A8-3030-9D46AFC7CBA2}"/>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14" name="TextBox 13">
            <a:extLst>
              <a:ext uri="{FF2B5EF4-FFF2-40B4-BE49-F238E27FC236}">
                <a16:creationId xmlns:a16="http://schemas.microsoft.com/office/drawing/2014/main" id="{A3FA9B30-B20B-2C2B-80F0-39F2BB5A002E}"/>
              </a:ext>
            </a:extLst>
          </p:cNvPr>
          <p:cNvSpPr txBox="1"/>
          <p:nvPr/>
        </p:nvSpPr>
        <p:spPr>
          <a:xfrm>
            <a:off x="3237470" y="190137"/>
            <a:ext cx="8480917"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Introduction-II: Machine Unlearning</a:t>
            </a:r>
          </a:p>
        </p:txBody>
      </p:sp>
      <p:sp>
        <p:nvSpPr>
          <p:cNvPr id="3" name="TextBox 2">
            <a:extLst>
              <a:ext uri="{FF2B5EF4-FFF2-40B4-BE49-F238E27FC236}">
                <a16:creationId xmlns:a16="http://schemas.microsoft.com/office/drawing/2014/main" id="{B5316712-A794-38D1-CB31-F30BC921C2BA}"/>
              </a:ext>
            </a:extLst>
          </p:cNvPr>
          <p:cNvSpPr txBox="1"/>
          <p:nvPr/>
        </p:nvSpPr>
        <p:spPr>
          <a:xfrm>
            <a:off x="835740" y="948561"/>
            <a:ext cx="10515600" cy="5859553"/>
          </a:xfrm>
          <a:prstGeom prst="rect">
            <a:avLst/>
          </a:prstGeom>
          <a:noFill/>
        </p:spPr>
        <p:txBody>
          <a:bodyPr wrap="square" rtlCol="0">
            <a:spAutoFit/>
          </a:bodyPr>
          <a:lstStyle/>
          <a:p>
            <a:pPr>
              <a:lnSpc>
                <a:spcPct val="150000"/>
              </a:lnSpc>
            </a:pPr>
            <a:r>
              <a:rPr lang="en-US" b="1" dirty="0">
                <a:solidFill>
                  <a:srgbClr val="424242"/>
                </a:solidFill>
                <a:latin typeface="Times New Roman" panose="02020603050405020304" pitchFamily="18" charset="0"/>
                <a:cs typeface="Times New Roman" panose="02020603050405020304" pitchFamily="18" charset="0"/>
              </a:rPr>
              <a:t>What is Machine Unlearning?</a:t>
            </a:r>
          </a:p>
          <a:p>
            <a:pPr lvl="1">
              <a:lnSpc>
                <a:spcPct val="150000"/>
              </a:lnSpc>
              <a:buFont typeface="Arial" panose="020B0604020202020204" pitchFamily="34" charset="0"/>
              <a:buChar char="•"/>
            </a:pPr>
            <a:r>
              <a:rPr lang="en-US" dirty="0">
                <a:solidFill>
                  <a:srgbClr val="424242"/>
                </a:solidFill>
                <a:latin typeface="Times New Roman" panose="02020603050405020304" pitchFamily="18" charset="0"/>
                <a:cs typeface="Times New Roman" panose="02020603050405020304" pitchFamily="18" charset="0"/>
              </a:rPr>
              <a:t>Not just data deletion. Requires reversing learned representations.</a:t>
            </a:r>
          </a:p>
          <a:p>
            <a:pPr lvl="1">
              <a:lnSpc>
                <a:spcPct val="150000"/>
              </a:lnSpc>
              <a:buFont typeface="Arial" panose="020B0604020202020204" pitchFamily="34" charset="0"/>
              <a:buChar char="•"/>
            </a:pPr>
            <a:r>
              <a:rPr lang="en-US" dirty="0">
                <a:solidFill>
                  <a:srgbClr val="424242"/>
                </a:solidFill>
                <a:latin typeface="Times New Roman" panose="02020603050405020304" pitchFamily="18" charset="0"/>
                <a:cs typeface="Times New Roman" panose="02020603050405020304" pitchFamily="18" charset="0"/>
              </a:rPr>
              <a:t>Can be:</a:t>
            </a:r>
          </a:p>
          <a:p>
            <a:pPr marL="1200150" lvl="2" indent="-285750">
              <a:lnSpc>
                <a:spcPct val="150000"/>
              </a:lnSpc>
              <a:buFont typeface="Arial" panose="020B0604020202020204" pitchFamily="34" charset="0"/>
              <a:buChar char="•"/>
            </a:pPr>
            <a:r>
              <a:rPr lang="en-US" dirty="0">
                <a:solidFill>
                  <a:srgbClr val="424242"/>
                </a:solidFill>
                <a:latin typeface="Times New Roman" panose="02020603050405020304" pitchFamily="18" charset="0"/>
                <a:cs typeface="Times New Roman" panose="02020603050405020304" pitchFamily="18" charset="0"/>
              </a:rPr>
              <a:t>Exact </a:t>
            </a:r>
          </a:p>
          <a:p>
            <a:pPr marL="1200150" lvl="2" indent="-285750">
              <a:lnSpc>
                <a:spcPct val="150000"/>
              </a:lnSpc>
              <a:buFont typeface="Arial" panose="020B0604020202020204" pitchFamily="34" charset="0"/>
              <a:buChar char="•"/>
            </a:pPr>
            <a:r>
              <a:rPr lang="en-US" dirty="0">
                <a:solidFill>
                  <a:srgbClr val="424242"/>
                </a:solidFill>
                <a:latin typeface="Times New Roman" panose="02020603050405020304" pitchFamily="18" charset="0"/>
                <a:cs typeface="Times New Roman" panose="02020603050405020304" pitchFamily="18" charset="0"/>
              </a:rPr>
              <a:t>Approximate</a:t>
            </a:r>
          </a:p>
          <a:p>
            <a:pPr lvl="1">
              <a:lnSpc>
                <a:spcPct val="150000"/>
              </a:lnSpc>
              <a:buFont typeface="Arial" panose="020B0604020202020204" pitchFamily="34" charset="0"/>
              <a:buChar char="•"/>
            </a:pPr>
            <a:r>
              <a:rPr lang="en-US" dirty="0">
                <a:solidFill>
                  <a:srgbClr val="424242"/>
                </a:solidFill>
                <a:latin typeface="Times New Roman" panose="02020603050405020304" pitchFamily="18" charset="0"/>
                <a:cs typeface="Times New Roman" panose="02020603050405020304" pitchFamily="18" charset="0"/>
              </a:rPr>
              <a:t>Applied at different granularities:</a:t>
            </a:r>
          </a:p>
          <a:p>
            <a:pPr marL="1200150" lvl="2" indent="-285750">
              <a:lnSpc>
                <a:spcPct val="150000"/>
              </a:lnSpc>
              <a:buFont typeface="Arial" panose="020B0604020202020204" pitchFamily="34" charset="0"/>
              <a:buChar char="•"/>
            </a:pPr>
            <a:r>
              <a:rPr lang="en-US" dirty="0">
                <a:solidFill>
                  <a:srgbClr val="424242"/>
                </a:solidFill>
                <a:latin typeface="Times New Roman" panose="02020603050405020304" pitchFamily="18" charset="0"/>
                <a:cs typeface="Times New Roman" panose="02020603050405020304" pitchFamily="18" charset="0"/>
              </a:rPr>
              <a:t>Data point, feature, class, user-level</a:t>
            </a:r>
          </a:p>
          <a:p>
            <a:pPr lvl="1">
              <a:lnSpc>
                <a:spcPct val="150000"/>
              </a:lnSpc>
              <a:buFont typeface="Arial" panose="020B0604020202020204" pitchFamily="34" charset="0"/>
              <a:buChar char="•"/>
            </a:pPr>
            <a:r>
              <a:rPr lang="en-US" dirty="0">
                <a:solidFill>
                  <a:srgbClr val="424242"/>
                </a:solidFill>
                <a:latin typeface="Times New Roman" panose="02020603050405020304" pitchFamily="18" charset="0"/>
                <a:cs typeface="Times New Roman" panose="02020603050405020304" pitchFamily="18" charset="0"/>
              </a:rPr>
              <a:t> DNNs, LLMs, GNNs, SVMs, federated learning.</a:t>
            </a:r>
          </a:p>
          <a:p>
            <a:pPr>
              <a:lnSpc>
                <a:spcPct val="150000"/>
              </a:lnSpc>
            </a:pPr>
            <a:r>
              <a:rPr lang="en-US" b="1" dirty="0">
                <a:solidFill>
                  <a:srgbClr val="424242"/>
                </a:solidFill>
                <a:latin typeface="Times New Roman" panose="02020603050405020304" pitchFamily="18" charset="0"/>
                <a:cs typeface="Times New Roman" panose="02020603050405020304" pitchFamily="18" charset="0"/>
              </a:rPr>
              <a:t>Why Machine Unlearning is Needed</a:t>
            </a:r>
            <a:endParaRPr lang="en-US" dirty="0">
              <a:solidFill>
                <a:srgbClr val="424242"/>
              </a:solidFill>
              <a:latin typeface="Times New Roman" panose="02020603050405020304" pitchFamily="18" charset="0"/>
              <a:cs typeface="Times New Roman" panose="02020603050405020304" pitchFamily="18" charset="0"/>
            </a:endParaRPr>
          </a:p>
          <a:p>
            <a:pPr lvl="1">
              <a:lnSpc>
                <a:spcPct val="150000"/>
              </a:lnSpc>
              <a:buFont typeface="Arial" panose="020B0604020202020204" pitchFamily="34" charset="0"/>
              <a:buChar char="•"/>
            </a:pPr>
            <a:r>
              <a:rPr lang="en-US" dirty="0">
                <a:solidFill>
                  <a:srgbClr val="424242"/>
                </a:solidFill>
                <a:latin typeface="Times New Roman" panose="02020603050405020304" pitchFamily="18" charset="0"/>
                <a:cs typeface="Times New Roman" panose="02020603050405020304" pitchFamily="18" charset="0"/>
              </a:rPr>
              <a:t>Legal: GDPR (Article 17), CCPA/CPRA, </a:t>
            </a:r>
            <a:r>
              <a:rPr lang="en-US" dirty="0"/>
              <a:t>DPDP Act (India)</a:t>
            </a:r>
            <a:endParaRPr lang="en-US" dirty="0">
              <a:solidFill>
                <a:srgbClr val="424242"/>
              </a:solidFill>
              <a:latin typeface="Times New Roman" panose="02020603050405020304" pitchFamily="18" charset="0"/>
              <a:cs typeface="Times New Roman" panose="02020603050405020304" pitchFamily="18" charset="0"/>
            </a:endParaRPr>
          </a:p>
          <a:p>
            <a:pPr lvl="1">
              <a:lnSpc>
                <a:spcPct val="150000"/>
              </a:lnSpc>
              <a:buFont typeface="Arial" panose="020B0604020202020204" pitchFamily="34" charset="0"/>
              <a:buChar char="•"/>
            </a:pPr>
            <a:r>
              <a:rPr lang="en-US" dirty="0">
                <a:solidFill>
                  <a:srgbClr val="424242"/>
                </a:solidFill>
                <a:latin typeface="Times New Roman" panose="02020603050405020304" pitchFamily="18" charset="0"/>
                <a:cs typeface="Times New Roman" panose="02020603050405020304" pitchFamily="18" charset="0"/>
              </a:rPr>
              <a:t>Ethical: Users should control their data and revoke consent.</a:t>
            </a:r>
          </a:p>
          <a:p>
            <a:pPr lvl="1">
              <a:lnSpc>
                <a:spcPct val="150000"/>
              </a:lnSpc>
              <a:buFont typeface="Arial" panose="020B0604020202020204" pitchFamily="34" charset="0"/>
              <a:buChar char="•"/>
            </a:pPr>
            <a:r>
              <a:rPr lang="en-US" dirty="0">
                <a:solidFill>
                  <a:srgbClr val="424242"/>
                </a:solidFill>
                <a:latin typeface="Times New Roman" panose="02020603050405020304" pitchFamily="18" charset="0"/>
                <a:cs typeface="Times New Roman" panose="02020603050405020304" pitchFamily="18" charset="0"/>
              </a:rPr>
              <a:t>Security: Remove poisoned or adversarial data.</a:t>
            </a:r>
          </a:p>
          <a:p>
            <a:pPr lvl="1">
              <a:lnSpc>
                <a:spcPct val="150000"/>
              </a:lnSpc>
              <a:buFont typeface="Arial" panose="020B0604020202020204" pitchFamily="34" charset="0"/>
              <a:buChar char="•"/>
            </a:pPr>
            <a:r>
              <a:rPr lang="en-US" dirty="0">
                <a:solidFill>
                  <a:srgbClr val="424242"/>
                </a:solidFill>
                <a:latin typeface="Times New Roman" panose="02020603050405020304" pitchFamily="18" charset="0"/>
                <a:cs typeface="Times New Roman" panose="02020603050405020304" pitchFamily="18" charset="0"/>
              </a:rPr>
              <a:t>Maintenance: Update models without full retraining.</a:t>
            </a:r>
          </a:p>
          <a:p>
            <a:pPr>
              <a:lnSpc>
                <a:spcPct val="150000"/>
              </a:lnSpc>
            </a:pPr>
            <a:endParaRPr lang="en-US" dirty="0">
              <a:solidFill>
                <a:srgbClr val="424242"/>
              </a:solidFill>
              <a:latin typeface="Times New Roman" panose="02020603050405020304" pitchFamily="18" charset="0"/>
              <a:cs typeface="Times New Roman" panose="02020603050405020304" pitchFamily="18" charset="0"/>
            </a:endParaRPr>
          </a:p>
        </p:txBody>
      </p:sp>
      <p:sp>
        <p:nvSpPr>
          <p:cNvPr id="8" name="Slide Number Placeholder 5">
            <a:extLst>
              <a:ext uri="{FF2B5EF4-FFF2-40B4-BE49-F238E27FC236}">
                <a16:creationId xmlns:a16="http://schemas.microsoft.com/office/drawing/2014/main" id="{96A91F1E-18FB-4C2E-060B-7119ECFD4DAD}"/>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4</a:t>
            </a:fld>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11" name="Footer Placeholder 4">
            <a:extLst>
              <a:ext uri="{FF2B5EF4-FFF2-40B4-BE49-F238E27FC236}">
                <a16:creationId xmlns:a16="http://schemas.microsoft.com/office/drawing/2014/main" id="{3F791721-CC6F-74D4-6317-9CD9E10DFD1B}"/>
              </a:ext>
            </a:extLst>
          </p:cNvPr>
          <p:cNvSpPr txBox="1">
            <a:spLocks/>
          </p:cNvSpPr>
          <p:nvPr/>
        </p:nvSpPr>
        <p:spPr>
          <a:xfrm>
            <a:off x="6976878" y="6344239"/>
            <a:ext cx="5306984" cy="499824"/>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solidFill>
                  <a:schemeClr val="tx1"/>
                </a:solidFill>
                <a:latin typeface="Times New Roman" panose="02020603050405020304" pitchFamily="18" charset="0"/>
                <a:cs typeface="Times New Roman" panose="02020603050405020304" pitchFamily="18" charset="0"/>
              </a:rPr>
              <a:t>Figure 4: DPDP vs GDPR: where they align and where they differ</a:t>
            </a:r>
          </a:p>
          <a:p>
            <a:r>
              <a:rPr lang="en-US" sz="1000" u="sng" dirty="0">
                <a:solidFill>
                  <a:schemeClr val="tx1"/>
                </a:solidFill>
                <a:latin typeface="Times New Roman" panose="02020603050405020304" pitchFamily="18" charset="0"/>
                <a:cs typeface="Times New Roman" panose="02020603050405020304" pitchFamily="18" charset="0"/>
              </a:rPr>
              <a:t>(</a:t>
            </a:r>
            <a:r>
              <a:rPr lang="en-US" sz="1000" u="sng" dirty="0" err="1">
                <a:solidFill>
                  <a:schemeClr val="tx1"/>
                </a:solidFill>
                <a:latin typeface="Times New Roman" panose="02020603050405020304" pitchFamily="18" charset="0"/>
                <a:cs typeface="Times New Roman" panose="02020603050405020304" pitchFamily="18" charset="0"/>
              </a:rPr>
              <a:t>Source:https</a:t>
            </a:r>
            <a:r>
              <a:rPr lang="en-US" sz="1000" u="sng" dirty="0">
                <a:solidFill>
                  <a:schemeClr val="tx1"/>
                </a:solidFill>
                <a:latin typeface="Times New Roman" panose="02020603050405020304" pitchFamily="18" charset="0"/>
                <a:cs typeface="Times New Roman" panose="02020603050405020304" pitchFamily="18" charset="0"/>
              </a:rPr>
              <a:t>://singhanialaw.com/digital-personal-data-protection-rules-2025-privacy-competition-corporate-compliance/)</a:t>
            </a:r>
            <a:endParaRPr lang="en-IN" sz="1000" u="sng" dirty="0">
              <a:solidFill>
                <a:schemeClr val="tx1"/>
              </a:solidFill>
              <a:latin typeface="Times New Roman" panose="02020603050405020304" pitchFamily="18" charset="0"/>
              <a:cs typeface="Times New Roman" panose="02020603050405020304" pitchFamily="18" charset="0"/>
            </a:endParaRPr>
          </a:p>
        </p:txBody>
      </p:sp>
      <p:pic>
        <p:nvPicPr>
          <p:cNvPr id="6" name="Picture 5" descr="The diagram compares Data Privacy Regulations, showing DPDP (Data Privacy Regulation in India) has a narrower scope focused on India and requires consent for processing, while GDPR (General Data Protection Regulation in the EU) has a broader scope for global data, requires consent, legitimate uses, and contractual obligations, with higher penalties for non-compliance.&#10;&#10;AI-generated content may be incorrect.">
            <a:extLst>
              <a:ext uri="{FF2B5EF4-FFF2-40B4-BE49-F238E27FC236}">
                <a16:creationId xmlns:a16="http://schemas.microsoft.com/office/drawing/2014/main" id="{5652C507-99F8-03E4-D7D7-6C7960E0CAF9}"/>
              </a:ext>
            </a:extLst>
          </p:cNvPr>
          <p:cNvPicPr>
            <a:picLocks noChangeAspect="1"/>
          </p:cNvPicPr>
          <p:nvPr/>
        </p:nvPicPr>
        <p:blipFill>
          <a:blip r:embed="rId3"/>
          <a:stretch>
            <a:fillRect/>
          </a:stretch>
        </p:blipFill>
        <p:spPr>
          <a:xfrm>
            <a:off x="7338205" y="4111473"/>
            <a:ext cx="4157932" cy="2166852"/>
          </a:xfrm>
          <a:prstGeom prst="rect">
            <a:avLst/>
          </a:prstGeom>
        </p:spPr>
      </p:pic>
      <p:pic>
        <p:nvPicPr>
          <p:cNvPr id="10" name="Picture 9" descr="The diagram illustrates various aspects of machine unlearning, including unlearning categories, techniques, verification, privacy, and security issues, along with specific applications like anomaly removal and data unlearnability.&#10;&#10;AI-generated content may be incorrect.">
            <a:extLst>
              <a:ext uri="{FF2B5EF4-FFF2-40B4-BE49-F238E27FC236}">
                <a16:creationId xmlns:a16="http://schemas.microsoft.com/office/drawing/2014/main" id="{626143C1-CE7C-B753-B993-DF22BDE586FA}"/>
              </a:ext>
            </a:extLst>
          </p:cNvPr>
          <p:cNvPicPr>
            <a:picLocks noChangeAspect="1"/>
          </p:cNvPicPr>
          <p:nvPr/>
        </p:nvPicPr>
        <p:blipFill>
          <a:blip r:embed="rId4"/>
          <a:stretch>
            <a:fillRect/>
          </a:stretch>
        </p:blipFill>
        <p:spPr>
          <a:xfrm>
            <a:off x="7876613" y="964249"/>
            <a:ext cx="3044429" cy="2675081"/>
          </a:xfrm>
          <a:prstGeom prst="rect">
            <a:avLst/>
          </a:prstGeom>
        </p:spPr>
      </p:pic>
      <p:sp>
        <p:nvSpPr>
          <p:cNvPr id="15" name="Footer Placeholder 4">
            <a:extLst>
              <a:ext uri="{FF2B5EF4-FFF2-40B4-BE49-F238E27FC236}">
                <a16:creationId xmlns:a16="http://schemas.microsoft.com/office/drawing/2014/main" id="{1E32B361-2BD2-2CDD-5363-855550EC785B}"/>
              </a:ext>
            </a:extLst>
          </p:cNvPr>
          <p:cNvSpPr txBox="1">
            <a:spLocks/>
          </p:cNvSpPr>
          <p:nvPr/>
        </p:nvSpPr>
        <p:spPr>
          <a:xfrm>
            <a:off x="6824478" y="3561424"/>
            <a:ext cx="5306984" cy="499824"/>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solidFill>
                  <a:schemeClr val="tx1"/>
                </a:solidFill>
                <a:latin typeface="Times New Roman" panose="02020603050405020304" pitchFamily="18" charset="0"/>
                <a:cs typeface="Times New Roman" panose="02020603050405020304" pitchFamily="18" charset="0"/>
              </a:rPr>
              <a:t>Figure 3: Taxonomy for machine unlearning </a:t>
            </a:r>
            <a:r>
              <a:rPr lang="en-US" sz="1000" u="sng" dirty="0">
                <a:solidFill>
                  <a:schemeClr val="tx1"/>
                </a:solidFill>
                <a:latin typeface="Times New Roman" panose="02020603050405020304" pitchFamily="18" charset="0"/>
                <a:cs typeface="Times New Roman" panose="02020603050405020304" pitchFamily="18" charset="0"/>
              </a:rPr>
              <a:t>(Source:</a:t>
            </a:r>
          </a:p>
          <a:p>
            <a:r>
              <a:rPr lang="en-US" sz="1000" u="sng" dirty="0">
                <a:solidFill>
                  <a:schemeClr val="tx1"/>
                </a:solidFill>
                <a:latin typeface="Times New Roman" panose="02020603050405020304" pitchFamily="18" charset="0"/>
                <a:cs typeface="Times New Roman" panose="02020603050405020304" pitchFamily="18" charset="0"/>
              </a:rPr>
              <a:t>https://doi.org/10.48550/arXiv.2405.07406)</a:t>
            </a:r>
            <a:endParaRPr lang="en-IN" sz="1000" u="sng"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78679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D3941-9AD4-C3E4-0C62-D51A8BB2BCEC}"/>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5AA89E13-B268-E9A8-F3CE-65A91ADD3AB3}"/>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FD24FADA-DEEB-BBAE-2FBA-EFB1B3C29BE4}"/>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5C8C12D6-F54D-B621-058D-9ABDD958B652}"/>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14" name="TextBox 13">
            <a:extLst>
              <a:ext uri="{FF2B5EF4-FFF2-40B4-BE49-F238E27FC236}">
                <a16:creationId xmlns:a16="http://schemas.microsoft.com/office/drawing/2014/main" id="{E2E1189C-BFF4-134A-F25E-FF0A0FB6C699}"/>
              </a:ext>
            </a:extLst>
          </p:cNvPr>
          <p:cNvSpPr txBox="1"/>
          <p:nvPr/>
        </p:nvSpPr>
        <p:spPr>
          <a:xfrm>
            <a:off x="5549660" y="190137"/>
            <a:ext cx="6168727"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Introduction-II</a:t>
            </a:r>
          </a:p>
        </p:txBody>
      </p:sp>
      <p:sp>
        <p:nvSpPr>
          <p:cNvPr id="19" name="Slide Number Placeholder 5">
            <a:extLst>
              <a:ext uri="{FF2B5EF4-FFF2-40B4-BE49-F238E27FC236}">
                <a16:creationId xmlns:a16="http://schemas.microsoft.com/office/drawing/2014/main" id="{FAD6A37C-398A-1CE1-E2F8-A541F3ED57A6}"/>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5</a:t>
            </a:fld>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3" name="Date Placeholder 3">
            <a:extLst>
              <a:ext uri="{FF2B5EF4-FFF2-40B4-BE49-F238E27FC236}">
                <a16:creationId xmlns:a16="http://schemas.microsoft.com/office/drawing/2014/main" id="{B7282A4C-FBD5-B3A3-CBA5-2B0376639790}"/>
              </a:ext>
            </a:extLst>
          </p:cNvPr>
          <p:cNvSpPr>
            <a:spLocks noGrp="1"/>
          </p:cNvSpPr>
          <p:nvPr>
            <p:ph type="dt" sz="half" idx="10"/>
          </p:nvPr>
        </p:nvSpPr>
        <p:spPr>
          <a:xfrm>
            <a:off x="6660552" y="5412708"/>
            <a:ext cx="4988085" cy="365125"/>
          </a:xfrm>
        </p:spPr>
        <p:txBody>
          <a:bodyPr/>
          <a:lstStyle/>
          <a:p>
            <a:pPr algn="ctr"/>
            <a:r>
              <a:rPr lang="en-IN" sz="1000" dirty="0">
                <a:solidFill>
                  <a:schemeClr val="tx1"/>
                </a:solidFill>
                <a:latin typeface="Times New Roman" panose="02020603050405020304" pitchFamily="18" charset="0"/>
                <a:cs typeface="Times New Roman" panose="02020603050405020304" pitchFamily="18" charset="0"/>
              </a:rPr>
              <a:t>Figure 6:Anatomy of unlearning..</a:t>
            </a:r>
            <a:br>
              <a:rPr lang="en-IN" sz="1000" dirty="0">
                <a:solidFill>
                  <a:schemeClr val="tx1"/>
                </a:solidFill>
                <a:latin typeface="Times New Roman" panose="02020603050405020304" pitchFamily="18" charset="0"/>
                <a:cs typeface="Times New Roman" panose="02020603050405020304" pitchFamily="18" charset="0"/>
              </a:rPr>
            </a:br>
            <a:r>
              <a:rPr lang="en-IN" sz="1000" dirty="0">
                <a:solidFill>
                  <a:schemeClr val="tx1"/>
                </a:solidFill>
                <a:latin typeface="Times New Roman" panose="02020603050405020304" pitchFamily="18" charset="0"/>
                <a:cs typeface="Times New Roman" panose="02020603050405020304" pitchFamily="18" charset="0"/>
              </a:rPr>
              <a:t>(</a:t>
            </a:r>
            <a:r>
              <a:rPr lang="en-IN" sz="1000" dirty="0" err="1">
                <a:solidFill>
                  <a:schemeClr val="tx1"/>
                </a:solidFill>
                <a:latin typeface="Times New Roman" panose="02020603050405020304" pitchFamily="18" charset="0"/>
                <a:cs typeface="Times New Roman" panose="02020603050405020304" pitchFamily="18" charset="0"/>
              </a:rPr>
              <a:t>source:https</a:t>
            </a:r>
            <a:r>
              <a:rPr lang="en-IN" sz="1000" dirty="0">
                <a:solidFill>
                  <a:schemeClr val="tx1"/>
                </a:solidFill>
                <a:latin typeface="Times New Roman" panose="02020603050405020304" pitchFamily="18" charset="0"/>
                <a:cs typeface="Times New Roman" panose="02020603050405020304" pitchFamily="18" charset="0"/>
              </a:rPr>
              <a:t>://</a:t>
            </a:r>
            <a:r>
              <a:rPr lang="en-IN" sz="1000" dirty="0" err="1">
                <a:solidFill>
                  <a:schemeClr val="tx1"/>
                </a:solidFill>
                <a:latin typeface="Times New Roman" panose="02020603050405020304" pitchFamily="18" charset="0"/>
                <a:cs typeface="Times New Roman" panose="02020603050405020304" pitchFamily="18" charset="0"/>
              </a:rPr>
              <a:t>research.google</a:t>
            </a:r>
            <a:r>
              <a:rPr lang="en-IN" sz="1000" dirty="0">
                <a:solidFill>
                  <a:schemeClr val="tx1"/>
                </a:solidFill>
                <a:latin typeface="Times New Roman" panose="02020603050405020304" pitchFamily="18" charset="0"/>
                <a:cs typeface="Times New Roman" panose="02020603050405020304" pitchFamily="18" charset="0"/>
              </a:rPr>
              <a:t>/blog/announcing-the-first-machine-unlearning-challenge/)</a:t>
            </a:r>
          </a:p>
        </p:txBody>
      </p:sp>
      <p:sp>
        <p:nvSpPr>
          <p:cNvPr id="7" name="Slide Number Placeholder 5">
            <a:extLst>
              <a:ext uri="{FF2B5EF4-FFF2-40B4-BE49-F238E27FC236}">
                <a16:creationId xmlns:a16="http://schemas.microsoft.com/office/drawing/2014/main" id="{E4ADC52E-8283-F071-EAE3-DBC467B6ECEB}"/>
              </a:ext>
            </a:extLst>
          </p:cNvPr>
          <p:cNvSpPr txBox="1">
            <a:spLocks/>
          </p:cNvSpPr>
          <p:nvPr/>
        </p:nvSpPr>
        <p:spPr>
          <a:xfrm>
            <a:off x="11043138" y="6469123"/>
            <a:ext cx="310662"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A9795D8-83FD-4522-A0A1-E4DAAF0E10D3}" type="slidenum">
              <a:rPr lang="en-IN" sz="1400" smtClean="0">
                <a:solidFill>
                  <a:schemeClr val="bg1"/>
                </a:solidFill>
                <a:latin typeface="Times New Roman" panose="02020603050405020304" pitchFamily="18" charset="0"/>
                <a:cs typeface="Times New Roman" panose="02020603050405020304" pitchFamily="18" charset="0"/>
              </a:rPr>
              <a:pPr/>
              <a:t>5</a:t>
            </a:fld>
            <a:endParaRPr lang="en-IN" sz="1400" dirty="0">
              <a:solidFill>
                <a:schemeClr val="bg1"/>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D70496A6-FBFA-2CBF-D42D-FDC9C983D8AC}"/>
              </a:ext>
            </a:extLst>
          </p:cNvPr>
          <p:cNvPicPr>
            <a:picLocks noChangeAspect="1"/>
          </p:cNvPicPr>
          <p:nvPr/>
        </p:nvPicPr>
        <p:blipFill>
          <a:blip r:embed="rId3"/>
          <a:stretch>
            <a:fillRect/>
          </a:stretch>
        </p:blipFill>
        <p:spPr>
          <a:xfrm>
            <a:off x="713861" y="2133600"/>
            <a:ext cx="4723272" cy="2566788"/>
          </a:xfrm>
          <a:prstGeom prst="rect">
            <a:avLst/>
          </a:prstGeom>
        </p:spPr>
      </p:pic>
      <p:pic>
        <p:nvPicPr>
          <p:cNvPr id="10" name="Picture 9">
            <a:extLst>
              <a:ext uri="{FF2B5EF4-FFF2-40B4-BE49-F238E27FC236}">
                <a16:creationId xmlns:a16="http://schemas.microsoft.com/office/drawing/2014/main" id="{CFF27854-8149-CCE1-00DE-321D0F2F61C1}"/>
              </a:ext>
            </a:extLst>
          </p:cNvPr>
          <p:cNvPicPr>
            <a:picLocks noChangeAspect="1"/>
          </p:cNvPicPr>
          <p:nvPr/>
        </p:nvPicPr>
        <p:blipFill>
          <a:blip r:embed="rId4"/>
          <a:stretch>
            <a:fillRect/>
          </a:stretch>
        </p:blipFill>
        <p:spPr>
          <a:xfrm>
            <a:off x="5524050" y="1807846"/>
            <a:ext cx="5954089" cy="3494313"/>
          </a:xfrm>
          <a:prstGeom prst="rect">
            <a:avLst/>
          </a:prstGeom>
        </p:spPr>
      </p:pic>
      <p:sp>
        <p:nvSpPr>
          <p:cNvPr id="11" name="Date Placeholder 3">
            <a:extLst>
              <a:ext uri="{FF2B5EF4-FFF2-40B4-BE49-F238E27FC236}">
                <a16:creationId xmlns:a16="http://schemas.microsoft.com/office/drawing/2014/main" id="{243A3680-7B0B-C1D9-26EA-DCE1C41A1DA6}"/>
              </a:ext>
            </a:extLst>
          </p:cNvPr>
          <p:cNvSpPr txBox="1">
            <a:spLocks/>
          </p:cNvSpPr>
          <p:nvPr/>
        </p:nvSpPr>
        <p:spPr>
          <a:xfrm>
            <a:off x="713861" y="5514579"/>
            <a:ext cx="5616186"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1000" dirty="0">
                <a:solidFill>
                  <a:schemeClr val="tx1"/>
                </a:solidFill>
                <a:latin typeface="Times New Roman" panose="02020603050405020304" pitchFamily="18" charset="0"/>
                <a:cs typeface="Times New Roman" panose="02020603050405020304" pitchFamily="18" charset="0"/>
              </a:rPr>
              <a:t>Figure 5:Anatomy of unlearning..</a:t>
            </a:r>
            <a:br>
              <a:rPr lang="en-IN" sz="1000" dirty="0">
                <a:solidFill>
                  <a:schemeClr val="tx1"/>
                </a:solidFill>
                <a:latin typeface="Times New Roman" panose="02020603050405020304" pitchFamily="18" charset="0"/>
                <a:cs typeface="Times New Roman" panose="02020603050405020304" pitchFamily="18" charset="0"/>
              </a:rPr>
            </a:br>
            <a:r>
              <a:rPr lang="en-IN" sz="1000" dirty="0">
                <a:solidFill>
                  <a:schemeClr val="tx1"/>
                </a:solidFill>
                <a:latin typeface="Times New Roman" panose="02020603050405020304" pitchFamily="18" charset="0"/>
                <a:cs typeface="Times New Roman" panose="02020603050405020304" pitchFamily="18" charset="0"/>
              </a:rPr>
              <a:t>(source: https://research.csiro.au/isp/research/privacy_mlai/privacy-and-machine-unlearning/</a:t>
            </a:r>
          </a:p>
        </p:txBody>
      </p:sp>
    </p:spTree>
    <p:extLst>
      <p:ext uri="{BB962C8B-B14F-4D97-AF65-F5344CB8AC3E}">
        <p14:creationId xmlns:p14="http://schemas.microsoft.com/office/powerpoint/2010/main" val="13619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B1451-A4AD-8746-02D1-D3071B8C8120}"/>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A0D10302-8495-684B-CCF4-9D4023B6C64E}"/>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C77DB1EF-74A6-5077-5D94-6666B661EB02}"/>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07DE683D-D6DB-4E61-48A5-B8DD0BF0AC56}"/>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14" name="TextBox 13">
            <a:extLst>
              <a:ext uri="{FF2B5EF4-FFF2-40B4-BE49-F238E27FC236}">
                <a16:creationId xmlns:a16="http://schemas.microsoft.com/office/drawing/2014/main" id="{3291464B-0C7C-7B58-6BC9-C84A3C7785C2}"/>
              </a:ext>
            </a:extLst>
          </p:cNvPr>
          <p:cNvSpPr txBox="1"/>
          <p:nvPr/>
        </p:nvSpPr>
        <p:spPr>
          <a:xfrm>
            <a:off x="5549660" y="190137"/>
            <a:ext cx="6168727"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Introduction-III: Game Theory</a:t>
            </a:r>
          </a:p>
        </p:txBody>
      </p:sp>
      <p:sp>
        <p:nvSpPr>
          <p:cNvPr id="19" name="Slide Number Placeholder 5">
            <a:extLst>
              <a:ext uri="{FF2B5EF4-FFF2-40B4-BE49-F238E27FC236}">
                <a16:creationId xmlns:a16="http://schemas.microsoft.com/office/drawing/2014/main" id="{707A9A28-761A-6393-7F2D-96E01B8F1BB0}"/>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6</a:t>
            </a:fld>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9AFF419-473E-2BFA-0156-A9D5671B4092}"/>
              </a:ext>
            </a:extLst>
          </p:cNvPr>
          <p:cNvSpPr txBox="1"/>
          <p:nvPr/>
        </p:nvSpPr>
        <p:spPr>
          <a:xfrm>
            <a:off x="838199" y="1120262"/>
            <a:ext cx="10609163" cy="3559116"/>
          </a:xfrm>
          <a:prstGeom prst="rect">
            <a:avLst/>
          </a:prstGeom>
          <a:noFill/>
        </p:spPr>
        <p:txBody>
          <a:bodyPr wrap="square">
            <a:spAutoFit/>
          </a:bodyPr>
          <a:lstStyle/>
          <a:p>
            <a:pPr marL="0" marR="0" algn="just">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Game theory is a branch of mathematics and economics that studies strategic interactions between rational decision-makers, often called "players." It provides a framework for analyzing situations where the outcome for each participant depends not only on their own choices, but also on the choices of others.</a:t>
            </a:r>
          </a:p>
          <a:p>
            <a:pPr marL="0" marR="0" algn="just">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Here are some key concepts to understand game theory:</a:t>
            </a:r>
          </a:p>
          <a:p>
            <a:pPr marL="342900" marR="0" lvl="0" indent="-342900" algn="just">
              <a:lnSpc>
                <a:spcPct val="115000"/>
              </a:lnSpc>
              <a:spcBef>
                <a:spcPts val="0"/>
              </a:spcBef>
              <a:spcAft>
                <a:spcPts val="800"/>
              </a:spcAft>
              <a:buSzPts val="1000"/>
              <a:buFont typeface="Symbol" panose="05050102010706020507" pitchFamily="18" charset="2"/>
              <a:buChar char=""/>
              <a:tabLst>
                <a:tab pos="457200" algn="l"/>
              </a:tabLs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Players</a:t>
            </a:r>
          </a:p>
          <a:p>
            <a:pPr marL="342900" marR="0" lvl="0" indent="-342900" algn="just">
              <a:lnSpc>
                <a:spcPct val="115000"/>
              </a:lnSpc>
              <a:spcBef>
                <a:spcPts val="0"/>
              </a:spcBef>
              <a:spcAft>
                <a:spcPts val="800"/>
              </a:spcAft>
              <a:buSzPts val="1000"/>
              <a:buFont typeface="Symbol" panose="05050102010706020507" pitchFamily="18" charset="2"/>
              <a:buChar char=""/>
              <a:tabLst>
                <a:tab pos="457200" algn="l"/>
              </a:tabLs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Strategies</a:t>
            </a:r>
          </a:p>
          <a:p>
            <a:pPr marL="342900" marR="0" lvl="0" indent="-342900" algn="just">
              <a:lnSpc>
                <a:spcPct val="115000"/>
              </a:lnSpc>
              <a:spcBef>
                <a:spcPts val="0"/>
              </a:spcBef>
              <a:spcAft>
                <a:spcPts val="800"/>
              </a:spcAft>
              <a:buSzPts val="1000"/>
              <a:buFont typeface="Symbol" panose="05050102010706020507" pitchFamily="18" charset="2"/>
              <a:buChar char=""/>
              <a:tabLst>
                <a:tab pos="457200" algn="l"/>
              </a:tabLs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Payoffs</a:t>
            </a:r>
          </a:p>
          <a:p>
            <a:pPr marL="342900" marR="0" lvl="0" indent="-342900" algn="just">
              <a:lnSpc>
                <a:spcPct val="115000"/>
              </a:lnSpc>
              <a:spcBef>
                <a:spcPts val="0"/>
              </a:spcBef>
              <a:spcAft>
                <a:spcPts val="800"/>
              </a:spcAft>
              <a:buSzPts val="1000"/>
              <a:buFont typeface="Symbol" panose="05050102010706020507" pitchFamily="18" charset="2"/>
              <a:buChar char=""/>
              <a:tabLst>
                <a:tab pos="457200" algn="l"/>
              </a:tabLs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Information</a:t>
            </a:r>
          </a:p>
          <a:p>
            <a:pPr marL="342900" marR="0" lvl="0" indent="-342900" algn="just">
              <a:lnSpc>
                <a:spcPct val="115000"/>
              </a:lnSpc>
              <a:spcBef>
                <a:spcPts val="0"/>
              </a:spcBef>
              <a:spcAft>
                <a:spcPts val="800"/>
              </a:spcAft>
              <a:buSzPts val="1000"/>
              <a:buFont typeface="Symbol" panose="05050102010706020507" pitchFamily="18" charset="2"/>
              <a:buChar char=""/>
              <a:tabLst>
                <a:tab pos="457200" algn="l"/>
              </a:tabLs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Equilibrium</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48C7FDCF-DA2C-76DA-F7F2-3A5BE5EBDAF7}"/>
              </a:ext>
            </a:extLst>
          </p:cNvPr>
          <p:cNvPicPr>
            <a:picLocks noChangeAspect="1"/>
          </p:cNvPicPr>
          <p:nvPr/>
        </p:nvPicPr>
        <p:blipFill>
          <a:blip r:embed="rId3"/>
          <a:stretch>
            <a:fillRect/>
          </a:stretch>
        </p:blipFill>
        <p:spPr>
          <a:xfrm>
            <a:off x="6142780" y="2666239"/>
            <a:ext cx="5338674" cy="3559116"/>
          </a:xfrm>
          <a:prstGeom prst="rect">
            <a:avLst/>
          </a:prstGeom>
        </p:spPr>
      </p:pic>
      <p:sp>
        <p:nvSpPr>
          <p:cNvPr id="6" name="Footer Placeholder 4">
            <a:extLst>
              <a:ext uri="{FF2B5EF4-FFF2-40B4-BE49-F238E27FC236}">
                <a16:creationId xmlns:a16="http://schemas.microsoft.com/office/drawing/2014/main" id="{C7F9C556-73C9-B7A4-B252-BDDF002776EC}"/>
              </a:ext>
            </a:extLst>
          </p:cNvPr>
          <p:cNvSpPr txBox="1">
            <a:spLocks/>
          </p:cNvSpPr>
          <p:nvPr/>
        </p:nvSpPr>
        <p:spPr>
          <a:xfrm>
            <a:off x="4946940" y="5814982"/>
            <a:ext cx="7730353" cy="499824"/>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solidFill>
                  <a:schemeClr val="tx1"/>
                </a:solidFill>
                <a:latin typeface="Times New Roman" panose="02020603050405020304" pitchFamily="18" charset="0"/>
                <a:cs typeface="Times New Roman" panose="02020603050405020304" pitchFamily="18" charset="0"/>
              </a:rPr>
              <a:t>Figure 7:Strategic Interactions in Key Game Theory Models</a:t>
            </a:r>
          </a:p>
          <a:p>
            <a:r>
              <a:rPr lang="en-US" sz="1000" u="sng" dirty="0">
                <a:solidFill>
                  <a:schemeClr val="tx1"/>
                </a:solidFill>
                <a:latin typeface="Times New Roman" panose="02020603050405020304" pitchFamily="18" charset="0"/>
                <a:cs typeface="Times New Roman" panose="02020603050405020304" pitchFamily="18" charset="0"/>
              </a:rPr>
              <a:t>(</a:t>
            </a:r>
            <a:r>
              <a:rPr lang="en-US" sz="1000" u="sng" dirty="0" err="1">
                <a:solidFill>
                  <a:schemeClr val="tx1"/>
                </a:solidFill>
                <a:latin typeface="Times New Roman" panose="02020603050405020304" pitchFamily="18" charset="0"/>
                <a:cs typeface="Times New Roman" panose="02020603050405020304" pitchFamily="18" charset="0"/>
              </a:rPr>
              <a:t>Source:Created</a:t>
            </a:r>
            <a:r>
              <a:rPr lang="en-US" sz="1000" u="sng" dirty="0">
                <a:solidFill>
                  <a:schemeClr val="tx1"/>
                </a:solidFill>
                <a:latin typeface="Times New Roman" panose="02020603050405020304" pitchFamily="18" charset="0"/>
                <a:cs typeface="Times New Roman" panose="02020603050405020304" pitchFamily="18" charset="0"/>
              </a:rPr>
              <a:t> by Abhishek Hupele using AI-generated visualizations via Microsoft Copilot (GPT-4))</a:t>
            </a:r>
            <a:endParaRPr lang="en-IN" sz="1000" u="sng"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8837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4EE26-8F3C-84BD-8EF0-FD368C1355F7}"/>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C41ED7F5-45B9-13F1-D308-EAB2DF907D6E}"/>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EBB53649-2EAD-774F-CBAB-E6CBE85EC8CA}"/>
                </a:ext>
              </a:extLst>
            </p:cNvPr>
            <p:cNvPicPr>
              <a:picLocks noChangeAspect="1"/>
            </p:cNvPicPr>
            <p:nvPr/>
          </p:nvPicPr>
          <p:blipFill rotWithShape="1">
            <a:blip r:embed="rId3">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8EC1EEC9-D2DF-2179-D870-148BF7882E75}"/>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14" name="TextBox 13">
            <a:extLst>
              <a:ext uri="{FF2B5EF4-FFF2-40B4-BE49-F238E27FC236}">
                <a16:creationId xmlns:a16="http://schemas.microsoft.com/office/drawing/2014/main" id="{2D860FA2-8465-6475-235D-5B87C6BECA72}"/>
              </a:ext>
            </a:extLst>
          </p:cNvPr>
          <p:cNvSpPr txBox="1"/>
          <p:nvPr/>
        </p:nvSpPr>
        <p:spPr>
          <a:xfrm>
            <a:off x="1816444" y="190137"/>
            <a:ext cx="9901944"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Introduction-IV: Example Cases of PII* Misuse</a:t>
            </a:r>
          </a:p>
        </p:txBody>
      </p:sp>
      <p:sp>
        <p:nvSpPr>
          <p:cNvPr id="22" name="Slide Number Placeholder 5">
            <a:extLst>
              <a:ext uri="{FF2B5EF4-FFF2-40B4-BE49-F238E27FC236}">
                <a16:creationId xmlns:a16="http://schemas.microsoft.com/office/drawing/2014/main" id="{C6B68269-9BA7-6ED2-F75B-1290ED738172}"/>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7</a:t>
            </a:fld>
            <a:endParaRPr lang="en-IN" sz="1400" dirty="0">
              <a:solidFill>
                <a:schemeClr val="tx1"/>
              </a:solidFill>
              <a:latin typeface="Times New Roman" panose="02020603050405020304" pitchFamily="18" charset="0"/>
              <a:cs typeface="Times New Roman" panose="02020603050405020304" pitchFamily="18" charset="0"/>
            </a:endParaRPr>
          </a:p>
        </p:txBody>
      </p:sp>
      <p:graphicFrame>
        <p:nvGraphicFramePr>
          <p:cNvPr id="31" name="Table 30">
            <a:extLst>
              <a:ext uri="{FF2B5EF4-FFF2-40B4-BE49-F238E27FC236}">
                <a16:creationId xmlns:a16="http://schemas.microsoft.com/office/drawing/2014/main" id="{B79BA564-DBD8-BAEB-B43A-D804CCD5D7B2}"/>
              </a:ext>
            </a:extLst>
          </p:cNvPr>
          <p:cNvGraphicFramePr>
            <a:graphicFrameLocks noGrp="1"/>
          </p:cNvGraphicFramePr>
          <p:nvPr>
            <p:extLst>
              <p:ext uri="{D42A27DB-BD31-4B8C-83A1-F6EECF244321}">
                <p14:modId xmlns:p14="http://schemas.microsoft.com/office/powerpoint/2010/main" val="2957412306"/>
              </p:ext>
            </p:extLst>
          </p:nvPr>
        </p:nvGraphicFramePr>
        <p:xfrm>
          <a:off x="808645" y="1200560"/>
          <a:ext cx="5707172" cy="5275000"/>
        </p:xfrm>
        <a:graphic>
          <a:graphicData uri="http://schemas.openxmlformats.org/drawingml/2006/table">
            <a:tbl>
              <a:tblPr>
                <a:tableStyleId>{616DA210-FB5B-4158-B5E0-FEB733F419BA}</a:tableStyleId>
              </a:tblPr>
              <a:tblGrid>
                <a:gridCol w="1426793">
                  <a:extLst>
                    <a:ext uri="{9D8B030D-6E8A-4147-A177-3AD203B41FA5}">
                      <a16:colId xmlns:a16="http://schemas.microsoft.com/office/drawing/2014/main" val="2472530210"/>
                    </a:ext>
                  </a:extLst>
                </a:gridCol>
                <a:gridCol w="1426793">
                  <a:extLst>
                    <a:ext uri="{9D8B030D-6E8A-4147-A177-3AD203B41FA5}">
                      <a16:colId xmlns:a16="http://schemas.microsoft.com/office/drawing/2014/main" val="199156018"/>
                    </a:ext>
                  </a:extLst>
                </a:gridCol>
                <a:gridCol w="1426793">
                  <a:extLst>
                    <a:ext uri="{9D8B030D-6E8A-4147-A177-3AD203B41FA5}">
                      <a16:colId xmlns:a16="http://schemas.microsoft.com/office/drawing/2014/main" val="3588051714"/>
                    </a:ext>
                  </a:extLst>
                </a:gridCol>
                <a:gridCol w="1426793">
                  <a:extLst>
                    <a:ext uri="{9D8B030D-6E8A-4147-A177-3AD203B41FA5}">
                      <a16:colId xmlns:a16="http://schemas.microsoft.com/office/drawing/2014/main" val="3906460746"/>
                    </a:ext>
                  </a:extLst>
                </a:gridCol>
              </a:tblGrid>
              <a:tr h="238900">
                <a:tc>
                  <a:txBody>
                    <a:bodyPr/>
                    <a:lstStyle/>
                    <a:p>
                      <a:pPr>
                        <a:buNone/>
                      </a:pPr>
                      <a:r>
                        <a:rPr lang="en-IN" sz="1000"/>
                        <a:t>Case / Year</a:t>
                      </a:r>
                    </a:p>
                  </a:txBody>
                  <a:tcPr marL="49447" marR="49447" marT="24724" marB="24724" anchor="ctr"/>
                </a:tc>
                <a:tc>
                  <a:txBody>
                    <a:bodyPr/>
                    <a:lstStyle/>
                    <a:p>
                      <a:pPr>
                        <a:buNone/>
                      </a:pPr>
                      <a:r>
                        <a:rPr lang="en-IN" sz="1000"/>
                        <a:t>Domain</a:t>
                      </a:r>
                    </a:p>
                  </a:txBody>
                  <a:tcPr marL="49447" marR="49447" marT="24724" marB="24724" anchor="ctr"/>
                </a:tc>
                <a:tc>
                  <a:txBody>
                    <a:bodyPr/>
                    <a:lstStyle/>
                    <a:p>
                      <a:pPr>
                        <a:buNone/>
                      </a:pPr>
                      <a:r>
                        <a:rPr lang="en-IN" sz="1000"/>
                        <a:t>Issue / Violation</a:t>
                      </a:r>
                    </a:p>
                  </a:txBody>
                  <a:tcPr marL="49447" marR="49447" marT="24724" marB="24724" anchor="ctr"/>
                </a:tc>
                <a:tc>
                  <a:txBody>
                    <a:bodyPr/>
                    <a:lstStyle/>
                    <a:p>
                      <a:pPr>
                        <a:buNone/>
                      </a:pPr>
                      <a:r>
                        <a:rPr lang="en-IN" sz="1000" dirty="0"/>
                        <a:t>Impact</a:t>
                      </a:r>
                    </a:p>
                  </a:txBody>
                  <a:tcPr marL="49447" marR="49447" marT="24724" marB="24724" anchor="ctr"/>
                </a:tc>
                <a:extLst>
                  <a:ext uri="{0D108BD9-81ED-4DB2-BD59-A6C34878D82A}">
                    <a16:rowId xmlns:a16="http://schemas.microsoft.com/office/drawing/2014/main" val="1531805933"/>
                  </a:ext>
                </a:extLst>
              </a:tr>
              <a:tr h="599650">
                <a:tc>
                  <a:txBody>
                    <a:bodyPr/>
                    <a:lstStyle/>
                    <a:p>
                      <a:pPr>
                        <a:buNone/>
                      </a:pPr>
                      <a:r>
                        <a:rPr lang="en-IN" sz="1000"/>
                        <a:t>Cambridge Analytica (2018)</a:t>
                      </a:r>
                    </a:p>
                  </a:txBody>
                  <a:tcPr marL="49447" marR="49447" marT="24724" marB="24724" anchor="ctr"/>
                </a:tc>
                <a:tc>
                  <a:txBody>
                    <a:bodyPr/>
                    <a:lstStyle/>
                    <a:p>
                      <a:pPr>
                        <a:buNone/>
                      </a:pPr>
                      <a:r>
                        <a:rPr lang="en-IN" sz="1000"/>
                        <a:t>Social Media / Politics</a:t>
                      </a:r>
                    </a:p>
                  </a:txBody>
                  <a:tcPr marL="49447" marR="49447" marT="24724" marB="24724" anchor="ctr"/>
                </a:tc>
                <a:tc>
                  <a:txBody>
                    <a:bodyPr/>
                    <a:lstStyle/>
                    <a:p>
                      <a:pPr>
                        <a:buNone/>
                      </a:pPr>
                      <a:r>
                        <a:rPr lang="en-US" sz="1000"/>
                        <a:t>Unauthorized use of Facebook data for election profiling</a:t>
                      </a:r>
                    </a:p>
                  </a:txBody>
                  <a:tcPr marL="49447" marR="49447" marT="24724" marB="24724" anchor="ctr"/>
                </a:tc>
                <a:tc>
                  <a:txBody>
                    <a:bodyPr/>
                    <a:lstStyle/>
                    <a:p>
                      <a:pPr>
                        <a:buNone/>
                      </a:pPr>
                      <a:r>
                        <a:rPr lang="en-US" sz="1000"/>
                        <a:t>Manipulation of voter behavior, global privacy concerns</a:t>
                      </a:r>
                    </a:p>
                  </a:txBody>
                  <a:tcPr marL="49447" marR="49447" marT="24724" marB="24724" anchor="ctr"/>
                </a:tc>
                <a:extLst>
                  <a:ext uri="{0D108BD9-81ED-4DB2-BD59-A6C34878D82A}">
                    <a16:rowId xmlns:a16="http://schemas.microsoft.com/office/drawing/2014/main" val="1176205645"/>
                  </a:ext>
                </a:extLst>
              </a:tr>
              <a:tr h="599650">
                <a:tc>
                  <a:txBody>
                    <a:bodyPr/>
                    <a:lstStyle/>
                    <a:p>
                      <a:pPr>
                        <a:buNone/>
                      </a:pPr>
                      <a:r>
                        <a:rPr lang="en-IN" sz="1000"/>
                        <a:t>Apple Card Bias (2019)</a:t>
                      </a:r>
                    </a:p>
                  </a:txBody>
                  <a:tcPr marL="49447" marR="49447" marT="24724" marB="24724" anchor="ctr"/>
                </a:tc>
                <a:tc>
                  <a:txBody>
                    <a:bodyPr/>
                    <a:lstStyle/>
                    <a:p>
                      <a:pPr>
                        <a:buNone/>
                      </a:pPr>
                      <a:r>
                        <a:rPr lang="en-IN" sz="1000"/>
                        <a:t>Finance</a:t>
                      </a:r>
                    </a:p>
                  </a:txBody>
                  <a:tcPr marL="49447" marR="49447" marT="24724" marB="24724" anchor="ctr"/>
                </a:tc>
                <a:tc>
                  <a:txBody>
                    <a:bodyPr/>
                    <a:lstStyle/>
                    <a:p>
                      <a:pPr>
                        <a:buNone/>
                      </a:pPr>
                      <a:r>
                        <a:rPr lang="en-US" sz="1000"/>
                        <a:t>Gender bias in credit limit allocation</a:t>
                      </a:r>
                    </a:p>
                  </a:txBody>
                  <a:tcPr marL="49447" marR="49447" marT="24724" marB="24724" anchor="ctr"/>
                </a:tc>
                <a:tc>
                  <a:txBody>
                    <a:bodyPr/>
                    <a:lstStyle/>
                    <a:p>
                      <a:pPr>
                        <a:buNone/>
                      </a:pPr>
                      <a:r>
                        <a:rPr lang="en-US" sz="1000" dirty="0"/>
                        <a:t>Discrimination against women, regulatory scrutiny</a:t>
                      </a:r>
                    </a:p>
                  </a:txBody>
                  <a:tcPr marL="49447" marR="49447" marT="24724" marB="24724" anchor="ctr"/>
                </a:tc>
                <a:extLst>
                  <a:ext uri="{0D108BD9-81ED-4DB2-BD59-A6C34878D82A}">
                    <a16:rowId xmlns:a16="http://schemas.microsoft.com/office/drawing/2014/main" val="4153835207"/>
                  </a:ext>
                </a:extLst>
              </a:tr>
              <a:tr h="599650">
                <a:tc>
                  <a:txBody>
                    <a:bodyPr/>
                    <a:lstStyle/>
                    <a:p>
                      <a:pPr>
                        <a:buNone/>
                      </a:pPr>
                      <a:r>
                        <a:rPr lang="en-IN" sz="1000"/>
                        <a:t>Amazon Hiring Algorithm (2018)</a:t>
                      </a:r>
                    </a:p>
                  </a:txBody>
                  <a:tcPr marL="49447" marR="49447" marT="24724" marB="24724" anchor="ctr"/>
                </a:tc>
                <a:tc>
                  <a:txBody>
                    <a:bodyPr/>
                    <a:lstStyle/>
                    <a:p>
                      <a:pPr>
                        <a:buNone/>
                      </a:pPr>
                      <a:r>
                        <a:rPr lang="en-IN" sz="1000"/>
                        <a:t>Employment</a:t>
                      </a:r>
                    </a:p>
                  </a:txBody>
                  <a:tcPr marL="49447" marR="49447" marT="24724" marB="24724" anchor="ctr"/>
                </a:tc>
                <a:tc>
                  <a:txBody>
                    <a:bodyPr/>
                    <a:lstStyle/>
                    <a:p>
                      <a:pPr>
                        <a:buNone/>
                      </a:pPr>
                      <a:r>
                        <a:rPr lang="en-US" sz="1000" dirty="0"/>
                        <a:t>Algorithm trained on biased historical data</a:t>
                      </a:r>
                    </a:p>
                  </a:txBody>
                  <a:tcPr marL="49447" marR="49447" marT="24724" marB="24724" anchor="ctr"/>
                </a:tc>
                <a:tc>
                  <a:txBody>
                    <a:bodyPr/>
                    <a:lstStyle/>
                    <a:p>
                      <a:pPr>
                        <a:buNone/>
                      </a:pPr>
                      <a:r>
                        <a:rPr lang="en-IN" sz="1000"/>
                        <a:t>Gender bias in recruitment, reputational damage</a:t>
                      </a:r>
                    </a:p>
                  </a:txBody>
                  <a:tcPr marL="49447" marR="49447" marT="24724" marB="24724" anchor="ctr"/>
                </a:tc>
                <a:extLst>
                  <a:ext uri="{0D108BD9-81ED-4DB2-BD59-A6C34878D82A}">
                    <a16:rowId xmlns:a16="http://schemas.microsoft.com/office/drawing/2014/main" val="323911958"/>
                  </a:ext>
                </a:extLst>
              </a:tr>
              <a:tr h="419275">
                <a:tc>
                  <a:txBody>
                    <a:bodyPr/>
                    <a:lstStyle/>
                    <a:p>
                      <a:pPr>
                        <a:buNone/>
                      </a:pPr>
                      <a:r>
                        <a:rPr lang="en-IN" sz="1000" dirty="0"/>
                        <a:t>Clearview AI (2020)</a:t>
                      </a:r>
                    </a:p>
                  </a:txBody>
                  <a:tcPr marL="49447" marR="49447" marT="24724" marB="24724" anchor="ctr"/>
                </a:tc>
                <a:tc>
                  <a:txBody>
                    <a:bodyPr/>
                    <a:lstStyle/>
                    <a:p>
                      <a:pPr>
                        <a:buNone/>
                      </a:pPr>
                      <a:r>
                        <a:rPr lang="en-IN" sz="1000"/>
                        <a:t>Facial Recognition</a:t>
                      </a:r>
                    </a:p>
                  </a:txBody>
                  <a:tcPr marL="49447" marR="49447" marT="24724" marB="24724" anchor="ctr"/>
                </a:tc>
                <a:tc>
                  <a:txBody>
                    <a:bodyPr/>
                    <a:lstStyle/>
                    <a:p>
                      <a:pPr>
                        <a:buNone/>
                      </a:pPr>
                      <a:r>
                        <a:rPr lang="en-US" sz="1000"/>
                        <a:t>Scraping billions of images without consent</a:t>
                      </a:r>
                    </a:p>
                  </a:txBody>
                  <a:tcPr marL="49447" marR="49447" marT="24724" marB="24724" anchor="ctr"/>
                </a:tc>
                <a:tc>
                  <a:txBody>
                    <a:bodyPr/>
                    <a:lstStyle/>
                    <a:p>
                      <a:pPr>
                        <a:buNone/>
                      </a:pPr>
                      <a:r>
                        <a:rPr lang="en-IN" sz="1000"/>
                        <a:t>Privacy invasion, legal challenges</a:t>
                      </a:r>
                    </a:p>
                  </a:txBody>
                  <a:tcPr marL="49447" marR="49447" marT="24724" marB="24724" anchor="ctr"/>
                </a:tc>
                <a:extLst>
                  <a:ext uri="{0D108BD9-81ED-4DB2-BD59-A6C34878D82A}">
                    <a16:rowId xmlns:a16="http://schemas.microsoft.com/office/drawing/2014/main" val="2420724297"/>
                  </a:ext>
                </a:extLst>
              </a:tr>
              <a:tr h="599650">
                <a:tc>
                  <a:txBody>
                    <a:bodyPr/>
                    <a:lstStyle/>
                    <a:p>
                      <a:pPr>
                        <a:buNone/>
                      </a:pPr>
                      <a:r>
                        <a:rPr lang="en-IN" sz="1000" dirty="0"/>
                        <a:t>Target Pregnancy Prediction (2012)</a:t>
                      </a:r>
                    </a:p>
                  </a:txBody>
                  <a:tcPr marL="49447" marR="49447" marT="24724" marB="24724" anchor="ctr"/>
                </a:tc>
                <a:tc>
                  <a:txBody>
                    <a:bodyPr/>
                    <a:lstStyle/>
                    <a:p>
                      <a:pPr>
                        <a:buNone/>
                      </a:pPr>
                      <a:r>
                        <a:rPr lang="en-IN" sz="1000"/>
                        <a:t>Retail</a:t>
                      </a:r>
                    </a:p>
                  </a:txBody>
                  <a:tcPr marL="49447" marR="49447" marT="24724" marB="24724" anchor="ctr"/>
                </a:tc>
                <a:tc>
                  <a:txBody>
                    <a:bodyPr/>
                    <a:lstStyle/>
                    <a:p>
                      <a:pPr>
                        <a:buNone/>
                      </a:pPr>
                      <a:r>
                        <a:rPr lang="en-US" sz="1000"/>
                        <a:t>Predictive analytics revealed pregnancy status without consent</a:t>
                      </a:r>
                    </a:p>
                  </a:txBody>
                  <a:tcPr marL="49447" marR="49447" marT="24724" marB="24724" anchor="ctr"/>
                </a:tc>
                <a:tc>
                  <a:txBody>
                    <a:bodyPr/>
                    <a:lstStyle/>
                    <a:p>
                      <a:pPr>
                        <a:buNone/>
                      </a:pPr>
                      <a:r>
                        <a:rPr lang="en-US" sz="1000" dirty="0"/>
                        <a:t>Breach of sensitive health information, customer backlash</a:t>
                      </a:r>
                    </a:p>
                  </a:txBody>
                  <a:tcPr marL="49447" marR="49447" marT="24724" marB="24724" anchor="ctr"/>
                </a:tc>
                <a:extLst>
                  <a:ext uri="{0D108BD9-81ED-4DB2-BD59-A6C34878D82A}">
                    <a16:rowId xmlns:a16="http://schemas.microsoft.com/office/drawing/2014/main" val="2033709458"/>
                  </a:ext>
                </a:extLst>
              </a:tr>
              <a:tr h="599650">
                <a:tc>
                  <a:txBody>
                    <a:bodyPr/>
                    <a:lstStyle/>
                    <a:p>
                      <a:pPr>
                        <a:buNone/>
                      </a:pPr>
                      <a:r>
                        <a:rPr lang="en-IN" sz="1000" dirty="0"/>
                        <a:t>Cross-Border GenAI Misuse (2025, Gartner prediction)</a:t>
                      </a:r>
                    </a:p>
                  </a:txBody>
                  <a:tcPr marL="49447" marR="49447" marT="24724" marB="24724" anchor="ctr"/>
                </a:tc>
                <a:tc>
                  <a:txBody>
                    <a:bodyPr/>
                    <a:lstStyle/>
                    <a:p>
                      <a:pPr>
                        <a:buNone/>
                      </a:pPr>
                      <a:r>
                        <a:rPr lang="en-IN" sz="1000"/>
                        <a:t>AI / Global Data</a:t>
                      </a:r>
                    </a:p>
                  </a:txBody>
                  <a:tcPr marL="49447" marR="49447" marT="24724" marB="24724" anchor="ctr"/>
                </a:tc>
                <a:tc>
                  <a:txBody>
                    <a:bodyPr/>
                    <a:lstStyle/>
                    <a:p>
                      <a:pPr>
                        <a:buNone/>
                      </a:pPr>
                      <a:r>
                        <a:rPr lang="en-US" sz="1000"/>
                        <a:t>Generative AI misuse across jurisdictions with weak privacy laws</a:t>
                      </a:r>
                    </a:p>
                  </a:txBody>
                  <a:tcPr marL="49447" marR="49447" marT="24724" marB="24724" anchor="ctr"/>
                </a:tc>
                <a:tc>
                  <a:txBody>
                    <a:bodyPr/>
                    <a:lstStyle/>
                    <a:p>
                      <a:pPr>
                        <a:buNone/>
                      </a:pPr>
                      <a:r>
                        <a:rPr lang="en-US" sz="1000" dirty="0"/>
                        <a:t>Risk of large-scale exploitation of personal data</a:t>
                      </a:r>
                    </a:p>
                  </a:txBody>
                  <a:tcPr marL="49447" marR="49447" marT="24724" marB="24724" anchor="ctr"/>
                </a:tc>
                <a:extLst>
                  <a:ext uri="{0D108BD9-81ED-4DB2-BD59-A6C34878D82A}">
                    <a16:rowId xmlns:a16="http://schemas.microsoft.com/office/drawing/2014/main" val="2732412120"/>
                  </a:ext>
                </a:extLst>
              </a:tr>
              <a:tr h="599650">
                <a:tc>
                  <a:txBody>
                    <a:bodyPr/>
                    <a:lstStyle/>
                    <a:p>
                      <a:pPr>
                        <a:buNone/>
                      </a:pPr>
                      <a:r>
                        <a:rPr lang="en-IN" sz="1000" dirty="0"/>
                        <a:t>Equifax Breach (2017)</a:t>
                      </a:r>
                    </a:p>
                  </a:txBody>
                  <a:tcPr marL="49447" marR="49447" marT="24724" marB="24724" anchor="ctr"/>
                </a:tc>
                <a:tc>
                  <a:txBody>
                    <a:bodyPr/>
                    <a:lstStyle/>
                    <a:p>
                      <a:pPr>
                        <a:buNone/>
                      </a:pPr>
                      <a:r>
                        <a:rPr lang="en-IN" sz="1000"/>
                        <a:t>Finance</a:t>
                      </a:r>
                    </a:p>
                  </a:txBody>
                  <a:tcPr marL="49447" marR="49447" marT="24724" marB="24724" anchor="ctr"/>
                </a:tc>
                <a:tc>
                  <a:txBody>
                    <a:bodyPr/>
                    <a:lstStyle/>
                    <a:p>
                      <a:pPr>
                        <a:buNone/>
                      </a:pPr>
                      <a:r>
                        <a:rPr lang="en-US" sz="1000"/>
                        <a:t>Massive data breach exposing SSNs, birthdates, addresses</a:t>
                      </a:r>
                    </a:p>
                  </a:txBody>
                  <a:tcPr marL="49447" marR="49447" marT="24724" marB="24724" anchor="ctr"/>
                </a:tc>
                <a:tc>
                  <a:txBody>
                    <a:bodyPr/>
                    <a:lstStyle/>
                    <a:p>
                      <a:pPr>
                        <a:buNone/>
                      </a:pPr>
                      <a:r>
                        <a:rPr lang="en-US" sz="1000" dirty="0"/>
                        <a:t>147M+ individuals affected, financial fraud risks</a:t>
                      </a:r>
                    </a:p>
                  </a:txBody>
                  <a:tcPr marL="49447" marR="49447" marT="24724" marB="24724" anchor="ctr"/>
                </a:tc>
                <a:extLst>
                  <a:ext uri="{0D108BD9-81ED-4DB2-BD59-A6C34878D82A}">
                    <a16:rowId xmlns:a16="http://schemas.microsoft.com/office/drawing/2014/main" val="714040673"/>
                  </a:ext>
                </a:extLst>
              </a:tr>
              <a:tr h="419275">
                <a:tc>
                  <a:txBody>
                    <a:bodyPr/>
                    <a:lstStyle/>
                    <a:p>
                      <a:pPr>
                        <a:buNone/>
                      </a:pPr>
                      <a:r>
                        <a:rPr lang="en-IN" sz="1000" dirty="0"/>
                        <a:t>Google Street View (2010)</a:t>
                      </a:r>
                    </a:p>
                  </a:txBody>
                  <a:tcPr marL="49447" marR="49447" marT="24724" marB="24724" anchor="ctr"/>
                </a:tc>
                <a:tc>
                  <a:txBody>
                    <a:bodyPr/>
                    <a:lstStyle/>
                    <a:p>
                      <a:pPr>
                        <a:buNone/>
                      </a:pPr>
                      <a:r>
                        <a:rPr lang="en-IN" sz="1000"/>
                        <a:t>Tech / Mapping</a:t>
                      </a:r>
                    </a:p>
                  </a:txBody>
                  <a:tcPr marL="49447" marR="49447" marT="24724" marB="24724" anchor="ctr"/>
                </a:tc>
                <a:tc>
                  <a:txBody>
                    <a:bodyPr/>
                    <a:lstStyle/>
                    <a:p>
                      <a:pPr>
                        <a:buNone/>
                      </a:pPr>
                      <a:r>
                        <a:rPr lang="en-US" sz="1000"/>
                        <a:t>Collection of Wi-Fi data without consent</a:t>
                      </a:r>
                    </a:p>
                  </a:txBody>
                  <a:tcPr marL="49447" marR="49447" marT="24724" marB="24724" anchor="ctr"/>
                </a:tc>
                <a:tc>
                  <a:txBody>
                    <a:bodyPr/>
                    <a:lstStyle/>
                    <a:p>
                      <a:pPr>
                        <a:buNone/>
                      </a:pPr>
                      <a:r>
                        <a:rPr lang="en-IN" sz="1000" dirty="0"/>
                        <a:t>Regulatory fines, privacy violations</a:t>
                      </a:r>
                    </a:p>
                  </a:txBody>
                  <a:tcPr marL="49447" marR="49447" marT="24724" marB="24724" anchor="ctr"/>
                </a:tc>
                <a:extLst>
                  <a:ext uri="{0D108BD9-81ED-4DB2-BD59-A6C34878D82A}">
                    <a16:rowId xmlns:a16="http://schemas.microsoft.com/office/drawing/2014/main" val="3034351297"/>
                  </a:ext>
                </a:extLst>
              </a:tr>
              <a:tr h="599650">
                <a:tc>
                  <a:txBody>
                    <a:bodyPr/>
                    <a:lstStyle/>
                    <a:p>
                      <a:pPr>
                        <a:buNone/>
                      </a:pPr>
                      <a:r>
                        <a:rPr lang="en-IN" sz="1000" dirty="0"/>
                        <a:t>Aadhaar Data Leak (2018, India)</a:t>
                      </a:r>
                    </a:p>
                  </a:txBody>
                  <a:tcPr marL="49447" marR="49447" marT="24724" marB="24724" anchor="ctr"/>
                </a:tc>
                <a:tc>
                  <a:txBody>
                    <a:bodyPr/>
                    <a:lstStyle/>
                    <a:p>
                      <a:pPr>
                        <a:buNone/>
                      </a:pPr>
                      <a:r>
                        <a:rPr lang="en-IN" sz="1000"/>
                        <a:t>National ID</a:t>
                      </a:r>
                    </a:p>
                  </a:txBody>
                  <a:tcPr marL="49447" marR="49447" marT="24724" marB="24724" anchor="ctr"/>
                </a:tc>
                <a:tc>
                  <a:txBody>
                    <a:bodyPr/>
                    <a:lstStyle/>
                    <a:p>
                      <a:pPr>
                        <a:buNone/>
                      </a:pPr>
                      <a:r>
                        <a:rPr lang="en-US" sz="1000"/>
                        <a:t>Unauthorized access to biometric and demographic data</a:t>
                      </a:r>
                    </a:p>
                  </a:txBody>
                  <a:tcPr marL="49447" marR="49447" marT="24724" marB="24724" anchor="ctr"/>
                </a:tc>
                <a:tc>
                  <a:txBody>
                    <a:bodyPr/>
                    <a:lstStyle/>
                    <a:p>
                      <a:pPr>
                        <a:buNone/>
                      </a:pPr>
                      <a:r>
                        <a:rPr lang="en-US" sz="1000" dirty="0"/>
                        <a:t>Millions exposed, national security concerns</a:t>
                      </a:r>
                    </a:p>
                  </a:txBody>
                  <a:tcPr marL="49447" marR="49447" marT="24724" marB="24724" anchor="ctr"/>
                </a:tc>
                <a:extLst>
                  <a:ext uri="{0D108BD9-81ED-4DB2-BD59-A6C34878D82A}">
                    <a16:rowId xmlns:a16="http://schemas.microsoft.com/office/drawing/2014/main" val="4109080931"/>
                  </a:ext>
                </a:extLst>
              </a:tr>
            </a:tbl>
          </a:graphicData>
        </a:graphic>
      </p:graphicFrame>
      <p:pic>
        <p:nvPicPr>
          <p:cNvPr id="3084" name="Picture 12" descr="undefined">
            <a:extLst>
              <a:ext uri="{FF2B5EF4-FFF2-40B4-BE49-F238E27FC236}">
                <a16:creationId xmlns:a16="http://schemas.microsoft.com/office/drawing/2014/main" id="{A271C491-8E8C-9CA5-E4E3-014189BDBB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52198" y="1489496"/>
            <a:ext cx="522746" cy="504527"/>
          </a:xfrm>
          <a:prstGeom prst="rect">
            <a:avLst/>
          </a:prstGeom>
          <a:noFill/>
          <a:extLst>
            <a:ext uri="{909E8E84-426E-40DD-AFC4-6F175D3DCCD1}">
              <a14:hiddenFill xmlns:a14="http://schemas.microsoft.com/office/drawing/2010/main">
                <a:solidFill>
                  <a:srgbClr val="FFFFFF"/>
                </a:solidFill>
              </a14:hiddenFill>
            </a:ext>
          </a:extLst>
        </p:spPr>
      </p:pic>
      <p:pic>
        <p:nvPicPr>
          <p:cNvPr id="3086" name="Picture 14">
            <a:extLst>
              <a:ext uri="{FF2B5EF4-FFF2-40B4-BE49-F238E27FC236}">
                <a16:creationId xmlns:a16="http://schemas.microsoft.com/office/drawing/2014/main" id="{3872F0B9-48BD-3B08-2392-A65721DB0A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8841" y="2133340"/>
            <a:ext cx="696103" cy="391558"/>
          </a:xfrm>
          <a:prstGeom prst="rect">
            <a:avLst/>
          </a:prstGeom>
          <a:noFill/>
          <a:extLst>
            <a:ext uri="{909E8E84-426E-40DD-AFC4-6F175D3DCCD1}">
              <a14:hiddenFill xmlns:a14="http://schemas.microsoft.com/office/drawing/2010/main">
                <a:solidFill>
                  <a:srgbClr val="FFFFFF"/>
                </a:solidFill>
              </a14:hiddenFill>
            </a:ext>
          </a:extLst>
        </p:spPr>
      </p:pic>
      <p:pic>
        <p:nvPicPr>
          <p:cNvPr id="3088" name="Picture 16">
            <a:extLst>
              <a:ext uri="{FF2B5EF4-FFF2-40B4-BE49-F238E27FC236}">
                <a16:creationId xmlns:a16="http://schemas.microsoft.com/office/drawing/2014/main" id="{0C16CEDC-42A8-D19F-55DA-8782FE4F4BF6}"/>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7367" t="22837" r="25732" b="35633"/>
          <a:stretch>
            <a:fillRect/>
          </a:stretch>
        </p:blipFill>
        <p:spPr bwMode="auto">
          <a:xfrm>
            <a:off x="6515817" y="2585183"/>
            <a:ext cx="1088872" cy="504527"/>
          </a:xfrm>
          <a:prstGeom prst="rect">
            <a:avLst/>
          </a:prstGeom>
          <a:noFill/>
          <a:extLst>
            <a:ext uri="{909E8E84-426E-40DD-AFC4-6F175D3DCCD1}">
              <a14:hiddenFill xmlns:a14="http://schemas.microsoft.com/office/drawing/2010/main">
                <a:solidFill>
                  <a:srgbClr val="FFFFFF"/>
                </a:solidFill>
              </a14:hiddenFill>
            </a:ext>
          </a:extLst>
        </p:spPr>
      </p:pic>
      <p:pic>
        <p:nvPicPr>
          <p:cNvPr id="3090" name="Picture 18">
            <a:extLst>
              <a:ext uri="{FF2B5EF4-FFF2-40B4-BE49-F238E27FC236}">
                <a16:creationId xmlns:a16="http://schemas.microsoft.com/office/drawing/2014/main" id="{2BAFDD51-71CD-BC7B-04EF-3D06923CAEA3}"/>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6053" t="33732" b="30799"/>
          <a:stretch>
            <a:fillRect/>
          </a:stretch>
        </p:blipFill>
        <p:spPr bwMode="auto">
          <a:xfrm>
            <a:off x="6559070" y="3314968"/>
            <a:ext cx="1431747" cy="304062"/>
          </a:xfrm>
          <a:prstGeom prst="rect">
            <a:avLst/>
          </a:prstGeom>
          <a:noFill/>
          <a:extLst>
            <a:ext uri="{909E8E84-426E-40DD-AFC4-6F175D3DCCD1}">
              <a14:hiddenFill xmlns:a14="http://schemas.microsoft.com/office/drawing/2010/main">
                <a:solidFill>
                  <a:srgbClr val="FFFFFF"/>
                </a:solidFill>
              </a14:hiddenFill>
            </a:ext>
          </a:extLst>
        </p:spPr>
      </p:pic>
      <p:pic>
        <p:nvPicPr>
          <p:cNvPr id="3092" name="Picture 20">
            <a:extLst>
              <a:ext uri="{FF2B5EF4-FFF2-40B4-BE49-F238E27FC236}">
                <a16:creationId xmlns:a16="http://schemas.microsoft.com/office/drawing/2014/main" id="{D13A2D0C-C49C-FE51-0B97-3BC69E4E684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78841" y="3646347"/>
            <a:ext cx="526348" cy="526348"/>
          </a:xfrm>
          <a:prstGeom prst="rect">
            <a:avLst/>
          </a:prstGeom>
          <a:noFill/>
          <a:extLst>
            <a:ext uri="{909E8E84-426E-40DD-AFC4-6F175D3DCCD1}">
              <a14:hiddenFill xmlns:a14="http://schemas.microsoft.com/office/drawing/2010/main">
                <a:solidFill>
                  <a:srgbClr val="FFFFFF"/>
                </a:solidFill>
              </a14:hiddenFill>
            </a:ext>
          </a:extLst>
        </p:spPr>
      </p:pic>
      <p:pic>
        <p:nvPicPr>
          <p:cNvPr id="3096" name="Picture 24">
            <a:extLst>
              <a:ext uri="{FF2B5EF4-FFF2-40B4-BE49-F238E27FC236}">
                <a16:creationId xmlns:a16="http://schemas.microsoft.com/office/drawing/2014/main" id="{A4BD77A0-936F-F694-4FD7-023B8F1230D5}"/>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t="38336" b="37323"/>
          <a:stretch>
            <a:fillRect/>
          </a:stretch>
        </p:blipFill>
        <p:spPr bwMode="auto">
          <a:xfrm>
            <a:off x="6578841" y="5017569"/>
            <a:ext cx="1714500" cy="417321"/>
          </a:xfrm>
          <a:prstGeom prst="rect">
            <a:avLst/>
          </a:prstGeom>
          <a:noFill/>
          <a:extLst>
            <a:ext uri="{909E8E84-426E-40DD-AFC4-6F175D3DCCD1}">
              <a14:hiddenFill xmlns:a14="http://schemas.microsoft.com/office/drawing/2010/main">
                <a:solidFill>
                  <a:srgbClr val="FFFFFF"/>
                </a:solidFill>
              </a14:hiddenFill>
            </a:ext>
          </a:extLst>
        </p:spPr>
      </p:pic>
      <p:pic>
        <p:nvPicPr>
          <p:cNvPr id="3098" name="Picture 26" descr="The Secret History of the Google Logo">
            <a:extLst>
              <a:ext uri="{FF2B5EF4-FFF2-40B4-BE49-F238E27FC236}">
                <a16:creationId xmlns:a16="http://schemas.microsoft.com/office/drawing/2014/main" id="{B37DCE32-6BF3-376C-9BB8-AFD8EA521BF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78841" y="5434890"/>
            <a:ext cx="761331" cy="417322"/>
          </a:xfrm>
          <a:prstGeom prst="rect">
            <a:avLst/>
          </a:prstGeom>
          <a:noFill/>
          <a:extLst>
            <a:ext uri="{909E8E84-426E-40DD-AFC4-6F175D3DCCD1}">
              <a14:hiddenFill xmlns:a14="http://schemas.microsoft.com/office/drawing/2010/main">
                <a:solidFill>
                  <a:srgbClr val="FFFFFF"/>
                </a:solidFill>
              </a14:hiddenFill>
            </a:ext>
          </a:extLst>
        </p:spPr>
      </p:pic>
      <p:pic>
        <p:nvPicPr>
          <p:cNvPr id="3102" name="Picture 30" descr="Aadhaar - Wikipedia">
            <a:extLst>
              <a:ext uri="{FF2B5EF4-FFF2-40B4-BE49-F238E27FC236}">
                <a16:creationId xmlns:a16="http://schemas.microsoft.com/office/drawing/2014/main" id="{10230213-06D3-F098-725E-8D7E3C2450A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578840" y="5928623"/>
            <a:ext cx="761331" cy="48942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500B223-D214-2BBF-56C3-4610625F0672}"/>
              </a:ext>
            </a:extLst>
          </p:cNvPr>
          <p:cNvSpPr txBox="1"/>
          <p:nvPr/>
        </p:nvSpPr>
        <p:spPr>
          <a:xfrm>
            <a:off x="808645" y="6618632"/>
            <a:ext cx="4203941" cy="276999"/>
          </a:xfrm>
          <a:prstGeom prst="rect">
            <a:avLst/>
          </a:prstGeom>
          <a:noFill/>
        </p:spPr>
        <p:txBody>
          <a:bodyPr wrap="square" rtlCol="0">
            <a:spAutoFit/>
          </a:bodyPr>
          <a:lstStyle/>
          <a:p>
            <a:r>
              <a:rPr lang="en-IN" sz="1200" dirty="0"/>
              <a:t>* PII : Personally Identifiable Information</a:t>
            </a:r>
          </a:p>
        </p:txBody>
      </p:sp>
    </p:spTree>
    <p:extLst>
      <p:ext uri="{BB962C8B-B14F-4D97-AF65-F5344CB8AC3E}">
        <p14:creationId xmlns:p14="http://schemas.microsoft.com/office/powerpoint/2010/main" val="10543502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66548-9A7C-3E81-175C-CFD5681D39B6}"/>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E7141449-B6CE-D4E7-AC01-074EFB35F972}"/>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0B82A89C-96C1-F224-0855-B95E4650CCFF}"/>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598D50D6-14D8-5595-D1E7-582C4ADB9EA1}"/>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14" name="TextBox 13">
            <a:extLst>
              <a:ext uri="{FF2B5EF4-FFF2-40B4-BE49-F238E27FC236}">
                <a16:creationId xmlns:a16="http://schemas.microsoft.com/office/drawing/2014/main" id="{C3118C9E-ACC1-F830-AAFA-E1DE52F7ED77}"/>
              </a:ext>
            </a:extLst>
          </p:cNvPr>
          <p:cNvSpPr txBox="1"/>
          <p:nvPr/>
        </p:nvSpPr>
        <p:spPr>
          <a:xfrm>
            <a:off x="6096000" y="190137"/>
            <a:ext cx="5622387"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Literature Review-I</a:t>
            </a:r>
          </a:p>
        </p:txBody>
      </p:sp>
      <p:graphicFrame>
        <p:nvGraphicFramePr>
          <p:cNvPr id="5" name="Table 4">
            <a:extLst>
              <a:ext uri="{FF2B5EF4-FFF2-40B4-BE49-F238E27FC236}">
                <a16:creationId xmlns:a16="http://schemas.microsoft.com/office/drawing/2014/main" id="{05C68A2B-7BF1-4937-0511-BF7EFC6D741E}"/>
              </a:ext>
            </a:extLst>
          </p:cNvPr>
          <p:cNvGraphicFramePr/>
          <p:nvPr>
            <p:extLst>
              <p:ext uri="{D42A27DB-BD31-4B8C-83A1-F6EECF244321}">
                <p14:modId xmlns:p14="http://schemas.microsoft.com/office/powerpoint/2010/main" val="338688874"/>
              </p:ext>
            </p:extLst>
          </p:nvPr>
        </p:nvGraphicFramePr>
        <p:xfrm>
          <a:off x="119340" y="978289"/>
          <a:ext cx="11948400" cy="5852160"/>
        </p:xfrm>
        <a:graphic>
          <a:graphicData uri="http://schemas.openxmlformats.org/drawingml/2006/table">
            <a:tbl>
              <a:tblPr/>
              <a:tblGrid>
                <a:gridCol w="1968252">
                  <a:extLst>
                    <a:ext uri="{9D8B030D-6E8A-4147-A177-3AD203B41FA5}">
                      <a16:colId xmlns:a16="http://schemas.microsoft.com/office/drawing/2014/main" val="20000"/>
                    </a:ext>
                  </a:extLst>
                </a:gridCol>
                <a:gridCol w="2254370">
                  <a:extLst>
                    <a:ext uri="{9D8B030D-6E8A-4147-A177-3AD203B41FA5}">
                      <a16:colId xmlns:a16="http://schemas.microsoft.com/office/drawing/2014/main" val="20001"/>
                    </a:ext>
                  </a:extLst>
                </a:gridCol>
                <a:gridCol w="2139351">
                  <a:extLst>
                    <a:ext uri="{9D8B030D-6E8A-4147-A177-3AD203B41FA5}">
                      <a16:colId xmlns:a16="http://schemas.microsoft.com/office/drawing/2014/main" val="20002"/>
                    </a:ext>
                  </a:extLst>
                </a:gridCol>
                <a:gridCol w="2421147">
                  <a:extLst>
                    <a:ext uri="{9D8B030D-6E8A-4147-A177-3AD203B41FA5}">
                      <a16:colId xmlns:a16="http://schemas.microsoft.com/office/drawing/2014/main" val="20003"/>
                    </a:ext>
                  </a:extLst>
                </a:gridCol>
                <a:gridCol w="3165280">
                  <a:extLst>
                    <a:ext uri="{9D8B030D-6E8A-4147-A177-3AD203B41FA5}">
                      <a16:colId xmlns:a16="http://schemas.microsoft.com/office/drawing/2014/main" val="20004"/>
                    </a:ext>
                  </a:extLst>
                </a:gridCol>
              </a:tblGrid>
              <a:tr h="322560">
                <a:tc>
                  <a:txBody>
                    <a:bodyPr/>
                    <a:lstStyle/>
                    <a:p>
                      <a:pPr algn="ctr">
                        <a:lnSpc>
                          <a:spcPct val="100000"/>
                        </a:lnSpc>
                        <a:buNone/>
                      </a:pPr>
                      <a:r>
                        <a:rPr lang="en-IN" sz="1600" b="1" strike="noStrike" spc="-1" dirty="0">
                          <a:solidFill>
                            <a:srgbClr val="FFFFFF"/>
                          </a:solidFill>
                          <a:latin typeface="Times New Roman" panose="02020603050405020304" pitchFamily="18" charset="0"/>
                          <a:cs typeface="Times New Roman" panose="02020603050405020304" pitchFamily="18" charset="0"/>
                        </a:rPr>
                        <a:t>Publication details</a:t>
                      </a:r>
                      <a:endParaRPr lang="en-IN" sz="16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000000"/>
                    </a:solidFill>
                  </a:tcPr>
                </a:tc>
                <a:tc>
                  <a:txBody>
                    <a:bodyPr/>
                    <a:lstStyle/>
                    <a:p>
                      <a:pPr algn="ctr">
                        <a:lnSpc>
                          <a:spcPct val="100000"/>
                        </a:lnSpc>
                        <a:buNone/>
                      </a:pPr>
                      <a:r>
                        <a:rPr lang="en-IN" sz="1600" b="1" strike="noStrike" spc="-1" dirty="0">
                          <a:solidFill>
                            <a:srgbClr val="FFFFFF"/>
                          </a:solidFill>
                          <a:latin typeface="Times New Roman" panose="02020603050405020304" pitchFamily="18" charset="0"/>
                          <a:cs typeface="Times New Roman" panose="02020603050405020304" pitchFamily="18" charset="0"/>
                        </a:rPr>
                        <a:t>Purpose</a:t>
                      </a:r>
                      <a:endParaRPr lang="en-IN" sz="16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000000"/>
                    </a:solidFill>
                  </a:tcPr>
                </a:tc>
                <a:tc>
                  <a:txBody>
                    <a:bodyPr/>
                    <a:lstStyle/>
                    <a:p>
                      <a:pPr algn="ctr">
                        <a:lnSpc>
                          <a:spcPct val="100000"/>
                        </a:lnSpc>
                        <a:buNone/>
                      </a:pPr>
                      <a:r>
                        <a:rPr lang="en-IN" sz="1600" b="1" strike="noStrike" spc="-1" dirty="0">
                          <a:solidFill>
                            <a:srgbClr val="FFFFFF"/>
                          </a:solidFill>
                          <a:latin typeface="Times New Roman" panose="02020603050405020304" pitchFamily="18" charset="0"/>
                          <a:cs typeface="Times New Roman" panose="02020603050405020304" pitchFamily="18" charset="0"/>
                        </a:rPr>
                        <a:t>Data </a:t>
                      </a:r>
                      <a:endParaRPr lang="en-IN" sz="16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000000"/>
                    </a:solidFill>
                  </a:tcPr>
                </a:tc>
                <a:tc>
                  <a:txBody>
                    <a:bodyPr/>
                    <a:lstStyle/>
                    <a:p>
                      <a:pPr algn="ctr">
                        <a:lnSpc>
                          <a:spcPct val="100000"/>
                        </a:lnSpc>
                        <a:buNone/>
                      </a:pPr>
                      <a:r>
                        <a:rPr lang="en-IN" sz="1600" b="1" strike="noStrike" spc="-1" dirty="0">
                          <a:solidFill>
                            <a:srgbClr val="FFFFFF"/>
                          </a:solidFill>
                          <a:latin typeface="Times New Roman" panose="02020603050405020304" pitchFamily="18" charset="0"/>
                          <a:cs typeface="Times New Roman" panose="02020603050405020304" pitchFamily="18" charset="0"/>
                        </a:rPr>
                        <a:t>Key findings</a:t>
                      </a:r>
                      <a:endParaRPr lang="en-IN" sz="16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000000"/>
                    </a:solidFill>
                  </a:tcPr>
                </a:tc>
                <a:tc>
                  <a:txBody>
                    <a:bodyPr/>
                    <a:lstStyle/>
                    <a:p>
                      <a:pPr algn="ctr">
                        <a:lnSpc>
                          <a:spcPct val="100000"/>
                        </a:lnSpc>
                        <a:buNone/>
                      </a:pPr>
                      <a:r>
                        <a:rPr lang="en-IN" sz="1600" b="1" strike="noStrike" spc="-1" dirty="0">
                          <a:solidFill>
                            <a:srgbClr val="FFFFFF"/>
                          </a:solidFill>
                          <a:latin typeface="Times New Roman" panose="02020603050405020304" pitchFamily="18" charset="0"/>
                          <a:cs typeface="Times New Roman" panose="02020603050405020304" pitchFamily="18" charset="0"/>
                        </a:rPr>
                        <a:t>Limitations and reviews</a:t>
                      </a:r>
                      <a:endParaRPr lang="en-IN" sz="16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000000"/>
                    </a:solidFill>
                  </a:tcPr>
                </a:tc>
                <a:extLst>
                  <a:ext uri="{0D108BD9-81ED-4DB2-BD59-A6C34878D82A}">
                    <a16:rowId xmlns:a16="http://schemas.microsoft.com/office/drawing/2014/main" val="10000"/>
                  </a:ext>
                </a:extLst>
              </a:tr>
              <a:tr h="23389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Machine Unlearning: SISA Training – 42nd IEEE Symposium on Security and Privacy, 2020.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Bourtoule et al., 2020</a:t>
                      </a:r>
                    </a:p>
                  </a:txBody>
                  <a:tcPr marL="90000" marR="90000">
                    <a:lnL w="10800">
                      <a:solidFill>
                        <a:srgbClr val="000000"/>
                      </a:solidFill>
                    </a:lnL>
                    <a:lnR w="10800">
                      <a:solidFill>
                        <a:srgbClr val="000000"/>
                      </a:solidFill>
                    </a:lnR>
                    <a:lnT w="10800">
                      <a:solidFill>
                        <a:srgbClr val="000000"/>
                      </a:solidFill>
                    </a:lnT>
                    <a:lnB w="10800" cap="flat" cmpd="sng" algn="ctr">
                      <a:solidFill>
                        <a:srgbClr val="000000"/>
                      </a:solidFill>
                      <a:prstDash val="solid"/>
                      <a:round/>
                      <a:headEnd type="none" w="med" len="med"/>
                      <a:tailEnd type="none" w="med" len="med"/>
                    </a:lnB>
                    <a:solidFill>
                      <a:srgbClr val="E6E6E6"/>
                    </a:solidFill>
                  </a:tcPr>
                </a:tc>
                <a:tc>
                  <a:txBody>
                    <a:bodyPr/>
                    <a:lstStyle/>
                    <a:p>
                      <a:pPr marL="216000" indent="-216000">
                        <a:lnSpc>
                          <a:spcPct val="100000"/>
                        </a:lnSpc>
                        <a:buClr>
                          <a:srgbClr val="000000"/>
                        </a:buClr>
                        <a:buSzPct val="45000"/>
                        <a:buFont typeface="Wingdings" charset="2"/>
                        <a:buChar char=""/>
                      </a:pPr>
                      <a:r>
                        <a:rPr lang="en-US" sz="1400" dirty="0"/>
                        <a:t>To design a practical framework (Sharded, Isolated, Sliced, Aggregated – SISA) that enables efficient machine unlearning while reducing computational overhead compared to retraining from scratch.</a:t>
                      </a:r>
                      <a:endParaRPr lang="en-IN" sz="14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cap="flat" cmpd="sng" algn="ctr">
                      <a:solidFill>
                        <a:srgbClr val="000000"/>
                      </a:solidFill>
                      <a:prstDash val="solid"/>
                      <a:round/>
                      <a:headEnd type="none" w="med" len="med"/>
                      <a:tailEnd type="none" w="med" len="med"/>
                    </a:lnB>
                    <a:solidFill>
                      <a:srgbClr val="E6E6E6"/>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400" b="0" dirty="0"/>
                        <a:t>Purchase,MNIST,CIFAR, SVHN, </a:t>
                      </a:r>
                      <a:r>
                        <a:rPr lang="en-US" sz="1400" b="0" dirty="0" err="1"/>
                        <a:t>ImageNet,Mini-Imagenet</a:t>
                      </a:r>
                      <a:r>
                        <a:rPr lang="en-US" sz="1400" b="0" dirty="0"/>
                        <a:t>; </a:t>
                      </a:r>
                    </a:p>
                  </a:txBody>
                  <a:tcPr marL="90000" marR="90000">
                    <a:lnL w="10800">
                      <a:solidFill>
                        <a:srgbClr val="000000"/>
                      </a:solidFill>
                    </a:lnL>
                    <a:lnR w="10800">
                      <a:solidFill>
                        <a:srgbClr val="000000"/>
                      </a:solidFill>
                    </a:lnR>
                    <a:lnT w="10800">
                      <a:solidFill>
                        <a:srgbClr val="000000"/>
                      </a:solidFill>
                    </a:lnT>
                    <a:lnB w="10800" cap="flat" cmpd="sng" algn="ctr">
                      <a:solidFill>
                        <a:srgbClr val="000000"/>
                      </a:solidFill>
                      <a:prstDash val="solid"/>
                      <a:round/>
                      <a:headEnd type="none" w="med" len="med"/>
                      <a:tailEnd type="none" w="med" len="med"/>
                    </a:lnB>
                    <a:solidFill>
                      <a:srgbClr val="E6E6E6"/>
                    </a:solidFill>
                  </a:tcPr>
                </a:tc>
                <a:tc>
                  <a:txBody>
                    <a:bodyPr/>
                    <a:lstStyle/>
                    <a:p>
                      <a:pPr marL="285750" indent="-285750">
                        <a:buFont typeface="Arial" panose="020B0604020202020204" pitchFamily="34" charset="0"/>
                        <a:buChar char="•"/>
                      </a:pPr>
                      <a:r>
                        <a:rPr lang="en-US" sz="1400" dirty="0"/>
                        <a:t> 4.63× speed-up on Purchase dataset, 2.45× on SVHN. </a:t>
                      </a:r>
                    </a:p>
                    <a:p>
                      <a:pPr marL="285750" indent="-285750">
                        <a:buFont typeface="Arial" panose="020B0604020202020204" pitchFamily="34" charset="0"/>
                        <a:buChar char="•"/>
                      </a:pPr>
                      <a:r>
                        <a:rPr lang="en-US" sz="1400" dirty="0"/>
                        <a:t>1.36× speed-up on ImageNet with transfer learning. </a:t>
                      </a:r>
                    </a:p>
                    <a:p>
                      <a:pPr marL="285750" indent="-285750">
                        <a:buFont typeface="Arial" panose="020B0604020202020204" pitchFamily="34" charset="0"/>
                        <a:buChar char="•"/>
                      </a:pPr>
                      <a:r>
                        <a:rPr lang="en-US" sz="1400" dirty="0"/>
                        <a:t>Accuracy degradation ≤2% for simple tasks; larger drop (~19% top-5 accuracy) for complex tasks. </a:t>
                      </a:r>
                    </a:p>
                    <a:p>
                      <a:pPr marL="285750" indent="-285750">
                        <a:buFont typeface="Arial" panose="020B0604020202020204" pitchFamily="34" charset="0"/>
                        <a:buChar char="•"/>
                      </a:pPr>
                      <a:r>
                        <a:rPr lang="en-US" sz="1400" dirty="0"/>
                        <a:t>Sharding + slicing effective for sequential and batch unlearning requests.</a:t>
                      </a:r>
                    </a:p>
                  </a:txBody>
                  <a:tcPr marL="90000" marR="90000">
                    <a:lnL w="10800">
                      <a:solidFill>
                        <a:srgbClr val="000000"/>
                      </a:solidFill>
                    </a:lnL>
                    <a:lnR w="10800">
                      <a:solidFill>
                        <a:srgbClr val="000000"/>
                      </a:solidFill>
                    </a:lnR>
                    <a:lnT w="10800">
                      <a:solidFill>
                        <a:srgbClr val="000000"/>
                      </a:solidFill>
                    </a:lnT>
                    <a:lnB w="10800" cap="flat" cmpd="sng" algn="ctr">
                      <a:solidFill>
                        <a:srgbClr val="000000"/>
                      </a:solidFill>
                      <a:prstDash val="solid"/>
                      <a:round/>
                      <a:headEnd type="none" w="med" len="med"/>
                      <a:tailEnd type="none" w="med" len="med"/>
                    </a:lnB>
                    <a:solidFill>
                      <a:srgbClr val="E6E6E6"/>
                    </a:solidFill>
                  </a:tcPr>
                </a:tc>
                <a:tc>
                  <a:txBody>
                    <a:bodyPr/>
                    <a:lstStyle/>
                    <a:p>
                      <a:pPr marL="285750" indent="-285750">
                        <a:buFont typeface="Arial" panose="020B0604020202020204" pitchFamily="34" charset="0"/>
                        <a:buChar char="•"/>
                      </a:pPr>
                      <a:r>
                        <a:rPr lang="en-US" sz="1400" dirty="0"/>
                        <a:t> </a:t>
                      </a:r>
                      <a:r>
                        <a:rPr lang="en-US" sz="1400" dirty="0">
                          <a:solidFill>
                            <a:srgbClr val="FF0000"/>
                          </a:solidFill>
                        </a:rPr>
                        <a:t>Accuracy trade-off </a:t>
                      </a:r>
                      <a:r>
                        <a:rPr lang="en-US" sz="1400" dirty="0"/>
                        <a:t>increases with complex tasks and higher shard counts. </a:t>
                      </a:r>
                    </a:p>
                    <a:p>
                      <a:pPr marL="285750" indent="-285750">
                        <a:buFont typeface="Arial" panose="020B0604020202020204" pitchFamily="34" charset="0"/>
                        <a:buChar char="•"/>
                      </a:pPr>
                      <a:r>
                        <a:rPr lang="en-US" sz="1400" dirty="0"/>
                        <a:t>Requires </a:t>
                      </a:r>
                      <a:r>
                        <a:rPr lang="en-US" sz="1400" dirty="0">
                          <a:solidFill>
                            <a:srgbClr val="FF0000"/>
                          </a:solidFill>
                        </a:rPr>
                        <a:t>additional storage </a:t>
                      </a:r>
                      <a:r>
                        <a:rPr lang="en-US" sz="1400" dirty="0"/>
                        <a:t>for slicing checkpoints. </a:t>
                      </a:r>
                    </a:p>
                    <a:p>
                      <a:pPr marL="285750" indent="-285750">
                        <a:buFont typeface="Arial" panose="020B0604020202020204" pitchFamily="34" charset="0"/>
                        <a:buChar char="•"/>
                      </a:pPr>
                      <a:r>
                        <a:rPr lang="en-US" sz="1400" dirty="0"/>
                        <a:t>Performance gains diminish if unlearning requests exceed ~3× number of shards. </a:t>
                      </a:r>
                    </a:p>
                    <a:p>
                      <a:pPr marL="285750" indent="-285750">
                        <a:buFont typeface="Arial" panose="020B0604020202020204" pitchFamily="34" charset="0"/>
                        <a:buChar char="•"/>
                      </a:pPr>
                      <a:r>
                        <a:rPr lang="en-US" sz="1400" dirty="0"/>
                        <a:t>Stronger guarantees than differential privacy, but still </a:t>
                      </a:r>
                      <a:r>
                        <a:rPr lang="en-US" sz="1400" dirty="0">
                          <a:solidFill>
                            <a:srgbClr val="FF0000"/>
                          </a:solidFill>
                        </a:rPr>
                        <a:t>challenging for very large foundational models</a:t>
                      </a:r>
                      <a:r>
                        <a:rPr lang="en-US" sz="1400" dirty="0"/>
                        <a:t>.</a:t>
                      </a:r>
                    </a:p>
                    <a:p>
                      <a:pPr marL="285750" indent="-285750">
                        <a:buFont typeface="Arial" panose="020B0604020202020204" pitchFamily="34" charset="0"/>
                        <a:buChar char="•"/>
                      </a:pPr>
                      <a:r>
                        <a:rPr lang="en-US" sz="1400" dirty="0">
                          <a:solidFill>
                            <a:srgbClr val="FF0000"/>
                          </a:solidFill>
                        </a:rPr>
                        <a:t>Not all data is useful, core-set selection, feature </a:t>
                      </a:r>
                    </a:p>
                  </a:txBody>
                  <a:tcPr marL="90000" marR="90000">
                    <a:lnL w="10800">
                      <a:solidFill>
                        <a:srgbClr val="000000"/>
                      </a:solidFill>
                    </a:lnL>
                    <a:lnR w="10800">
                      <a:solidFill>
                        <a:srgbClr val="000000"/>
                      </a:solidFill>
                    </a:lnR>
                    <a:lnT w="10800">
                      <a:solidFill>
                        <a:srgbClr val="000000"/>
                      </a:solidFill>
                    </a:lnT>
                    <a:lnB w="10800" cap="flat" cmpd="sng" algn="ctr">
                      <a:solidFill>
                        <a:srgbClr val="000000"/>
                      </a:solidFill>
                      <a:prstDash val="solid"/>
                      <a:round/>
                      <a:headEnd type="none" w="med" len="med"/>
                      <a:tailEnd type="none" w="med" len="med"/>
                    </a:lnB>
                    <a:solidFill>
                      <a:srgbClr val="E6E6E6"/>
                    </a:solidFill>
                  </a:tcPr>
                </a:tc>
                <a:extLst>
                  <a:ext uri="{0D108BD9-81ED-4DB2-BD59-A6C34878D82A}">
                    <a16:rowId xmlns:a16="http://schemas.microsoft.com/office/drawing/2014/main" val="10001"/>
                  </a:ext>
                </a:extLst>
              </a:tr>
              <a:tr h="2095200">
                <a:tc>
                  <a:txBody>
                    <a:bodyPr/>
                    <a:lstStyle/>
                    <a:p>
                      <a:r>
                        <a:rPr lang="en-IN" sz="1400" i="1" dirty="0"/>
                        <a:t>Membership Inference via Backdooring (MIB) – </a:t>
                      </a:r>
                      <a:r>
                        <a:rPr lang="en-IN" sz="1400" i="1" dirty="0" err="1"/>
                        <a:t>arXiv</a:t>
                      </a:r>
                      <a:r>
                        <a:rPr lang="en-IN" sz="1400" i="1" dirty="0"/>
                        <a:t> preprint, June 2022</a:t>
                      </a:r>
                    </a:p>
                    <a:p>
                      <a:r>
                        <a:rPr lang="en-IN" sz="1400" i="1" dirty="0"/>
                        <a:t>Hu et al., 2022</a:t>
                      </a: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FFFFFF"/>
                    </a:solidFill>
                  </a:tcPr>
                </a:tc>
                <a:tc>
                  <a:txBody>
                    <a:bodyPr/>
                    <a:lstStyle/>
                    <a:p>
                      <a:pPr marL="216000" indent="-216000">
                        <a:lnSpc>
                          <a:spcPct val="100000"/>
                        </a:lnSpc>
                        <a:buClr>
                          <a:srgbClr val="000000"/>
                        </a:buClr>
                        <a:buSzPct val="45000"/>
                        <a:buFont typeface="Wingdings" charset="2"/>
                        <a:buChar char=""/>
                      </a:pPr>
                      <a:r>
                        <a:rPr lang="en-US" sz="1400" dirty="0"/>
                        <a:t>To enable data owners to detect whether their data was used to train a model without consent, using backdoor triggers and hypothesis testing as a membership inference mechanism.</a:t>
                      </a:r>
                      <a:endParaRPr lang="en-IN" sz="14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FFFFFF"/>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400" b="0" dirty="0"/>
                        <a:t>CIFAR-10, Location-30, Purchase-100. </a:t>
                      </a:r>
                      <a:endParaRPr lang="en-IN" sz="1400" b="0"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FFFFFF"/>
                    </a:solidFill>
                  </a:tcPr>
                </a:tc>
                <a:tc>
                  <a:txBody>
                    <a:bodyPr/>
                    <a:lstStyle/>
                    <a:p>
                      <a:pPr marL="285750" indent="-285750">
                        <a:buFont typeface="Arial" panose="020B0604020202020204" pitchFamily="34" charset="0"/>
                        <a:buChar char="•"/>
                      </a:pPr>
                      <a:r>
                        <a:rPr lang="en-US" sz="1400" dirty="0"/>
                        <a:t>Effective membership inference with only </a:t>
                      </a:r>
                      <a:r>
                        <a:rPr lang="en-US" sz="1400" b="1" dirty="0"/>
                        <a:t>0.1% marked samples</a:t>
                      </a:r>
                      <a:r>
                        <a:rPr lang="en-US" sz="1400" dirty="0"/>
                        <a:t>. </a:t>
                      </a:r>
                    </a:p>
                    <a:p>
                      <a:pPr marL="285750" indent="-285750">
                        <a:buFont typeface="Arial" panose="020B0604020202020204" pitchFamily="34" charset="0"/>
                        <a:buChar char="•"/>
                      </a:pPr>
                      <a:r>
                        <a:rPr lang="en-US" sz="1400" dirty="0"/>
                        <a:t>Achieved high ASR (Attack Success Rate): 39.6% (CIFAR-10), 68.9% (Location-30), 87.2% (Purchase-100). </a:t>
                      </a:r>
                    </a:p>
                    <a:p>
                      <a:pPr marL="285750" indent="-285750">
                        <a:buFont typeface="Arial" panose="020B0604020202020204" pitchFamily="34" charset="0"/>
                        <a:buChar char="•"/>
                      </a:pPr>
                      <a:r>
                        <a:rPr lang="en-US" sz="1400" dirty="0"/>
                        <a:t>Requires only black-box access and ~30 queries for statistical guarantees.</a:t>
                      </a: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FFFFFF"/>
                    </a:solidFill>
                  </a:tcPr>
                </a:tc>
                <a:tc>
                  <a:txBody>
                    <a:bodyPr/>
                    <a:lstStyle/>
                    <a:p>
                      <a:pPr marL="285750" indent="-285750">
                        <a:buFont typeface="Arial" panose="020B0604020202020204" pitchFamily="34" charset="0"/>
                        <a:buChar char="•"/>
                      </a:pPr>
                      <a:r>
                        <a:rPr lang="en-US" sz="1400" dirty="0"/>
                        <a:t>Performance depends on trigger design (pattern, size, location). </a:t>
                      </a:r>
                    </a:p>
                    <a:p>
                      <a:pPr marL="285750" indent="-285750">
                        <a:buFont typeface="Arial" panose="020B0604020202020204" pitchFamily="34" charset="0"/>
                        <a:buChar char="•"/>
                      </a:pPr>
                      <a:r>
                        <a:rPr lang="en-US" sz="1400" dirty="0"/>
                        <a:t>Small triggers may fail to activate backdoors. </a:t>
                      </a:r>
                    </a:p>
                    <a:p>
                      <a:pPr marL="285750" indent="-285750">
                        <a:buFont typeface="Arial" panose="020B0604020202020204" pitchFamily="34" charset="0"/>
                        <a:buChar char="•"/>
                      </a:pPr>
                      <a:r>
                        <a:rPr lang="en-US" sz="1400" dirty="0"/>
                        <a:t>Assumes data owners can proactively mark data before release.</a:t>
                      </a:r>
                    </a:p>
                    <a:p>
                      <a:pPr marL="285750" indent="-285750">
                        <a:buFont typeface="Arial" panose="020B0604020202020204" pitchFamily="34" charset="0"/>
                        <a:buChar char="•"/>
                      </a:pPr>
                      <a:r>
                        <a:rPr lang="en-US" sz="1400" dirty="0">
                          <a:solidFill>
                            <a:schemeClr val="tx1"/>
                          </a:solidFill>
                        </a:rPr>
                        <a:t>Focused on classification tasks</a:t>
                      </a:r>
                      <a:r>
                        <a:rPr lang="en-US" sz="1400" dirty="0"/>
                        <a:t>; </a:t>
                      </a:r>
                      <a:r>
                        <a:rPr lang="en-US" sz="1400" dirty="0">
                          <a:solidFill>
                            <a:srgbClr val="FF0000"/>
                          </a:solidFill>
                        </a:rPr>
                        <a:t>extension to other ML domains remains open</a:t>
                      </a: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FFFFFF"/>
                    </a:solidFill>
                  </a:tcPr>
                </a:tc>
                <a:extLst>
                  <a:ext uri="{0D108BD9-81ED-4DB2-BD59-A6C34878D82A}">
                    <a16:rowId xmlns:a16="http://schemas.microsoft.com/office/drawing/2014/main" val="10002"/>
                  </a:ext>
                </a:extLst>
              </a:tr>
            </a:tbl>
          </a:graphicData>
        </a:graphic>
      </p:graphicFrame>
      <p:sp>
        <p:nvSpPr>
          <p:cNvPr id="6" name="Slide Number Placeholder 5">
            <a:extLst>
              <a:ext uri="{FF2B5EF4-FFF2-40B4-BE49-F238E27FC236}">
                <a16:creationId xmlns:a16="http://schemas.microsoft.com/office/drawing/2014/main" id="{D51A1968-18F7-6FCA-BBD2-C746C2C556FB}"/>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8</a:t>
            </a:fld>
            <a:endParaRPr lang="en-IN" sz="1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03371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A1C42-6DC9-149D-94CB-EBFF1549EE69}"/>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9E5C07BA-05F5-A6F0-6127-A210498D8ADC}"/>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B14A906A-8595-383D-E31F-8ADB1CB009BD}"/>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3752F27A-E3C9-A833-517C-F948062EE0C6}"/>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14" name="TextBox 13">
            <a:extLst>
              <a:ext uri="{FF2B5EF4-FFF2-40B4-BE49-F238E27FC236}">
                <a16:creationId xmlns:a16="http://schemas.microsoft.com/office/drawing/2014/main" id="{5EE241DF-20F9-8208-FD4D-DE2F42D1ACBB}"/>
              </a:ext>
            </a:extLst>
          </p:cNvPr>
          <p:cNvSpPr txBox="1"/>
          <p:nvPr/>
        </p:nvSpPr>
        <p:spPr>
          <a:xfrm>
            <a:off x="6096000" y="190137"/>
            <a:ext cx="5622387"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Literature Review-II</a:t>
            </a:r>
          </a:p>
        </p:txBody>
      </p:sp>
      <p:graphicFrame>
        <p:nvGraphicFramePr>
          <p:cNvPr id="3" name="Table 2">
            <a:extLst>
              <a:ext uri="{FF2B5EF4-FFF2-40B4-BE49-F238E27FC236}">
                <a16:creationId xmlns:a16="http://schemas.microsoft.com/office/drawing/2014/main" id="{D566ABC9-AA0A-2BAE-D8E7-7F3F959FC61E}"/>
              </a:ext>
            </a:extLst>
          </p:cNvPr>
          <p:cNvGraphicFramePr/>
          <p:nvPr>
            <p:extLst>
              <p:ext uri="{D42A27DB-BD31-4B8C-83A1-F6EECF244321}">
                <p14:modId xmlns:p14="http://schemas.microsoft.com/office/powerpoint/2010/main" val="1852790255"/>
              </p:ext>
            </p:extLst>
          </p:nvPr>
        </p:nvGraphicFramePr>
        <p:xfrm>
          <a:off x="119340" y="983807"/>
          <a:ext cx="11948400" cy="5090160"/>
        </p:xfrm>
        <a:graphic>
          <a:graphicData uri="http://schemas.openxmlformats.org/drawingml/2006/table">
            <a:tbl>
              <a:tblPr/>
              <a:tblGrid>
                <a:gridCol w="1887739">
                  <a:extLst>
                    <a:ext uri="{9D8B030D-6E8A-4147-A177-3AD203B41FA5}">
                      <a16:colId xmlns:a16="http://schemas.microsoft.com/office/drawing/2014/main" val="20000"/>
                    </a:ext>
                  </a:extLst>
                </a:gridCol>
                <a:gridCol w="2150853">
                  <a:extLst>
                    <a:ext uri="{9D8B030D-6E8A-4147-A177-3AD203B41FA5}">
                      <a16:colId xmlns:a16="http://schemas.microsoft.com/office/drawing/2014/main" val="20001"/>
                    </a:ext>
                  </a:extLst>
                </a:gridCol>
                <a:gridCol w="1535502">
                  <a:extLst>
                    <a:ext uri="{9D8B030D-6E8A-4147-A177-3AD203B41FA5}">
                      <a16:colId xmlns:a16="http://schemas.microsoft.com/office/drawing/2014/main" val="20002"/>
                    </a:ext>
                  </a:extLst>
                </a:gridCol>
                <a:gridCol w="2721026">
                  <a:extLst>
                    <a:ext uri="{9D8B030D-6E8A-4147-A177-3AD203B41FA5}">
                      <a16:colId xmlns:a16="http://schemas.microsoft.com/office/drawing/2014/main" val="20003"/>
                    </a:ext>
                  </a:extLst>
                </a:gridCol>
                <a:gridCol w="3653280">
                  <a:extLst>
                    <a:ext uri="{9D8B030D-6E8A-4147-A177-3AD203B41FA5}">
                      <a16:colId xmlns:a16="http://schemas.microsoft.com/office/drawing/2014/main" val="20004"/>
                    </a:ext>
                  </a:extLst>
                </a:gridCol>
              </a:tblGrid>
              <a:tr h="322560">
                <a:tc>
                  <a:txBody>
                    <a:bodyPr/>
                    <a:lstStyle/>
                    <a:p>
                      <a:pPr algn="ctr">
                        <a:lnSpc>
                          <a:spcPct val="100000"/>
                        </a:lnSpc>
                        <a:buNone/>
                      </a:pPr>
                      <a:r>
                        <a:rPr lang="en-IN" sz="1600" b="1" strike="noStrike" spc="-1" dirty="0">
                          <a:solidFill>
                            <a:srgbClr val="FFFFFF"/>
                          </a:solidFill>
                          <a:latin typeface="Times New Roman" panose="02020603050405020304" pitchFamily="18" charset="0"/>
                          <a:cs typeface="Times New Roman" panose="02020603050405020304" pitchFamily="18" charset="0"/>
                        </a:rPr>
                        <a:t>Publication details</a:t>
                      </a:r>
                      <a:endParaRPr lang="en-IN" sz="16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cap="flat" cmpd="sng" algn="ctr">
                      <a:solidFill>
                        <a:srgbClr val="000000"/>
                      </a:solidFill>
                      <a:prstDash val="solid"/>
                      <a:round/>
                      <a:headEnd type="none" w="med" len="med"/>
                      <a:tailEnd type="none" w="med" len="med"/>
                    </a:lnB>
                    <a:solidFill>
                      <a:srgbClr val="000000"/>
                    </a:solidFill>
                  </a:tcPr>
                </a:tc>
                <a:tc>
                  <a:txBody>
                    <a:bodyPr/>
                    <a:lstStyle/>
                    <a:p>
                      <a:pPr algn="ctr">
                        <a:lnSpc>
                          <a:spcPct val="100000"/>
                        </a:lnSpc>
                        <a:buNone/>
                      </a:pPr>
                      <a:r>
                        <a:rPr lang="en-IN" sz="1600" b="1" strike="noStrike" spc="-1" dirty="0">
                          <a:solidFill>
                            <a:srgbClr val="FFFFFF"/>
                          </a:solidFill>
                          <a:latin typeface="Times New Roman" panose="02020603050405020304" pitchFamily="18" charset="0"/>
                          <a:cs typeface="Times New Roman" panose="02020603050405020304" pitchFamily="18" charset="0"/>
                        </a:rPr>
                        <a:t>Purpose</a:t>
                      </a:r>
                      <a:endParaRPr lang="en-IN" sz="16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cap="flat" cmpd="sng" algn="ctr">
                      <a:solidFill>
                        <a:srgbClr val="000000"/>
                      </a:solidFill>
                      <a:prstDash val="solid"/>
                      <a:round/>
                      <a:headEnd type="none" w="med" len="med"/>
                      <a:tailEnd type="none" w="med" len="med"/>
                    </a:lnB>
                    <a:solidFill>
                      <a:srgbClr val="000000"/>
                    </a:solidFill>
                  </a:tcPr>
                </a:tc>
                <a:tc>
                  <a:txBody>
                    <a:bodyPr/>
                    <a:lstStyle/>
                    <a:p>
                      <a:pPr algn="ctr">
                        <a:lnSpc>
                          <a:spcPct val="100000"/>
                        </a:lnSpc>
                        <a:buNone/>
                      </a:pPr>
                      <a:r>
                        <a:rPr lang="en-IN" sz="1600" b="1" strike="noStrike" spc="-1">
                          <a:solidFill>
                            <a:srgbClr val="FFFFFF"/>
                          </a:solidFill>
                          <a:latin typeface="Times New Roman" panose="02020603050405020304" pitchFamily="18" charset="0"/>
                          <a:cs typeface="Times New Roman" panose="02020603050405020304" pitchFamily="18" charset="0"/>
                        </a:rPr>
                        <a:t>Data </a:t>
                      </a:r>
                      <a:endParaRPr lang="en-IN" sz="1600" b="0" strike="noStrike" spc="-1">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cap="flat" cmpd="sng" algn="ctr">
                      <a:solidFill>
                        <a:srgbClr val="000000"/>
                      </a:solidFill>
                      <a:prstDash val="solid"/>
                      <a:round/>
                      <a:headEnd type="none" w="med" len="med"/>
                      <a:tailEnd type="none" w="med" len="med"/>
                    </a:lnB>
                    <a:solidFill>
                      <a:srgbClr val="000000"/>
                    </a:solidFill>
                  </a:tcPr>
                </a:tc>
                <a:tc>
                  <a:txBody>
                    <a:bodyPr/>
                    <a:lstStyle/>
                    <a:p>
                      <a:pPr algn="ctr">
                        <a:lnSpc>
                          <a:spcPct val="100000"/>
                        </a:lnSpc>
                        <a:buNone/>
                      </a:pPr>
                      <a:r>
                        <a:rPr lang="en-IN" sz="1600" b="1" strike="noStrike" spc="-1">
                          <a:solidFill>
                            <a:srgbClr val="FFFFFF"/>
                          </a:solidFill>
                          <a:latin typeface="Times New Roman" panose="02020603050405020304" pitchFamily="18" charset="0"/>
                          <a:cs typeface="Times New Roman" panose="02020603050405020304" pitchFamily="18" charset="0"/>
                        </a:rPr>
                        <a:t>Key findings</a:t>
                      </a:r>
                      <a:endParaRPr lang="en-IN" sz="1600" b="0" strike="noStrike" spc="-1">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cap="flat" cmpd="sng" algn="ctr">
                      <a:solidFill>
                        <a:srgbClr val="000000"/>
                      </a:solidFill>
                      <a:prstDash val="solid"/>
                      <a:round/>
                      <a:headEnd type="none" w="med" len="med"/>
                      <a:tailEnd type="none" w="med" len="med"/>
                    </a:lnB>
                    <a:solidFill>
                      <a:srgbClr val="000000"/>
                    </a:solidFill>
                  </a:tcPr>
                </a:tc>
                <a:tc>
                  <a:txBody>
                    <a:bodyPr/>
                    <a:lstStyle/>
                    <a:p>
                      <a:pPr algn="ctr">
                        <a:lnSpc>
                          <a:spcPct val="100000"/>
                        </a:lnSpc>
                        <a:buNone/>
                      </a:pPr>
                      <a:r>
                        <a:rPr lang="en-IN" sz="1600" b="1" strike="noStrike" spc="-1">
                          <a:solidFill>
                            <a:srgbClr val="FFFFFF"/>
                          </a:solidFill>
                          <a:latin typeface="Times New Roman" panose="02020603050405020304" pitchFamily="18" charset="0"/>
                          <a:cs typeface="Times New Roman" panose="02020603050405020304" pitchFamily="18" charset="0"/>
                        </a:rPr>
                        <a:t>Limitations and reviews</a:t>
                      </a:r>
                      <a:endParaRPr lang="en-IN" sz="1600" b="0" strike="noStrike" spc="-1">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1932508">
                <a:tc>
                  <a:txBody>
                    <a:bodyPr/>
                    <a:lstStyle/>
                    <a:p>
                      <a:r>
                        <a:rPr lang="en-IN" sz="1200" i="1" dirty="0"/>
                        <a:t>Game-Theoretic Machine Unlearning: Mitigating Extra Privacy Leakage - </a:t>
                      </a:r>
                      <a:r>
                        <a:rPr lang="en-IN" sz="1200" i="1" dirty="0" err="1"/>
                        <a:t>arXiv</a:t>
                      </a:r>
                      <a:r>
                        <a:rPr lang="en-IN" sz="1200" i="1" dirty="0"/>
                        <a:t> preprint, Nov 2024. </a:t>
                      </a:r>
                    </a:p>
                    <a:p>
                      <a:r>
                        <a:rPr lang="en-IN" sz="1200" i="1" dirty="0"/>
                        <a:t>Liu et al.</a:t>
                      </a: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E6E6E6"/>
                    </a:solidFill>
                  </a:tcPr>
                </a:tc>
                <a:tc>
                  <a:txBody>
                    <a:bodyPr/>
                    <a:lstStyle/>
                    <a:p>
                      <a:pPr marL="216000" indent="-216000">
                        <a:lnSpc>
                          <a:spcPct val="100000"/>
                        </a:lnSpc>
                        <a:buClr>
                          <a:srgbClr val="000000"/>
                        </a:buClr>
                        <a:buSzPct val="45000"/>
                        <a:buFont typeface="Wingdings" charset="2"/>
                        <a:buChar char=""/>
                      </a:pPr>
                      <a:r>
                        <a:rPr lang="en-US" sz="1200" dirty="0"/>
                        <a:t>To design a game-theoretic unlearning algorithm that balances utility (model performance) and privacy (mitigating leakage) by modeling the interaction between unlearning and privacy modules as a Stackelberg game.</a:t>
                      </a:r>
                      <a:endParaRPr lang="en-IN" sz="12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E6E6E6"/>
                    </a:solidFill>
                  </a:tcPr>
                </a:tc>
                <a:tc>
                  <a:txBody>
                    <a:bodyPr/>
                    <a:lstStyle/>
                    <a:p>
                      <a:r>
                        <a:rPr lang="en-IN" sz="1200" b="0" i="0" u="none" strike="noStrike" kern="1200" baseline="0" dirty="0">
                          <a:solidFill>
                            <a:schemeClr val="tx1"/>
                          </a:solidFill>
                          <a:latin typeface="+mn-lt"/>
                          <a:ea typeface="+mn-ea"/>
                          <a:cs typeface="+mn-cs"/>
                        </a:rPr>
                        <a:t>Adult (MLP),</a:t>
                      </a:r>
                    </a:p>
                    <a:p>
                      <a:r>
                        <a:rPr lang="en-IN" sz="1200" b="0" i="0" u="none" strike="noStrike" kern="1200" baseline="0" dirty="0">
                          <a:solidFill>
                            <a:schemeClr val="tx1"/>
                          </a:solidFill>
                          <a:latin typeface="+mn-lt"/>
                          <a:ea typeface="+mn-ea"/>
                          <a:cs typeface="+mn-cs"/>
                        </a:rPr>
                        <a:t>MNIST (Resnet18),</a:t>
                      </a:r>
                    </a:p>
                    <a:p>
                      <a:r>
                        <a:rPr lang="en-IN" sz="1200" b="0" i="0" u="none" strike="noStrike" kern="1200" baseline="0" dirty="0">
                          <a:solidFill>
                            <a:schemeClr val="tx1"/>
                          </a:solidFill>
                          <a:latin typeface="+mn-lt"/>
                          <a:ea typeface="+mn-ea"/>
                          <a:cs typeface="+mn-cs"/>
                        </a:rPr>
                        <a:t>CIFAR10 (</a:t>
                      </a:r>
                      <a:r>
                        <a:rPr lang="en-IN" sz="1200" b="0" i="0" u="none" strike="noStrike" kern="1200" baseline="0" dirty="0" err="1">
                          <a:solidFill>
                            <a:schemeClr val="tx1"/>
                          </a:solidFill>
                          <a:latin typeface="+mn-lt"/>
                          <a:ea typeface="+mn-ea"/>
                          <a:cs typeface="+mn-cs"/>
                        </a:rPr>
                        <a:t>Densenet</a:t>
                      </a:r>
                      <a:r>
                        <a:rPr lang="en-IN" sz="1200" b="0" i="0" u="none" strike="noStrike" kern="1200" baseline="0" dirty="0">
                          <a:solidFill>
                            <a:schemeClr val="tx1"/>
                          </a:solidFill>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u="none" strike="noStrike" kern="1200" baseline="0" dirty="0">
                          <a:solidFill>
                            <a:schemeClr val="tx1"/>
                          </a:solidFill>
                          <a:latin typeface="+mn-lt"/>
                          <a:ea typeface="+mn-ea"/>
                          <a:cs typeface="+mn-cs"/>
                        </a:rPr>
                        <a:t>SVHN (</a:t>
                      </a:r>
                      <a:r>
                        <a:rPr lang="en-IN" sz="1200" b="0" i="0" u="none" strike="noStrike" kern="1200" baseline="0" dirty="0" err="1">
                          <a:solidFill>
                            <a:schemeClr val="tx1"/>
                          </a:solidFill>
                          <a:latin typeface="+mn-lt"/>
                          <a:ea typeface="+mn-ea"/>
                          <a:cs typeface="+mn-cs"/>
                        </a:rPr>
                        <a:t>Densenet</a:t>
                      </a:r>
                      <a:r>
                        <a:rPr lang="en-IN" sz="1200" b="0" i="0" u="none" strike="noStrike" kern="1200" baseline="0" dirty="0">
                          <a:solidFill>
                            <a:schemeClr val="tx1"/>
                          </a:solidFill>
                          <a:latin typeface="+mn-lt"/>
                          <a:ea typeface="+mn-ea"/>
                          <a:cs typeface="+mn-cs"/>
                        </a:rPr>
                        <a:t>)</a:t>
                      </a:r>
                    </a:p>
                    <a:p>
                      <a:endParaRPr lang="en-IN" sz="12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E6E6E6"/>
                    </a:solidFill>
                  </a:tcPr>
                </a:tc>
                <a:tc>
                  <a:txBody>
                    <a:bodyPr/>
                    <a:lstStyle/>
                    <a:p>
                      <a:pPr marL="285750" indent="-285750">
                        <a:buFont typeface="Arial" panose="020B0604020202020204" pitchFamily="34" charset="0"/>
                        <a:buChar char="•"/>
                      </a:pPr>
                      <a:r>
                        <a:rPr lang="en-US" sz="1200" dirty="0"/>
                        <a:t>Introduced </a:t>
                      </a:r>
                      <a:r>
                        <a:rPr lang="en-US" sz="1200" b="1" dirty="0"/>
                        <a:t>privacy attack advantage</a:t>
                      </a:r>
                      <a:r>
                        <a:rPr lang="en-US" sz="1200" dirty="0"/>
                        <a:t> metric to quantify leakage.</a:t>
                      </a:r>
                    </a:p>
                    <a:p>
                      <a:pPr marL="285750" indent="-285750">
                        <a:buFont typeface="Arial" panose="020B0604020202020204" pitchFamily="34" charset="0"/>
                        <a:buChar char="•"/>
                      </a:pPr>
                      <a:r>
                        <a:rPr lang="en-US" sz="1200" dirty="0"/>
                        <a:t>Achieved unlearned models statistically similar to retrained ones. </a:t>
                      </a:r>
                    </a:p>
                    <a:p>
                      <a:pPr marL="285750" indent="-285750">
                        <a:buFont typeface="Arial" panose="020B0604020202020204" pitchFamily="34" charset="0"/>
                        <a:buChar char="•"/>
                      </a:pPr>
                      <a:r>
                        <a:rPr lang="en-US" sz="1200" dirty="0"/>
                        <a:t>Reduced membership inference attack success by aligning outputs of original vs. unlearned models. </a:t>
                      </a:r>
                    </a:p>
                    <a:p>
                      <a:pPr marL="285750" indent="-285750">
                        <a:buFont typeface="Arial" panose="020B0604020202020204" pitchFamily="34" charset="0"/>
                        <a:buChar char="•"/>
                      </a:pPr>
                      <a:r>
                        <a:rPr lang="en-US" sz="1200" dirty="0"/>
                        <a:t>Demonstrated equilibrium strategies between unlearning and privacy modules.</a:t>
                      </a: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E6E6E6"/>
                    </a:solidFill>
                  </a:tcPr>
                </a:tc>
                <a:tc>
                  <a:txBody>
                    <a:bodyPr/>
                    <a:lstStyle/>
                    <a:p>
                      <a:pPr marL="285750" indent="-285750">
                        <a:buFont typeface="Arial" panose="020B0604020202020204" pitchFamily="34" charset="0"/>
                        <a:buChar char="•"/>
                      </a:pPr>
                      <a:r>
                        <a:rPr lang="en-US" sz="1200" dirty="0">
                          <a:solidFill>
                            <a:srgbClr val="FF0000"/>
                          </a:solidFill>
                        </a:rPr>
                        <a:t>Static framework</a:t>
                      </a:r>
                      <a:r>
                        <a:rPr lang="en-US" sz="1200" dirty="0"/>
                        <a:t>, Need to explore dynamic game formulations where attacker and defender strategies evolve over time</a:t>
                      </a:r>
                    </a:p>
                    <a:p>
                      <a:pPr marL="285750" indent="-285750">
                        <a:buFont typeface="Arial" panose="020B0604020202020204" pitchFamily="34" charset="0"/>
                        <a:buChar char="•"/>
                      </a:pPr>
                      <a:r>
                        <a:rPr lang="en-US" sz="1200" dirty="0"/>
                        <a:t>Focused on classification tasks; </a:t>
                      </a:r>
                      <a:r>
                        <a:rPr lang="en-US" sz="1200" dirty="0">
                          <a:solidFill>
                            <a:srgbClr val="FF0000"/>
                          </a:solidFill>
                        </a:rPr>
                        <a:t>extension to LLMs and federated settings remains open</a:t>
                      </a:r>
                      <a:r>
                        <a:rPr lang="en-US" sz="1200" dirty="0"/>
                        <a:t>. </a:t>
                      </a:r>
                    </a:p>
                    <a:p>
                      <a:pPr marL="285750" indent="-285750">
                        <a:buFont typeface="Arial" panose="020B0604020202020204" pitchFamily="34" charset="0"/>
                        <a:buChar char="•"/>
                      </a:pPr>
                      <a:r>
                        <a:rPr lang="en-US" sz="1200" dirty="0"/>
                        <a:t>Requires careful tuning of loss functions to avoid over-unlearning.</a:t>
                      </a:r>
                    </a:p>
                    <a:p>
                      <a:pPr marL="285750" indent="-285750">
                        <a:buFont typeface="Arial" panose="020B0604020202020204" pitchFamily="34" charset="0"/>
                        <a:buChar char="•"/>
                      </a:pPr>
                      <a:r>
                        <a:rPr lang="en-US" sz="1200" dirty="0"/>
                        <a:t>Broader Attack Models to be covered</a:t>
                      </a: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E6E6E6"/>
                    </a:solidFill>
                  </a:tcPr>
                </a:tc>
                <a:extLst>
                  <a:ext uri="{0D108BD9-81ED-4DB2-BD59-A6C34878D82A}">
                    <a16:rowId xmlns:a16="http://schemas.microsoft.com/office/drawing/2014/main" val="10001"/>
                  </a:ext>
                </a:extLst>
              </a:tr>
              <a:tr h="2095200">
                <a:tc>
                  <a:txBody>
                    <a:bodyPr/>
                    <a:lstStyle/>
                    <a:p>
                      <a:r>
                        <a:rPr lang="en-IN" sz="1200" i="1" dirty="0" err="1"/>
                        <a:t>MLPro</a:t>
                      </a:r>
                      <a:r>
                        <a:rPr lang="en-IN" sz="1200" i="1" dirty="0"/>
                        <a:t>-GT: Game Theory and Dynamic Games </a:t>
                      </a:r>
                      <a:r>
                        <a:rPr lang="en-IN" sz="1200" i="1" dirty="0" err="1"/>
                        <a:t>Modeling</a:t>
                      </a:r>
                      <a:r>
                        <a:rPr lang="en-IN" sz="1200" i="1" dirty="0"/>
                        <a:t> in Python – </a:t>
                      </a:r>
                      <a:r>
                        <a:rPr lang="en-IN" sz="1200" i="1" dirty="0" err="1"/>
                        <a:t>SoftwareX</a:t>
                      </a:r>
                      <a:r>
                        <a:rPr lang="en-IN" sz="1200" i="1" dirty="0"/>
                        <a:t>, Vol. 28, 2024. </a:t>
                      </a:r>
                      <a:r>
                        <a:rPr lang="en-IN" sz="1200" i="1" dirty="0" err="1"/>
                        <a:t>Yuwono</a:t>
                      </a:r>
                      <a:r>
                        <a:rPr lang="en-IN" sz="1200" i="1" dirty="0"/>
                        <a:t> et al.</a:t>
                      </a:r>
                    </a:p>
                  </a:txBody>
                  <a:tcPr marL="90000" marR="90000">
                    <a:lnL w="10800">
                      <a:solidFill>
                        <a:srgbClr val="000000"/>
                      </a:solidFill>
                    </a:lnL>
                    <a:lnR w="10800">
                      <a:solidFill>
                        <a:srgbClr val="000000"/>
                      </a:solidFill>
                    </a:lnR>
                    <a:lnT w="10800" cap="flat" cmpd="sng" algn="ctr">
                      <a:solidFill>
                        <a:srgbClr val="000000"/>
                      </a:solidFill>
                      <a:prstDash val="solid"/>
                      <a:round/>
                      <a:headEnd type="none" w="med" len="med"/>
                      <a:tailEnd type="none" w="med" len="med"/>
                    </a:lnT>
                    <a:lnB w="10800">
                      <a:solidFill>
                        <a:srgbClr val="000000"/>
                      </a:solidFill>
                    </a:lnB>
                    <a:solidFill>
                      <a:srgbClr val="FFFFFF"/>
                    </a:solidFill>
                  </a:tcPr>
                </a:tc>
                <a:tc>
                  <a:txBody>
                    <a:bodyPr/>
                    <a:lstStyle/>
                    <a:p>
                      <a:pPr marL="216000" indent="-216000">
                        <a:lnSpc>
                          <a:spcPct val="100000"/>
                        </a:lnSpc>
                        <a:buClr>
                          <a:srgbClr val="000000"/>
                        </a:buClr>
                        <a:buSzPct val="45000"/>
                        <a:buFont typeface="Wingdings" charset="2"/>
                        <a:buChar char=""/>
                      </a:pPr>
                      <a:r>
                        <a:rPr lang="en-US" sz="1200" dirty="0"/>
                        <a:t>To provide a standardized, modular, and open-source Python framework for modeling both native and dynamic game theory, lowering entry barriers for students and enabling reproducible research.</a:t>
                      </a:r>
                      <a:endParaRPr lang="en-IN" sz="12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cap="flat" cmpd="sng" algn="ctr">
                      <a:solidFill>
                        <a:srgbClr val="000000"/>
                      </a:solidFill>
                      <a:prstDash val="solid"/>
                      <a:round/>
                      <a:headEnd type="none" w="med" len="med"/>
                      <a:tailEnd type="none" w="med" len="med"/>
                    </a:lnT>
                    <a:lnB w="10800">
                      <a:solidFill>
                        <a:srgbClr val="000000"/>
                      </a:solidFill>
                    </a:lnB>
                    <a:solidFill>
                      <a:srgbClr val="FFFFFF"/>
                    </a:solidFill>
                  </a:tcPr>
                </a:tc>
                <a:tc>
                  <a:txBody>
                    <a:bodyPr/>
                    <a:lstStyle/>
                    <a:p>
                      <a:pPr algn="just">
                        <a:lnSpc>
                          <a:spcPct val="100000"/>
                        </a:lnSpc>
                        <a:buNone/>
                      </a:pPr>
                      <a:r>
                        <a:rPr lang="en-IN" sz="1200" dirty="0" err="1"/>
                        <a:t>MLPro</a:t>
                      </a:r>
                      <a:r>
                        <a:rPr lang="en-IN" sz="1200" dirty="0"/>
                        <a:t> v1.9.0; Python-based; integrates with libraries like NumPy, Torch, SciPy, Matplotlib. Available via GitHub and </a:t>
                      </a:r>
                      <a:r>
                        <a:rPr lang="en-IN" sz="1200" dirty="0" err="1"/>
                        <a:t>PyPI</a:t>
                      </a:r>
                      <a:r>
                        <a:rPr lang="en-IN" sz="1200" dirty="0"/>
                        <a:t> under Apache-2.0 license.</a:t>
                      </a:r>
                      <a:endParaRPr lang="en-IN" sz="12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cap="flat" cmpd="sng" algn="ctr">
                      <a:solidFill>
                        <a:srgbClr val="000000"/>
                      </a:solidFill>
                      <a:prstDash val="solid"/>
                      <a:round/>
                      <a:headEnd type="none" w="med" len="med"/>
                      <a:tailEnd type="none" w="med" len="med"/>
                    </a:lnT>
                    <a:lnB w="10800">
                      <a:solidFill>
                        <a:srgbClr val="000000"/>
                      </a:solidFill>
                    </a:lnB>
                    <a:solidFill>
                      <a:srgbClr val="FFFFFF"/>
                    </a:solidFill>
                  </a:tcPr>
                </a:tc>
                <a:tc>
                  <a:txBody>
                    <a:bodyPr/>
                    <a:lstStyle/>
                    <a:p>
                      <a:pPr marL="285750" indent="-285750">
                        <a:buFont typeface="Arial" panose="020B0604020202020204" pitchFamily="34" charset="0"/>
                        <a:buChar char="•"/>
                      </a:pPr>
                      <a:r>
                        <a:rPr lang="en-IN" sz="1200" dirty="0"/>
                        <a:t>-First framework to support </a:t>
                      </a:r>
                      <a:r>
                        <a:rPr lang="en-IN" sz="1200" b="1" dirty="0"/>
                        <a:t>dynamic games</a:t>
                      </a:r>
                      <a:r>
                        <a:rPr lang="en-IN" sz="1200" dirty="0"/>
                        <a:t> (e.g., Stackelberg, potential games). </a:t>
                      </a:r>
                    </a:p>
                    <a:p>
                      <a:pPr marL="285750" indent="-285750">
                        <a:buFont typeface="Arial" panose="020B0604020202020204" pitchFamily="34" charset="0"/>
                        <a:buChar char="•"/>
                      </a:pPr>
                      <a:r>
                        <a:rPr lang="en-IN" sz="1200" dirty="0"/>
                        <a:t>Offers standardized templates for GT components (players, payoffs, solvers). </a:t>
                      </a:r>
                    </a:p>
                    <a:p>
                      <a:pPr marL="285750" indent="-285750">
                        <a:buFont typeface="Arial" panose="020B0604020202020204" pitchFamily="34" charset="0"/>
                        <a:buChar char="•"/>
                      </a:pPr>
                      <a:r>
                        <a:rPr lang="en-IN" sz="1200" dirty="0"/>
                        <a:t>Enables integration with reinforcement learning and industrial control systems.</a:t>
                      </a:r>
                    </a:p>
                    <a:p>
                      <a:pPr marL="285750" indent="-285750">
                        <a:buFont typeface="Arial" panose="020B0604020202020204" pitchFamily="34" charset="0"/>
                        <a:buChar char="•"/>
                      </a:pPr>
                      <a:r>
                        <a:rPr lang="en-IN" sz="1200" dirty="0"/>
                        <a:t>Validated through examples like Prisoner’s Dilemma, Rock-Paper-Scissors, supply-demand, and routing problems.</a:t>
                      </a:r>
                    </a:p>
                  </a:txBody>
                  <a:tcPr marL="90000" marR="90000">
                    <a:lnL w="10800">
                      <a:solidFill>
                        <a:srgbClr val="000000"/>
                      </a:solidFill>
                    </a:lnL>
                    <a:lnR w="10800">
                      <a:solidFill>
                        <a:srgbClr val="000000"/>
                      </a:solidFill>
                    </a:lnR>
                    <a:lnT w="10800" cap="flat" cmpd="sng" algn="ctr">
                      <a:solidFill>
                        <a:srgbClr val="000000"/>
                      </a:solidFill>
                      <a:prstDash val="solid"/>
                      <a:round/>
                      <a:headEnd type="none" w="med" len="med"/>
                      <a:tailEnd type="none" w="med" len="med"/>
                    </a:lnT>
                    <a:lnB w="10800">
                      <a:solidFill>
                        <a:srgbClr val="000000"/>
                      </a:solidFill>
                    </a:lnB>
                    <a:solidFill>
                      <a:srgbClr val="FFFFFF"/>
                    </a:solidFill>
                  </a:tcPr>
                </a:tc>
                <a:tc>
                  <a:txBody>
                    <a:bodyPr/>
                    <a:lstStyle/>
                    <a:p>
                      <a:pPr marL="171450" indent="-171450">
                        <a:buFont typeface="Arial" panose="020B0604020202020204" pitchFamily="34" charset="0"/>
                        <a:buChar char="•"/>
                      </a:pPr>
                      <a:r>
                        <a:rPr lang="en-US" sz="1200" dirty="0">
                          <a:solidFill>
                            <a:srgbClr val="FF0000"/>
                          </a:solidFill>
                        </a:rPr>
                        <a:t>Still evolving</a:t>
                      </a:r>
                      <a:r>
                        <a:rPr lang="en-US" sz="1200" dirty="0"/>
                        <a:t>; limited pool of prebuilt dynamic games compared to native GT. </a:t>
                      </a:r>
                    </a:p>
                    <a:p>
                      <a:pPr marL="171450" indent="-171450">
                        <a:buFont typeface="Arial" panose="020B0604020202020204" pitchFamily="34" charset="0"/>
                        <a:buChar char="•"/>
                      </a:pPr>
                      <a:r>
                        <a:rPr lang="en-US" sz="1200" dirty="0"/>
                        <a:t>Requires familiarity with </a:t>
                      </a:r>
                      <a:r>
                        <a:rPr lang="en-US" sz="1200" dirty="0" err="1"/>
                        <a:t>MLPro</a:t>
                      </a:r>
                      <a:r>
                        <a:rPr lang="en-US" sz="1200" dirty="0"/>
                        <a:t> ecosystem. </a:t>
                      </a:r>
                    </a:p>
                    <a:p>
                      <a:pPr marL="171450" indent="-171450">
                        <a:buFont typeface="Arial" panose="020B0604020202020204" pitchFamily="34" charset="0"/>
                        <a:buChar char="•"/>
                      </a:pPr>
                      <a:r>
                        <a:rPr lang="en-US" sz="1200" dirty="0"/>
                        <a:t>Future work aims to expand third-party integration (e.g., </a:t>
                      </a:r>
                      <a:r>
                        <a:rPr lang="en-US" sz="1200" dirty="0" err="1"/>
                        <a:t>NashPy</a:t>
                      </a:r>
                      <a:r>
                        <a:rPr lang="en-US" sz="1200" dirty="0"/>
                        <a:t>) and </a:t>
                      </a:r>
                      <a:r>
                        <a:rPr lang="en-US" sz="1200" dirty="0">
                          <a:solidFill>
                            <a:srgbClr val="FF0000"/>
                          </a:solidFill>
                        </a:rPr>
                        <a:t>add more solvers/game types.</a:t>
                      </a:r>
                    </a:p>
                  </a:txBody>
                  <a:tcPr marL="90000" marR="90000">
                    <a:lnL w="10800">
                      <a:solidFill>
                        <a:srgbClr val="000000"/>
                      </a:solidFill>
                    </a:lnL>
                    <a:lnR w="10800">
                      <a:solidFill>
                        <a:srgbClr val="000000"/>
                      </a:solidFill>
                    </a:lnR>
                    <a:lnT w="10800" cap="flat" cmpd="sng" algn="ctr">
                      <a:solidFill>
                        <a:srgbClr val="000000"/>
                      </a:solidFill>
                      <a:prstDash val="solid"/>
                      <a:round/>
                      <a:headEnd type="none" w="med" len="med"/>
                      <a:tailEnd type="none" w="med" len="med"/>
                    </a:lnT>
                    <a:lnB w="10800">
                      <a:solidFill>
                        <a:srgbClr val="000000"/>
                      </a:solidFill>
                    </a:lnB>
                    <a:solidFill>
                      <a:srgbClr val="FFFFFF"/>
                    </a:solidFill>
                  </a:tcPr>
                </a:tc>
                <a:extLst>
                  <a:ext uri="{0D108BD9-81ED-4DB2-BD59-A6C34878D82A}">
                    <a16:rowId xmlns:a16="http://schemas.microsoft.com/office/drawing/2014/main" val="10002"/>
                  </a:ext>
                </a:extLst>
              </a:tr>
            </a:tbl>
          </a:graphicData>
        </a:graphic>
      </p:graphicFrame>
      <p:sp>
        <p:nvSpPr>
          <p:cNvPr id="4" name="Slide Number Placeholder 5">
            <a:extLst>
              <a:ext uri="{FF2B5EF4-FFF2-40B4-BE49-F238E27FC236}">
                <a16:creationId xmlns:a16="http://schemas.microsoft.com/office/drawing/2014/main" id="{A423A992-F3E4-14FE-627E-D251B4F4F569}"/>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9</a:t>
            </a:fld>
            <a:endParaRPr lang="en-IN" sz="1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80298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F1771-5F33-0B4D-855E-7CECBB031309}"/>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D3101C39-EF09-33DF-1820-2D0E6B48FE2C}"/>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92B6325A-BF2C-7E7B-CA7A-1050CFCEDAC5}"/>
                </a:ext>
              </a:extLst>
            </p:cNvPr>
            <p:cNvPicPr>
              <a:picLocks noChangeAspect="1"/>
            </p:cNvPicPr>
            <p:nvPr/>
          </p:nvPicPr>
          <p:blipFill rotWithShape="1">
            <a:blip r:embed="rId3">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7EF22CAB-76F5-A1A0-8279-0D4DB602ED7E}"/>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14" name="TextBox 13">
            <a:extLst>
              <a:ext uri="{FF2B5EF4-FFF2-40B4-BE49-F238E27FC236}">
                <a16:creationId xmlns:a16="http://schemas.microsoft.com/office/drawing/2014/main" id="{91A7321D-FFB8-325C-833C-C7C49BF033E7}"/>
              </a:ext>
            </a:extLst>
          </p:cNvPr>
          <p:cNvSpPr txBox="1"/>
          <p:nvPr/>
        </p:nvSpPr>
        <p:spPr>
          <a:xfrm>
            <a:off x="6096000" y="190137"/>
            <a:ext cx="5622387"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Literature Review-III</a:t>
            </a:r>
          </a:p>
        </p:txBody>
      </p:sp>
      <p:graphicFrame>
        <p:nvGraphicFramePr>
          <p:cNvPr id="3" name="Table 2">
            <a:extLst>
              <a:ext uri="{FF2B5EF4-FFF2-40B4-BE49-F238E27FC236}">
                <a16:creationId xmlns:a16="http://schemas.microsoft.com/office/drawing/2014/main" id="{F2F59EAB-AFAD-3207-CE64-11612F5F486A}"/>
              </a:ext>
            </a:extLst>
          </p:cNvPr>
          <p:cNvGraphicFramePr/>
          <p:nvPr>
            <p:extLst>
              <p:ext uri="{D42A27DB-BD31-4B8C-83A1-F6EECF244321}">
                <p14:modId xmlns:p14="http://schemas.microsoft.com/office/powerpoint/2010/main" val="1062550389"/>
              </p:ext>
            </p:extLst>
          </p:nvPr>
        </p:nvGraphicFramePr>
        <p:xfrm>
          <a:off x="112542" y="978059"/>
          <a:ext cx="11955198" cy="5212080"/>
        </p:xfrm>
        <a:graphic>
          <a:graphicData uri="http://schemas.openxmlformats.org/drawingml/2006/table">
            <a:tbl>
              <a:tblPr/>
              <a:tblGrid>
                <a:gridCol w="2113158">
                  <a:extLst>
                    <a:ext uri="{9D8B030D-6E8A-4147-A177-3AD203B41FA5}">
                      <a16:colId xmlns:a16="http://schemas.microsoft.com/office/drawing/2014/main" val="20000"/>
                    </a:ext>
                  </a:extLst>
                </a:gridCol>
                <a:gridCol w="2333160">
                  <a:extLst>
                    <a:ext uri="{9D8B030D-6E8A-4147-A177-3AD203B41FA5}">
                      <a16:colId xmlns:a16="http://schemas.microsoft.com/office/drawing/2014/main" val="20001"/>
                    </a:ext>
                  </a:extLst>
                </a:gridCol>
                <a:gridCol w="1253160">
                  <a:extLst>
                    <a:ext uri="{9D8B030D-6E8A-4147-A177-3AD203B41FA5}">
                      <a16:colId xmlns:a16="http://schemas.microsoft.com/office/drawing/2014/main" val="20002"/>
                    </a:ext>
                  </a:extLst>
                </a:gridCol>
                <a:gridCol w="2602440">
                  <a:extLst>
                    <a:ext uri="{9D8B030D-6E8A-4147-A177-3AD203B41FA5}">
                      <a16:colId xmlns:a16="http://schemas.microsoft.com/office/drawing/2014/main" val="20003"/>
                    </a:ext>
                  </a:extLst>
                </a:gridCol>
                <a:gridCol w="3653280">
                  <a:extLst>
                    <a:ext uri="{9D8B030D-6E8A-4147-A177-3AD203B41FA5}">
                      <a16:colId xmlns:a16="http://schemas.microsoft.com/office/drawing/2014/main" val="20004"/>
                    </a:ext>
                  </a:extLst>
                </a:gridCol>
              </a:tblGrid>
              <a:tr h="322560">
                <a:tc>
                  <a:txBody>
                    <a:bodyPr/>
                    <a:lstStyle/>
                    <a:p>
                      <a:pPr algn="ctr">
                        <a:lnSpc>
                          <a:spcPct val="100000"/>
                        </a:lnSpc>
                        <a:buNone/>
                      </a:pPr>
                      <a:r>
                        <a:rPr lang="en-IN" sz="1600" b="1" strike="noStrike" spc="-1" dirty="0">
                          <a:solidFill>
                            <a:srgbClr val="FFFFFF"/>
                          </a:solidFill>
                          <a:latin typeface="Times New Roman" panose="02020603050405020304" pitchFamily="18" charset="0"/>
                          <a:cs typeface="Times New Roman" panose="02020603050405020304" pitchFamily="18" charset="0"/>
                        </a:rPr>
                        <a:t>Publication details</a:t>
                      </a:r>
                      <a:endParaRPr lang="en-IN" sz="16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000000"/>
                    </a:solidFill>
                  </a:tcPr>
                </a:tc>
                <a:tc>
                  <a:txBody>
                    <a:bodyPr/>
                    <a:lstStyle/>
                    <a:p>
                      <a:pPr algn="ctr">
                        <a:lnSpc>
                          <a:spcPct val="100000"/>
                        </a:lnSpc>
                        <a:buNone/>
                      </a:pPr>
                      <a:r>
                        <a:rPr lang="en-IN" sz="1600" b="1" strike="noStrike" spc="-1">
                          <a:solidFill>
                            <a:srgbClr val="FFFFFF"/>
                          </a:solidFill>
                          <a:latin typeface="Times New Roman" panose="02020603050405020304" pitchFamily="18" charset="0"/>
                          <a:cs typeface="Times New Roman" panose="02020603050405020304" pitchFamily="18" charset="0"/>
                        </a:rPr>
                        <a:t>Purpose</a:t>
                      </a:r>
                      <a:endParaRPr lang="en-IN" sz="1600" b="0" strike="noStrike" spc="-1">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000000"/>
                    </a:solidFill>
                  </a:tcPr>
                </a:tc>
                <a:tc>
                  <a:txBody>
                    <a:bodyPr/>
                    <a:lstStyle/>
                    <a:p>
                      <a:pPr algn="ctr">
                        <a:lnSpc>
                          <a:spcPct val="100000"/>
                        </a:lnSpc>
                        <a:buNone/>
                      </a:pPr>
                      <a:r>
                        <a:rPr lang="en-IN" sz="1600" b="1" strike="noStrike" spc="-1">
                          <a:solidFill>
                            <a:srgbClr val="FFFFFF"/>
                          </a:solidFill>
                          <a:latin typeface="Times New Roman" panose="02020603050405020304" pitchFamily="18" charset="0"/>
                          <a:cs typeface="Times New Roman" panose="02020603050405020304" pitchFamily="18" charset="0"/>
                        </a:rPr>
                        <a:t>Data </a:t>
                      </a:r>
                      <a:endParaRPr lang="en-IN" sz="1600" b="0" strike="noStrike" spc="-1">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000000"/>
                    </a:solidFill>
                  </a:tcPr>
                </a:tc>
                <a:tc>
                  <a:txBody>
                    <a:bodyPr/>
                    <a:lstStyle/>
                    <a:p>
                      <a:pPr algn="ctr">
                        <a:lnSpc>
                          <a:spcPct val="100000"/>
                        </a:lnSpc>
                        <a:buNone/>
                      </a:pPr>
                      <a:r>
                        <a:rPr lang="en-IN" sz="1600" b="1" strike="noStrike" spc="-1">
                          <a:solidFill>
                            <a:srgbClr val="FFFFFF"/>
                          </a:solidFill>
                          <a:latin typeface="Times New Roman" panose="02020603050405020304" pitchFamily="18" charset="0"/>
                          <a:cs typeface="Times New Roman" panose="02020603050405020304" pitchFamily="18" charset="0"/>
                        </a:rPr>
                        <a:t>Key findings</a:t>
                      </a:r>
                      <a:endParaRPr lang="en-IN" sz="1600" b="0" strike="noStrike" spc="-1">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000000"/>
                    </a:solidFill>
                  </a:tcPr>
                </a:tc>
                <a:tc>
                  <a:txBody>
                    <a:bodyPr/>
                    <a:lstStyle/>
                    <a:p>
                      <a:pPr algn="ctr">
                        <a:lnSpc>
                          <a:spcPct val="100000"/>
                        </a:lnSpc>
                        <a:buNone/>
                      </a:pPr>
                      <a:r>
                        <a:rPr lang="en-IN" sz="1600" b="1" strike="noStrike" spc="-1">
                          <a:solidFill>
                            <a:srgbClr val="FFFFFF"/>
                          </a:solidFill>
                          <a:latin typeface="Times New Roman" panose="02020603050405020304" pitchFamily="18" charset="0"/>
                          <a:cs typeface="Times New Roman" panose="02020603050405020304" pitchFamily="18" charset="0"/>
                        </a:rPr>
                        <a:t>Limitations and reviews</a:t>
                      </a:r>
                      <a:endParaRPr lang="en-IN" sz="1600" b="0" strike="noStrike" spc="-1">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000000"/>
                    </a:solidFill>
                  </a:tcPr>
                </a:tc>
                <a:extLst>
                  <a:ext uri="{0D108BD9-81ED-4DB2-BD59-A6C34878D82A}">
                    <a16:rowId xmlns:a16="http://schemas.microsoft.com/office/drawing/2014/main" val="10000"/>
                  </a:ext>
                </a:extLst>
              </a:tr>
              <a:tr h="22160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Improving Data Utility Through Game Theory in Personalized Differential Privacy</a:t>
                      </a:r>
                      <a:br>
                        <a:rPr lang="en-US" sz="1400" b="0" i="0" u="none" strike="noStrike" kern="1200" dirty="0">
                          <a:solidFill>
                            <a:schemeClr val="tx1"/>
                          </a:solidFill>
                          <a:effectLst/>
                          <a:latin typeface="Times New Roman" panose="02020603050405020304" pitchFamily="18" charset="0"/>
                          <a:ea typeface="+mn-ea"/>
                          <a:cs typeface="Times New Roman" panose="02020603050405020304" pitchFamily="18" charset="0"/>
                        </a:rPr>
                      </a:br>
                      <a:r>
                        <a:rPr lang="en-US" sz="14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Journal of Computer Science and Technology, 2019</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Cui et 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E6E6E6"/>
                    </a:solidFill>
                  </a:tcPr>
                </a:tc>
                <a:tc>
                  <a:txBody>
                    <a:bodyPr/>
                    <a:lstStyle/>
                    <a:p>
                      <a:pPr marL="285750" marR="0" lvl="0" indent="-2857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lang="en-US" sz="1400" dirty="0">
                          <a:effectLst/>
                          <a:latin typeface="Times New Roman" panose="02020603050405020304" pitchFamily="18" charset="0"/>
                          <a:cs typeface="Times New Roman" panose="02020603050405020304" pitchFamily="18" charset="0"/>
                        </a:rPr>
                        <a:t>Proposed a personalized differential privacy model based on social distance; modeled user-adversary interaction as a static Bayesian game; derived Bayesian Nash equilibrium using modified Q-learning</a:t>
                      </a:r>
                    </a:p>
                    <a:p>
                      <a:pPr algn="l" fontAlgn="t">
                        <a:lnSpc>
                          <a:spcPct val="100000"/>
                        </a:lnSpc>
                      </a:pPr>
                      <a:endParaRPr lang="en-US" sz="1400" dirty="0">
                        <a:effectLst/>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E6E6E6"/>
                    </a:solidFill>
                  </a:tcPr>
                </a:tc>
                <a:tc>
                  <a:txBody>
                    <a:bodyPr/>
                    <a:lstStyle/>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400" dirty="0">
                          <a:latin typeface="Times New Roman" panose="02020603050405020304" pitchFamily="18" charset="0"/>
                          <a:cs typeface="Times New Roman" panose="02020603050405020304" pitchFamily="18" charset="0"/>
                        </a:rPr>
                        <a:t>Google+ social network dataset (4,000 nodes, 56,352 edges)</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IN" sz="1400"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E6E6E6"/>
                    </a:solidFill>
                  </a:tcPr>
                </a:tc>
                <a:tc>
                  <a:txBody>
                    <a:bodyPr/>
                    <a:lstStyle/>
                    <a:p>
                      <a:pPr marL="285750" indent="-285750" algn="l" fontAlgn="t">
                        <a:lnSpc>
                          <a:spcPct val="100000"/>
                        </a:lnSpc>
                        <a:buFont typeface="Arial" panose="020B0604020202020204" pitchFamily="34" charset="0"/>
                        <a:buChar char="•"/>
                      </a:pPr>
                      <a:r>
                        <a:rPr lang="en-US" sz="1400" dirty="0">
                          <a:effectLst/>
                          <a:latin typeface="Times New Roman" panose="02020603050405020304" pitchFamily="18" charset="0"/>
                          <a:cs typeface="Times New Roman" panose="02020603050405020304" pitchFamily="18" charset="0"/>
                        </a:rPr>
                        <a:t>Personalized privacy improves data utility</a:t>
                      </a:r>
                    </a:p>
                    <a:p>
                      <a:pPr marL="285750" indent="-285750" algn="l" fontAlgn="t">
                        <a:lnSpc>
                          <a:spcPct val="100000"/>
                        </a:lnSpc>
                        <a:buFont typeface="Arial" panose="020B0604020202020204" pitchFamily="34" charset="0"/>
                        <a:buChar char="•"/>
                      </a:pPr>
                      <a:r>
                        <a:rPr lang="en-US" sz="1400" dirty="0">
                          <a:effectLst/>
                          <a:latin typeface="Times New Roman" panose="02020603050405020304" pitchFamily="18" charset="0"/>
                          <a:cs typeface="Times New Roman" panose="02020603050405020304" pitchFamily="18" charset="0"/>
                        </a:rPr>
                        <a:t>game-theoretic modeling enables optimized trade-off between privacy and utility</a:t>
                      </a:r>
                    </a:p>
                    <a:p>
                      <a:pPr marL="285750" indent="-285750" algn="l" fontAlgn="t">
                        <a:lnSpc>
                          <a:spcPct val="100000"/>
                        </a:lnSpc>
                        <a:buFont typeface="Arial" panose="020B0604020202020204" pitchFamily="34" charset="0"/>
                        <a:buChar char="•"/>
                      </a:pPr>
                      <a:r>
                        <a:rPr lang="en-US" sz="1400" dirty="0">
                          <a:effectLst/>
                          <a:latin typeface="Times New Roman" panose="02020603050405020304" pitchFamily="18" charset="0"/>
                          <a:cs typeface="Times New Roman" panose="02020603050405020304" pitchFamily="18" charset="0"/>
                        </a:rPr>
                        <a:t>fast convergence achieved via cardinality reduction</a:t>
                      </a:r>
                    </a:p>
                    <a:p>
                      <a:pPr marL="216000" indent="-216000">
                        <a:lnSpc>
                          <a:spcPct val="100000"/>
                        </a:lnSpc>
                        <a:buClr>
                          <a:srgbClr val="000000"/>
                        </a:buClr>
                        <a:buSzPct val="45000"/>
                        <a:buFont typeface="Wingdings" charset="2"/>
                        <a:buChar char=""/>
                      </a:pPr>
                      <a:endParaRPr lang="en-IN" sz="14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E6E6E6"/>
                    </a:solidFill>
                  </a:tcPr>
                </a:tc>
                <a:tc>
                  <a:txBody>
                    <a:bodyPr/>
                    <a:lstStyle/>
                    <a:p>
                      <a:pPr marL="285750" indent="-285750">
                        <a:buFont typeface="Arial" panose="020B0604020202020204" pitchFamily="34" charset="0"/>
                        <a:buChar char="•"/>
                      </a:pPr>
                      <a:r>
                        <a:rPr lang="en-IN" sz="1400" dirty="0"/>
                        <a:t>Assumes a trusted central authority for privacy budget management.</a:t>
                      </a:r>
                    </a:p>
                    <a:p>
                      <a:pPr marL="285750" indent="-285750">
                        <a:buFont typeface="Arial" panose="020B0604020202020204" pitchFamily="34" charset="0"/>
                        <a:buChar char="•"/>
                      </a:pPr>
                      <a:r>
                        <a:rPr lang="en-IN" sz="1400" dirty="0">
                          <a:solidFill>
                            <a:srgbClr val="FF0000"/>
                          </a:solidFill>
                        </a:rPr>
                        <a:t>Focused on social network scenarios; extension to IoT/ML </a:t>
                      </a:r>
                      <a:r>
                        <a:rPr lang="en-IN" sz="1400" dirty="0"/>
                        <a:t>requires adaptation. </a:t>
                      </a:r>
                    </a:p>
                    <a:p>
                      <a:pPr marL="285750" indent="-285750">
                        <a:buFont typeface="Arial" panose="020B0604020202020204" pitchFamily="34" charset="0"/>
                        <a:buChar char="•"/>
                      </a:pPr>
                      <a:r>
                        <a:rPr lang="en-IN" sz="1400" dirty="0">
                          <a:solidFill>
                            <a:schemeClr val="tx1"/>
                          </a:solidFill>
                        </a:rPr>
                        <a:t>Static </a:t>
                      </a:r>
                      <a:r>
                        <a:rPr lang="en-IN" sz="1400" dirty="0">
                          <a:solidFill>
                            <a:srgbClr val="FF0000"/>
                          </a:solidFill>
                        </a:rPr>
                        <a:t>Bayesian game may oversimplify dynamic adversarial </a:t>
                      </a:r>
                      <a:r>
                        <a:rPr lang="en-IN" sz="1400" dirty="0" err="1">
                          <a:solidFill>
                            <a:srgbClr val="FF0000"/>
                          </a:solidFill>
                        </a:rPr>
                        <a:t>behaviors</a:t>
                      </a:r>
                      <a:r>
                        <a:rPr lang="en-IN" sz="1400" dirty="0"/>
                        <a:t>.</a:t>
                      </a:r>
                    </a:p>
                    <a:p>
                      <a:pPr marL="285750" indent="-285750">
                        <a:buFont typeface="Arial" panose="020B0604020202020204" pitchFamily="34" charset="0"/>
                        <a:buChar char="•"/>
                      </a:pPr>
                      <a:r>
                        <a:rPr lang="en-IN" sz="1400" dirty="0"/>
                        <a:t>Cardinality reduction improves efficiency but may limit flexibility in complex multi-user settings.</a:t>
                      </a:r>
                    </a:p>
                    <a:p>
                      <a:pPr marL="216000" indent="-216000">
                        <a:lnSpc>
                          <a:spcPct val="100000"/>
                        </a:lnSpc>
                        <a:buClr>
                          <a:srgbClr val="000000"/>
                        </a:buClr>
                        <a:buSzPct val="45000"/>
                        <a:buFont typeface="Wingdings" charset="2"/>
                        <a:buChar char=""/>
                      </a:pPr>
                      <a:endParaRPr lang="en-IN" sz="1400" b="1" strike="noStrike" spc="-1" dirty="0">
                        <a:solidFill>
                          <a:srgbClr val="FF0000"/>
                        </a:solidFill>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E6E6E6"/>
                    </a:solidFill>
                  </a:tcPr>
                </a:tc>
                <a:extLst>
                  <a:ext uri="{0D108BD9-81ED-4DB2-BD59-A6C34878D82A}">
                    <a16:rowId xmlns:a16="http://schemas.microsoft.com/office/drawing/2014/main" val="10001"/>
                  </a:ext>
                </a:extLst>
              </a:tr>
              <a:tr h="2095200">
                <a:tc>
                  <a:txBody>
                    <a:bodyPr/>
                    <a:lstStyle/>
                    <a:p>
                      <a:r>
                        <a:rPr lang="en-US" sz="1200" i="1" dirty="0"/>
                        <a:t>Towards Making Systems Forget with Machine Unlearning – IEEE Symposium on Security and Privacy, 2015. </a:t>
                      </a:r>
                    </a:p>
                    <a:p>
                      <a:r>
                        <a:rPr lang="en-US" sz="1200" i="1" dirty="0"/>
                        <a:t>Cao et al.</a:t>
                      </a: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FFFFFF"/>
                    </a:solidFill>
                  </a:tcPr>
                </a:tc>
                <a:tc>
                  <a:txBody>
                    <a:bodyPr/>
                    <a:lstStyle/>
                    <a:p>
                      <a:pPr marL="285750" indent="-285750" algn="l" fontAlgn="t">
                        <a:lnSpc>
                          <a:spcPct val="100000"/>
                        </a:lnSpc>
                        <a:buFont typeface="Arial" panose="020B0604020202020204" pitchFamily="34" charset="0"/>
                        <a:buChar char="•"/>
                      </a:pPr>
                      <a:r>
                        <a:rPr lang="en-US" sz="1200" dirty="0"/>
                        <a:t>To design efficient mechanisms for systems to “forget” specific training data and its lineage, enabling privacy, security, and usability restoration without retraining from scratch.</a:t>
                      </a:r>
                      <a:endParaRPr lang="en-US" sz="1200" dirty="0">
                        <a:effectLst/>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FFFFFF"/>
                    </a:solidFill>
                  </a:tcPr>
                </a:tc>
                <a:tc>
                  <a:txBody>
                    <a:bodyPr/>
                    <a:lstStyle/>
                    <a:p>
                      <a:pPr marL="0" indent="0">
                        <a:buFont typeface="Arial" panose="020B0604020202020204" pitchFamily="34" charset="0"/>
                        <a:buNone/>
                      </a:pPr>
                      <a:r>
                        <a:rPr lang="en-IN" sz="1200" dirty="0" err="1"/>
                        <a:t>LensKit</a:t>
                      </a:r>
                      <a:r>
                        <a:rPr lang="en-IN" sz="1200" dirty="0"/>
                        <a:t> (recommendation engine)</a:t>
                      </a:r>
                    </a:p>
                    <a:p>
                      <a:pPr marL="0" indent="0">
                        <a:buFont typeface="Arial" panose="020B0604020202020204" pitchFamily="34" charset="0"/>
                        <a:buNone/>
                      </a:pPr>
                      <a:r>
                        <a:rPr lang="en-IN" sz="1200" dirty="0" err="1"/>
                        <a:t>Zozzle</a:t>
                      </a:r>
                      <a:r>
                        <a:rPr lang="en-IN" sz="1200" dirty="0"/>
                        <a:t> (JavaScript malware detector) </a:t>
                      </a:r>
                      <a:br>
                        <a:rPr lang="en-IN" sz="1200" dirty="0"/>
                      </a:br>
                      <a:r>
                        <a:rPr lang="en-IN" sz="1200" dirty="0"/>
                        <a:t>- OSN</a:t>
                      </a:r>
                    </a:p>
                    <a:p>
                      <a:pPr marL="0" indent="0">
                        <a:buFont typeface="Arial" panose="020B0604020202020204" pitchFamily="34" charset="0"/>
                        <a:buNone/>
                      </a:pPr>
                      <a:r>
                        <a:rPr lang="en-IN" sz="1200" dirty="0"/>
                        <a:t>spam filter </a:t>
                      </a:r>
                      <a:br>
                        <a:rPr lang="en-IN" sz="1200" dirty="0"/>
                      </a:br>
                      <a:r>
                        <a:rPr lang="en-IN" sz="1200" dirty="0"/>
                        <a:t>- </a:t>
                      </a:r>
                      <a:r>
                        <a:rPr lang="en-IN" sz="1200" dirty="0" err="1"/>
                        <a:t>PJScan</a:t>
                      </a:r>
                      <a:r>
                        <a:rPr lang="en-IN" sz="1200" dirty="0"/>
                        <a:t> (PDF malware detector)</a:t>
                      </a:r>
                    </a:p>
                    <a:p>
                      <a:pPr algn="just">
                        <a:lnSpc>
                          <a:spcPct val="100000"/>
                        </a:lnSpc>
                        <a:buNone/>
                      </a:pPr>
                      <a:endParaRPr lang="en-IN" sz="12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FFFFFF"/>
                    </a:solidFill>
                  </a:tcPr>
                </a:tc>
                <a:tc>
                  <a:txBody>
                    <a:bodyPr/>
                    <a:lstStyle/>
                    <a:p>
                      <a:pPr marL="285750" indent="-285750">
                        <a:buFont typeface="Arial" panose="020B0604020202020204" pitchFamily="34" charset="0"/>
                        <a:buChar char="•"/>
                      </a:pPr>
                      <a:r>
                        <a:rPr lang="en-US" sz="1200" dirty="0"/>
                        <a:t>Converted learning algorithms into </a:t>
                      </a:r>
                      <a:r>
                        <a:rPr lang="en-US" sz="1200" b="1" dirty="0"/>
                        <a:t>summation form</a:t>
                      </a:r>
                      <a:r>
                        <a:rPr lang="en-US" sz="1200" dirty="0"/>
                        <a:t> for efficient unlearning.</a:t>
                      </a:r>
                    </a:p>
                    <a:p>
                      <a:pPr marL="285750" indent="-285750">
                        <a:buFont typeface="Arial" panose="020B0604020202020204" pitchFamily="34" charset="0"/>
                        <a:buChar char="•"/>
                      </a:pPr>
                      <a:r>
                        <a:rPr lang="en-US" sz="1200" dirty="0"/>
                        <a:t>Achieved </a:t>
                      </a:r>
                      <a:r>
                        <a:rPr lang="en-US" sz="1200" b="1" dirty="0"/>
                        <a:t>huge speed-ups</a:t>
                      </a:r>
                      <a:r>
                        <a:rPr lang="en-US" sz="1200" dirty="0"/>
                        <a:t> (seconds vs. days) compared to retraining. </a:t>
                      </a:r>
                    </a:p>
                    <a:p>
                      <a:pPr marL="285750" indent="-285750">
                        <a:buFont typeface="Arial" panose="020B0604020202020204" pitchFamily="34" charset="0"/>
                        <a:buChar char="•"/>
                      </a:pPr>
                      <a:r>
                        <a:rPr lang="en-US" sz="1200" dirty="0"/>
                        <a:t>First efficient unlearning algorithms for </a:t>
                      </a:r>
                      <a:r>
                        <a:rPr lang="en-US" sz="1200" b="1" dirty="0"/>
                        <a:t>normalized cosine similarity</a:t>
                      </a:r>
                      <a:r>
                        <a:rPr lang="en-US" sz="1200" dirty="0"/>
                        <a:t> and </a:t>
                      </a:r>
                      <a:r>
                        <a:rPr lang="en-US" sz="1200" b="1" dirty="0"/>
                        <a:t>one-class SVM</a:t>
                      </a:r>
                      <a:r>
                        <a:rPr lang="en-US" sz="1200" dirty="0"/>
                        <a:t>. </a:t>
                      </a:r>
                    </a:p>
                    <a:p>
                      <a:pPr marL="285750" indent="-285750">
                        <a:buFont typeface="Arial" panose="020B0604020202020204" pitchFamily="34" charset="0"/>
                        <a:buChar char="•"/>
                      </a:pPr>
                      <a:r>
                        <a:rPr lang="en-US" sz="1200" dirty="0"/>
                        <a:t>Empirically prevented privacy and pollution attacks after unlearning. </a:t>
                      </a:r>
                    </a:p>
                    <a:p>
                      <a:pPr marL="285750" indent="-285750">
                        <a:buFont typeface="Arial" panose="020B0604020202020204" pitchFamily="34" charset="0"/>
                        <a:buChar char="•"/>
                      </a:pPr>
                      <a:r>
                        <a:rPr lang="en-US" sz="1200" dirty="0"/>
                        <a:t>Required minimal code changes (</a:t>
                      </a: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FFFFFF"/>
                    </a:solidFill>
                  </a:tcPr>
                </a:tc>
                <a:tc>
                  <a:txBody>
                    <a:bodyPr/>
                    <a:lstStyle/>
                    <a:p>
                      <a:pPr marL="285750" indent="-285750">
                        <a:buFont typeface="Arial" panose="020B0604020202020204" pitchFamily="34" charset="0"/>
                        <a:buChar char="•"/>
                      </a:pPr>
                      <a:r>
                        <a:rPr lang="en-US" sz="1200" dirty="0"/>
                        <a:t>Works only for algorithms convertible to summation form (</a:t>
                      </a:r>
                      <a:r>
                        <a:rPr lang="en-US" sz="1200" dirty="0">
                          <a:solidFill>
                            <a:srgbClr val="FF0000"/>
                          </a:solidFill>
                        </a:rPr>
                        <a:t>not universally applicable</a:t>
                      </a:r>
                      <a:r>
                        <a:rPr lang="en-US" sz="1200" dirty="0"/>
                        <a:t>). </a:t>
                      </a:r>
                    </a:p>
                    <a:p>
                      <a:pPr marL="285750" indent="-285750">
                        <a:buFont typeface="Arial" panose="020B0604020202020204" pitchFamily="34" charset="0"/>
                        <a:buChar char="•"/>
                      </a:pPr>
                      <a:r>
                        <a:rPr lang="en-US" sz="1200" dirty="0"/>
                        <a:t>Completeness depends on representative test sets and randomness in training. </a:t>
                      </a:r>
                    </a:p>
                    <a:p>
                      <a:pPr marL="285750" indent="-285750">
                        <a:buFont typeface="Arial" panose="020B0604020202020204" pitchFamily="34" charset="0"/>
                        <a:buChar char="•"/>
                      </a:pPr>
                      <a:r>
                        <a:rPr lang="en-US" sz="1200" dirty="0"/>
                        <a:t>More effective when forgetting </a:t>
                      </a:r>
                      <a:r>
                        <a:rPr lang="en-US" sz="1200" dirty="0">
                          <a:solidFill>
                            <a:srgbClr val="FF0000"/>
                          </a:solidFill>
                        </a:rPr>
                        <a:t>small subsets of data</a:t>
                      </a:r>
                      <a:r>
                        <a:rPr lang="en-US" sz="1200" dirty="0"/>
                        <a:t>; retraining may be better for large deletions. </a:t>
                      </a:r>
                    </a:p>
                    <a:p>
                      <a:pPr marL="285750" indent="-285750">
                        <a:buFont typeface="Arial" panose="020B0604020202020204" pitchFamily="34" charset="0"/>
                        <a:buChar char="•"/>
                      </a:pPr>
                      <a:r>
                        <a:rPr lang="en-US" sz="1200" dirty="0"/>
                        <a:t>naïve Bayes, one‑class SVM, and normalized cosine similarity, </a:t>
                      </a:r>
                      <a:r>
                        <a:rPr lang="en-US" sz="1200" dirty="0">
                          <a:solidFill>
                            <a:srgbClr val="FF0000"/>
                          </a:solidFill>
                        </a:rPr>
                        <a:t>classical ML systems </a:t>
                      </a:r>
                      <a:r>
                        <a:rPr lang="en-US" sz="1200" dirty="0"/>
                        <a:t>and detectors; scaling to large deep networks or LLMs requires new transformations or approximations.</a:t>
                      </a:r>
                    </a:p>
                    <a:p>
                      <a:pPr marL="285750" indent="-285750">
                        <a:buFont typeface="Arial" panose="020B0604020202020204" pitchFamily="34" charset="0"/>
                        <a:buChar char="•"/>
                      </a:pPr>
                      <a:r>
                        <a:rPr lang="en-US" sz="1200" b="0" dirty="0">
                          <a:solidFill>
                            <a:srgbClr val="FF0000"/>
                          </a:solidFill>
                        </a:rPr>
                        <a:t>Feature‑selection coupling</a:t>
                      </a:r>
                      <a:r>
                        <a:rPr lang="en-US" sz="1200" b="0" dirty="0"/>
                        <a:t>: If feature selection depends heavily on individual samples, updating feature sets may still be nontrivial and can affect completeness. </a:t>
                      </a: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FFFFFF"/>
                    </a:solidFill>
                  </a:tcPr>
                </a:tc>
                <a:extLst>
                  <a:ext uri="{0D108BD9-81ED-4DB2-BD59-A6C34878D82A}">
                    <a16:rowId xmlns:a16="http://schemas.microsoft.com/office/drawing/2014/main" val="10002"/>
                  </a:ext>
                </a:extLst>
              </a:tr>
            </a:tbl>
          </a:graphicData>
        </a:graphic>
      </p:graphicFrame>
      <p:sp>
        <p:nvSpPr>
          <p:cNvPr id="4" name="Slide Number Placeholder 5">
            <a:extLst>
              <a:ext uri="{FF2B5EF4-FFF2-40B4-BE49-F238E27FC236}">
                <a16:creationId xmlns:a16="http://schemas.microsoft.com/office/drawing/2014/main" id="{5BFEC02C-C5B6-FD56-98B3-88E4E933B3CB}"/>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10</a:t>
            </a:fld>
            <a:endParaRPr lang="en-IN" sz="1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5562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76176-6F6C-B0DE-9E9B-1BC70C50EEF3}"/>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A6B58086-B187-88C3-EE96-C4546E6505FA}"/>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BB7C1A36-04B6-FDF9-12B1-4FB9826F10C6}"/>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98A9915E-FF6B-E22C-862C-A7DD77F20484}"/>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14" name="TextBox 13">
            <a:extLst>
              <a:ext uri="{FF2B5EF4-FFF2-40B4-BE49-F238E27FC236}">
                <a16:creationId xmlns:a16="http://schemas.microsoft.com/office/drawing/2014/main" id="{A78D96BD-02F5-472F-9B5D-DF65B7C2678B}"/>
              </a:ext>
            </a:extLst>
          </p:cNvPr>
          <p:cNvSpPr txBox="1"/>
          <p:nvPr/>
        </p:nvSpPr>
        <p:spPr>
          <a:xfrm>
            <a:off x="6096000" y="190137"/>
            <a:ext cx="5622387"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Literature Review-IV</a:t>
            </a:r>
          </a:p>
        </p:txBody>
      </p:sp>
      <p:graphicFrame>
        <p:nvGraphicFramePr>
          <p:cNvPr id="3" name="Table 2">
            <a:extLst>
              <a:ext uri="{FF2B5EF4-FFF2-40B4-BE49-F238E27FC236}">
                <a16:creationId xmlns:a16="http://schemas.microsoft.com/office/drawing/2014/main" id="{5B20BEB6-7933-6B4A-674A-724C0EAF69B7}"/>
              </a:ext>
            </a:extLst>
          </p:cNvPr>
          <p:cNvGraphicFramePr/>
          <p:nvPr>
            <p:extLst>
              <p:ext uri="{D42A27DB-BD31-4B8C-83A1-F6EECF244321}">
                <p14:modId xmlns:p14="http://schemas.microsoft.com/office/powerpoint/2010/main" val="3053427600"/>
              </p:ext>
            </p:extLst>
          </p:nvPr>
        </p:nvGraphicFramePr>
        <p:xfrm>
          <a:off x="112542" y="978059"/>
          <a:ext cx="11955198" cy="3118510"/>
        </p:xfrm>
        <a:graphic>
          <a:graphicData uri="http://schemas.openxmlformats.org/drawingml/2006/table">
            <a:tbl>
              <a:tblPr/>
              <a:tblGrid>
                <a:gridCol w="2113158">
                  <a:extLst>
                    <a:ext uri="{9D8B030D-6E8A-4147-A177-3AD203B41FA5}">
                      <a16:colId xmlns:a16="http://schemas.microsoft.com/office/drawing/2014/main" val="20000"/>
                    </a:ext>
                  </a:extLst>
                </a:gridCol>
                <a:gridCol w="2333160">
                  <a:extLst>
                    <a:ext uri="{9D8B030D-6E8A-4147-A177-3AD203B41FA5}">
                      <a16:colId xmlns:a16="http://schemas.microsoft.com/office/drawing/2014/main" val="20001"/>
                    </a:ext>
                  </a:extLst>
                </a:gridCol>
                <a:gridCol w="1253160">
                  <a:extLst>
                    <a:ext uri="{9D8B030D-6E8A-4147-A177-3AD203B41FA5}">
                      <a16:colId xmlns:a16="http://schemas.microsoft.com/office/drawing/2014/main" val="20002"/>
                    </a:ext>
                  </a:extLst>
                </a:gridCol>
                <a:gridCol w="2602440">
                  <a:extLst>
                    <a:ext uri="{9D8B030D-6E8A-4147-A177-3AD203B41FA5}">
                      <a16:colId xmlns:a16="http://schemas.microsoft.com/office/drawing/2014/main" val="20003"/>
                    </a:ext>
                  </a:extLst>
                </a:gridCol>
                <a:gridCol w="3653280">
                  <a:extLst>
                    <a:ext uri="{9D8B030D-6E8A-4147-A177-3AD203B41FA5}">
                      <a16:colId xmlns:a16="http://schemas.microsoft.com/office/drawing/2014/main" val="20004"/>
                    </a:ext>
                  </a:extLst>
                </a:gridCol>
              </a:tblGrid>
              <a:tr h="210519">
                <a:tc>
                  <a:txBody>
                    <a:bodyPr/>
                    <a:lstStyle/>
                    <a:p>
                      <a:pPr algn="just">
                        <a:lnSpc>
                          <a:spcPct val="100000"/>
                        </a:lnSpc>
                        <a:buNone/>
                      </a:pPr>
                      <a:r>
                        <a:rPr lang="en-IN" sz="1400" b="1" strike="noStrike" spc="-1">
                          <a:solidFill>
                            <a:srgbClr val="FFFFFF"/>
                          </a:solidFill>
                          <a:latin typeface="Times New Roman" panose="02020603050405020304" pitchFamily="18" charset="0"/>
                          <a:cs typeface="Times New Roman" panose="02020603050405020304" pitchFamily="18" charset="0"/>
                        </a:rPr>
                        <a:t>Publication details</a:t>
                      </a:r>
                      <a:endParaRPr lang="en-IN" sz="14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000000"/>
                    </a:solidFill>
                  </a:tcPr>
                </a:tc>
                <a:tc>
                  <a:txBody>
                    <a:bodyPr/>
                    <a:lstStyle/>
                    <a:p>
                      <a:pPr algn="just">
                        <a:lnSpc>
                          <a:spcPct val="100000"/>
                        </a:lnSpc>
                        <a:buNone/>
                      </a:pPr>
                      <a:r>
                        <a:rPr lang="en-IN" sz="1400" b="1" strike="noStrike" spc="-1">
                          <a:solidFill>
                            <a:srgbClr val="FFFFFF"/>
                          </a:solidFill>
                          <a:latin typeface="Times New Roman" panose="02020603050405020304" pitchFamily="18" charset="0"/>
                          <a:cs typeface="Times New Roman" panose="02020603050405020304" pitchFamily="18" charset="0"/>
                        </a:rPr>
                        <a:t>Purpose</a:t>
                      </a:r>
                      <a:endParaRPr lang="en-IN" sz="14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000000"/>
                    </a:solidFill>
                  </a:tcPr>
                </a:tc>
                <a:tc>
                  <a:txBody>
                    <a:bodyPr/>
                    <a:lstStyle/>
                    <a:p>
                      <a:pPr algn="just">
                        <a:lnSpc>
                          <a:spcPct val="100000"/>
                        </a:lnSpc>
                        <a:buNone/>
                      </a:pPr>
                      <a:r>
                        <a:rPr lang="en-IN" sz="1400" b="1" strike="noStrike" spc="-1">
                          <a:solidFill>
                            <a:srgbClr val="FFFFFF"/>
                          </a:solidFill>
                          <a:latin typeface="Times New Roman" panose="02020603050405020304" pitchFamily="18" charset="0"/>
                          <a:cs typeface="Times New Roman" panose="02020603050405020304" pitchFamily="18" charset="0"/>
                        </a:rPr>
                        <a:t>Data </a:t>
                      </a:r>
                      <a:endParaRPr lang="en-IN" sz="14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000000"/>
                    </a:solidFill>
                  </a:tcPr>
                </a:tc>
                <a:tc>
                  <a:txBody>
                    <a:bodyPr/>
                    <a:lstStyle/>
                    <a:p>
                      <a:pPr algn="just">
                        <a:lnSpc>
                          <a:spcPct val="100000"/>
                        </a:lnSpc>
                        <a:buNone/>
                      </a:pPr>
                      <a:r>
                        <a:rPr lang="en-IN" sz="1400" b="1" strike="noStrike" spc="-1">
                          <a:solidFill>
                            <a:srgbClr val="FFFFFF"/>
                          </a:solidFill>
                          <a:latin typeface="Times New Roman" panose="02020603050405020304" pitchFamily="18" charset="0"/>
                          <a:cs typeface="Times New Roman" panose="02020603050405020304" pitchFamily="18" charset="0"/>
                        </a:rPr>
                        <a:t>Key findings</a:t>
                      </a:r>
                      <a:endParaRPr lang="en-IN" sz="14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000000"/>
                    </a:solidFill>
                  </a:tcPr>
                </a:tc>
                <a:tc>
                  <a:txBody>
                    <a:bodyPr/>
                    <a:lstStyle/>
                    <a:p>
                      <a:pPr algn="just">
                        <a:lnSpc>
                          <a:spcPct val="100000"/>
                        </a:lnSpc>
                        <a:buNone/>
                      </a:pPr>
                      <a:r>
                        <a:rPr lang="en-IN" sz="1400" b="1" strike="noStrike" spc="-1">
                          <a:solidFill>
                            <a:srgbClr val="FFFFFF"/>
                          </a:solidFill>
                          <a:latin typeface="Times New Roman" panose="02020603050405020304" pitchFamily="18" charset="0"/>
                          <a:cs typeface="Times New Roman" panose="02020603050405020304" pitchFamily="18" charset="0"/>
                        </a:rPr>
                        <a:t>Limitations and reviews</a:t>
                      </a:r>
                      <a:endParaRPr lang="en-IN" sz="14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000000"/>
                    </a:solidFill>
                  </a:tcPr>
                </a:tc>
                <a:extLst>
                  <a:ext uri="{0D108BD9-81ED-4DB2-BD59-A6C34878D82A}">
                    <a16:rowId xmlns:a16="http://schemas.microsoft.com/office/drawing/2014/main" val="10000"/>
                  </a:ext>
                </a:extLst>
              </a:tr>
              <a:tr h="2813710">
                <a:tc>
                  <a:txBody>
                    <a:bodyPr/>
                    <a:lstStyle/>
                    <a:p>
                      <a:pPr algn="just" fontAlgn="t">
                        <a:lnSpc>
                          <a:spcPct val="100000"/>
                        </a:lnSpc>
                      </a:pPr>
                      <a:r>
                        <a:rPr lang="en-US" sz="1400" i="1" dirty="0">
                          <a:effectLst/>
                          <a:latin typeface="Times New Roman" panose="02020603050405020304" pitchFamily="18" charset="0"/>
                          <a:cs typeface="Times New Roman" panose="02020603050405020304" pitchFamily="18" charset="0"/>
                        </a:rPr>
                        <a:t>Investigating the Adoption of Hybrid Encrypted Cloud Data Deduplication With Game Theory</a:t>
                      </a:r>
                      <a:br>
                        <a:rPr lang="en-US" sz="1400" dirty="0">
                          <a:effectLst/>
                          <a:latin typeface="Times New Roman" panose="02020603050405020304" pitchFamily="18" charset="0"/>
                          <a:cs typeface="Times New Roman" panose="02020603050405020304" pitchFamily="18" charset="0"/>
                        </a:rPr>
                      </a:br>
                      <a:r>
                        <a:rPr lang="en-US" sz="1400" b="0" dirty="0">
                          <a:effectLst/>
                          <a:latin typeface="Times New Roman" panose="02020603050405020304" pitchFamily="18" charset="0"/>
                          <a:cs typeface="Times New Roman" panose="02020603050405020304" pitchFamily="18" charset="0"/>
                        </a:rPr>
                        <a:t>IEEE TPDS, 2021</a:t>
                      </a:r>
                    </a:p>
                    <a:p>
                      <a:pPr marL="0" marR="0" lvl="0" indent="0" algn="just" defTabSz="914400" rtl="0" eaLnBrk="1" fontAlgn="t" latinLnBrk="0" hangingPunct="1">
                        <a:lnSpc>
                          <a:spcPct val="100000"/>
                        </a:lnSpc>
                        <a:spcBef>
                          <a:spcPts val="0"/>
                        </a:spcBef>
                        <a:spcAft>
                          <a:spcPts val="0"/>
                        </a:spcAft>
                        <a:buClrTx/>
                        <a:buSzTx/>
                        <a:buFontTx/>
                        <a:buNone/>
                        <a:tabLst/>
                        <a:defRPr/>
                      </a:pPr>
                      <a:r>
                        <a:rPr lang="en-US" sz="1400" b="0" dirty="0">
                          <a:effectLst/>
                          <a:latin typeface="Times New Roman" panose="02020603050405020304" pitchFamily="18" charset="0"/>
                          <a:cs typeface="Times New Roman" panose="02020603050405020304" pitchFamily="18" charset="0"/>
                        </a:rPr>
                        <a:t>Liang et al.</a:t>
                      </a:r>
                    </a:p>
                    <a:p>
                      <a:pPr algn="just" fontAlgn="t">
                        <a:lnSpc>
                          <a:spcPct val="100000"/>
                        </a:lnSpc>
                      </a:pPr>
                      <a:endParaRPr lang="en-US" sz="1400" b="0" dirty="0">
                        <a:effectLst/>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E6E6E6"/>
                    </a:solidFill>
                  </a:tcPr>
                </a:tc>
                <a:tc>
                  <a:txBody>
                    <a:bodyPr/>
                    <a:lstStyle/>
                    <a:p>
                      <a:pPr marL="285750" indent="-285750" algn="just" fontAlgn="t">
                        <a:lnSpc>
                          <a:spcPct val="100000"/>
                        </a:lnSpc>
                        <a:buFont typeface="Arial" panose="020B0604020202020204" pitchFamily="34" charset="0"/>
                        <a:buChar char="•"/>
                      </a:pPr>
                      <a:r>
                        <a:rPr lang="en-US" sz="1400" dirty="0">
                          <a:effectLst/>
                          <a:latin typeface="Times New Roman" panose="02020603050405020304" pitchFamily="18" charset="0"/>
                          <a:cs typeface="Times New Roman" panose="02020603050405020304" pitchFamily="18" charset="0"/>
                        </a:rPr>
                        <a:t>whether Hybrid Encrypted Cloud Data Deduplication (H-DEDU) can be successfully adopted in practice. It focuses on the economic feasibility and stakeholder incentives (data holders, data owners, and Cloud Storage Providers) using game theory.</a:t>
                      </a: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E6E6E6"/>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1400" dirty="0"/>
                        <a:t>Microsoft study (reference data), Simulation experiments</a:t>
                      </a:r>
                      <a:endParaRPr lang="en-IN" sz="1400"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E6E6E6"/>
                    </a:solidFill>
                  </a:tcPr>
                </a:tc>
                <a:tc>
                  <a:txBody>
                    <a:bodyPr/>
                    <a:lstStyle/>
                    <a:p>
                      <a:pPr marL="285750" indent="-285750" algn="just" fontAlgn="t">
                        <a:lnSpc>
                          <a:spcPct val="100000"/>
                        </a:lnSpc>
                        <a:buFont typeface="Arial" panose="020B0604020202020204" pitchFamily="34" charset="0"/>
                        <a:buChar char="•"/>
                      </a:pPr>
                      <a:r>
                        <a:rPr lang="en-US" sz="1400" dirty="0">
                          <a:effectLst/>
                          <a:latin typeface="Times New Roman" panose="02020603050405020304" pitchFamily="18" charset="0"/>
                          <a:cs typeface="Times New Roman" panose="02020603050405020304" pitchFamily="18" charset="0"/>
                        </a:rPr>
                        <a:t>A multi-stage Stackelberg game (CSP Pricing Game, Owner Online Game, Holder Participation Game) effectively models stakeholder interactions.</a:t>
                      </a:r>
                    </a:p>
                    <a:p>
                      <a:pPr marL="285750" indent="-285750" algn="just" fontAlgn="t">
                        <a:lnSpc>
                          <a:spcPct val="100000"/>
                        </a:lnSpc>
                        <a:buFont typeface="Arial" panose="020B0604020202020204" pitchFamily="34" charset="0"/>
                        <a:buChar char="•"/>
                      </a:pPr>
                      <a:r>
                        <a:rPr lang="en-US" sz="1400" dirty="0">
                          <a:effectLst/>
                          <a:latin typeface="Times New Roman" panose="02020603050405020304" pitchFamily="18" charset="0"/>
                          <a:cs typeface="Times New Roman" panose="02020603050405020304" pitchFamily="18" charset="0"/>
                        </a:rPr>
                        <a:t>A gradient-based algorithm helps stakeholders converge to near-optimal strategies and reach a sub-game perfect Nash Equilibrium.</a:t>
                      </a:r>
                    </a:p>
                    <a:p>
                      <a:pPr marL="285750" indent="-285750" algn="just" fontAlgn="t">
                        <a:lnSpc>
                          <a:spcPct val="100000"/>
                        </a:lnSpc>
                        <a:buFont typeface="Arial" panose="020B0604020202020204" pitchFamily="34" charset="0"/>
                        <a:buChar char="•"/>
                      </a:pPr>
                      <a:r>
                        <a:rPr lang="en-IN" sz="1400" b="0" dirty="0"/>
                        <a:t>Incentive mechanisms </a:t>
                      </a:r>
                      <a:endParaRPr lang="en-US" sz="1400" b="0" dirty="0">
                        <a:effectLst/>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E6E6E6"/>
                    </a:solidFill>
                  </a:tcPr>
                </a:tc>
                <a:tc>
                  <a:txBody>
                    <a:bodyPr/>
                    <a:lstStyle/>
                    <a:p>
                      <a:pPr marL="285750" indent="-285750" algn="just">
                        <a:lnSpc>
                          <a:spcPct val="100000"/>
                        </a:lnSpc>
                        <a:buFont typeface="Arial" panose="020B0604020202020204" pitchFamily="34" charset="0"/>
                        <a:buChar char="•"/>
                      </a:pPr>
                      <a:r>
                        <a:rPr lang="en-US" sz="1400" dirty="0"/>
                        <a:t>Investigate personalized </a:t>
                      </a:r>
                      <a:r>
                        <a:rPr lang="en-US" sz="1400" dirty="0">
                          <a:solidFill>
                            <a:srgbClr val="FF0000"/>
                          </a:solidFill>
                        </a:rPr>
                        <a:t>incentive mechanisms</a:t>
                      </a:r>
                      <a:r>
                        <a:rPr lang="en-US" sz="1400" dirty="0"/>
                        <a:t>, privacy-preserving discounts, and behavioral economics</a:t>
                      </a:r>
                    </a:p>
                    <a:p>
                      <a:pPr marL="285750" indent="-285750" algn="just">
                        <a:lnSpc>
                          <a:spcPct val="100000"/>
                        </a:lnSpc>
                        <a:buFont typeface="Arial" panose="020B0604020202020204" pitchFamily="34" charset="0"/>
                        <a:buChar char="•"/>
                      </a:pPr>
                      <a:r>
                        <a:rPr lang="en-US" sz="1400" dirty="0">
                          <a:solidFill>
                            <a:srgbClr val="FF0000"/>
                          </a:solidFill>
                        </a:rPr>
                        <a:t>Extend to more complex utility functions </a:t>
                      </a:r>
                      <a:r>
                        <a:rPr lang="en-US" sz="1400" dirty="0"/>
                        <a:t>including encryption, backup, and trust factors</a:t>
                      </a:r>
                    </a:p>
                    <a:p>
                      <a:pPr marL="285750" indent="-285750" algn="just">
                        <a:lnSpc>
                          <a:spcPct val="100000"/>
                        </a:lnSpc>
                        <a:buFont typeface="Arial" panose="020B0604020202020204" pitchFamily="34" charset="0"/>
                        <a:buChar char="•"/>
                      </a:pPr>
                      <a:r>
                        <a:rPr lang="en-US" sz="1400" dirty="0"/>
                        <a:t>Study </a:t>
                      </a:r>
                      <a:r>
                        <a:rPr lang="en-US" sz="1400" dirty="0">
                          <a:solidFill>
                            <a:srgbClr val="FF0000"/>
                          </a:solidFill>
                        </a:rPr>
                        <a:t>real-world adversarial behaviors</a:t>
                      </a:r>
                      <a:r>
                        <a:rPr lang="en-US" sz="1400" dirty="0"/>
                        <a:t>, collusion risks, and malicious CSP strategies</a:t>
                      </a: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E6E6E6"/>
                    </a:solidFill>
                  </a:tcPr>
                </a:tc>
                <a:extLst>
                  <a:ext uri="{0D108BD9-81ED-4DB2-BD59-A6C34878D82A}">
                    <a16:rowId xmlns:a16="http://schemas.microsoft.com/office/drawing/2014/main" val="10001"/>
                  </a:ext>
                </a:extLst>
              </a:tr>
            </a:tbl>
          </a:graphicData>
        </a:graphic>
      </p:graphicFrame>
      <p:sp>
        <p:nvSpPr>
          <p:cNvPr id="4" name="Slide Number Placeholder 5">
            <a:extLst>
              <a:ext uri="{FF2B5EF4-FFF2-40B4-BE49-F238E27FC236}">
                <a16:creationId xmlns:a16="http://schemas.microsoft.com/office/drawing/2014/main" id="{2059EDED-BA02-DEF2-D05C-CC1039E0CF1F}"/>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11</a:t>
            </a:fld>
            <a:endParaRPr lang="en-IN" sz="1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36403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4D23B-3DED-F28F-6C8E-80AB91A92440}"/>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B389F4DC-1EC9-9408-813F-3BC6D57ECCBF}"/>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AC8F540E-5684-4F22-B920-55CFA5B344BF}"/>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23F31202-2DCD-0CC0-5CD5-7BA7B5E0B586}"/>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14" name="TextBox 13">
            <a:extLst>
              <a:ext uri="{FF2B5EF4-FFF2-40B4-BE49-F238E27FC236}">
                <a16:creationId xmlns:a16="http://schemas.microsoft.com/office/drawing/2014/main" id="{9B0BD8AD-921E-CF1D-9523-A39B5F42AA91}"/>
              </a:ext>
            </a:extLst>
          </p:cNvPr>
          <p:cNvSpPr txBox="1"/>
          <p:nvPr/>
        </p:nvSpPr>
        <p:spPr>
          <a:xfrm>
            <a:off x="6096000" y="190137"/>
            <a:ext cx="5622387"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Literature Review-V</a:t>
            </a:r>
          </a:p>
        </p:txBody>
      </p:sp>
      <p:graphicFrame>
        <p:nvGraphicFramePr>
          <p:cNvPr id="3" name="Table 2">
            <a:extLst>
              <a:ext uri="{FF2B5EF4-FFF2-40B4-BE49-F238E27FC236}">
                <a16:creationId xmlns:a16="http://schemas.microsoft.com/office/drawing/2014/main" id="{38B43296-EB89-9AE3-E89E-2723AE1E204E}"/>
              </a:ext>
            </a:extLst>
          </p:cNvPr>
          <p:cNvGraphicFramePr/>
          <p:nvPr>
            <p:extLst>
              <p:ext uri="{D42A27DB-BD31-4B8C-83A1-F6EECF244321}">
                <p14:modId xmlns:p14="http://schemas.microsoft.com/office/powerpoint/2010/main" val="728863884"/>
              </p:ext>
            </p:extLst>
          </p:nvPr>
        </p:nvGraphicFramePr>
        <p:xfrm>
          <a:off x="112542" y="978059"/>
          <a:ext cx="11955198" cy="5821680"/>
        </p:xfrm>
        <a:graphic>
          <a:graphicData uri="http://schemas.openxmlformats.org/drawingml/2006/table">
            <a:tbl>
              <a:tblPr/>
              <a:tblGrid>
                <a:gridCol w="2113158">
                  <a:extLst>
                    <a:ext uri="{9D8B030D-6E8A-4147-A177-3AD203B41FA5}">
                      <a16:colId xmlns:a16="http://schemas.microsoft.com/office/drawing/2014/main" val="20000"/>
                    </a:ext>
                  </a:extLst>
                </a:gridCol>
                <a:gridCol w="2333160">
                  <a:extLst>
                    <a:ext uri="{9D8B030D-6E8A-4147-A177-3AD203B41FA5}">
                      <a16:colId xmlns:a16="http://schemas.microsoft.com/office/drawing/2014/main" val="20001"/>
                    </a:ext>
                  </a:extLst>
                </a:gridCol>
                <a:gridCol w="1253160">
                  <a:extLst>
                    <a:ext uri="{9D8B030D-6E8A-4147-A177-3AD203B41FA5}">
                      <a16:colId xmlns:a16="http://schemas.microsoft.com/office/drawing/2014/main" val="20002"/>
                    </a:ext>
                  </a:extLst>
                </a:gridCol>
                <a:gridCol w="2602440">
                  <a:extLst>
                    <a:ext uri="{9D8B030D-6E8A-4147-A177-3AD203B41FA5}">
                      <a16:colId xmlns:a16="http://schemas.microsoft.com/office/drawing/2014/main" val="20003"/>
                    </a:ext>
                  </a:extLst>
                </a:gridCol>
                <a:gridCol w="3653280">
                  <a:extLst>
                    <a:ext uri="{9D8B030D-6E8A-4147-A177-3AD203B41FA5}">
                      <a16:colId xmlns:a16="http://schemas.microsoft.com/office/drawing/2014/main" val="20004"/>
                    </a:ext>
                  </a:extLst>
                </a:gridCol>
              </a:tblGrid>
              <a:tr h="322560">
                <a:tc>
                  <a:txBody>
                    <a:bodyPr/>
                    <a:lstStyle/>
                    <a:p>
                      <a:pPr algn="ctr">
                        <a:lnSpc>
                          <a:spcPct val="100000"/>
                        </a:lnSpc>
                        <a:buNone/>
                      </a:pPr>
                      <a:r>
                        <a:rPr lang="en-IN" sz="1600" b="1" strike="noStrike" spc="-1" dirty="0">
                          <a:solidFill>
                            <a:srgbClr val="FFFFFF"/>
                          </a:solidFill>
                          <a:latin typeface="Times New Roman" panose="02020603050405020304" pitchFamily="18" charset="0"/>
                          <a:cs typeface="Times New Roman" panose="02020603050405020304" pitchFamily="18" charset="0"/>
                        </a:rPr>
                        <a:t>Publication details</a:t>
                      </a:r>
                      <a:endParaRPr lang="en-IN" sz="16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000000"/>
                    </a:solidFill>
                  </a:tcPr>
                </a:tc>
                <a:tc>
                  <a:txBody>
                    <a:bodyPr/>
                    <a:lstStyle/>
                    <a:p>
                      <a:pPr algn="ctr">
                        <a:lnSpc>
                          <a:spcPct val="100000"/>
                        </a:lnSpc>
                        <a:buNone/>
                      </a:pPr>
                      <a:r>
                        <a:rPr lang="en-IN" sz="1600" b="1" strike="noStrike" spc="-1" dirty="0">
                          <a:solidFill>
                            <a:srgbClr val="FFFFFF"/>
                          </a:solidFill>
                          <a:latin typeface="Times New Roman" panose="02020603050405020304" pitchFamily="18" charset="0"/>
                          <a:cs typeface="Times New Roman" panose="02020603050405020304" pitchFamily="18" charset="0"/>
                        </a:rPr>
                        <a:t>Purpose</a:t>
                      </a:r>
                      <a:endParaRPr lang="en-IN" sz="16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000000"/>
                    </a:solidFill>
                  </a:tcPr>
                </a:tc>
                <a:tc>
                  <a:txBody>
                    <a:bodyPr/>
                    <a:lstStyle/>
                    <a:p>
                      <a:pPr algn="ctr">
                        <a:lnSpc>
                          <a:spcPct val="100000"/>
                        </a:lnSpc>
                        <a:buNone/>
                      </a:pPr>
                      <a:r>
                        <a:rPr lang="en-IN" sz="1600" b="1" strike="noStrike" spc="-1" dirty="0">
                          <a:solidFill>
                            <a:srgbClr val="FFFFFF"/>
                          </a:solidFill>
                          <a:latin typeface="Times New Roman" panose="02020603050405020304" pitchFamily="18" charset="0"/>
                          <a:cs typeface="Times New Roman" panose="02020603050405020304" pitchFamily="18" charset="0"/>
                        </a:rPr>
                        <a:t>Data </a:t>
                      </a:r>
                      <a:endParaRPr lang="en-IN" sz="16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000000"/>
                    </a:solidFill>
                  </a:tcPr>
                </a:tc>
                <a:tc>
                  <a:txBody>
                    <a:bodyPr/>
                    <a:lstStyle/>
                    <a:p>
                      <a:pPr algn="ctr">
                        <a:lnSpc>
                          <a:spcPct val="100000"/>
                        </a:lnSpc>
                        <a:buNone/>
                      </a:pPr>
                      <a:r>
                        <a:rPr lang="en-IN" sz="1600" b="1" strike="noStrike" spc="-1" dirty="0">
                          <a:solidFill>
                            <a:srgbClr val="FFFFFF"/>
                          </a:solidFill>
                          <a:latin typeface="Times New Roman" panose="02020603050405020304" pitchFamily="18" charset="0"/>
                          <a:cs typeface="Times New Roman" panose="02020603050405020304" pitchFamily="18" charset="0"/>
                        </a:rPr>
                        <a:t>Key findings</a:t>
                      </a:r>
                      <a:endParaRPr lang="en-IN" sz="16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000000"/>
                    </a:solidFill>
                  </a:tcPr>
                </a:tc>
                <a:tc>
                  <a:txBody>
                    <a:bodyPr/>
                    <a:lstStyle/>
                    <a:p>
                      <a:pPr algn="ctr">
                        <a:lnSpc>
                          <a:spcPct val="100000"/>
                        </a:lnSpc>
                        <a:buNone/>
                      </a:pPr>
                      <a:r>
                        <a:rPr lang="en-IN" sz="1600" b="1" strike="noStrike" spc="-1" dirty="0">
                          <a:solidFill>
                            <a:srgbClr val="FFFFFF"/>
                          </a:solidFill>
                          <a:latin typeface="Times New Roman" panose="02020603050405020304" pitchFamily="18" charset="0"/>
                          <a:cs typeface="Times New Roman" panose="02020603050405020304" pitchFamily="18" charset="0"/>
                        </a:rPr>
                        <a:t>Limitations and reviews</a:t>
                      </a:r>
                      <a:endParaRPr lang="en-IN" sz="16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000000"/>
                    </a:solidFill>
                  </a:tcPr>
                </a:tc>
                <a:extLst>
                  <a:ext uri="{0D108BD9-81ED-4DB2-BD59-A6C34878D82A}">
                    <a16:rowId xmlns:a16="http://schemas.microsoft.com/office/drawing/2014/main" val="10000"/>
                  </a:ext>
                </a:extLst>
              </a:tr>
              <a:tr h="2216012">
                <a:tc>
                  <a:txBody>
                    <a:bodyPr/>
                    <a:lstStyle/>
                    <a:p>
                      <a:r>
                        <a:rPr lang="en-IN" sz="1400" i="1" dirty="0"/>
                        <a:t>Exploration-Exploitation in Multi-Agent Learning: Catastrophe Theory Meets Game Theory - </a:t>
                      </a:r>
                      <a:r>
                        <a:rPr lang="en-IN" sz="1400" i="1" dirty="0" err="1"/>
                        <a:t>arXiv</a:t>
                      </a:r>
                      <a:r>
                        <a:rPr lang="en-IN" sz="1400" i="1" dirty="0"/>
                        <a:t> preprint, Dec 2020. </a:t>
                      </a:r>
                    </a:p>
                    <a:p>
                      <a:r>
                        <a:rPr lang="en-IN" sz="1400" i="1" dirty="0"/>
                        <a:t>Leonardos et al.</a:t>
                      </a: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E6E6E6"/>
                    </a:solidFill>
                  </a:tcPr>
                </a:tc>
                <a:tc>
                  <a:txBody>
                    <a:bodyPr/>
                    <a:lstStyle/>
                    <a:p>
                      <a:pPr marL="285750" indent="-285750" algn="l" fontAlgn="t">
                        <a:lnSpc>
                          <a:spcPct val="100000"/>
                        </a:lnSpc>
                        <a:buFont typeface="Arial" panose="020B0604020202020204" pitchFamily="34" charset="0"/>
                        <a:buChar char="•"/>
                      </a:pPr>
                      <a:r>
                        <a:rPr lang="en-US" sz="1400" dirty="0">
                          <a:effectLst/>
                          <a:latin typeface="Times New Roman" panose="02020603050405020304" pitchFamily="18" charset="0"/>
                          <a:cs typeface="Times New Roman" panose="02020603050405020304" pitchFamily="18" charset="0"/>
                        </a:rPr>
                        <a:t>Developed Smooth Q-Learning (SQL) dynamics and linked them to Quantal Response Equilibria (QRE); used catastrophe theory to analyze bifurcations in learning dynamics</a:t>
                      </a: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E6E6E6"/>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400" dirty="0">
                          <a:effectLst/>
                          <a:latin typeface="Times New Roman" panose="02020603050405020304" pitchFamily="18" charset="0"/>
                          <a:cs typeface="Times New Roman" panose="02020603050405020304" pitchFamily="18" charset="0"/>
                        </a:rPr>
                        <a:t>Synthetic simulations of multi-agent games</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IN" sz="1400"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E6E6E6"/>
                    </a:solidFill>
                  </a:tcPr>
                </a:tc>
                <a:tc>
                  <a:txBody>
                    <a:bodyPr/>
                    <a:lstStyle/>
                    <a:p>
                      <a:pPr marL="285750" indent="-285750" algn="l" fontAlgn="t">
                        <a:lnSpc>
                          <a:spcPct val="100000"/>
                        </a:lnSpc>
                        <a:buFont typeface="Arial" panose="020B0604020202020204" pitchFamily="34" charset="0"/>
                        <a:buChar char="•"/>
                      </a:pPr>
                      <a:r>
                        <a:rPr lang="en-US" sz="1400" dirty="0">
                          <a:effectLst/>
                          <a:latin typeface="Times New Roman" panose="02020603050405020304" pitchFamily="18" charset="0"/>
                          <a:cs typeface="Times New Roman" panose="02020603050405020304" pitchFamily="18" charset="0"/>
                        </a:rPr>
                        <a:t>SQL converges to QRE with bounded regret; exploration can cause phase transitions with unpredictable outcomes; equilibrium selection is path-dependent and sensitive to exploration parameters</a:t>
                      </a: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E6E6E6"/>
                    </a:solidFill>
                  </a:tcPr>
                </a:tc>
                <a:tc>
                  <a:txBody>
                    <a:bodyPr/>
                    <a:lstStyle/>
                    <a:p>
                      <a:pPr marL="285750" indent="-285750">
                        <a:buFont typeface="Arial" panose="020B0604020202020204" pitchFamily="34" charset="0"/>
                        <a:buChar char="•"/>
                      </a:pPr>
                      <a:r>
                        <a:rPr lang="en-US" sz="1400" dirty="0"/>
                        <a:t>Highly sensitive to exploration parameter tuning; outcomes path-dependent.</a:t>
                      </a:r>
                    </a:p>
                    <a:p>
                      <a:pPr marL="285750" indent="-285750">
                        <a:buFont typeface="Arial" panose="020B0604020202020204" pitchFamily="34" charset="0"/>
                        <a:buChar char="•"/>
                      </a:pPr>
                      <a:r>
                        <a:rPr lang="en-US" sz="1400" dirty="0"/>
                        <a:t>Focused on stateless matrix and coordination games; </a:t>
                      </a:r>
                      <a:r>
                        <a:rPr lang="en-US" sz="1400" dirty="0">
                          <a:solidFill>
                            <a:srgbClr val="FF0000"/>
                          </a:solidFill>
                        </a:rPr>
                        <a:t>extension to complex dynamic environments remains open. </a:t>
                      </a:r>
                    </a:p>
                    <a:p>
                      <a:pPr marL="285750" indent="-285750">
                        <a:buFont typeface="Arial" panose="020B0604020202020204" pitchFamily="34" charset="0"/>
                        <a:buChar char="•"/>
                      </a:pPr>
                      <a:r>
                        <a:rPr lang="en-US" sz="1400" dirty="0"/>
                        <a:t>Exploration can destabilize equilibria, making performance unpredictable. </a:t>
                      </a:r>
                    </a:p>
                    <a:p>
                      <a:pPr marL="285750" indent="-285750">
                        <a:buFont typeface="Arial" panose="020B0604020202020204" pitchFamily="34" charset="0"/>
                        <a:buChar char="•"/>
                      </a:pPr>
                      <a:r>
                        <a:rPr lang="en-US" sz="1400" dirty="0"/>
                        <a:t>Provides theoretical insight but </a:t>
                      </a:r>
                      <a:r>
                        <a:rPr lang="en-US" sz="1400" dirty="0">
                          <a:solidFill>
                            <a:srgbClr val="FF0000"/>
                          </a:solidFill>
                        </a:rPr>
                        <a:t>limited empirical validation </a:t>
                      </a:r>
                      <a:r>
                        <a:rPr lang="en-US" sz="1400" dirty="0"/>
                        <a:t>in large-scale real-world systems.</a:t>
                      </a: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E6E6E6"/>
                    </a:solidFill>
                  </a:tcPr>
                </a:tc>
                <a:extLst>
                  <a:ext uri="{0D108BD9-81ED-4DB2-BD59-A6C34878D82A}">
                    <a16:rowId xmlns:a16="http://schemas.microsoft.com/office/drawing/2014/main" val="10001"/>
                  </a:ext>
                </a:extLst>
              </a:tr>
              <a:tr h="2095200">
                <a:tc>
                  <a:txBody>
                    <a:bodyPr/>
                    <a:lstStyle/>
                    <a:p>
                      <a:r>
                        <a:rPr lang="en-IN" sz="1300" i="1" dirty="0"/>
                        <a:t>Certified Data Removal from Machine Learning Models – Proceedings of the 37th International Conference on Machine Learning (ICML), 2020. Guo et al.</a:t>
                      </a: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FFFFFF"/>
                    </a:solidFill>
                  </a:tcPr>
                </a:tc>
                <a:tc>
                  <a:txBody>
                    <a:bodyPr/>
                    <a:lstStyle/>
                    <a:p>
                      <a:pPr marL="216000" marR="0" indent="-216000" algn="l" defTabSz="914400" rtl="0" eaLnBrk="1" fontAlgn="auto" latinLnBrk="0" hangingPunct="1">
                        <a:lnSpc>
                          <a:spcPct val="100000"/>
                        </a:lnSpc>
                        <a:spcBef>
                          <a:spcPts val="0"/>
                        </a:spcBef>
                        <a:spcAft>
                          <a:spcPts val="0"/>
                        </a:spcAft>
                        <a:buClr>
                          <a:srgbClr val="000000"/>
                        </a:buClr>
                        <a:buSzPct val="45000"/>
                        <a:buFont typeface="Wingdings" charset="2"/>
                        <a:buChar char=""/>
                        <a:tabLst/>
                        <a:defRPr/>
                      </a:pPr>
                      <a:r>
                        <a:rPr lang="en-US" sz="1300" b="0" strike="noStrike" spc="-1" dirty="0">
                          <a:latin typeface="Times New Roman" panose="02020603050405020304" pitchFamily="18" charset="0"/>
                          <a:cs typeface="Times New Roman" panose="02020603050405020304" pitchFamily="18" charset="0"/>
                        </a:rPr>
                        <a:t>To define and implement certified removal, a strong guarantee that deleted data cannot be distinguished from data never seen by the model, thereby protecting against membership inference attacks.</a:t>
                      </a: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FFFFFF"/>
                    </a:solidFill>
                  </a:tcPr>
                </a:tc>
                <a:tc>
                  <a:txBody>
                    <a:bodyPr/>
                    <a:lstStyle/>
                    <a:p>
                      <a:pPr algn="just">
                        <a:lnSpc>
                          <a:spcPct val="100000"/>
                        </a:lnSpc>
                        <a:buNone/>
                      </a:pPr>
                      <a:r>
                        <a:rPr lang="en-US" sz="1300" b="0" strike="noStrike" spc="-1" dirty="0">
                          <a:latin typeface="Times New Roman" panose="02020603050405020304" pitchFamily="18" charset="0"/>
                          <a:cs typeface="Times New Roman" panose="02020603050405020304" pitchFamily="18" charset="0"/>
                        </a:rPr>
                        <a:t>MNIST, LSUN, SST, and SVHN.</a:t>
                      </a:r>
                    </a:p>
                    <a:p>
                      <a:pPr algn="just">
                        <a:lnSpc>
                          <a:spcPct val="100000"/>
                        </a:lnSpc>
                        <a:buNone/>
                      </a:pPr>
                      <a:endParaRPr lang="en-IN" sz="1300" b="0" strike="noStrike" spc="-1" dirty="0">
                        <a:latin typeface="Times New Roman" panose="02020603050405020304" pitchFamily="18" charset="0"/>
                        <a:cs typeface="Times New Roman" panose="02020603050405020304" pitchFamily="18" charset="0"/>
                      </a:endParaRP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FFFFFF"/>
                    </a:solidFill>
                  </a:tcPr>
                </a:tc>
                <a:tc>
                  <a:txBody>
                    <a:bodyPr/>
                    <a:lstStyle/>
                    <a:p>
                      <a:pPr marL="285750" indent="-285750">
                        <a:buFont typeface="Arial" panose="020B0604020202020204" pitchFamily="34" charset="0"/>
                        <a:buChar char="•"/>
                      </a:pPr>
                      <a:r>
                        <a:rPr lang="en-US" sz="1300" dirty="0"/>
                        <a:t>Introduced </a:t>
                      </a:r>
                      <a:r>
                        <a:rPr lang="en-US" sz="1300" b="1" dirty="0"/>
                        <a:t>Newton update mechanism</a:t>
                      </a:r>
                      <a:r>
                        <a:rPr lang="en-US" sz="1300" dirty="0"/>
                        <a:t> for efficient removal. </a:t>
                      </a:r>
                    </a:p>
                    <a:p>
                      <a:pPr marL="285750" indent="-285750">
                        <a:buFont typeface="Arial" panose="020B0604020202020204" pitchFamily="34" charset="0"/>
                        <a:buChar char="•"/>
                      </a:pPr>
                      <a:r>
                        <a:rPr lang="en-US" sz="1300" dirty="0"/>
                        <a:t>Achieved certified removal guarantees with added </a:t>
                      </a:r>
                      <a:r>
                        <a:rPr lang="en-US" sz="1300" b="1" dirty="0"/>
                        <a:t>loss perturbation</a:t>
                      </a:r>
                      <a:r>
                        <a:rPr lang="en-US" sz="1300" dirty="0"/>
                        <a:t>. </a:t>
                      </a:r>
                    </a:p>
                    <a:p>
                      <a:pPr marL="285750" indent="-285750">
                        <a:buFont typeface="Arial" panose="020B0604020202020204" pitchFamily="34" charset="0"/>
                        <a:buChar char="•"/>
                      </a:pPr>
                      <a:r>
                        <a:rPr lang="en-US" sz="1300" dirty="0"/>
                        <a:t>Removal is </a:t>
                      </a:r>
                      <a:r>
                        <a:rPr lang="en-US" sz="1300" b="1" dirty="0"/>
                        <a:t>orders of magnitude faster</a:t>
                      </a:r>
                      <a:r>
                        <a:rPr lang="en-US" sz="1300" dirty="0"/>
                        <a:t> than retraining (e.g., 0.04s vs. 15.6s on MNIST). </a:t>
                      </a:r>
                    </a:p>
                    <a:p>
                      <a:pPr marL="285750" indent="-285750">
                        <a:buFont typeface="Arial" panose="020B0604020202020204" pitchFamily="34" charset="0"/>
                        <a:buChar char="•"/>
                      </a:pPr>
                      <a:r>
                        <a:rPr lang="en-US" sz="1300" dirty="0"/>
                        <a:t>Supported multiple and batch removals with bounded residual errors.</a:t>
                      </a:r>
                    </a:p>
                    <a:p>
                      <a:pPr marL="285750" indent="-285750">
                        <a:buFont typeface="Arial" panose="020B0604020202020204" pitchFamily="34" charset="0"/>
                        <a:buChar char="•"/>
                      </a:pPr>
                      <a:r>
                        <a:rPr lang="en-US" sz="1300" dirty="0"/>
                        <a:t>Demonstrated practical feasibility for both linear and hybrid models.</a:t>
                      </a: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FFFFFF"/>
                    </a:solidFill>
                  </a:tcPr>
                </a:tc>
                <a:tc>
                  <a:txBody>
                    <a:bodyPr/>
                    <a:lstStyle/>
                    <a:p>
                      <a:pPr marL="285750" indent="-285750">
                        <a:buFont typeface="Arial" panose="020B0604020202020204" pitchFamily="34" charset="0"/>
                        <a:buChar char="•"/>
                      </a:pPr>
                      <a:r>
                        <a:rPr lang="en-US" sz="1300" dirty="0"/>
                        <a:t>Primarily applicable to linear models; </a:t>
                      </a:r>
                      <a:r>
                        <a:rPr lang="en-US" sz="1300" dirty="0">
                          <a:solidFill>
                            <a:srgbClr val="FF0000"/>
                          </a:solidFill>
                        </a:rPr>
                        <a:t>extension to deep networks </a:t>
                      </a:r>
                      <a:r>
                        <a:rPr lang="en-US" sz="1300" dirty="0"/>
                        <a:t>requires DP feature extractors. </a:t>
                      </a:r>
                    </a:p>
                    <a:p>
                      <a:pPr marL="285750" indent="-285750">
                        <a:buFont typeface="Arial" panose="020B0604020202020204" pitchFamily="34" charset="0"/>
                        <a:buChar char="•"/>
                      </a:pPr>
                      <a:r>
                        <a:rPr lang="en-US" sz="1300" dirty="0"/>
                        <a:t>Accuracy trade-offs due to perturbation and regularization. </a:t>
                      </a:r>
                    </a:p>
                    <a:p>
                      <a:pPr marL="285750" indent="-285750">
                        <a:buFont typeface="Arial" panose="020B0604020202020204" pitchFamily="34" charset="0"/>
                        <a:buChar char="•"/>
                      </a:pPr>
                      <a:r>
                        <a:rPr lang="en-US" sz="1300" dirty="0"/>
                        <a:t>Removal guarantees depend on tightness of gradient residual bounds. </a:t>
                      </a:r>
                    </a:p>
                    <a:p>
                      <a:pPr marL="285750" indent="-285750">
                        <a:buFont typeface="Arial" panose="020B0604020202020204" pitchFamily="34" charset="0"/>
                        <a:buChar char="•"/>
                      </a:pPr>
                      <a:r>
                        <a:rPr lang="en-US" sz="1300" dirty="0">
                          <a:solidFill>
                            <a:srgbClr val="FF0000"/>
                          </a:solidFill>
                        </a:rPr>
                        <a:t>Outlier data harder to remove </a:t>
                      </a:r>
                      <a:r>
                        <a:rPr lang="en-US" sz="1300" dirty="0"/>
                        <a:t>due to memorization effects</a:t>
                      </a:r>
                    </a:p>
                  </a:txBody>
                  <a:tcPr marL="90000" marR="90000">
                    <a:lnL w="10800">
                      <a:solidFill>
                        <a:srgbClr val="000000"/>
                      </a:solidFill>
                    </a:lnL>
                    <a:lnR w="10800">
                      <a:solidFill>
                        <a:srgbClr val="000000"/>
                      </a:solidFill>
                    </a:lnR>
                    <a:lnT w="10800">
                      <a:solidFill>
                        <a:srgbClr val="000000"/>
                      </a:solidFill>
                    </a:lnT>
                    <a:lnB w="10800">
                      <a:solidFill>
                        <a:srgbClr val="000000"/>
                      </a:solidFill>
                    </a:lnB>
                    <a:solidFill>
                      <a:srgbClr val="FFFFFF"/>
                    </a:solidFill>
                  </a:tcPr>
                </a:tc>
                <a:extLst>
                  <a:ext uri="{0D108BD9-81ED-4DB2-BD59-A6C34878D82A}">
                    <a16:rowId xmlns:a16="http://schemas.microsoft.com/office/drawing/2014/main" val="10002"/>
                  </a:ext>
                </a:extLst>
              </a:tr>
            </a:tbl>
          </a:graphicData>
        </a:graphic>
      </p:graphicFrame>
      <p:sp>
        <p:nvSpPr>
          <p:cNvPr id="4" name="Slide Number Placeholder 5">
            <a:extLst>
              <a:ext uri="{FF2B5EF4-FFF2-40B4-BE49-F238E27FC236}">
                <a16:creationId xmlns:a16="http://schemas.microsoft.com/office/drawing/2014/main" id="{0D8748B8-DD51-EA5E-4785-D55472B39471}"/>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12</a:t>
            </a:fld>
            <a:endParaRPr lang="en-IN" sz="1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04505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F5AC6-9775-00E7-E59F-FFDE1907C3CD}"/>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7739E2A3-0E55-D2AB-494E-F82719EFA2ED}"/>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EB72DDF4-7711-26F2-B567-B964BE3BF421}"/>
                </a:ext>
              </a:extLst>
            </p:cNvPr>
            <p:cNvPicPr>
              <a:picLocks noChangeAspect="1"/>
            </p:cNvPicPr>
            <p:nvPr/>
          </p:nvPicPr>
          <p:blipFill rotWithShape="1">
            <a:blip r:embed="rId3">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D1DF1602-81CF-BCD5-C504-3FE66815F04E}"/>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14" name="TextBox 13">
            <a:extLst>
              <a:ext uri="{FF2B5EF4-FFF2-40B4-BE49-F238E27FC236}">
                <a16:creationId xmlns:a16="http://schemas.microsoft.com/office/drawing/2014/main" id="{CD360D49-1A71-DB68-68B6-835B7683E99B}"/>
              </a:ext>
            </a:extLst>
          </p:cNvPr>
          <p:cNvSpPr txBox="1"/>
          <p:nvPr/>
        </p:nvSpPr>
        <p:spPr>
          <a:xfrm>
            <a:off x="718868" y="75117"/>
            <a:ext cx="10999519"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Literature Review-V </a:t>
            </a:r>
          </a:p>
        </p:txBody>
      </p:sp>
      <p:sp>
        <p:nvSpPr>
          <p:cNvPr id="4" name="TextBox 3">
            <a:extLst>
              <a:ext uri="{FF2B5EF4-FFF2-40B4-BE49-F238E27FC236}">
                <a16:creationId xmlns:a16="http://schemas.microsoft.com/office/drawing/2014/main" id="{7F788A15-EBFE-3F59-7007-BD1CBDFFC9BA}"/>
              </a:ext>
            </a:extLst>
          </p:cNvPr>
          <p:cNvSpPr txBox="1"/>
          <p:nvPr/>
        </p:nvSpPr>
        <p:spPr>
          <a:xfrm>
            <a:off x="759655" y="1150572"/>
            <a:ext cx="10958732" cy="5450851"/>
          </a:xfrm>
          <a:prstGeom prst="rect">
            <a:avLst/>
          </a:prstGeom>
          <a:noFill/>
        </p:spPr>
        <p:txBody>
          <a:bodyPr wrap="square">
            <a:spAutoFit/>
          </a:bodyPr>
          <a:lstStyle/>
          <a:p>
            <a:pPr>
              <a:lnSpc>
                <a:spcPct val="150000"/>
              </a:lnSpc>
            </a:pPr>
            <a:r>
              <a:rPr lang="en-US" b="1" dirty="0"/>
              <a:t>From the literature survey, the following findings are noted: </a:t>
            </a:r>
          </a:p>
          <a:p>
            <a:pPr marL="285750" indent="-285750" algn="just">
              <a:lnSpc>
                <a:spcPct val="150000"/>
              </a:lnSpc>
              <a:buFont typeface="Arial" panose="020B0604020202020204" pitchFamily="34" charset="0"/>
              <a:buChar char="•"/>
            </a:pPr>
            <a:r>
              <a:rPr lang="en-US" dirty="0"/>
              <a:t>Existing work shows </a:t>
            </a:r>
            <a:r>
              <a:rPr lang="en-US" b="1" dirty="0"/>
              <a:t>promise </a:t>
            </a:r>
            <a:r>
              <a:rPr lang="en-US" dirty="0"/>
              <a:t>in applying game theory to privacy and incentive mechanisms, remain </a:t>
            </a:r>
            <a:r>
              <a:rPr lang="en-US" b="1" dirty="0"/>
              <a:t>underexplored</a:t>
            </a:r>
            <a:r>
              <a:rPr lang="en-US" dirty="0"/>
              <a:t>. </a:t>
            </a:r>
          </a:p>
          <a:p>
            <a:pPr marL="285750" indent="-285750" algn="just">
              <a:lnSpc>
                <a:spcPct val="150000"/>
              </a:lnSpc>
              <a:buFont typeface="Arial" panose="020B0604020202020204" pitchFamily="34" charset="0"/>
              <a:buChar char="•"/>
            </a:pPr>
            <a:r>
              <a:rPr lang="en-US" dirty="0"/>
              <a:t>Current unlearning approaches focus on data-level deletion, </a:t>
            </a:r>
            <a:r>
              <a:rPr lang="en-US" b="1" dirty="0"/>
              <a:t>with limited attention to feature-aware strategies </a:t>
            </a:r>
            <a:r>
              <a:rPr lang="en-US" dirty="0"/>
              <a:t>(extraction, generation, selection).</a:t>
            </a:r>
          </a:p>
          <a:p>
            <a:pPr marL="285750" indent="-285750" algn="just">
              <a:lnSpc>
                <a:spcPct val="150000"/>
              </a:lnSpc>
              <a:buFont typeface="Arial" panose="020B0604020202020204" pitchFamily="34" charset="0"/>
              <a:buChar char="•"/>
            </a:pPr>
            <a:r>
              <a:rPr lang="en-US" dirty="0"/>
              <a:t>A deeper </a:t>
            </a:r>
            <a:r>
              <a:rPr lang="en-US" b="1" dirty="0"/>
              <a:t>exploration of Attack Model </a:t>
            </a:r>
            <a:r>
              <a:rPr lang="en-US" dirty="0"/>
              <a:t>threats in the context of trained ML models is essential to ensure resilience.</a:t>
            </a:r>
          </a:p>
          <a:p>
            <a:pPr marL="285750" indent="-285750" algn="just">
              <a:lnSpc>
                <a:spcPct val="150000"/>
              </a:lnSpc>
              <a:buFont typeface="Arial" panose="020B0604020202020204" pitchFamily="34" charset="0"/>
              <a:buChar char="•"/>
            </a:pPr>
            <a:r>
              <a:rPr lang="en-US" dirty="0"/>
              <a:t>Literature emphasizes technical solutions but lacks economic and behavioral </a:t>
            </a:r>
            <a:r>
              <a:rPr lang="en-US" b="1" dirty="0"/>
              <a:t>incentives</a:t>
            </a:r>
            <a:r>
              <a:rPr lang="en-US" dirty="0"/>
              <a:t> for responsible data sharing.</a:t>
            </a:r>
          </a:p>
          <a:p>
            <a:pPr marL="285750" indent="-285750" algn="just">
              <a:lnSpc>
                <a:spcPct val="150000"/>
              </a:lnSpc>
              <a:buFont typeface="Arial" panose="020B0604020202020204" pitchFamily="34" charset="0"/>
              <a:buChar char="•"/>
            </a:pPr>
            <a:r>
              <a:rPr lang="en-US" dirty="0"/>
              <a:t>Applying </a:t>
            </a:r>
            <a:r>
              <a:rPr lang="en-US" b="1" dirty="0"/>
              <a:t>unlearning to large language models </a:t>
            </a:r>
            <a:r>
              <a:rPr lang="en-US" dirty="0"/>
              <a:t>with billions of parameters remains a major challenge.</a:t>
            </a:r>
          </a:p>
          <a:p>
            <a:pPr marL="285750" indent="-285750" algn="just">
              <a:lnSpc>
                <a:spcPct val="150000"/>
              </a:lnSpc>
              <a:buFont typeface="Arial" panose="020B0604020202020204" pitchFamily="34" charset="0"/>
              <a:buChar char="•"/>
            </a:pPr>
            <a:r>
              <a:rPr lang="en-US" dirty="0"/>
              <a:t>Most research assumes </a:t>
            </a:r>
            <a:r>
              <a:rPr lang="en-US" b="1" dirty="0"/>
              <a:t>static datasets, overlooking streaming data </a:t>
            </a:r>
            <a:r>
              <a:rPr lang="en-US" dirty="0"/>
              <a:t>ecosystems and sequential deletion requests.</a:t>
            </a:r>
          </a:p>
          <a:p>
            <a:pPr>
              <a:lnSpc>
                <a:spcPct val="150000"/>
              </a:lnSpc>
            </a:pPr>
            <a:endParaRPr lang="en-US" dirty="0"/>
          </a:p>
        </p:txBody>
      </p:sp>
    </p:spTree>
    <p:extLst>
      <p:ext uri="{BB962C8B-B14F-4D97-AF65-F5344CB8AC3E}">
        <p14:creationId xmlns:p14="http://schemas.microsoft.com/office/powerpoint/2010/main" val="35177470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C7037-7145-461F-4C4D-609DC3E171E1}"/>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A04FA54D-7FF5-A0D4-E0D6-E6011044A7D2}"/>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5F820033-4391-62BC-2ADC-58FA3299CB84}"/>
                </a:ext>
              </a:extLst>
            </p:cNvPr>
            <p:cNvPicPr>
              <a:picLocks noChangeAspect="1"/>
            </p:cNvPicPr>
            <p:nvPr/>
          </p:nvPicPr>
          <p:blipFill rotWithShape="1">
            <a:blip r:embed="rId3">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DD38E426-1D94-53BE-5583-3BC32D07B7C8}"/>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14" name="TextBox 13">
            <a:extLst>
              <a:ext uri="{FF2B5EF4-FFF2-40B4-BE49-F238E27FC236}">
                <a16:creationId xmlns:a16="http://schemas.microsoft.com/office/drawing/2014/main" id="{A4F9017D-77FC-1E85-05BC-FB241CBB1B0F}"/>
              </a:ext>
            </a:extLst>
          </p:cNvPr>
          <p:cNvSpPr txBox="1"/>
          <p:nvPr/>
        </p:nvSpPr>
        <p:spPr>
          <a:xfrm>
            <a:off x="6096000" y="190137"/>
            <a:ext cx="5622387"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Research Gaps Identified</a:t>
            </a:r>
          </a:p>
        </p:txBody>
      </p:sp>
      <p:graphicFrame>
        <p:nvGraphicFramePr>
          <p:cNvPr id="3" name="Diagram 2">
            <a:extLst>
              <a:ext uri="{FF2B5EF4-FFF2-40B4-BE49-F238E27FC236}">
                <a16:creationId xmlns:a16="http://schemas.microsoft.com/office/drawing/2014/main" id="{A83D2C1C-7117-2400-BE28-AA7C6297E649}"/>
              </a:ext>
            </a:extLst>
          </p:cNvPr>
          <p:cNvGraphicFramePr/>
          <p:nvPr>
            <p:extLst>
              <p:ext uri="{D42A27DB-BD31-4B8C-83A1-F6EECF244321}">
                <p14:modId xmlns:p14="http://schemas.microsoft.com/office/powerpoint/2010/main" val="2243756004"/>
              </p:ext>
            </p:extLst>
          </p:nvPr>
        </p:nvGraphicFramePr>
        <p:xfrm>
          <a:off x="813072" y="1084737"/>
          <a:ext cx="10176981" cy="343513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Slide Number Placeholder 5">
            <a:extLst>
              <a:ext uri="{FF2B5EF4-FFF2-40B4-BE49-F238E27FC236}">
                <a16:creationId xmlns:a16="http://schemas.microsoft.com/office/drawing/2014/main" id="{1295ED60-58EA-DA17-32E0-CCBEC4A02C8A}"/>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14</a:t>
            </a:fld>
            <a:endParaRPr lang="en-IN" sz="1400" dirty="0">
              <a:solidFill>
                <a:schemeClr val="tx1"/>
              </a:solidFill>
              <a:latin typeface="Times New Roman" panose="02020603050405020304" pitchFamily="18" charset="0"/>
              <a:cs typeface="Times New Roman" panose="02020603050405020304" pitchFamily="18" charset="0"/>
            </a:endParaRPr>
          </a:p>
        </p:txBody>
      </p:sp>
      <p:graphicFrame>
        <p:nvGraphicFramePr>
          <p:cNvPr id="11" name="Diagram 10">
            <a:extLst>
              <a:ext uri="{FF2B5EF4-FFF2-40B4-BE49-F238E27FC236}">
                <a16:creationId xmlns:a16="http://schemas.microsoft.com/office/drawing/2014/main" id="{23C2172D-BF1E-2E64-A660-7875412D8CBD}"/>
              </a:ext>
            </a:extLst>
          </p:cNvPr>
          <p:cNvGraphicFramePr/>
          <p:nvPr>
            <p:extLst>
              <p:ext uri="{D42A27DB-BD31-4B8C-83A1-F6EECF244321}">
                <p14:modId xmlns:p14="http://schemas.microsoft.com/office/powerpoint/2010/main" val="1629821555"/>
              </p:ext>
            </p:extLst>
          </p:nvPr>
        </p:nvGraphicFramePr>
        <p:xfrm>
          <a:off x="813072" y="4595000"/>
          <a:ext cx="10176981" cy="1779561"/>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33805357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76CA3-0F42-4BAD-615B-F0ECBFA28B11}"/>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34699FE8-2387-4DE4-9289-A489198BBB72}"/>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0ED8F9A3-9AE8-9E8A-F3C2-AAC74972986E}"/>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3C7E2106-A14A-9D6F-1E38-D802649F6578}"/>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14" name="TextBox 13">
            <a:extLst>
              <a:ext uri="{FF2B5EF4-FFF2-40B4-BE49-F238E27FC236}">
                <a16:creationId xmlns:a16="http://schemas.microsoft.com/office/drawing/2014/main" id="{B4C9A1E1-9B47-33BB-97A5-2EA508C10B87}"/>
              </a:ext>
            </a:extLst>
          </p:cNvPr>
          <p:cNvSpPr txBox="1"/>
          <p:nvPr/>
        </p:nvSpPr>
        <p:spPr>
          <a:xfrm>
            <a:off x="3522689" y="190137"/>
            <a:ext cx="8195699"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Research Gaps to Objectives Mapping</a:t>
            </a:r>
          </a:p>
        </p:txBody>
      </p:sp>
      <p:graphicFrame>
        <p:nvGraphicFramePr>
          <p:cNvPr id="3" name="Diagram 2">
            <a:extLst>
              <a:ext uri="{FF2B5EF4-FFF2-40B4-BE49-F238E27FC236}">
                <a16:creationId xmlns:a16="http://schemas.microsoft.com/office/drawing/2014/main" id="{F1A0312F-424A-2F42-478B-F01390DF3773}"/>
              </a:ext>
            </a:extLst>
          </p:cNvPr>
          <p:cNvGraphicFramePr/>
          <p:nvPr>
            <p:extLst>
              <p:ext uri="{D42A27DB-BD31-4B8C-83A1-F6EECF244321}">
                <p14:modId xmlns:p14="http://schemas.microsoft.com/office/powerpoint/2010/main" val="2950947617"/>
              </p:ext>
            </p:extLst>
          </p:nvPr>
        </p:nvGraphicFramePr>
        <p:xfrm>
          <a:off x="759655" y="1077195"/>
          <a:ext cx="4726745" cy="51604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6" name="Straight Arrow Connector 5">
            <a:extLst>
              <a:ext uri="{FF2B5EF4-FFF2-40B4-BE49-F238E27FC236}">
                <a16:creationId xmlns:a16="http://schemas.microsoft.com/office/drawing/2014/main" id="{FA130C51-D3C0-FAD2-B9C7-E2C839AF23F1}"/>
              </a:ext>
            </a:extLst>
          </p:cNvPr>
          <p:cNvCxnSpPr>
            <a:cxnSpLocks/>
          </p:cNvCxnSpPr>
          <p:nvPr/>
        </p:nvCxnSpPr>
        <p:spPr>
          <a:xfrm>
            <a:off x="5483940" y="2276867"/>
            <a:ext cx="1219200" cy="958702"/>
          </a:xfrm>
          <a:prstGeom prst="straightConnector1">
            <a:avLst/>
          </a:prstGeom>
          <a:ln w="31750">
            <a:prstDash val="dash"/>
            <a:headEnd w="lg" len="lg"/>
            <a:tailEnd type="stealth" w="lg" len="lg"/>
          </a:ln>
        </p:spPr>
        <p:style>
          <a:lnRef idx="1">
            <a:schemeClr val="accent2"/>
          </a:lnRef>
          <a:fillRef idx="0">
            <a:schemeClr val="accent2"/>
          </a:fillRef>
          <a:effectRef idx="0">
            <a:schemeClr val="accent2"/>
          </a:effectRef>
          <a:fontRef idx="minor">
            <a:schemeClr val="tx1"/>
          </a:fontRef>
        </p:style>
      </p:cxnSp>
      <p:cxnSp>
        <p:nvCxnSpPr>
          <p:cNvPr id="7" name="Straight Arrow Connector 6">
            <a:extLst>
              <a:ext uri="{FF2B5EF4-FFF2-40B4-BE49-F238E27FC236}">
                <a16:creationId xmlns:a16="http://schemas.microsoft.com/office/drawing/2014/main" id="{01CF57D8-85AF-F5F4-EC0A-69A019C0DF29}"/>
              </a:ext>
            </a:extLst>
          </p:cNvPr>
          <p:cNvCxnSpPr>
            <a:cxnSpLocks/>
          </p:cNvCxnSpPr>
          <p:nvPr/>
        </p:nvCxnSpPr>
        <p:spPr>
          <a:xfrm flipV="1">
            <a:off x="5486400" y="1861481"/>
            <a:ext cx="1219200" cy="1374088"/>
          </a:xfrm>
          <a:prstGeom prst="straightConnector1">
            <a:avLst/>
          </a:prstGeom>
          <a:ln w="31750">
            <a:solidFill>
              <a:srgbClr val="D17B5C"/>
            </a:solidFill>
            <a:prstDash val="dash"/>
            <a:headEnd w="lg" len="lg"/>
            <a:tailEnd type="stealth" w="lg" len="lg"/>
          </a:ln>
        </p:spPr>
        <p:style>
          <a:lnRef idx="1">
            <a:schemeClr val="accent2"/>
          </a:lnRef>
          <a:fillRef idx="0">
            <a:schemeClr val="accent2"/>
          </a:fillRef>
          <a:effectRef idx="0">
            <a:schemeClr val="accent2"/>
          </a:effectRef>
          <a:fontRef idx="minor">
            <a:schemeClr val="tx1"/>
          </a:fontRef>
        </p:style>
      </p:cxnSp>
      <p:cxnSp>
        <p:nvCxnSpPr>
          <p:cNvPr id="13" name="Straight Arrow Connector 12">
            <a:extLst>
              <a:ext uri="{FF2B5EF4-FFF2-40B4-BE49-F238E27FC236}">
                <a16:creationId xmlns:a16="http://schemas.microsoft.com/office/drawing/2014/main" id="{510C31B0-BFBB-BAD5-BC53-6EC09061135D}"/>
              </a:ext>
            </a:extLst>
          </p:cNvPr>
          <p:cNvCxnSpPr>
            <a:cxnSpLocks/>
          </p:cNvCxnSpPr>
          <p:nvPr/>
        </p:nvCxnSpPr>
        <p:spPr>
          <a:xfrm flipV="1">
            <a:off x="5486400" y="2053087"/>
            <a:ext cx="1173192" cy="2038472"/>
          </a:xfrm>
          <a:prstGeom prst="straightConnector1">
            <a:avLst/>
          </a:prstGeom>
          <a:ln w="31750">
            <a:solidFill>
              <a:srgbClr val="B98A82"/>
            </a:solidFill>
            <a:prstDash val="dash"/>
            <a:headEnd w="lg" len="lg"/>
            <a:tailEnd type="stealth" w="lg" len="lg"/>
          </a:ln>
        </p:spPr>
        <p:style>
          <a:lnRef idx="1">
            <a:schemeClr val="accent2"/>
          </a:lnRef>
          <a:fillRef idx="0">
            <a:schemeClr val="accent2"/>
          </a:fillRef>
          <a:effectRef idx="0">
            <a:schemeClr val="accent2"/>
          </a:effectRef>
          <a:fontRef idx="minor">
            <a:schemeClr val="tx1"/>
          </a:fontRef>
        </p:style>
      </p:cxnSp>
      <p:cxnSp>
        <p:nvCxnSpPr>
          <p:cNvPr id="16" name="Straight Arrow Connector 15">
            <a:extLst>
              <a:ext uri="{FF2B5EF4-FFF2-40B4-BE49-F238E27FC236}">
                <a16:creationId xmlns:a16="http://schemas.microsoft.com/office/drawing/2014/main" id="{C5FD83EF-CE4F-3433-361F-F514638D55AB}"/>
              </a:ext>
            </a:extLst>
          </p:cNvPr>
          <p:cNvCxnSpPr>
            <a:cxnSpLocks/>
          </p:cNvCxnSpPr>
          <p:nvPr/>
        </p:nvCxnSpPr>
        <p:spPr>
          <a:xfrm>
            <a:off x="5483940" y="5054704"/>
            <a:ext cx="1221660" cy="248816"/>
          </a:xfrm>
          <a:prstGeom prst="straightConnector1">
            <a:avLst/>
          </a:prstGeom>
          <a:ln w="31750">
            <a:solidFill>
              <a:srgbClr val="A5A5A5"/>
            </a:solidFill>
            <a:prstDash val="dash"/>
            <a:headEnd w="lg" len="lg"/>
            <a:tailEnd type="stealth" w="lg" len="lg"/>
          </a:ln>
        </p:spPr>
        <p:style>
          <a:lnRef idx="1">
            <a:schemeClr val="accent2"/>
          </a:lnRef>
          <a:fillRef idx="0">
            <a:schemeClr val="accent2"/>
          </a:fillRef>
          <a:effectRef idx="0">
            <a:schemeClr val="accent2"/>
          </a:effectRef>
          <a:fontRef idx="minor">
            <a:schemeClr val="tx1"/>
          </a:fontRef>
        </p:style>
      </p:cxnSp>
      <p:graphicFrame>
        <p:nvGraphicFramePr>
          <p:cNvPr id="23" name="Diagram 22">
            <a:extLst>
              <a:ext uri="{FF2B5EF4-FFF2-40B4-BE49-F238E27FC236}">
                <a16:creationId xmlns:a16="http://schemas.microsoft.com/office/drawing/2014/main" id="{6F75C0F7-C216-4F48-21C2-41EDC10654C4}"/>
              </a:ext>
            </a:extLst>
          </p:cNvPr>
          <p:cNvGraphicFramePr/>
          <p:nvPr>
            <p:extLst>
              <p:ext uri="{D42A27DB-BD31-4B8C-83A1-F6EECF244321}">
                <p14:modId xmlns:p14="http://schemas.microsoft.com/office/powerpoint/2010/main" val="4129491745"/>
              </p:ext>
            </p:extLst>
          </p:nvPr>
        </p:nvGraphicFramePr>
        <p:xfrm>
          <a:off x="6705600" y="1663499"/>
          <a:ext cx="4336211" cy="457419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28" name="Slide Number Placeholder 5">
            <a:extLst>
              <a:ext uri="{FF2B5EF4-FFF2-40B4-BE49-F238E27FC236}">
                <a16:creationId xmlns:a16="http://schemas.microsoft.com/office/drawing/2014/main" id="{B1C0A44E-8F4A-557F-2039-E0D29D0D4358}"/>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15</a:t>
            </a:fld>
            <a:endParaRPr lang="en-IN" sz="1400" dirty="0">
              <a:solidFill>
                <a:schemeClr val="tx1"/>
              </a:solidFill>
              <a:latin typeface="Times New Roman" panose="02020603050405020304" pitchFamily="18" charset="0"/>
              <a:cs typeface="Times New Roman" panose="02020603050405020304" pitchFamily="18" charset="0"/>
            </a:endParaRPr>
          </a:p>
        </p:txBody>
      </p:sp>
      <p:cxnSp>
        <p:nvCxnSpPr>
          <p:cNvPr id="4" name="Straight Arrow Connector 3">
            <a:extLst>
              <a:ext uri="{FF2B5EF4-FFF2-40B4-BE49-F238E27FC236}">
                <a16:creationId xmlns:a16="http://schemas.microsoft.com/office/drawing/2014/main" id="{607E2C1B-0F7E-BF70-1CF6-4A6D8A3C51B2}"/>
              </a:ext>
            </a:extLst>
          </p:cNvPr>
          <p:cNvCxnSpPr>
            <a:cxnSpLocks/>
          </p:cNvCxnSpPr>
          <p:nvPr/>
        </p:nvCxnSpPr>
        <p:spPr>
          <a:xfrm>
            <a:off x="5483940" y="1540075"/>
            <a:ext cx="1219200" cy="2888151"/>
          </a:xfrm>
          <a:prstGeom prst="straightConnector1">
            <a:avLst/>
          </a:prstGeom>
          <a:ln w="31750">
            <a:prstDash val="dash"/>
            <a:headEnd w="lg" len="lg"/>
            <a:tailEnd type="stealth" w="lg" len="lg"/>
          </a:ln>
        </p:spPr>
        <p:style>
          <a:lnRef idx="1">
            <a:schemeClr val="accent2"/>
          </a:lnRef>
          <a:fillRef idx="0">
            <a:schemeClr val="accent2"/>
          </a:fillRef>
          <a:effectRef idx="0">
            <a:schemeClr val="accent2"/>
          </a:effectRef>
          <a:fontRef idx="minor">
            <a:schemeClr val="tx1"/>
          </a:fontRef>
        </p:style>
      </p:cxnSp>
      <p:cxnSp>
        <p:nvCxnSpPr>
          <p:cNvPr id="10" name="Straight Arrow Connector 9">
            <a:extLst>
              <a:ext uri="{FF2B5EF4-FFF2-40B4-BE49-F238E27FC236}">
                <a16:creationId xmlns:a16="http://schemas.microsoft.com/office/drawing/2014/main" id="{00C87CB8-25F1-949A-7B72-EC9C3BC25F0F}"/>
              </a:ext>
            </a:extLst>
          </p:cNvPr>
          <p:cNvCxnSpPr>
            <a:cxnSpLocks/>
          </p:cNvCxnSpPr>
          <p:nvPr/>
        </p:nvCxnSpPr>
        <p:spPr>
          <a:xfrm>
            <a:off x="5440392" y="1470068"/>
            <a:ext cx="1219200" cy="391413"/>
          </a:xfrm>
          <a:prstGeom prst="straightConnector1">
            <a:avLst/>
          </a:prstGeom>
          <a:ln w="31750">
            <a:solidFill>
              <a:srgbClr val="A5A5A5"/>
            </a:solidFill>
            <a:prstDash val="dash"/>
            <a:headEnd w="lg" len="lg"/>
            <a:tailEnd type="stealth" w="lg" len="lg"/>
          </a:ln>
        </p:spPr>
        <p:style>
          <a:lnRef idx="1">
            <a:schemeClr val="accent2"/>
          </a:lnRef>
          <a:fillRef idx="0">
            <a:schemeClr val="accent2"/>
          </a:fillRef>
          <a:effectRef idx="0">
            <a:schemeClr val="accent2"/>
          </a:effectRef>
          <a:fontRef idx="minor">
            <a:schemeClr val="tx1"/>
          </a:fontRef>
        </p:style>
      </p:cxnSp>
      <p:cxnSp>
        <p:nvCxnSpPr>
          <p:cNvPr id="19" name="Straight Arrow Connector 18">
            <a:extLst>
              <a:ext uri="{FF2B5EF4-FFF2-40B4-BE49-F238E27FC236}">
                <a16:creationId xmlns:a16="http://schemas.microsoft.com/office/drawing/2014/main" id="{4CA54303-E717-2659-75B2-28ECA48A148D}"/>
              </a:ext>
            </a:extLst>
          </p:cNvPr>
          <p:cNvCxnSpPr>
            <a:cxnSpLocks/>
          </p:cNvCxnSpPr>
          <p:nvPr/>
        </p:nvCxnSpPr>
        <p:spPr>
          <a:xfrm flipV="1">
            <a:off x="5488860" y="4428226"/>
            <a:ext cx="1214280" cy="1414732"/>
          </a:xfrm>
          <a:prstGeom prst="straightConnector1">
            <a:avLst/>
          </a:prstGeom>
          <a:ln w="31750">
            <a:prstDash val="dash"/>
            <a:headEnd w="lg" len="lg"/>
            <a:tailEnd type="stealth" w="lg" len="lg"/>
          </a:ln>
        </p:spPr>
        <p:style>
          <a:lnRef idx="1">
            <a:schemeClr val="accent2"/>
          </a:lnRef>
          <a:fillRef idx="0">
            <a:schemeClr val="accent2"/>
          </a:fillRef>
          <a:effectRef idx="0">
            <a:schemeClr val="accent2"/>
          </a:effectRef>
          <a:fontRef idx="minor">
            <a:schemeClr val="tx1"/>
          </a:fontRef>
        </p:style>
      </p:cxnSp>
      <p:cxnSp>
        <p:nvCxnSpPr>
          <p:cNvPr id="22" name="Straight Arrow Connector 21">
            <a:extLst>
              <a:ext uri="{FF2B5EF4-FFF2-40B4-BE49-F238E27FC236}">
                <a16:creationId xmlns:a16="http://schemas.microsoft.com/office/drawing/2014/main" id="{A70DDE38-0DF8-7C50-B6C7-7A8CAD091CB7}"/>
              </a:ext>
            </a:extLst>
          </p:cNvPr>
          <p:cNvCxnSpPr>
            <a:cxnSpLocks/>
          </p:cNvCxnSpPr>
          <p:nvPr/>
        </p:nvCxnSpPr>
        <p:spPr>
          <a:xfrm>
            <a:off x="5488860" y="4120531"/>
            <a:ext cx="1113223" cy="216980"/>
          </a:xfrm>
          <a:prstGeom prst="straightConnector1">
            <a:avLst/>
          </a:prstGeom>
          <a:ln w="31750">
            <a:solidFill>
              <a:srgbClr val="D17B5C"/>
            </a:solidFill>
            <a:prstDash val="dash"/>
            <a:headEnd w="lg" len="lg"/>
            <a:tailEnd type="stealth" w="lg" len="lg"/>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9112348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F34C9-D8CF-9266-F48E-AEF566296052}"/>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67F8F9F7-09DF-DA10-5319-51258C6EBA36}"/>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22BD8075-8B76-4439-DACF-250703E755D9}"/>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844BB269-EFBD-F7A4-E73B-9DE7CAB34382}"/>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14" name="TextBox 13">
            <a:extLst>
              <a:ext uri="{FF2B5EF4-FFF2-40B4-BE49-F238E27FC236}">
                <a16:creationId xmlns:a16="http://schemas.microsoft.com/office/drawing/2014/main" id="{D881C265-52E5-6872-A2F6-75656378A574}"/>
              </a:ext>
            </a:extLst>
          </p:cNvPr>
          <p:cNvSpPr txBox="1"/>
          <p:nvPr/>
        </p:nvSpPr>
        <p:spPr>
          <a:xfrm>
            <a:off x="6096000" y="190137"/>
            <a:ext cx="5622387"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Objectives</a:t>
            </a:r>
          </a:p>
        </p:txBody>
      </p:sp>
      <p:graphicFrame>
        <p:nvGraphicFramePr>
          <p:cNvPr id="3" name="Diagram 2">
            <a:extLst>
              <a:ext uri="{FF2B5EF4-FFF2-40B4-BE49-F238E27FC236}">
                <a16:creationId xmlns:a16="http://schemas.microsoft.com/office/drawing/2014/main" id="{DEF6B0F5-7CC6-397F-A360-CCEC66CA6BF0}"/>
              </a:ext>
            </a:extLst>
          </p:cNvPr>
          <p:cNvGraphicFramePr/>
          <p:nvPr>
            <p:extLst>
              <p:ext uri="{D42A27DB-BD31-4B8C-83A1-F6EECF244321}">
                <p14:modId xmlns:p14="http://schemas.microsoft.com/office/powerpoint/2010/main" val="2527338958"/>
              </p:ext>
            </p:extLst>
          </p:nvPr>
        </p:nvGraphicFramePr>
        <p:xfrm>
          <a:off x="511834" y="1093418"/>
          <a:ext cx="11047561" cy="54017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5">
            <a:extLst>
              <a:ext uri="{FF2B5EF4-FFF2-40B4-BE49-F238E27FC236}">
                <a16:creationId xmlns:a16="http://schemas.microsoft.com/office/drawing/2014/main" id="{E4AF5AE2-9142-5FB9-9E28-FCA3B20B4838}"/>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16</a:t>
            </a:fld>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4" name="Oval 3">
            <a:extLst>
              <a:ext uri="{FF2B5EF4-FFF2-40B4-BE49-F238E27FC236}">
                <a16:creationId xmlns:a16="http://schemas.microsoft.com/office/drawing/2014/main" id="{5475F630-F32B-7065-E608-E291B408E787}"/>
              </a:ext>
            </a:extLst>
          </p:cNvPr>
          <p:cNvSpPr/>
          <p:nvPr/>
        </p:nvSpPr>
        <p:spPr>
          <a:xfrm>
            <a:off x="759655" y="5658928"/>
            <a:ext cx="597570" cy="506928"/>
          </a:xfrm>
          <a:prstGeom prst="ellipse">
            <a:avLst/>
          </a:prstGeom>
          <a:solidFill>
            <a:srgbClr val="D8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600" dirty="0"/>
              <a:t>4</a:t>
            </a:r>
          </a:p>
        </p:txBody>
      </p:sp>
    </p:spTree>
    <p:extLst>
      <p:ext uri="{BB962C8B-B14F-4D97-AF65-F5344CB8AC3E}">
        <p14:creationId xmlns:p14="http://schemas.microsoft.com/office/powerpoint/2010/main" val="33814638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4583D7-691F-0F53-5253-53DEAD501CDF}"/>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D5647C89-B3BA-6680-DED0-606E059DB3A9}"/>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804809CE-21B1-FC25-6840-1F6F34AD8CF1}"/>
                </a:ext>
              </a:extLst>
            </p:cNvPr>
            <p:cNvPicPr>
              <a:picLocks noChangeAspect="1"/>
            </p:cNvPicPr>
            <p:nvPr/>
          </p:nvPicPr>
          <p:blipFill rotWithShape="1">
            <a:blip r:embed="rId3">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E741C3DE-7DB8-D03A-82A5-47769E8AF6EC}"/>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14" name="TextBox 13">
            <a:extLst>
              <a:ext uri="{FF2B5EF4-FFF2-40B4-BE49-F238E27FC236}">
                <a16:creationId xmlns:a16="http://schemas.microsoft.com/office/drawing/2014/main" id="{691A9BF0-0A82-3F65-7181-E59EF7EA44A6}"/>
              </a:ext>
            </a:extLst>
          </p:cNvPr>
          <p:cNvSpPr txBox="1"/>
          <p:nvPr/>
        </p:nvSpPr>
        <p:spPr>
          <a:xfrm>
            <a:off x="4600136" y="190137"/>
            <a:ext cx="7118252"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Research Methodology-Objective 1</a:t>
            </a:r>
          </a:p>
        </p:txBody>
      </p:sp>
      <p:sp>
        <p:nvSpPr>
          <p:cNvPr id="3" name="TextBox 2">
            <a:extLst>
              <a:ext uri="{FF2B5EF4-FFF2-40B4-BE49-F238E27FC236}">
                <a16:creationId xmlns:a16="http://schemas.microsoft.com/office/drawing/2014/main" id="{70B19F85-B934-C94F-7CB6-EC8EF267A071}"/>
              </a:ext>
            </a:extLst>
          </p:cNvPr>
          <p:cNvSpPr txBox="1"/>
          <p:nvPr/>
        </p:nvSpPr>
        <p:spPr>
          <a:xfrm>
            <a:off x="759655" y="998740"/>
            <a:ext cx="5668820" cy="830997"/>
          </a:xfrm>
          <a:prstGeom prst="rect">
            <a:avLst/>
          </a:prstGeom>
          <a:noFill/>
        </p:spPr>
        <p:txBody>
          <a:bodyPr wrap="square" rtlCol="0">
            <a:spAutoFit/>
          </a:bodyPr>
          <a:lstStyle/>
          <a:p>
            <a:pPr algn="just"/>
            <a:r>
              <a:rPr lang="en-US" sz="2000" b="1" dirty="0">
                <a:solidFill>
                  <a:schemeClr val="tx1"/>
                </a:solidFill>
                <a:latin typeface="Times New Roman" panose="02020603050405020304" pitchFamily="18" charset="0"/>
                <a:cs typeface="Times New Roman" panose="02020603050405020304" pitchFamily="18" charset="0"/>
              </a:rPr>
              <a:t>Objective - 1</a:t>
            </a:r>
            <a:r>
              <a:rPr lang="en-US" sz="2000" dirty="0">
                <a:solidFill>
                  <a:schemeClr val="tx1"/>
                </a:solidFill>
                <a:latin typeface="Times New Roman" panose="02020603050405020304" pitchFamily="18" charset="0"/>
                <a:cs typeface="Times New Roman" panose="02020603050405020304" pitchFamily="18" charset="0"/>
              </a:rPr>
              <a:t>: </a:t>
            </a:r>
            <a:r>
              <a:rPr lang="en-US" sz="1400" dirty="0"/>
              <a:t>Systematically analyze and incorporate attack models (membership inference, attribute inference, reconstruction, poisoning, jailbreaks) into unlearning frameworks</a:t>
            </a:r>
            <a:r>
              <a:rPr lang="en-US" sz="1400" dirty="0">
                <a:solidFill>
                  <a:schemeClr val="tx1"/>
                </a:solidFill>
                <a:latin typeface="Times New Roman" panose="02020603050405020304" pitchFamily="18" charset="0"/>
                <a:cs typeface="Times New Roman" panose="02020603050405020304" pitchFamily="18" charset="0"/>
              </a:rPr>
              <a:t>.</a:t>
            </a:r>
          </a:p>
        </p:txBody>
      </p:sp>
      <mc:AlternateContent xmlns:mc="http://schemas.openxmlformats.org/markup-compatibility/2006" xmlns:p14="http://schemas.microsoft.com/office/powerpoint/2010/main">
        <mc:Choice Requires="p14">
          <p:contentPart p14:bwMode="auto" r:id="rId4">
            <p14:nvContentPartPr>
              <p14:cNvPr id="19" name="Ink 18">
                <a:extLst>
                  <a:ext uri="{FF2B5EF4-FFF2-40B4-BE49-F238E27FC236}">
                    <a16:creationId xmlns:a16="http://schemas.microsoft.com/office/drawing/2014/main" id="{0790E96F-0857-1A36-EF45-F01566458683}"/>
                  </a:ext>
                </a:extLst>
              </p14:cNvPr>
              <p14:cNvContentPartPr/>
              <p14:nvPr/>
            </p14:nvContentPartPr>
            <p14:xfrm>
              <a:off x="2004148" y="5705086"/>
              <a:ext cx="360" cy="360"/>
            </p14:xfrm>
          </p:contentPart>
        </mc:Choice>
        <mc:Fallback xmlns="">
          <p:pic>
            <p:nvPicPr>
              <p:cNvPr id="19" name="Ink 18">
                <a:extLst>
                  <a:ext uri="{FF2B5EF4-FFF2-40B4-BE49-F238E27FC236}">
                    <a16:creationId xmlns:a16="http://schemas.microsoft.com/office/drawing/2014/main" id="{0790E96F-0857-1A36-EF45-F01566458683}"/>
                  </a:ext>
                </a:extLst>
              </p:cNvPr>
              <p:cNvPicPr/>
              <p:nvPr/>
            </p:nvPicPr>
            <p:blipFill>
              <a:blip r:embed="rId5"/>
              <a:stretch>
                <a:fillRect/>
              </a:stretch>
            </p:blipFill>
            <p:spPr>
              <a:xfrm>
                <a:off x="1950148" y="5597086"/>
                <a:ext cx="108000" cy="216000"/>
              </a:xfrm>
              <a:prstGeom prst="rect">
                <a:avLst/>
              </a:prstGeom>
            </p:spPr>
          </p:pic>
        </mc:Fallback>
      </mc:AlternateContent>
      <p:sp>
        <p:nvSpPr>
          <p:cNvPr id="21" name="Slide Number Placeholder 5">
            <a:extLst>
              <a:ext uri="{FF2B5EF4-FFF2-40B4-BE49-F238E27FC236}">
                <a16:creationId xmlns:a16="http://schemas.microsoft.com/office/drawing/2014/main" id="{9BA06F6F-7CA2-5629-66D1-347467447E63}"/>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17</a:t>
            </a:fld>
            <a:endParaRPr lang="en-IN" sz="1400" dirty="0">
              <a:solidFill>
                <a:schemeClr val="tx1"/>
              </a:solidFill>
              <a:latin typeface="Times New Roman" panose="02020603050405020304" pitchFamily="18" charset="0"/>
              <a:cs typeface="Times New Roman" panose="02020603050405020304" pitchFamily="18" charset="0"/>
            </a:endParaRPr>
          </a:p>
        </p:txBody>
      </p:sp>
      <p:pic>
        <p:nvPicPr>
          <p:cNvPr id="15" name="Picture 14" descr="Performance Evaluation.&#10;&#10;AI-generated content may be incorrect.">
            <a:extLst>
              <a:ext uri="{FF2B5EF4-FFF2-40B4-BE49-F238E27FC236}">
                <a16:creationId xmlns:a16="http://schemas.microsoft.com/office/drawing/2014/main" id="{6379C9D0-9BD0-0C7A-1BCB-DAFCD2EF951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29633" y="1167801"/>
            <a:ext cx="4200529" cy="5412220"/>
          </a:xfrm>
          <a:prstGeom prst="rect">
            <a:avLst/>
          </a:prstGeom>
        </p:spPr>
      </p:pic>
      <p:pic>
        <p:nvPicPr>
          <p:cNvPr id="17" name="Picture 16" descr="The image illustrates a research methodology diagram for game-theoretic machine unlearning, depicting a problem setup involving unlearning modules, privacy evaluators, and optimization processes to reduce privacy leakage and membership inference attacks while maintaining accuracy and efficiency.&#10;&#10;AI-generated content may be incorrect.">
            <a:extLst>
              <a:ext uri="{FF2B5EF4-FFF2-40B4-BE49-F238E27FC236}">
                <a16:creationId xmlns:a16="http://schemas.microsoft.com/office/drawing/2014/main" id="{0DCFD3EE-7C35-362F-08CF-94A6BE96F532}"/>
              </a:ext>
            </a:extLst>
          </p:cNvPr>
          <p:cNvPicPr>
            <a:picLocks noChangeAspect="1"/>
          </p:cNvPicPr>
          <p:nvPr/>
        </p:nvPicPr>
        <p:blipFill>
          <a:blip r:embed="rId7">
            <a:extLst>
              <a:ext uri="{28A0092B-C50C-407E-A947-70E740481C1C}">
                <a14:useLocalDpi xmlns:a14="http://schemas.microsoft.com/office/drawing/2010/main" val="0"/>
              </a:ext>
            </a:extLst>
          </a:blip>
          <a:srcRect t="11921"/>
          <a:stretch>
            <a:fillRect/>
          </a:stretch>
        </p:blipFill>
        <p:spPr>
          <a:xfrm>
            <a:off x="561436" y="2628397"/>
            <a:ext cx="6508077" cy="3821502"/>
          </a:xfrm>
          <a:prstGeom prst="rect">
            <a:avLst/>
          </a:prstGeom>
        </p:spPr>
      </p:pic>
      <p:sp>
        <p:nvSpPr>
          <p:cNvPr id="18" name="TextBox 17">
            <a:extLst>
              <a:ext uri="{FF2B5EF4-FFF2-40B4-BE49-F238E27FC236}">
                <a16:creationId xmlns:a16="http://schemas.microsoft.com/office/drawing/2014/main" id="{3B3741EE-98FE-ACB9-9D5A-9830C9A5EE74}"/>
              </a:ext>
            </a:extLst>
          </p:cNvPr>
          <p:cNvSpPr txBox="1"/>
          <p:nvPr/>
        </p:nvSpPr>
        <p:spPr>
          <a:xfrm>
            <a:off x="9102165" y="6618633"/>
            <a:ext cx="2912818" cy="246221"/>
          </a:xfrm>
          <a:prstGeom prst="rect">
            <a:avLst/>
          </a:prstGeom>
          <a:noFill/>
        </p:spPr>
        <p:txBody>
          <a:bodyPr wrap="square">
            <a:spAutoFit/>
          </a:bodyPr>
          <a:lstStyle/>
          <a:p>
            <a:r>
              <a:rPr lang="en-US" sz="1000" dirty="0">
                <a:solidFill>
                  <a:schemeClr val="tx1"/>
                </a:solidFill>
                <a:latin typeface="Times New Roman" panose="02020603050405020304" pitchFamily="18" charset="0"/>
                <a:cs typeface="Times New Roman" panose="02020603050405020304" pitchFamily="18" charset="0"/>
              </a:rPr>
              <a:t>Figure 9:Game Theory Framework Objective 1</a:t>
            </a:r>
          </a:p>
        </p:txBody>
      </p:sp>
      <p:sp>
        <p:nvSpPr>
          <p:cNvPr id="20" name="TextBox 19">
            <a:extLst>
              <a:ext uri="{FF2B5EF4-FFF2-40B4-BE49-F238E27FC236}">
                <a16:creationId xmlns:a16="http://schemas.microsoft.com/office/drawing/2014/main" id="{6EDEF637-19F9-35BD-0F15-46C782123F4A}"/>
              </a:ext>
            </a:extLst>
          </p:cNvPr>
          <p:cNvSpPr txBox="1"/>
          <p:nvPr/>
        </p:nvSpPr>
        <p:spPr>
          <a:xfrm>
            <a:off x="1395615" y="6418577"/>
            <a:ext cx="3115900" cy="244781"/>
          </a:xfrm>
          <a:prstGeom prst="rect">
            <a:avLst/>
          </a:prstGeom>
          <a:noFill/>
        </p:spPr>
        <p:txBody>
          <a:bodyPr wrap="square">
            <a:spAutoFit/>
          </a:bodyPr>
          <a:lstStyle/>
          <a:p>
            <a:r>
              <a:rPr lang="en-US" sz="1000" dirty="0">
                <a:solidFill>
                  <a:schemeClr val="tx1"/>
                </a:solidFill>
                <a:latin typeface="Times New Roman" panose="02020603050405020304" pitchFamily="18" charset="0"/>
                <a:cs typeface="Times New Roman" panose="02020603050405020304" pitchFamily="18" charset="0"/>
              </a:rPr>
              <a:t>Figure 8: Proposed Research Methodology objective 1</a:t>
            </a:r>
            <a:endParaRPr lang="en-IN" sz="1000" dirty="0"/>
          </a:p>
        </p:txBody>
      </p:sp>
    </p:spTree>
    <p:extLst>
      <p:ext uri="{BB962C8B-B14F-4D97-AF65-F5344CB8AC3E}">
        <p14:creationId xmlns:p14="http://schemas.microsoft.com/office/powerpoint/2010/main" val="6874360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BE876-71BE-FDEF-86C8-4490379083F9}"/>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32EC462F-DA7B-C9AF-4425-C39A7A8D6234}"/>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17CB7A12-E138-931E-6A01-08F76237D4AA}"/>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35C7C68C-BB65-27E3-CD18-05A83EBA1978}"/>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3" name="TextBox 2">
            <a:extLst>
              <a:ext uri="{FF2B5EF4-FFF2-40B4-BE49-F238E27FC236}">
                <a16:creationId xmlns:a16="http://schemas.microsoft.com/office/drawing/2014/main" id="{CA85A4D2-4400-79DA-0757-155B12FCE8F9}"/>
              </a:ext>
            </a:extLst>
          </p:cNvPr>
          <p:cNvSpPr txBox="1"/>
          <p:nvPr/>
        </p:nvSpPr>
        <p:spPr>
          <a:xfrm>
            <a:off x="4121834" y="190137"/>
            <a:ext cx="7596553"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Research Methodology-Objective 2</a:t>
            </a:r>
          </a:p>
        </p:txBody>
      </p:sp>
      <p:sp>
        <p:nvSpPr>
          <p:cNvPr id="4" name="TextBox 3">
            <a:extLst>
              <a:ext uri="{FF2B5EF4-FFF2-40B4-BE49-F238E27FC236}">
                <a16:creationId xmlns:a16="http://schemas.microsoft.com/office/drawing/2014/main" id="{70140D61-F333-6FD5-9A91-62E82DECA641}"/>
              </a:ext>
            </a:extLst>
          </p:cNvPr>
          <p:cNvSpPr txBox="1"/>
          <p:nvPr/>
        </p:nvSpPr>
        <p:spPr>
          <a:xfrm>
            <a:off x="759655" y="938152"/>
            <a:ext cx="10719582" cy="707886"/>
          </a:xfrm>
          <a:prstGeom prst="rect">
            <a:avLst/>
          </a:prstGeom>
          <a:noFill/>
        </p:spPr>
        <p:txBody>
          <a:bodyPr wrap="square" rtlCol="0">
            <a:spAutoFit/>
          </a:bodyPr>
          <a:lstStyle/>
          <a:p>
            <a:pPr lvl="0">
              <a:buNone/>
            </a:pPr>
            <a:r>
              <a:rPr lang="en-US" sz="2000" b="1" dirty="0">
                <a:solidFill>
                  <a:schemeClr val="tx1"/>
                </a:solidFill>
                <a:latin typeface="Times New Roman" panose="02020603050405020304" pitchFamily="18" charset="0"/>
                <a:cs typeface="Times New Roman" panose="02020603050405020304" pitchFamily="18" charset="0"/>
              </a:rPr>
              <a:t>Objective - 2</a:t>
            </a:r>
            <a:r>
              <a:rPr lang="en-US" sz="2000" dirty="0">
                <a:solidFill>
                  <a:schemeClr val="tx1"/>
                </a:solidFill>
                <a:latin typeface="Times New Roman" panose="02020603050405020304" pitchFamily="18" charset="0"/>
                <a:cs typeface="Times New Roman" panose="02020603050405020304" pitchFamily="18" charset="0"/>
              </a:rPr>
              <a:t>:</a:t>
            </a:r>
            <a:r>
              <a:rPr lang="en-US" sz="2000" dirty="0"/>
              <a:t>Design and evaluate unlearning mechanisms that operate at the feature level (extraction, generation, selection) </a:t>
            </a:r>
            <a:endParaRPr lang="en-GB" sz="2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3">
            <p14:nvContentPartPr>
              <p14:cNvPr id="13" name="Ink 12">
                <a:extLst>
                  <a:ext uri="{FF2B5EF4-FFF2-40B4-BE49-F238E27FC236}">
                    <a16:creationId xmlns:a16="http://schemas.microsoft.com/office/drawing/2014/main" id="{53302B29-A131-A180-62C7-2122812829D6}"/>
                  </a:ext>
                </a:extLst>
              </p14:cNvPr>
              <p14:cNvContentPartPr/>
              <p14:nvPr/>
            </p14:nvContentPartPr>
            <p14:xfrm>
              <a:off x="6265108" y="2833006"/>
              <a:ext cx="360" cy="360"/>
            </p14:xfrm>
          </p:contentPart>
        </mc:Choice>
        <mc:Fallback xmlns="">
          <p:pic>
            <p:nvPicPr>
              <p:cNvPr id="13" name="Ink 12">
                <a:extLst>
                  <a:ext uri="{FF2B5EF4-FFF2-40B4-BE49-F238E27FC236}">
                    <a16:creationId xmlns:a16="http://schemas.microsoft.com/office/drawing/2014/main" id="{53302B29-A131-A180-62C7-2122812829D6}"/>
                  </a:ext>
                </a:extLst>
              </p:cNvPr>
              <p:cNvPicPr/>
              <p:nvPr/>
            </p:nvPicPr>
            <p:blipFill>
              <a:blip r:embed="rId4"/>
              <a:stretch>
                <a:fillRect/>
              </a:stretch>
            </p:blipFill>
            <p:spPr>
              <a:xfrm>
                <a:off x="6211468" y="272536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7" name="Ink 16">
                <a:extLst>
                  <a:ext uri="{FF2B5EF4-FFF2-40B4-BE49-F238E27FC236}">
                    <a16:creationId xmlns:a16="http://schemas.microsoft.com/office/drawing/2014/main" id="{17C239CB-D5AA-12A3-6296-47E9C5932C0E}"/>
                  </a:ext>
                </a:extLst>
              </p14:cNvPr>
              <p14:cNvContentPartPr/>
              <p14:nvPr/>
            </p14:nvContentPartPr>
            <p14:xfrm>
              <a:off x="4521988" y="2924446"/>
              <a:ext cx="360" cy="360"/>
            </p14:xfrm>
          </p:contentPart>
        </mc:Choice>
        <mc:Fallback xmlns="">
          <p:pic>
            <p:nvPicPr>
              <p:cNvPr id="17" name="Ink 16">
                <a:extLst>
                  <a:ext uri="{FF2B5EF4-FFF2-40B4-BE49-F238E27FC236}">
                    <a16:creationId xmlns:a16="http://schemas.microsoft.com/office/drawing/2014/main" id="{17C239CB-D5AA-12A3-6296-47E9C5932C0E}"/>
                  </a:ext>
                </a:extLst>
              </p:cNvPr>
              <p:cNvPicPr/>
              <p:nvPr/>
            </p:nvPicPr>
            <p:blipFill>
              <a:blip r:embed="rId4"/>
              <a:stretch>
                <a:fillRect/>
              </a:stretch>
            </p:blipFill>
            <p:spPr>
              <a:xfrm>
                <a:off x="4467988" y="281644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8" name="Ink 17">
                <a:extLst>
                  <a:ext uri="{FF2B5EF4-FFF2-40B4-BE49-F238E27FC236}">
                    <a16:creationId xmlns:a16="http://schemas.microsoft.com/office/drawing/2014/main" id="{738F97FD-5462-3F2D-F977-D1B12C670C69}"/>
                  </a:ext>
                </a:extLst>
              </p14:cNvPr>
              <p14:cNvContentPartPr/>
              <p14:nvPr/>
            </p14:nvContentPartPr>
            <p14:xfrm>
              <a:off x="4521988" y="2924446"/>
              <a:ext cx="360" cy="360"/>
            </p14:xfrm>
          </p:contentPart>
        </mc:Choice>
        <mc:Fallback xmlns="">
          <p:pic>
            <p:nvPicPr>
              <p:cNvPr id="18" name="Ink 17">
                <a:extLst>
                  <a:ext uri="{FF2B5EF4-FFF2-40B4-BE49-F238E27FC236}">
                    <a16:creationId xmlns:a16="http://schemas.microsoft.com/office/drawing/2014/main" id="{738F97FD-5462-3F2D-F977-D1B12C670C69}"/>
                  </a:ext>
                </a:extLst>
              </p:cNvPr>
              <p:cNvPicPr/>
              <p:nvPr/>
            </p:nvPicPr>
            <p:blipFill>
              <a:blip r:embed="rId4"/>
              <a:stretch>
                <a:fillRect/>
              </a:stretch>
            </p:blipFill>
            <p:spPr>
              <a:xfrm>
                <a:off x="4467988" y="281644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0" name="Ink 19">
                <a:extLst>
                  <a:ext uri="{FF2B5EF4-FFF2-40B4-BE49-F238E27FC236}">
                    <a16:creationId xmlns:a16="http://schemas.microsoft.com/office/drawing/2014/main" id="{2D7EBA2F-4C57-A6FC-50C9-55AE7D392E10}"/>
                  </a:ext>
                </a:extLst>
              </p14:cNvPr>
              <p14:cNvContentPartPr/>
              <p14:nvPr/>
            </p14:nvContentPartPr>
            <p14:xfrm>
              <a:off x="2732788" y="3514486"/>
              <a:ext cx="360" cy="360"/>
            </p14:xfrm>
          </p:contentPart>
        </mc:Choice>
        <mc:Fallback xmlns="">
          <p:pic>
            <p:nvPicPr>
              <p:cNvPr id="20" name="Ink 19">
                <a:extLst>
                  <a:ext uri="{FF2B5EF4-FFF2-40B4-BE49-F238E27FC236}">
                    <a16:creationId xmlns:a16="http://schemas.microsoft.com/office/drawing/2014/main" id="{2D7EBA2F-4C57-A6FC-50C9-55AE7D392E10}"/>
                  </a:ext>
                </a:extLst>
              </p:cNvPr>
              <p:cNvPicPr/>
              <p:nvPr/>
            </p:nvPicPr>
            <p:blipFill>
              <a:blip r:embed="rId4"/>
              <a:stretch>
                <a:fillRect/>
              </a:stretch>
            </p:blipFill>
            <p:spPr>
              <a:xfrm>
                <a:off x="2679148" y="3406846"/>
                <a:ext cx="108000" cy="216000"/>
              </a:xfrm>
              <a:prstGeom prst="rect">
                <a:avLst/>
              </a:prstGeom>
            </p:spPr>
          </p:pic>
        </mc:Fallback>
      </mc:AlternateContent>
      <p:sp>
        <p:nvSpPr>
          <p:cNvPr id="25" name="Slide Number Placeholder 5">
            <a:extLst>
              <a:ext uri="{FF2B5EF4-FFF2-40B4-BE49-F238E27FC236}">
                <a16:creationId xmlns:a16="http://schemas.microsoft.com/office/drawing/2014/main" id="{469AC343-8DDA-35FA-B26F-B097694047B9}"/>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18</a:t>
            </a:fld>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7E20A569-FCBD-B463-E5BD-48454AFB7F8C}"/>
              </a:ext>
            </a:extLst>
          </p:cNvPr>
          <p:cNvSpPr txBox="1"/>
          <p:nvPr/>
        </p:nvSpPr>
        <p:spPr>
          <a:xfrm>
            <a:off x="3040851" y="6318997"/>
            <a:ext cx="6105378" cy="430887"/>
          </a:xfrm>
          <a:prstGeom prst="rect">
            <a:avLst/>
          </a:prstGeom>
          <a:noFill/>
        </p:spPr>
        <p:txBody>
          <a:bodyPr wrap="square">
            <a:spAutoFit/>
          </a:bodyPr>
          <a:lstStyle/>
          <a:p>
            <a:pPr algn="ctr"/>
            <a:r>
              <a:rPr lang="en-IN" sz="1100" dirty="0">
                <a:effectLst/>
                <a:latin typeface="Times New Roman" panose="02020603050405020304" pitchFamily="18" charset="0"/>
                <a:cs typeface="Times New Roman" panose="02020603050405020304" pitchFamily="18" charset="0"/>
              </a:rPr>
              <a:t>Figure </a:t>
            </a:r>
            <a:r>
              <a:rPr lang="en-IN" sz="1100" dirty="0">
                <a:latin typeface="Times New Roman" panose="02020603050405020304" pitchFamily="18" charset="0"/>
                <a:cs typeface="Times New Roman" panose="02020603050405020304" pitchFamily="18" charset="0"/>
              </a:rPr>
              <a:t>10</a:t>
            </a:r>
            <a:r>
              <a:rPr lang="en-IN" sz="1100" dirty="0">
                <a:effectLst/>
                <a:latin typeface="Times New Roman" panose="02020603050405020304" pitchFamily="18" charset="0"/>
                <a:cs typeface="Times New Roman" panose="02020603050405020304" pitchFamily="18" charset="0"/>
              </a:rPr>
              <a:t>: Objective 2 Research Methodology </a:t>
            </a:r>
            <a:endParaRPr lang="en-IN" sz="1100" dirty="0">
              <a:latin typeface="Times New Roman" panose="02020603050405020304" pitchFamily="18" charset="0"/>
              <a:cs typeface="Times New Roman" panose="02020603050405020304" pitchFamily="18" charset="0"/>
            </a:endParaRPr>
          </a:p>
          <a:p>
            <a:pPr algn="ctr"/>
            <a:endParaRPr lang="en-IN" sz="1100" dirty="0">
              <a:latin typeface="Times New Roman" panose="02020603050405020304" pitchFamily="18" charset="0"/>
              <a:cs typeface="Times New Roman" panose="02020603050405020304" pitchFamily="18" charset="0"/>
            </a:endParaRPr>
          </a:p>
        </p:txBody>
      </p:sp>
      <p:graphicFrame>
        <p:nvGraphicFramePr>
          <p:cNvPr id="6" name="Diagram 5">
            <a:extLst>
              <a:ext uri="{FF2B5EF4-FFF2-40B4-BE49-F238E27FC236}">
                <a16:creationId xmlns:a16="http://schemas.microsoft.com/office/drawing/2014/main" id="{4CD5D53F-1C10-C6F9-D527-CF126F5A1F46}"/>
              </a:ext>
            </a:extLst>
          </p:cNvPr>
          <p:cNvGraphicFramePr/>
          <p:nvPr>
            <p:extLst>
              <p:ext uri="{D42A27DB-BD31-4B8C-83A1-F6EECF244321}">
                <p14:modId xmlns:p14="http://schemas.microsoft.com/office/powerpoint/2010/main" val="448539459"/>
              </p:ext>
            </p:extLst>
          </p:nvPr>
        </p:nvGraphicFramePr>
        <p:xfrm>
          <a:off x="759655" y="2347184"/>
          <a:ext cx="2844376" cy="1920349"/>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8" name="Diagram 7">
            <a:extLst>
              <a:ext uri="{FF2B5EF4-FFF2-40B4-BE49-F238E27FC236}">
                <a16:creationId xmlns:a16="http://schemas.microsoft.com/office/drawing/2014/main" id="{30DD88FF-61A7-BBAA-E053-7D9914D4910F}"/>
              </a:ext>
            </a:extLst>
          </p:cNvPr>
          <p:cNvGraphicFramePr/>
          <p:nvPr>
            <p:extLst>
              <p:ext uri="{D42A27DB-BD31-4B8C-83A1-F6EECF244321}">
                <p14:modId xmlns:p14="http://schemas.microsoft.com/office/powerpoint/2010/main" val="1064567164"/>
              </p:ext>
            </p:extLst>
          </p:nvPr>
        </p:nvGraphicFramePr>
        <p:xfrm>
          <a:off x="339305" y="3958054"/>
          <a:ext cx="4064000" cy="1541923"/>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cxnSp>
        <p:nvCxnSpPr>
          <p:cNvPr id="11" name="Straight Arrow Connector 10">
            <a:extLst>
              <a:ext uri="{FF2B5EF4-FFF2-40B4-BE49-F238E27FC236}">
                <a16:creationId xmlns:a16="http://schemas.microsoft.com/office/drawing/2014/main" id="{A7ABFE56-13AB-3258-4945-19CEB042F14F}"/>
              </a:ext>
            </a:extLst>
          </p:cNvPr>
          <p:cNvCxnSpPr>
            <a:cxnSpLocks/>
            <a:stCxn id="6" idx="3"/>
            <a:endCxn id="6146" idx="1"/>
          </p:cNvCxnSpPr>
          <p:nvPr/>
        </p:nvCxnSpPr>
        <p:spPr>
          <a:xfrm>
            <a:off x="3604031" y="3307358"/>
            <a:ext cx="1290027" cy="83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18F37B60-A58F-01D1-31D2-513D927F4A3B}"/>
              </a:ext>
            </a:extLst>
          </p:cNvPr>
          <p:cNvSpPr/>
          <p:nvPr/>
        </p:nvSpPr>
        <p:spPr>
          <a:xfrm>
            <a:off x="10258600" y="3881887"/>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Other Models, Data</a:t>
            </a:r>
          </a:p>
        </p:txBody>
      </p:sp>
      <p:pic>
        <p:nvPicPr>
          <p:cNvPr id="6146" name="Picture 2">
            <a:extLst>
              <a:ext uri="{FF2B5EF4-FFF2-40B4-BE49-F238E27FC236}">
                <a16:creationId xmlns:a16="http://schemas.microsoft.com/office/drawing/2014/main" id="{40DB2086-7096-285A-13DB-B6100F909F64}"/>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894058" y="2458495"/>
            <a:ext cx="2571750" cy="17145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6" name="Diagram 15">
            <a:extLst>
              <a:ext uri="{FF2B5EF4-FFF2-40B4-BE49-F238E27FC236}">
                <a16:creationId xmlns:a16="http://schemas.microsoft.com/office/drawing/2014/main" id="{7C066CF9-4445-B8BD-0EC1-61E50E191213}"/>
              </a:ext>
            </a:extLst>
          </p:cNvPr>
          <p:cNvGraphicFramePr/>
          <p:nvPr>
            <p:extLst>
              <p:ext uri="{D42A27DB-BD31-4B8C-83A1-F6EECF244321}">
                <p14:modId xmlns:p14="http://schemas.microsoft.com/office/powerpoint/2010/main" val="2454245967"/>
              </p:ext>
            </p:extLst>
          </p:nvPr>
        </p:nvGraphicFramePr>
        <p:xfrm>
          <a:off x="4272963" y="4389325"/>
          <a:ext cx="3816709" cy="1714500"/>
        </p:xfrm>
        <a:graphic>
          <a:graphicData uri="http://schemas.openxmlformats.org/drawingml/2006/diagram">
            <dgm:relIds xmlns:dgm="http://schemas.openxmlformats.org/drawingml/2006/diagram" xmlns:r="http://schemas.openxmlformats.org/officeDocument/2006/relationships" r:dm="rId19" r:lo="rId20" r:qs="rId21" r:cs="rId22"/>
          </a:graphicData>
        </a:graphic>
      </p:graphicFrame>
      <p:cxnSp>
        <p:nvCxnSpPr>
          <p:cNvPr id="21" name="Straight Arrow Connector 20">
            <a:extLst>
              <a:ext uri="{FF2B5EF4-FFF2-40B4-BE49-F238E27FC236}">
                <a16:creationId xmlns:a16="http://schemas.microsoft.com/office/drawing/2014/main" id="{498E22DA-625C-A3DE-5792-3A742C4C9DEB}"/>
              </a:ext>
            </a:extLst>
          </p:cNvPr>
          <p:cNvCxnSpPr/>
          <p:nvPr/>
        </p:nvCxnSpPr>
        <p:spPr>
          <a:xfrm>
            <a:off x="3531079" y="4796287"/>
            <a:ext cx="70736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1C8EA9D5-3332-D6E9-7E68-CB42D4A025B7}"/>
              </a:ext>
            </a:extLst>
          </p:cNvPr>
          <p:cNvCxnSpPr>
            <a:cxnSpLocks/>
            <a:stCxn id="16" idx="0"/>
            <a:endCxn id="6146" idx="2"/>
          </p:cNvCxnSpPr>
          <p:nvPr/>
        </p:nvCxnSpPr>
        <p:spPr>
          <a:xfrm flipH="1" flipV="1">
            <a:off x="6179933" y="4172995"/>
            <a:ext cx="1384" cy="216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Rectangle: Rounded Corners 32">
            <a:extLst>
              <a:ext uri="{FF2B5EF4-FFF2-40B4-BE49-F238E27FC236}">
                <a16:creationId xmlns:a16="http://schemas.microsoft.com/office/drawing/2014/main" id="{0B7F5345-CA3C-1404-4961-83ABDFAEF749}"/>
              </a:ext>
            </a:extLst>
          </p:cNvPr>
          <p:cNvSpPr/>
          <p:nvPr/>
        </p:nvSpPr>
        <p:spPr>
          <a:xfrm>
            <a:off x="8239962" y="2476763"/>
            <a:ext cx="442840" cy="3645330"/>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Lo</a:t>
            </a:r>
          </a:p>
          <a:p>
            <a:pPr algn="ctr"/>
            <a:r>
              <a:rPr lang="en-IN" dirty="0"/>
              <a:t>S</a:t>
            </a:r>
          </a:p>
          <a:p>
            <a:pPr algn="ctr"/>
            <a:r>
              <a:rPr lang="en-IN" dirty="0"/>
              <a:t>s</a:t>
            </a:r>
          </a:p>
          <a:p>
            <a:pPr algn="ctr"/>
            <a:r>
              <a:rPr lang="en-IN" dirty="0"/>
              <a:t> Func</a:t>
            </a:r>
          </a:p>
          <a:p>
            <a:pPr algn="ctr"/>
            <a:r>
              <a:rPr lang="en-IN" dirty="0"/>
              <a:t>t</a:t>
            </a:r>
          </a:p>
          <a:p>
            <a:pPr algn="ctr"/>
            <a:r>
              <a:rPr lang="en-IN" dirty="0"/>
              <a:t>I</a:t>
            </a:r>
          </a:p>
          <a:p>
            <a:pPr algn="ctr"/>
            <a:r>
              <a:rPr lang="en-IN" dirty="0"/>
              <a:t>on</a:t>
            </a:r>
          </a:p>
        </p:txBody>
      </p:sp>
      <p:cxnSp>
        <p:nvCxnSpPr>
          <p:cNvPr id="35" name="Straight Arrow Connector 34">
            <a:extLst>
              <a:ext uri="{FF2B5EF4-FFF2-40B4-BE49-F238E27FC236}">
                <a16:creationId xmlns:a16="http://schemas.microsoft.com/office/drawing/2014/main" id="{EA6B866E-7374-52BB-FD05-61B0FA8EE5D4}"/>
              </a:ext>
            </a:extLst>
          </p:cNvPr>
          <p:cNvCxnSpPr>
            <a:stCxn id="6146" idx="3"/>
            <a:endCxn id="33" idx="1"/>
          </p:cNvCxnSpPr>
          <p:nvPr/>
        </p:nvCxnSpPr>
        <p:spPr>
          <a:xfrm>
            <a:off x="7465808" y="3315745"/>
            <a:ext cx="774154" cy="9836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1130E205-3CF0-F2A9-3D4F-D9E318A8B3E4}"/>
              </a:ext>
            </a:extLst>
          </p:cNvPr>
          <p:cNvCxnSpPr>
            <a:cxnSpLocks/>
            <a:stCxn id="16" idx="3"/>
            <a:endCxn id="33" idx="1"/>
          </p:cNvCxnSpPr>
          <p:nvPr/>
        </p:nvCxnSpPr>
        <p:spPr>
          <a:xfrm flipV="1">
            <a:off x="8089672" y="4299428"/>
            <a:ext cx="150290" cy="9471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Rectangle: Rounded Corners 44">
            <a:extLst>
              <a:ext uri="{FF2B5EF4-FFF2-40B4-BE49-F238E27FC236}">
                <a16:creationId xmlns:a16="http://schemas.microsoft.com/office/drawing/2014/main" id="{F74195E2-DB21-398E-DC63-C3884321EEBB}"/>
              </a:ext>
            </a:extLst>
          </p:cNvPr>
          <p:cNvSpPr/>
          <p:nvPr/>
        </p:nvSpPr>
        <p:spPr>
          <a:xfrm>
            <a:off x="9007629" y="2503098"/>
            <a:ext cx="442840" cy="3645330"/>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E</a:t>
            </a:r>
          </a:p>
          <a:p>
            <a:pPr algn="ctr"/>
            <a:r>
              <a:rPr lang="en-IN" dirty="0"/>
              <a:t>V</a:t>
            </a:r>
          </a:p>
          <a:p>
            <a:pPr algn="ctr"/>
            <a:r>
              <a:rPr lang="en-IN" dirty="0"/>
              <a:t>A</a:t>
            </a:r>
          </a:p>
          <a:p>
            <a:pPr algn="ctr"/>
            <a:r>
              <a:rPr lang="en-IN" dirty="0"/>
              <a:t>L</a:t>
            </a:r>
          </a:p>
          <a:p>
            <a:pPr algn="ctr"/>
            <a:r>
              <a:rPr lang="en-IN" dirty="0" err="1"/>
              <a:t>Ua</a:t>
            </a:r>
            <a:endParaRPr lang="en-IN" dirty="0"/>
          </a:p>
          <a:p>
            <a:pPr algn="ctr"/>
            <a:r>
              <a:rPr lang="en-IN" dirty="0"/>
              <a:t>t</a:t>
            </a:r>
          </a:p>
          <a:p>
            <a:pPr algn="ctr"/>
            <a:r>
              <a:rPr lang="en-IN" dirty="0" err="1"/>
              <a:t>i</a:t>
            </a:r>
            <a:endParaRPr lang="en-IN" dirty="0"/>
          </a:p>
          <a:p>
            <a:pPr algn="ctr"/>
            <a:r>
              <a:rPr lang="en-IN" dirty="0"/>
              <a:t>on</a:t>
            </a:r>
          </a:p>
        </p:txBody>
      </p:sp>
      <p:cxnSp>
        <p:nvCxnSpPr>
          <p:cNvPr id="49" name="Straight Arrow Connector 48">
            <a:extLst>
              <a:ext uri="{FF2B5EF4-FFF2-40B4-BE49-F238E27FC236}">
                <a16:creationId xmlns:a16="http://schemas.microsoft.com/office/drawing/2014/main" id="{3E68B5D4-1E93-8D0C-F43F-D5EF51DF0B49}"/>
              </a:ext>
            </a:extLst>
          </p:cNvPr>
          <p:cNvCxnSpPr>
            <a:stCxn id="33" idx="3"/>
            <a:endCxn id="45" idx="1"/>
          </p:cNvCxnSpPr>
          <p:nvPr/>
        </p:nvCxnSpPr>
        <p:spPr>
          <a:xfrm>
            <a:off x="8682802" y="4299428"/>
            <a:ext cx="324827" cy="263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52" name="Diagram 51">
            <a:extLst>
              <a:ext uri="{FF2B5EF4-FFF2-40B4-BE49-F238E27FC236}">
                <a16:creationId xmlns:a16="http://schemas.microsoft.com/office/drawing/2014/main" id="{8B12B2F3-4A96-23F2-A569-73DE696C0F63}"/>
              </a:ext>
            </a:extLst>
          </p:cNvPr>
          <p:cNvGraphicFramePr/>
          <p:nvPr>
            <p:extLst>
              <p:ext uri="{D42A27DB-BD31-4B8C-83A1-F6EECF244321}">
                <p14:modId xmlns:p14="http://schemas.microsoft.com/office/powerpoint/2010/main" val="1269934825"/>
              </p:ext>
            </p:extLst>
          </p:nvPr>
        </p:nvGraphicFramePr>
        <p:xfrm>
          <a:off x="2032000" y="2035834"/>
          <a:ext cx="8128000" cy="4102499"/>
        </p:xfrm>
        <a:graphic>
          <a:graphicData uri="http://schemas.openxmlformats.org/drawingml/2006/diagram">
            <dgm:relIds xmlns:dgm="http://schemas.openxmlformats.org/drawingml/2006/diagram" xmlns:r="http://schemas.openxmlformats.org/officeDocument/2006/relationships" r:dm="rId24" r:lo="rId25" r:qs="rId26" r:cs="rId27"/>
          </a:graphicData>
        </a:graphic>
      </p:graphicFrame>
      <p:cxnSp>
        <p:nvCxnSpPr>
          <p:cNvPr id="54" name="Straight Arrow Connector 53">
            <a:extLst>
              <a:ext uri="{FF2B5EF4-FFF2-40B4-BE49-F238E27FC236}">
                <a16:creationId xmlns:a16="http://schemas.microsoft.com/office/drawing/2014/main" id="{628D9DAD-DD23-2179-B1DE-7DFA53ED79EC}"/>
              </a:ext>
            </a:extLst>
          </p:cNvPr>
          <p:cNvCxnSpPr>
            <a:cxnSpLocks/>
            <a:endCxn id="15" idx="1"/>
          </p:cNvCxnSpPr>
          <p:nvPr/>
        </p:nvCxnSpPr>
        <p:spPr>
          <a:xfrm>
            <a:off x="9411159" y="4312595"/>
            <a:ext cx="847441" cy="264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17401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55378-570E-13D0-C1CB-ABA465DC1C11}"/>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7267291F-B8E9-FEA4-E7F2-25E047FAD3CF}"/>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33DD565D-F0AD-EEDC-ACA0-EC310F0A405F}"/>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5CBACC09-472B-FE18-FBCB-ADADDB79FC48}"/>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3" name="TextBox 2">
            <a:extLst>
              <a:ext uri="{FF2B5EF4-FFF2-40B4-BE49-F238E27FC236}">
                <a16:creationId xmlns:a16="http://schemas.microsoft.com/office/drawing/2014/main" id="{50D8893B-C86F-D46F-454B-BA2AF5127D26}"/>
              </a:ext>
            </a:extLst>
          </p:cNvPr>
          <p:cNvSpPr txBox="1"/>
          <p:nvPr/>
        </p:nvSpPr>
        <p:spPr>
          <a:xfrm>
            <a:off x="4121834" y="190137"/>
            <a:ext cx="7596553"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Research Methodology-Objective 3</a:t>
            </a:r>
          </a:p>
        </p:txBody>
      </p:sp>
      <p:sp>
        <p:nvSpPr>
          <p:cNvPr id="4" name="TextBox 3">
            <a:extLst>
              <a:ext uri="{FF2B5EF4-FFF2-40B4-BE49-F238E27FC236}">
                <a16:creationId xmlns:a16="http://schemas.microsoft.com/office/drawing/2014/main" id="{ED44E186-F2FB-7764-F371-7CA19E67553C}"/>
              </a:ext>
            </a:extLst>
          </p:cNvPr>
          <p:cNvSpPr txBox="1"/>
          <p:nvPr/>
        </p:nvSpPr>
        <p:spPr>
          <a:xfrm>
            <a:off x="759655" y="938152"/>
            <a:ext cx="10719582" cy="707886"/>
          </a:xfrm>
          <a:prstGeom prst="rect">
            <a:avLst/>
          </a:prstGeom>
          <a:noFill/>
        </p:spPr>
        <p:txBody>
          <a:bodyPr wrap="square" rtlCol="0">
            <a:spAutoFit/>
          </a:bodyPr>
          <a:lstStyle/>
          <a:p>
            <a:r>
              <a:rPr lang="en-US" sz="2000" b="1" dirty="0">
                <a:solidFill>
                  <a:schemeClr val="tx1"/>
                </a:solidFill>
                <a:latin typeface="Times New Roman" panose="02020603050405020304" pitchFamily="18" charset="0"/>
                <a:cs typeface="Times New Roman" panose="02020603050405020304" pitchFamily="18" charset="0"/>
              </a:rPr>
              <a:t>Objective - 3</a:t>
            </a:r>
            <a:r>
              <a:rPr lang="en-US" sz="2000" dirty="0">
                <a:solidFill>
                  <a:schemeClr val="tx1"/>
                </a:solidFill>
                <a:latin typeface="Times New Roman" panose="02020603050405020304" pitchFamily="18" charset="0"/>
                <a:cs typeface="Times New Roman" panose="02020603050405020304" pitchFamily="18" charset="0"/>
              </a:rPr>
              <a:t>:</a:t>
            </a:r>
            <a:r>
              <a:rPr lang="en-US" sz="2000" dirty="0"/>
              <a:t>Investigate scalable methods for applying unlearning to large language models, addressing challenges of parameter scale and uncertainty in individual data contributions. </a:t>
            </a:r>
            <a:endParaRPr lang="en-GB" sz="1600" dirty="0">
              <a:latin typeface="Times New Roman" panose="02020603050405020304" pitchFamily="18" charset="0"/>
              <a:cs typeface="Times New Roman" panose="02020603050405020304" pitchFamily="18" charset="0"/>
            </a:endParaRPr>
          </a:p>
        </p:txBody>
      </p:sp>
      <p:sp>
        <p:nvSpPr>
          <p:cNvPr id="25" name="Slide Number Placeholder 5">
            <a:extLst>
              <a:ext uri="{FF2B5EF4-FFF2-40B4-BE49-F238E27FC236}">
                <a16:creationId xmlns:a16="http://schemas.microsoft.com/office/drawing/2014/main" id="{DA160BF8-C029-938C-00F8-35D17F3C3F32}"/>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19</a:t>
            </a:fld>
            <a:endParaRPr lang="en-IN" sz="1400" dirty="0">
              <a:solidFill>
                <a:schemeClr val="tx1"/>
              </a:solidFill>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15C0A253-AAFC-AE7C-4EB9-4C45A6D12F4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4810" b="22181"/>
          <a:stretch>
            <a:fillRect/>
          </a:stretch>
        </p:blipFill>
        <p:spPr bwMode="auto">
          <a:xfrm>
            <a:off x="3700732" y="1971717"/>
            <a:ext cx="4572000" cy="432123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AF42C946-43FC-11CE-9085-7AABAB96DE46}"/>
              </a:ext>
            </a:extLst>
          </p:cNvPr>
          <p:cNvSpPr txBox="1"/>
          <p:nvPr/>
        </p:nvSpPr>
        <p:spPr>
          <a:xfrm>
            <a:off x="3039854" y="6403616"/>
            <a:ext cx="6107372" cy="461665"/>
          </a:xfrm>
          <a:prstGeom prst="rect">
            <a:avLst/>
          </a:prstGeom>
          <a:noFill/>
        </p:spPr>
        <p:txBody>
          <a:bodyPr wrap="square">
            <a:spAutoFit/>
          </a:bodyPr>
          <a:lstStyle/>
          <a:p>
            <a:pPr algn="ctr"/>
            <a:r>
              <a:rPr lang="en-IN" sz="1200" dirty="0">
                <a:effectLst/>
                <a:latin typeface="Times New Roman" panose="02020603050405020304" pitchFamily="18" charset="0"/>
                <a:cs typeface="Times New Roman" panose="02020603050405020304" pitchFamily="18" charset="0"/>
              </a:rPr>
              <a:t>Figure </a:t>
            </a:r>
            <a:r>
              <a:rPr lang="en-IN" sz="1200" dirty="0">
                <a:latin typeface="Times New Roman" panose="02020603050405020304" pitchFamily="18" charset="0"/>
                <a:cs typeface="Times New Roman" panose="02020603050405020304" pitchFamily="18" charset="0"/>
              </a:rPr>
              <a:t>11</a:t>
            </a:r>
            <a:r>
              <a:rPr lang="en-IN" sz="1200" dirty="0">
                <a:effectLst/>
                <a:latin typeface="Times New Roman" panose="02020603050405020304" pitchFamily="18" charset="0"/>
                <a:cs typeface="Times New Roman" panose="02020603050405020304" pitchFamily="18" charset="0"/>
              </a:rPr>
              <a:t>: Objective 3 Research Methodology </a:t>
            </a:r>
            <a:endParaRPr lang="en-IN" sz="1200" dirty="0">
              <a:latin typeface="Times New Roman" panose="02020603050405020304" pitchFamily="18" charset="0"/>
              <a:cs typeface="Times New Roman" panose="02020603050405020304" pitchFamily="18" charset="0"/>
            </a:endParaRPr>
          </a:p>
          <a:p>
            <a:pPr algn="ct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07389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B958F-F671-E5CA-DE3C-A3E651C3463B}"/>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215C8A5E-9CEE-6D2A-F7FC-7987719BEF33}"/>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BE2756E8-E9A6-78FC-FCEC-BBC747937F6D}"/>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404C1FC1-93A0-C8CD-3EC1-3E6B5C55E7C7}"/>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3" name="TextBox 2">
            <a:extLst>
              <a:ext uri="{FF2B5EF4-FFF2-40B4-BE49-F238E27FC236}">
                <a16:creationId xmlns:a16="http://schemas.microsoft.com/office/drawing/2014/main" id="{B888023F-FDB9-AD74-A1AF-6DF4DD238E35}"/>
              </a:ext>
            </a:extLst>
          </p:cNvPr>
          <p:cNvSpPr txBox="1"/>
          <p:nvPr/>
        </p:nvSpPr>
        <p:spPr>
          <a:xfrm>
            <a:off x="4121834" y="190137"/>
            <a:ext cx="7596553"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Research Methodology-Objective 4</a:t>
            </a:r>
          </a:p>
        </p:txBody>
      </p:sp>
      <p:sp>
        <p:nvSpPr>
          <p:cNvPr id="4" name="TextBox 3">
            <a:extLst>
              <a:ext uri="{FF2B5EF4-FFF2-40B4-BE49-F238E27FC236}">
                <a16:creationId xmlns:a16="http://schemas.microsoft.com/office/drawing/2014/main" id="{863BD744-7753-02A3-093F-910BAFC6200E}"/>
              </a:ext>
            </a:extLst>
          </p:cNvPr>
          <p:cNvSpPr txBox="1"/>
          <p:nvPr/>
        </p:nvSpPr>
        <p:spPr>
          <a:xfrm>
            <a:off x="759655" y="938152"/>
            <a:ext cx="10719582" cy="707886"/>
          </a:xfrm>
          <a:prstGeom prst="rect">
            <a:avLst/>
          </a:prstGeom>
          <a:noFill/>
        </p:spPr>
        <p:txBody>
          <a:bodyPr wrap="square" rtlCol="0">
            <a:spAutoFit/>
          </a:bodyPr>
          <a:lstStyle/>
          <a:p>
            <a:r>
              <a:rPr lang="en-US" sz="2000" b="1" dirty="0">
                <a:solidFill>
                  <a:schemeClr val="tx1"/>
                </a:solidFill>
                <a:latin typeface="Times New Roman" panose="02020603050405020304" pitchFamily="18" charset="0"/>
                <a:cs typeface="Times New Roman" panose="02020603050405020304" pitchFamily="18" charset="0"/>
              </a:rPr>
              <a:t>Objective - 4</a:t>
            </a:r>
            <a:r>
              <a:rPr lang="en-US" sz="2000" dirty="0">
                <a:solidFill>
                  <a:schemeClr val="tx1"/>
                </a:solidFill>
                <a:latin typeface="Times New Roman" panose="02020603050405020304" pitchFamily="18" charset="0"/>
                <a:cs typeface="Times New Roman" panose="02020603050405020304" pitchFamily="18" charset="0"/>
              </a:rPr>
              <a:t>:</a:t>
            </a:r>
            <a:r>
              <a:rPr lang="en-US" sz="2000" dirty="0"/>
              <a:t>Develop adaptive strategies for unlearning in evolving data ecosystems, including streaming contexts and sequential deletion requests, federated settings. </a:t>
            </a:r>
            <a:endParaRPr lang="en-GB" sz="2000" dirty="0">
              <a:latin typeface="Times New Roman" panose="02020603050405020304" pitchFamily="18" charset="0"/>
              <a:cs typeface="Times New Roman" panose="02020603050405020304" pitchFamily="18" charset="0"/>
            </a:endParaRPr>
          </a:p>
        </p:txBody>
      </p:sp>
      <p:pic>
        <p:nvPicPr>
          <p:cNvPr id="7" name="Picture 6" descr="The diagram illustrates a research methodology for developing an adaptive unlearning framework in evolving data ecosystems, detailing seven phases from literature review to verification and audit, including tasks like defining roles, selecting models, implementing streaming unlearning, and conducting multi-scenario evaluations.&#10;&#10;AI-generated content may be incorrect.">
            <a:extLst>
              <a:ext uri="{FF2B5EF4-FFF2-40B4-BE49-F238E27FC236}">
                <a16:creationId xmlns:a16="http://schemas.microsoft.com/office/drawing/2014/main" id="{5DE8B99E-12FC-956D-963A-A17D963CB7A1}"/>
              </a:ext>
            </a:extLst>
          </p:cNvPr>
          <p:cNvPicPr>
            <a:picLocks noChangeAspect="1"/>
          </p:cNvPicPr>
          <p:nvPr/>
        </p:nvPicPr>
        <p:blipFill>
          <a:blip r:embed="rId3">
            <a:extLst>
              <a:ext uri="{28A0092B-C50C-407E-A947-70E740481C1C}">
                <a14:useLocalDpi xmlns:a14="http://schemas.microsoft.com/office/drawing/2010/main" val="0"/>
              </a:ext>
            </a:extLst>
          </a:blip>
          <a:srcRect t="12063" b="18242"/>
          <a:stretch>
            <a:fillRect/>
          </a:stretch>
        </p:blipFill>
        <p:spPr>
          <a:xfrm>
            <a:off x="3807540" y="1765995"/>
            <a:ext cx="4572000" cy="4779660"/>
          </a:xfrm>
          <a:prstGeom prst="rect">
            <a:avLst/>
          </a:prstGeom>
        </p:spPr>
      </p:pic>
      <p:sp>
        <p:nvSpPr>
          <p:cNvPr id="14" name="TextBox 13">
            <a:extLst>
              <a:ext uri="{FF2B5EF4-FFF2-40B4-BE49-F238E27FC236}">
                <a16:creationId xmlns:a16="http://schemas.microsoft.com/office/drawing/2014/main" id="{838BECA8-1CD8-3455-06B6-54545E186EE8}"/>
              </a:ext>
            </a:extLst>
          </p:cNvPr>
          <p:cNvSpPr txBox="1"/>
          <p:nvPr/>
        </p:nvSpPr>
        <p:spPr>
          <a:xfrm>
            <a:off x="3039854" y="6342446"/>
            <a:ext cx="6107372" cy="276999"/>
          </a:xfrm>
          <a:prstGeom prst="rect">
            <a:avLst/>
          </a:prstGeom>
          <a:noFill/>
        </p:spPr>
        <p:txBody>
          <a:bodyPr wrap="square">
            <a:spAutoFit/>
          </a:bodyPr>
          <a:lstStyle/>
          <a:p>
            <a:pPr algn="ctr"/>
            <a:r>
              <a:rPr lang="en-IN" sz="1200" dirty="0">
                <a:effectLst/>
                <a:latin typeface="Times New Roman" panose="02020603050405020304" pitchFamily="18" charset="0"/>
                <a:cs typeface="Times New Roman" panose="02020603050405020304" pitchFamily="18" charset="0"/>
              </a:rPr>
              <a:t>Figure </a:t>
            </a:r>
            <a:r>
              <a:rPr lang="en-IN" sz="1200" dirty="0">
                <a:latin typeface="Times New Roman" panose="02020603050405020304" pitchFamily="18" charset="0"/>
                <a:cs typeface="Times New Roman" panose="02020603050405020304" pitchFamily="18" charset="0"/>
              </a:rPr>
              <a:t>12</a:t>
            </a:r>
            <a:r>
              <a:rPr lang="en-IN" sz="1200" dirty="0">
                <a:effectLst/>
                <a:latin typeface="Times New Roman" panose="02020603050405020304" pitchFamily="18" charset="0"/>
                <a:cs typeface="Times New Roman" panose="02020603050405020304" pitchFamily="18" charset="0"/>
              </a:rPr>
              <a:t>: Objective </a:t>
            </a:r>
            <a:r>
              <a:rPr lang="en-IN" sz="1200" dirty="0">
                <a:latin typeface="Times New Roman" panose="02020603050405020304" pitchFamily="18" charset="0"/>
                <a:cs typeface="Times New Roman" panose="02020603050405020304" pitchFamily="18" charset="0"/>
              </a:rPr>
              <a:t>4</a:t>
            </a:r>
            <a:r>
              <a:rPr lang="en-IN" sz="1200" dirty="0">
                <a:effectLst/>
                <a:latin typeface="Times New Roman" panose="02020603050405020304" pitchFamily="18" charset="0"/>
                <a:cs typeface="Times New Roman" panose="02020603050405020304" pitchFamily="18" charset="0"/>
              </a:rPr>
              <a:t> Research Methodology </a:t>
            </a:r>
            <a:endParaRPr lang="en-IN" sz="1200" dirty="0">
              <a:latin typeface="Times New Roman" panose="02020603050405020304" pitchFamily="18" charset="0"/>
              <a:cs typeface="Times New Roman" panose="02020603050405020304" pitchFamily="18" charset="0"/>
            </a:endParaRPr>
          </a:p>
        </p:txBody>
      </p:sp>
      <p:sp>
        <p:nvSpPr>
          <p:cNvPr id="19" name="Slide Number Placeholder 5">
            <a:extLst>
              <a:ext uri="{FF2B5EF4-FFF2-40B4-BE49-F238E27FC236}">
                <a16:creationId xmlns:a16="http://schemas.microsoft.com/office/drawing/2014/main" id="{173A7210-9E57-1954-B3A9-57E46B96812A}"/>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20</a:t>
            </a:fld>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FA516252-0510-A7C0-9FBC-7F7D59B74F19}"/>
              </a:ext>
            </a:extLst>
          </p:cNvPr>
          <p:cNvSpPr/>
          <p:nvPr/>
        </p:nvSpPr>
        <p:spPr>
          <a:xfrm>
            <a:off x="7090913" y="2875472"/>
            <a:ext cx="598098" cy="276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7E17B0AF-9123-D694-2AFA-B2FC80AB5263}"/>
              </a:ext>
            </a:extLst>
          </p:cNvPr>
          <p:cNvSpPr/>
          <p:nvPr/>
        </p:nvSpPr>
        <p:spPr>
          <a:xfrm>
            <a:off x="6904007" y="3658912"/>
            <a:ext cx="598098" cy="276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557030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4E49E-2C9D-3AE8-3923-D13174E0C896}"/>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E146888E-27E9-A460-EFCC-16E5025120F9}"/>
              </a:ext>
            </a:extLst>
          </p:cNvPr>
          <p:cNvSpPr txBox="1"/>
          <p:nvPr/>
        </p:nvSpPr>
        <p:spPr>
          <a:xfrm>
            <a:off x="164538" y="264176"/>
            <a:ext cx="4580370" cy="707886"/>
          </a:xfrm>
          <a:prstGeom prst="rect">
            <a:avLst/>
          </a:prstGeom>
          <a:noFill/>
        </p:spPr>
        <p:txBody>
          <a:bodyPr wrap="square" rtlCol="0">
            <a:spAutoFit/>
          </a:bodyPr>
          <a:lstStyle/>
          <a:p>
            <a:pPr algn="r"/>
            <a:r>
              <a:rPr lang="en-IN" sz="2000" b="1" dirty="0">
                <a:latin typeface="Times New Roman" panose="02020603050405020304" pitchFamily="18" charset="0"/>
                <a:cs typeface="Times New Roman" panose="02020603050405020304" pitchFamily="18" charset="0"/>
              </a:rPr>
              <a:t>Research Methodology-</a:t>
            </a:r>
          </a:p>
          <a:p>
            <a:pPr algn="r"/>
            <a:r>
              <a:rPr lang="en-IN" sz="2000" b="1" dirty="0">
                <a:latin typeface="Times New Roman" panose="02020603050405020304" pitchFamily="18" charset="0"/>
                <a:cs typeface="Times New Roman" panose="02020603050405020304" pitchFamily="18" charset="0"/>
              </a:rPr>
              <a:t>Overall Workflow</a:t>
            </a:r>
          </a:p>
        </p:txBody>
      </p:sp>
      <p:pic>
        <p:nvPicPr>
          <p:cNvPr id="4" name="Picture 3">
            <a:extLst>
              <a:ext uri="{FF2B5EF4-FFF2-40B4-BE49-F238E27FC236}">
                <a16:creationId xmlns:a16="http://schemas.microsoft.com/office/drawing/2014/main" id="{8BE1E8B9-9794-91DE-974D-C11856FA79E5}"/>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0" y="128873"/>
            <a:ext cx="721569" cy="843190"/>
          </a:xfrm>
          <a:prstGeom prst="rect">
            <a:avLst/>
          </a:prstGeom>
        </p:spPr>
      </p:pic>
      <p:sp>
        <p:nvSpPr>
          <p:cNvPr id="12" name="Straight Arrow Connector 2">
            <a:extLst>
              <a:ext uri="{FF2B5EF4-FFF2-40B4-BE49-F238E27FC236}">
                <a16:creationId xmlns:a16="http://schemas.microsoft.com/office/drawing/2014/main" id="{247A559B-D34E-EF0D-FEC5-54DBB5571A2E}"/>
              </a:ext>
            </a:extLst>
          </p:cNvPr>
          <p:cNvSpPr/>
          <p:nvPr/>
        </p:nvSpPr>
        <p:spPr>
          <a:xfrm flipV="1">
            <a:off x="0" y="944054"/>
            <a:ext cx="4454305" cy="45719"/>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pic>
        <p:nvPicPr>
          <p:cNvPr id="6" name="Picture 5" descr="This image illustrates a hierarchical diagram of various concepts and categories related to machine learning, data handling, and game theory.&#10;&#10;AI-generated content may be incorrect.">
            <a:extLst>
              <a:ext uri="{FF2B5EF4-FFF2-40B4-BE49-F238E27FC236}">
                <a16:creationId xmlns:a16="http://schemas.microsoft.com/office/drawing/2014/main" id="{86C05355-CC3F-3A4D-342F-883AE5E316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83968" y="178693"/>
            <a:ext cx="5177709" cy="6679307"/>
          </a:xfrm>
          <a:prstGeom prst="rect">
            <a:avLst/>
          </a:prstGeom>
        </p:spPr>
      </p:pic>
      <p:sp>
        <p:nvSpPr>
          <p:cNvPr id="8" name="Rectangle 7">
            <a:extLst>
              <a:ext uri="{FF2B5EF4-FFF2-40B4-BE49-F238E27FC236}">
                <a16:creationId xmlns:a16="http://schemas.microsoft.com/office/drawing/2014/main" id="{E783E22E-D4E2-F2D4-5C6F-D73FE8ED74D9}"/>
              </a:ext>
            </a:extLst>
          </p:cNvPr>
          <p:cNvSpPr/>
          <p:nvPr/>
        </p:nvSpPr>
        <p:spPr>
          <a:xfrm>
            <a:off x="7210295" y="1404070"/>
            <a:ext cx="805737" cy="1163739"/>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B727CCE6-F2D0-3F60-7202-A157927E5AA2}"/>
              </a:ext>
            </a:extLst>
          </p:cNvPr>
          <p:cNvSpPr txBox="1"/>
          <p:nvPr/>
        </p:nvSpPr>
        <p:spPr>
          <a:xfrm>
            <a:off x="7581216" y="1140309"/>
            <a:ext cx="1075373" cy="276999"/>
          </a:xfrm>
          <a:prstGeom prst="rect">
            <a:avLst/>
          </a:prstGeom>
          <a:noFill/>
        </p:spPr>
        <p:txBody>
          <a:bodyPr wrap="square" rtlCol="0">
            <a:spAutoFit/>
          </a:bodyPr>
          <a:lstStyle/>
          <a:p>
            <a:r>
              <a:rPr lang="en-IN" sz="1200" b="1" u="sng" dirty="0">
                <a:solidFill>
                  <a:schemeClr val="accent1"/>
                </a:solidFill>
              </a:rPr>
              <a:t>Objective 1</a:t>
            </a:r>
          </a:p>
        </p:txBody>
      </p:sp>
      <p:sp>
        <p:nvSpPr>
          <p:cNvPr id="15" name="TextBox 14">
            <a:extLst>
              <a:ext uri="{FF2B5EF4-FFF2-40B4-BE49-F238E27FC236}">
                <a16:creationId xmlns:a16="http://schemas.microsoft.com/office/drawing/2014/main" id="{C6280D57-E09F-108A-5121-A84E261794DD}"/>
              </a:ext>
            </a:extLst>
          </p:cNvPr>
          <p:cNvSpPr txBox="1"/>
          <p:nvPr/>
        </p:nvSpPr>
        <p:spPr>
          <a:xfrm>
            <a:off x="8544392" y="3813578"/>
            <a:ext cx="1075373" cy="276999"/>
          </a:xfrm>
          <a:prstGeom prst="rect">
            <a:avLst/>
          </a:prstGeom>
          <a:noFill/>
        </p:spPr>
        <p:txBody>
          <a:bodyPr wrap="square" rtlCol="0">
            <a:spAutoFit/>
          </a:bodyPr>
          <a:lstStyle/>
          <a:p>
            <a:r>
              <a:rPr lang="en-IN" sz="1200" b="1" u="sng" dirty="0">
                <a:solidFill>
                  <a:schemeClr val="accent1"/>
                </a:solidFill>
              </a:rPr>
              <a:t>Objective 2</a:t>
            </a:r>
          </a:p>
        </p:txBody>
      </p:sp>
      <p:sp>
        <p:nvSpPr>
          <p:cNvPr id="16" name="Rectangle 15">
            <a:extLst>
              <a:ext uri="{FF2B5EF4-FFF2-40B4-BE49-F238E27FC236}">
                <a16:creationId xmlns:a16="http://schemas.microsoft.com/office/drawing/2014/main" id="{CC002E23-AA02-FD2B-345A-E8CADE158175}"/>
              </a:ext>
            </a:extLst>
          </p:cNvPr>
          <p:cNvSpPr/>
          <p:nvPr/>
        </p:nvSpPr>
        <p:spPr>
          <a:xfrm>
            <a:off x="8296319" y="4039128"/>
            <a:ext cx="707798" cy="316680"/>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5AF112FA-6F27-9E4C-D12D-B4F82BF92852}"/>
              </a:ext>
            </a:extLst>
          </p:cNvPr>
          <p:cNvSpPr/>
          <p:nvPr/>
        </p:nvSpPr>
        <p:spPr>
          <a:xfrm>
            <a:off x="8351659" y="2952303"/>
            <a:ext cx="609859" cy="300179"/>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E28A43B4-D963-9544-906D-44699C72816B}"/>
              </a:ext>
            </a:extLst>
          </p:cNvPr>
          <p:cNvSpPr txBox="1"/>
          <p:nvPr/>
        </p:nvSpPr>
        <p:spPr>
          <a:xfrm>
            <a:off x="8423831" y="2698985"/>
            <a:ext cx="1075373" cy="276999"/>
          </a:xfrm>
          <a:prstGeom prst="rect">
            <a:avLst/>
          </a:prstGeom>
          <a:noFill/>
        </p:spPr>
        <p:txBody>
          <a:bodyPr wrap="square" rtlCol="0">
            <a:spAutoFit/>
          </a:bodyPr>
          <a:lstStyle/>
          <a:p>
            <a:r>
              <a:rPr lang="en-IN" sz="1200" b="1" u="sng" dirty="0">
                <a:solidFill>
                  <a:schemeClr val="accent1"/>
                </a:solidFill>
              </a:rPr>
              <a:t>Objective 3</a:t>
            </a:r>
          </a:p>
        </p:txBody>
      </p:sp>
      <p:sp>
        <p:nvSpPr>
          <p:cNvPr id="19" name="TextBox 18">
            <a:extLst>
              <a:ext uri="{FF2B5EF4-FFF2-40B4-BE49-F238E27FC236}">
                <a16:creationId xmlns:a16="http://schemas.microsoft.com/office/drawing/2014/main" id="{7323148F-82AE-85A4-5AC0-DDC0DAEEDF19}"/>
              </a:ext>
            </a:extLst>
          </p:cNvPr>
          <p:cNvSpPr txBox="1"/>
          <p:nvPr/>
        </p:nvSpPr>
        <p:spPr>
          <a:xfrm>
            <a:off x="5678342" y="3813578"/>
            <a:ext cx="1075373" cy="276999"/>
          </a:xfrm>
          <a:prstGeom prst="rect">
            <a:avLst/>
          </a:prstGeom>
          <a:noFill/>
        </p:spPr>
        <p:txBody>
          <a:bodyPr wrap="square" rtlCol="0">
            <a:spAutoFit/>
          </a:bodyPr>
          <a:lstStyle/>
          <a:p>
            <a:r>
              <a:rPr lang="en-IN" sz="1200" b="1" u="sng" dirty="0">
                <a:solidFill>
                  <a:schemeClr val="accent1"/>
                </a:solidFill>
              </a:rPr>
              <a:t>Objective 4</a:t>
            </a:r>
          </a:p>
        </p:txBody>
      </p:sp>
      <p:sp>
        <p:nvSpPr>
          <p:cNvPr id="20" name="Rectangle 19">
            <a:extLst>
              <a:ext uri="{FF2B5EF4-FFF2-40B4-BE49-F238E27FC236}">
                <a16:creationId xmlns:a16="http://schemas.microsoft.com/office/drawing/2014/main" id="{3E7C3D4F-C152-904C-696B-57D505E2D878}"/>
              </a:ext>
            </a:extLst>
          </p:cNvPr>
          <p:cNvSpPr/>
          <p:nvPr/>
        </p:nvSpPr>
        <p:spPr>
          <a:xfrm>
            <a:off x="6197830" y="4039128"/>
            <a:ext cx="2039825" cy="316680"/>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20">
            <a:extLst>
              <a:ext uri="{FF2B5EF4-FFF2-40B4-BE49-F238E27FC236}">
                <a16:creationId xmlns:a16="http://schemas.microsoft.com/office/drawing/2014/main" id="{7F0C18BE-CE03-DBDA-16FF-41249086D57A}"/>
              </a:ext>
            </a:extLst>
          </p:cNvPr>
          <p:cNvSpPr/>
          <p:nvPr/>
        </p:nvSpPr>
        <p:spPr>
          <a:xfrm>
            <a:off x="4803572" y="128873"/>
            <a:ext cx="6603794" cy="6729127"/>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423E7CDD-EA9A-3B8F-8DA2-15D2C974A920}"/>
              </a:ext>
            </a:extLst>
          </p:cNvPr>
          <p:cNvSpPr txBox="1"/>
          <p:nvPr/>
        </p:nvSpPr>
        <p:spPr>
          <a:xfrm>
            <a:off x="1669302" y="1379289"/>
            <a:ext cx="4310529" cy="646331"/>
          </a:xfrm>
          <a:prstGeom prst="rect">
            <a:avLst/>
          </a:prstGeom>
          <a:noFill/>
        </p:spPr>
        <p:txBody>
          <a:bodyPr wrap="square">
            <a:spAutoFit/>
          </a:bodyPr>
          <a:lstStyle/>
          <a:p>
            <a:pPr lvl="0"/>
            <a:r>
              <a:rPr lang="en-IN" sz="1800" dirty="0">
                <a:solidFill>
                  <a:schemeClr val="accent1"/>
                </a:solidFill>
              </a:rPr>
              <a:t>A Unified Game-Theoretic </a:t>
            </a:r>
          </a:p>
          <a:p>
            <a:pPr lvl="0"/>
            <a:r>
              <a:rPr lang="en-IN" sz="1800" dirty="0">
                <a:solidFill>
                  <a:schemeClr val="accent1"/>
                </a:solidFill>
              </a:rPr>
              <a:t>Machine Unlearning Framework</a:t>
            </a:r>
            <a:endParaRPr lang="en-IN" dirty="0">
              <a:solidFill>
                <a:schemeClr val="accent1"/>
              </a:solidFill>
            </a:endParaRPr>
          </a:p>
        </p:txBody>
      </p:sp>
      <p:sp>
        <p:nvSpPr>
          <p:cNvPr id="24" name="Slide Number Placeholder 5">
            <a:extLst>
              <a:ext uri="{FF2B5EF4-FFF2-40B4-BE49-F238E27FC236}">
                <a16:creationId xmlns:a16="http://schemas.microsoft.com/office/drawing/2014/main" id="{8086D447-B97E-83B7-B526-4303CBB8603F}"/>
              </a:ext>
            </a:extLst>
          </p:cNvPr>
          <p:cNvSpPr>
            <a:spLocks noGrp="1"/>
          </p:cNvSpPr>
          <p:nvPr>
            <p:ph type="sldNum" sz="quarter" idx="12"/>
          </p:nvPr>
        </p:nvSpPr>
        <p:spPr>
          <a:xfrm>
            <a:off x="11291345" y="6641699"/>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21</a:t>
            </a:fld>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2B2DA3D9-AB87-DED1-EDA9-20E1AC3C968F}"/>
              </a:ext>
            </a:extLst>
          </p:cNvPr>
          <p:cNvSpPr txBox="1"/>
          <p:nvPr/>
        </p:nvSpPr>
        <p:spPr>
          <a:xfrm>
            <a:off x="-45482" y="6663183"/>
            <a:ext cx="3115900" cy="246221"/>
          </a:xfrm>
          <a:prstGeom prst="rect">
            <a:avLst/>
          </a:prstGeom>
          <a:noFill/>
        </p:spPr>
        <p:txBody>
          <a:bodyPr wrap="square">
            <a:spAutoFit/>
          </a:bodyPr>
          <a:lstStyle/>
          <a:p>
            <a:r>
              <a:rPr lang="en-US" sz="1000" dirty="0">
                <a:solidFill>
                  <a:schemeClr val="tx1"/>
                </a:solidFill>
                <a:latin typeface="Times New Roman" panose="02020603050405020304" pitchFamily="18" charset="0"/>
                <a:cs typeface="Times New Roman" panose="02020603050405020304" pitchFamily="18" charset="0"/>
              </a:rPr>
              <a:t>Figure 13: </a:t>
            </a:r>
            <a:r>
              <a:rPr lang="en-IN" sz="1000" dirty="0">
                <a:latin typeface="Times New Roman" panose="02020603050405020304" pitchFamily="18" charset="0"/>
                <a:cs typeface="Times New Roman" panose="02020603050405020304" pitchFamily="18" charset="0"/>
              </a:rPr>
              <a:t>Research Methodology-Overall Workflow</a:t>
            </a:r>
          </a:p>
        </p:txBody>
      </p:sp>
    </p:spTree>
    <p:extLst>
      <p:ext uri="{BB962C8B-B14F-4D97-AF65-F5344CB8AC3E}">
        <p14:creationId xmlns:p14="http://schemas.microsoft.com/office/powerpoint/2010/main" val="8589150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52FDD-2492-163A-CC4F-342E147928C2}"/>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9C89837F-B357-DFF4-8041-E3767FE41FEF}"/>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F16BC165-1369-191A-C20A-F726F7F3F5CA}"/>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4C2886A7-EF84-48FD-6F1B-44AF02C4B6CB}"/>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3" name="TextBox 2">
            <a:extLst>
              <a:ext uri="{FF2B5EF4-FFF2-40B4-BE49-F238E27FC236}">
                <a16:creationId xmlns:a16="http://schemas.microsoft.com/office/drawing/2014/main" id="{27941BDB-E9C5-AFA6-5181-82F1D422502B}"/>
              </a:ext>
            </a:extLst>
          </p:cNvPr>
          <p:cNvSpPr txBox="1"/>
          <p:nvPr/>
        </p:nvSpPr>
        <p:spPr>
          <a:xfrm>
            <a:off x="6096000" y="190137"/>
            <a:ext cx="5622387"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Expected Outcomes</a:t>
            </a:r>
          </a:p>
        </p:txBody>
      </p:sp>
      <p:sp>
        <p:nvSpPr>
          <p:cNvPr id="8" name="Slide Number Placeholder 5">
            <a:extLst>
              <a:ext uri="{FF2B5EF4-FFF2-40B4-BE49-F238E27FC236}">
                <a16:creationId xmlns:a16="http://schemas.microsoft.com/office/drawing/2014/main" id="{6120AEB7-8354-E405-7E10-9455F2DE1020}"/>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22</a:t>
            </a:fld>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0D267B3-61C8-7DE0-F45A-FE6A4784716B}"/>
              </a:ext>
            </a:extLst>
          </p:cNvPr>
          <p:cNvSpPr txBox="1"/>
          <p:nvPr/>
        </p:nvSpPr>
        <p:spPr>
          <a:xfrm>
            <a:off x="848657" y="1015640"/>
            <a:ext cx="10739719" cy="5898218"/>
          </a:xfrm>
          <a:prstGeom prst="rect">
            <a:avLst/>
          </a:prstGeom>
          <a:noFill/>
        </p:spPr>
        <p:txBody>
          <a:bodyPr wrap="square">
            <a:spAutoFit/>
          </a:bodyPr>
          <a:lstStyle/>
          <a:p>
            <a:pPr marL="285750" indent="-285750">
              <a:lnSpc>
                <a:spcPct val="200000"/>
              </a:lnSpc>
              <a:buFont typeface="Arial" panose="020B0604020202020204" pitchFamily="34" charset="0"/>
              <a:buChar char="•"/>
            </a:pPr>
            <a:r>
              <a:rPr lang="en-US" sz="2400" dirty="0"/>
              <a:t>Develop </a:t>
            </a:r>
            <a:r>
              <a:rPr lang="en-US" sz="2400" b="1" dirty="0"/>
              <a:t>strategic frameworks for Machine Unlearning</a:t>
            </a:r>
            <a:r>
              <a:rPr lang="en-US" sz="2400" dirty="0"/>
              <a:t>- Define agents, strategies, and payoff functions – Efficient &amp; Effective</a:t>
            </a:r>
          </a:p>
          <a:p>
            <a:pPr marL="285750" indent="-285750">
              <a:lnSpc>
                <a:spcPct val="200000"/>
              </a:lnSpc>
              <a:buFont typeface="Arial" panose="020B0604020202020204" pitchFamily="34" charset="0"/>
              <a:buChar char="•"/>
            </a:pPr>
            <a:r>
              <a:rPr lang="en-US" sz="2400" dirty="0"/>
              <a:t>Enable </a:t>
            </a:r>
            <a:r>
              <a:rPr lang="en-US" sz="2400" b="1" dirty="0"/>
              <a:t>model providers to optimize compliance </a:t>
            </a:r>
            <a:r>
              <a:rPr lang="en-US" sz="2400" dirty="0"/>
              <a:t>and performance</a:t>
            </a:r>
          </a:p>
          <a:p>
            <a:pPr marL="285750" indent="-285750">
              <a:lnSpc>
                <a:spcPct val="200000"/>
              </a:lnSpc>
              <a:buFont typeface="Arial" panose="020B0604020202020204" pitchFamily="34" charset="0"/>
              <a:buChar char="•"/>
            </a:pPr>
            <a:r>
              <a:rPr lang="en-US" sz="2400" dirty="0"/>
              <a:t>Empowering Data Providers - Provide users with </a:t>
            </a:r>
            <a:r>
              <a:rPr lang="en-US" sz="2400" b="1" dirty="0"/>
              <a:t>transparency and control</a:t>
            </a:r>
            <a:r>
              <a:rPr lang="en-US" sz="2400" dirty="0"/>
              <a:t>, Help assess effectiveness of unlearning services</a:t>
            </a:r>
          </a:p>
          <a:p>
            <a:pPr>
              <a:lnSpc>
                <a:spcPct val="200000"/>
              </a:lnSpc>
              <a:buFont typeface="Arial" panose="020B0604020202020204" pitchFamily="34" charset="0"/>
              <a:buChar char="•"/>
            </a:pPr>
            <a:r>
              <a:rPr lang="en-US" sz="2400" dirty="0"/>
              <a:t>   Foster </a:t>
            </a:r>
            <a:r>
              <a:rPr lang="en-US" sz="2400" b="1" dirty="0"/>
              <a:t>trust and responsible data sharing</a:t>
            </a:r>
          </a:p>
          <a:p>
            <a:pPr>
              <a:lnSpc>
                <a:spcPct val="200000"/>
              </a:lnSpc>
              <a:buNone/>
            </a:pPr>
            <a:br>
              <a:rPr lang="en-US" sz="2400" dirty="0"/>
            </a:br>
            <a:endParaRPr lang="en-US" sz="2400" dirty="0"/>
          </a:p>
        </p:txBody>
      </p:sp>
    </p:spTree>
    <p:extLst>
      <p:ext uri="{BB962C8B-B14F-4D97-AF65-F5344CB8AC3E}">
        <p14:creationId xmlns:p14="http://schemas.microsoft.com/office/powerpoint/2010/main" val="20342250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54BF7-0720-E391-34D8-56F79A398054}"/>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BB6D97B6-E959-AA06-C604-D35D585AB564}"/>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47113E4C-9C31-3F98-D89D-98A235C01F34}"/>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FCFD20A9-BFAE-043F-2530-DCFAA0CEFBAD}"/>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3" name="TextBox 2">
            <a:extLst>
              <a:ext uri="{FF2B5EF4-FFF2-40B4-BE49-F238E27FC236}">
                <a16:creationId xmlns:a16="http://schemas.microsoft.com/office/drawing/2014/main" id="{57D460E4-0F48-B920-819F-B54CDC71579D}"/>
              </a:ext>
            </a:extLst>
          </p:cNvPr>
          <p:cNvSpPr txBox="1"/>
          <p:nvPr/>
        </p:nvSpPr>
        <p:spPr>
          <a:xfrm>
            <a:off x="3953022" y="190137"/>
            <a:ext cx="7765365" cy="584775"/>
          </a:xfrm>
          <a:prstGeom prst="rect">
            <a:avLst/>
          </a:prstGeom>
          <a:noFill/>
        </p:spPr>
        <p:txBody>
          <a:bodyPr wrap="square" rtlCol="0">
            <a:spAutoFit/>
          </a:bodyPr>
          <a:lstStyle/>
          <a:p>
            <a:pPr algn="r"/>
            <a:r>
              <a:rPr lang="en-US" sz="3200" b="1" dirty="0">
                <a:latin typeface="Times New Roman" panose="02020603050405020304" pitchFamily="18" charset="0"/>
                <a:cs typeface="Times New Roman" panose="02020603050405020304" pitchFamily="18" charset="0"/>
              </a:rPr>
              <a:t>Importance of Proposed Research</a:t>
            </a:r>
            <a:endParaRPr lang="en-IN" sz="3200" dirty="0">
              <a:latin typeface="Times New Roman" panose="02020603050405020304" pitchFamily="18" charset="0"/>
              <a:cs typeface="Times New Roman" panose="02020603050405020304" pitchFamily="18" charset="0"/>
            </a:endParaRPr>
          </a:p>
        </p:txBody>
      </p:sp>
      <p:sp>
        <p:nvSpPr>
          <p:cNvPr id="11" name="Slide Number Placeholder 5">
            <a:extLst>
              <a:ext uri="{FF2B5EF4-FFF2-40B4-BE49-F238E27FC236}">
                <a16:creationId xmlns:a16="http://schemas.microsoft.com/office/drawing/2014/main" id="{0A889076-D029-E9AC-5281-CD8FB4A5A84C}"/>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23</a:t>
            </a:fld>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A074D1E-AB71-580C-C98F-31B4079BC88E}"/>
              </a:ext>
            </a:extLst>
          </p:cNvPr>
          <p:cNvSpPr txBox="1"/>
          <p:nvPr/>
        </p:nvSpPr>
        <p:spPr>
          <a:xfrm>
            <a:off x="398870" y="1096055"/>
            <a:ext cx="10950448" cy="2943563"/>
          </a:xfrm>
          <a:prstGeom prst="rect">
            <a:avLst/>
          </a:prstGeom>
          <a:noFill/>
        </p:spPr>
        <p:txBody>
          <a:bodyPr wrap="square">
            <a:spAutoFit/>
          </a:bodyPr>
          <a:lstStyle/>
          <a:p>
            <a:pPr marL="285750" indent="-285750">
              <a:lnSpc>
                <a:spcPct val="200000"/>
              </a:lnSpc>
              <a:buFont typeface="Arial" panose="020B0604020202020204" pitchFamily="34" charset="0"/>
              <a:buChar char="•"/>
            </a:pPr>
            <a:r>
              <a:rPr lang="en-US" sz="2400" dirty="0"/>
              <a:t>Anchors the </a:t>
            </a:r>
            <a:r>
              <a:rPr lang="en-US" sz="2400" b="1" dirty="0"/>
              <a:t>“Right to be Forgotten”</a:t>
            </a:r>
            <a:r>
              <a:rPr lang="en-US" sz="2400" dirty="0"/>
              <a:t> in machine learning systems.</a:t>
            </a:r>
          </a:p>
          <a:p>
            <a:pPr marL="285750" indent="-285750">
              <a:lnSpc>
                <a:spcPct val="200000"/>
              </a:lnSpc>
              <a:buFont typeface="Arial" panose="020B0604020202020204" pitchFamily="34" charset="0"/>
              <a:buChar char="•"/>
            </a:pPr>
            <a:r>
              <a:rPr lang="en-US" sz="2400" dirty="0"/>
              <a:t>Ensures </a:t>
            </a:r>
            <a:r>
              <a:rPr lang="en-US" sz="2400" b="1" dirty="0"/>
              <a:t>compliance </a:t>
            </a:r>
            <a:r>
              <a:rPr lang="en-US" sz="2400" dirty="0"/>
              <a:t>with global data protection laws (GDPR, CCPA, DPDP Act).</a:t>
            </a:r>
          </a:p>
          <a:p>
            <a:pPr marL="285750" indent="-285750">
              <a:lnSpc>
                <a:spcPct val="200000"/>
              </a:lnSpc>
              <a:buFont typeface="Arial" panose="020B0604020202020204" pitchFamily="34" charset="0"/>
              <a:buChar char="•"/>
            </a:pPr>
            <a:r>
              <a:rPr lang="en-US" sz="2400" b="1" dirty="0"/>
              <a:t>Reduces conflicts </a:t>
            </a:r>
            <a:r>
              <a:rPr lang="en-US" sz="2400" dirty="0"/>
              <a:t>and ensures justice by giving individuals control over their data.</a:t>
            </a:r>
          </a:p>
          <a:p>
            <a:pPr marL="285750" indent="-285750">
              <a:lnSpc>
                <a:spcPct val="200000"/>
              </a:lnSpc>
              <a:buFont typeface="Arial" panose="020B0604020202020204" pitchFamily="34" charset="0"/>
              <a:buChar char="•"/>
            </a:pPr>
            <a:r>
              <a:rPr lang="en-US" sz="2400" dirty="0"/>
              <a:t>Supports </a:t>
            </a:r>
            <a:r>
              <a:rPr lang="en-US" sz="2400" b="1" dirty="0"/>
              <a:t>sustainable AI deployment</a:t>
            </a:r>
            <a:r>
              <a:rPr lang="en-US" sz="2400" dirty="0"/>
              <a:t> in production environments.</a:t>
            </a:r>
          </a:p>
        </p:txBody>
      </p:sp>
    </p:spTree>
    <p:extLst>
      <p:ext uri="{BB962C8B-B14F-4D97-AF65-F5344CB8AC3E}">
        <p14:creationId xmlns:p14="http://schemas.microsoft.com/office/powerpoint/2010/main" val="33139456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6D228-94CE-4502-F900-1E26002D632E}"/>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E09C0199-1D89-68C9-1019-CB4E6133EF60}"/>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B0F91C5E-5556-1687-AEE8-57D7DA34CC57}"/>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37DF1EDD-99C6-C41F-43A9-8F757AEE3FA1}"/>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3" name="TextBox 2">
            <a:extLst>
              <a:ext uri="{FF2B5EF4-FFF2-40B4-BE49-F238E27FC236}">
                <a16:creationId xmlns:a16="http://schemas.microsoft.com/office/drawing/2014/main" id="{12EE5E38-4ACC-2318-1723-790B85E00D17}"/>
              </a:ext>
            </a:extLst>
          </p:cNvPr>
          <p:cNvSpPr txBox="1"/>
          <p:nvPr/>
        </p:nvSpPr>
        <p:spPr>
          <a:xfrm>
            <a:off x="6096000" y="190137"/>
            <a:ext cx="5622387"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Research Time Plan</a:t>
            </a:r>
          </a:p>
        </p:txBody>
      </p:sp>
      <p:sp>
        <p:nvSpPr>
          <p:cNvPr id="7" name="Slide Number Placeholder 5">
            <a:extLst>
              <a:ext uri="{FF2B5EF4-FFF2-40B4-BE49-F238E27FC236}">
                <a16:creationId xmlns:a16="http://schemas.microsoft.com/office/drawing/2014/main" id="{BE25A1CB-D258-AC3D-ADF2-0ACAA9187A1C}"/>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24</a:t>
            </a:fld>
            <a:endParaRPr lang="en-IN" sz="1400" dirty="0">
              <a:solidFill>
                <a:schemeClr val="tx1"/>
              </a:solidFill>
              <a:latin typeface="Times New Roman" panose="02020603050405020304" pitchFamily="18" charset="0"/>
              <a:cs typeface="Times New Roman" panose="02020603050405020304" pitchFamily="18" charset="0"/>
            </a:endParaRPr>
          </a:p>
        </p:txBody>
      </p:sp>
      <p:grpSp>
        <p:nvGrpSpPr>
          <p:cNvPr id="2051" name="Group 1423357565">
            <a:extLst>
              <a:ext uri="{FF2B5EF4-FFF2-40B4-BE49-F238E27FC236}">
                <a16:creationId xmlns:a16="http://schemas.microsoft.com/office/drawing/2014/main" id="{9861F299-0645-EF5C-B67F-0D17D7E4F460}"/>
              </a:ext>
            </a:extLst>
          </p:cNvPr>
          <p:cNvGrpSpPr>
            <a:grpSpLocks/>
          </p:cNvGrpSpPr>
          <p:nvPr/>
        </p:nvGrpSpPr>
        <p:grpSpPr bwMode="auto">
          <a:xfrm>
            <a:off x="-33338" y="449263"/>
            <a:ext cx="2295526" cy="244475"/>
            <a:chOff x="0" y="0"/>
            <a:chExt cx="26659" cy="2584"/>
          </a:xfrm>
        </p:grpSpPr>
      </p:grpSp>
      <p:pic>
        <p:nvPicPr>
          <p:cNvPr id="35" name="Picture 34" descr="The diagram outlines a timeline for a research activity, detailing key milestones such as registration, literature survey, objectives, conference presentations, and thesis submission, spanning over a period of 54 months.&#10;&#10;AI-generated content may be incorrect.">
            <a:extLst>
              <a:ext uri="{FF2B5EF4-FFF2-40B4-BE49-F238E27FC236}">
                <a16:creationId xmlns:a16="http://schemas.microsoft.com/office/drawing/2014/main" id="{4B3AD38D-D009-5117-6AC8-605C0E187C23}"/>
              </a:ext>
            </a:extLst>
          </p:cNvPr>
          <p:cNvPicPr>
            <a:picLocks noChangeAspect="1"/>
          </p:cNvPicPr>
          <p:nvPr/>
        </p:nvPicPr>
        <p:blipFill>
          <a:blip r:embed="rId3"/>
          <a:srcRect r="7043" b="1955"/>
          <a:stretch>
            <a:fillRect/>
          </a:stretch>
        </p:blipFill>
        <p:spPr>
          <a:xfrm>
            <a:off x="2894061" y="1104246"/>
            <a:ext cx="4994345" cy="5641267"/>
          </a:xfrm>
          <a:prstGeom prst="rect">
            <a:avLst/>
          </a:prstGeom>
        </p:spPr>
      </p:pic>
      <p:grpSp>
        <p:nvGrpSpPr>
          <p:cNvPr id="4" name="Group 1423357565"/>
          <p:cNvGrpSpPr>
            <a:grpSpLocks/>
          </p:cNvGrpSpPr>
          <p:nvPr/>
        </p:nvGrpSpPr>
        <p:grpSpPr bwMode="auto">
          <a:xfrm>
            <a:off x="-33338" y="449263"/>
            <a:ext cx="2295526" cy="244475"/>
            <a:chOff x="0" y="0"/>
            <a:chExt cx="26659" cy="2584"/>
          </a:xfrm>
        </p:grpSpPr>
      </p:grpSp>
      <p:grpSp>
        <p:nvGrpSpPr>
          <p:cNvPr id="2063" name="Group 15"/>
          <p:cNvGrpSpPr>
            <a:grpSpLocks/>
          </p:cNvGrpSpPr>
          <p:nvPr/>
        </p:nvGrpSpPr>
        <p:grpSpPr bwMode="auto">
          <a:xfrm>
            <a:off x="-33338" y="449263"/>
            <a:ext cx="2295526" cy="244475"/>
            <a:chOff x="0" y="0"/>
            <a:chExt cx="26659" cy="2584"/>
          </a:xfrm>
        </p:grpSpPr>
      </p:grpSp>
    </p:spTree>
    <p:extLst>
      <p:ext uri="{BB962C8B-B14F-4D97-AF65-F5344CB8AC3E}">
        <p14:creationId xmlns:p14="http://schemas.microsoft.com/office/powerpoint/2010/main" val="17131503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862F2-CB03-6DE4-00DF-4E8AA46DCD6A}"/>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4104ABFD-FFF3-3B2B-9687-6CD9D47F902F}"/>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D905CEB0-F616-440D-C75A-ACA81D7A0BF8}"/>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057919EB-8DA7-2F7D-7D00-5B1A5A3103D6}"/>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3" name="TextBox 2">
            <a:extLst>
              <a:ext uri="{FF2B5EF4-FFF2-40B4-BE49-F238E27FC236}">
                <a16:creationId xmlns:a16="http://schemas.microsoft.com/office/drawing/2014/main" id="{78F75608-F311-E04A-7849-594907706E3D}"/>
              </a:ext>
            </a:extLst>
          </p:cNvPr>
          <p:cNvSpPr txBox="1"/>
          <p:nvPr/>
        </p:nvSpPr>
        <p:spPr>
          <a:xfrm>
            <a:off x="6096000" y="190137"/>
            <a:ext cx="5622387"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Pilot Study: Model &amp; Dataset</a:t>
            </a:r>
          </a:p>
        </p:txBody>
      </p:sp>
      <p:sp>
        <p:nvSpPr>
          <p:cNvPr id="13" name="Slide Number Placeholder 5">
            <a:extLst>
              <a:ext uri="{FF2B5EF4-FFF2-40B4-BE49-F238E27FC236}">
                <a16:creationId xmlns:a16="http://schemas.microsoft.com/office/drawing/2014/main" id="{1743820B-04C3-16BB-79F8-62F0A4C1147C}"/>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25</a:t>
            </a:fld>
            <a:endParaRPr lang="en-IN" sz="1400" dirty="0">
              <a:solidFill>
                <a:schemeClr val="tx1"/>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ADB2114D-D102-D6FE-940B-D12FB51796EC}"/>
              </a:ext>
            </a:extLst>
          </p:cNvPr>
          <p:cNvPicPr>
            <a:picLocks noChangeAspect="1"/>
          </p:cNvPicPr>
          <p:nvPr/>
        </p:nvPicPr>
        <p:blipFill>
          <a:blip r:embed="rId3">
            <a:extLst>
              <a:ext uri="{28A0092B-C50C-407E-A947-70E740481C1C}">
                <a14:useLocalDpi xmlns:a14="http://schemas.microsoft.com/office/drawing/2010/main" val="0"/>
              </a:ext>
            </a:extLst>
          </a:blip>
          <a:srcRect l="50895" t="14810"/>
          <a:stretch>
            <a:fillRect/>
          </a:stretch>
        </p:blipFill>
        <p:spPr>
          <a:xfrm>
            <a:off x="38086" y="985488"/>
            <a:ext cx="5051485" cy="5842360"/>
          </a:xfrm>
          <a:prstGeom prst="rect">
            <a:avLst/>
          </a:prstGeom>
        </p:spPr>
      </p:pic>
      <p:pic>
        <p:nvPicPr>
          <p:cNvPr id="18" name="Picture 17">
            <a:extLst>
              <a:ext uri="{FF2B5EF4-FFF2-40B4-BE49-F238E27FC236}">
                <a16:creationId xmlns:a16="http://schemas.microsoft.com/office/drawing/2014/main" id="{1674948D-BDDA-3D68-4FF5-6FB685153496}"/>
              </a:ext>
            </a:extLst>
          </p:cNvPr>
          <p:cNvPicPr>
            <a:picLocks noChangeAspect="1"/>
          </p:cNvPicPr>
          <p:nvPr/>
        </p:nvPicPr>
        <p:blipFill>
          <a:blip r:embed="rId4"/>
          <a:stretch>
            <a:fillRect/>
          </a:stretch>
        </p:blipFill>
        <p:spPr>
          <a:xfrm>
            <a:off x="6294066" y="1249377"/>
            <a:ext cx="5051485" cy="3784021"/>
          </a:xfrm>
          <a:prstGeom prst="rect">
            <a:avLst/>
          </a:prstGeom>
        </p:spPr>
      </p:pic>
      <p:sp>
        <p:nvSpPr>
          <p:cNvPr id="19" name="TextBox 18">
            <a:extLst>
              <a:ext uri="{FF2B5EF4-FFF2-40B4-BE49-F238E27FC236}">
                <a16:creationId xmlns:a16="http://schemas.microsoft.com/office/drawing/2014/main" id="{2434D7D7-324D-1A3A-409F-64333C0F82F9}"/>
              </a:ext>
            </a:extLst>
          </p:cNvPr>
          <p:cNvSpPr txBox="1"/>
          <p:nvPr/>
        </p:nvSpPr>
        <p:spPr>
          <a:xfrm>
            <a:off x="5857847" y="4965510"/>
            <a:ext cx="6201882" cy="1200329"/>
          </a:xfrm>
          <a:prstGeom prst="rect">
            <a:avLst/>
          </a:prstGeom>
          <a:noFill/>
        </p:spPr>
        <p:txBody>
          <a:bodyPr wrap="square">
            <a:spAutoFit/>
          </a:bodyPr>
          <a:lstStyle/>
          <a:p>
            <a:pPr algn="just"/>
            <a:r>
              <a:rPr lang="en-IN" sz="1200" dirty="0">
                <a:effectLst/>
                <a:latin typeface="Times New Roman" panose="02020603050405020304" pitchFamily="18" charset="0"/>
                <a:cs typeface="Times New Roman" panose="02020603050405020304" pitchFamily="18" charset="0"/>
              </a:rPr>
              <a:t>Figure 14: </a:t>
            </a:r>
            <a:r>
              <a:rPr lang="en-US" sz="1200" dirty="0"/>
              <a:t>SISA training: data is divided in shards, which are themselves divided into slices. One constituent model is trained on each shard by presenting it with incrementally many slices and saving its parameters before the training set is augmented with a new slice. When data needs to be unlearned, only one of the constituent models whose shards contains the point to be unlearned needs to be retrained — retraining can start from the last parameter values saved before including the slice containing the data point to be unlearned.</a:t>
            </a:r>
            <a:endParaRPr lang="en-IN" sz="12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58407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B1EFD-B083-2B4F-74B7-033F31CAB752}"/>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EE2EAE57-6BFC-9D0A-DD1F-13195C69C528}"/>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4D08D6F2-3791-2044-8C68-BAFA548CBDB1}"/>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F36C9788-A229-44AA-F0B2-6E153966E1ED}"/>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3" name="TextBox 2">
            <a:extLst>
              <a:ext uri="{FF2B5EF4-FFF2-40B4-BE49-F238E27FC236}">
                <a16:creationId xmlns:a16="http://schemas.microsoft.com/office/drawing/2014/main" id="{51558EE5-DD11-7684-C971-D0471D884BD9}"/>
              </a:ext>
            </a:extLst>
          </p:cNvPr>
          <p:cNvSpPr txBox="1"/>
          <p:nvPr/>
        </p:nvSpPr>
        <p:spPr>
          <a:xfrm>
            <a:off x="838200" y="190137"/>
            <a:ext cx="10880188"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Pilot Study: Network Architecture &amp; Experimental Setup</a:t>
            </a:r>
          </a:p>
        </p:txBody>
      </p:sp>
      <p:sp>
        <p:nvSpPr>
          <p:cNvPr id="7" name="Slide Number Placeholder 5">
            <a:extLst>
              <a:ext uri="{FF2B5EF4-FFF2-40B4-BE49-F238E27FC236}">
                <a16:creationId xmlns:a16="http://schemas.microsoft.com/office/drawing/2014/main" id="{96A55367-EBAA-7B82-2E2E-934D05220431}"/>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26</a:t>
            </a:fld>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A9FC447B-9EC6-D6F3-48C6-281F4F817268}"/>
              </a:ext>
            </a:extLst>
          </p:cNvPr>
          <p:cNvSpPr txBox="1"/>
          <p:nvPr/>
        </p:nvSpPr>
        <p:spPr>
          <a:xfrm>
            <a:off x="240101" y="1261726"/>
            <a:ext cx="6104626" cy="4247317"/>
          </a:xfrm>
          <a:prstGeom prst="rect">
            <a:avLst/>
          </a:prstGeom>
          <a:noFill/>
        </p:spPr>
        <p:txBody>
          <a:bodyPr wrap="square">
            <a:spAutoFit/>
          </a:bodyPr>
          <a:lstStyle/>
          <a:p>
            <a:r>
              <a:rPr lang="en-IN" b="1" dirty="0">
                <a:latin typeface="Times New Roman" panose="02020603050405020304" pitchFamily="18" charset="0"/>
                <a:ea typeface="Times New Roman" panose="02020603050405020304" pitchFamily="18" charset="0"/>
                <a:cs typeface="Times New Roman" panose="02020603050405020304" pitchFamily="18" charset="0"/>
              </a:rPr>
              <a:t>Network Architecture</a:t>
            </a:r>
            <a:endParaRPr lang="en-IN" dirty="0"/>
          </a:p>
          <a:p>
            <a:pPr lvl="1"/>
            <a:r>
              <a:rPr lang="en-IN" dirty="0"/>
              <a:t>- Model Type: Deep Neural Networks (DNNs)</a:t>
            </a:r>
          </a:p>
          <a:p>
            <a:pPr lvl="1"/>
            <a:r>
              <a:rPr lang="en-IN" dirty="0"/>
              <a:t>- Training Strategy:</a:t>
            </a:r>
          </a:p>
          <a:p>
            <a:pPr lvl="2"/>
            <a:r>
              <a:rPr lang="en-IN" dirty="0"/>
              <a:t>- Sharded → dataset split into disjoint subsets</a:t>
            </a:r>
          </a:p>
          <a:p>
            <a:pPr lvl="2"/>
            <a:r>
              <a:rPr lang="en-IN" dirty="0"/>
              <a:t>- Isolated → models trained independently per shard</a:t>
            </a:r>
          </a:p>
          <a:p>
            <a:pPr lvl="2"/>
            <a:r>
              <a:rPr lang="en-IN" dirty="0"/>
              <a:t>- Sliced → incremental training with checkpoints per slice</a:t>
            </a:r>
          </a:p>
          <a:p>
            <a:pPr lvl="2"/>
            <a:r>
              <a:rPr lang="en-IN" dirty="0"/>
              <a:t>- Aggregated → ensemble predictions combined (e.g., majority vote)</a:t>
            </a:r>
          </a:p>
          <a:p>
            <a:pPr lvl="1"/>
            <a:r>
              <a:rPr lang="en-IN" dirty="0"/>
              <a:t>- Components:</a:t>
            </a:r>
          </a:p>
          <a:p>
            <a:pPr lvl="2"/>
            <a:r>
              <a:rPr lang="en-IN" dirty="0"/>
              <a:t>- Input layer (raw data features)</a:t>
            </a:r>
          </a:p>
          <a:p>
            <a:pPr lvl="2"/>
            <a:r>
              <a:rPr lang="en-IN" dirty="0"/>
              <a:t>- Hidden layers (non-linear transformations)</a:t>
            </a:r>
          </a:p>
          <a:p>
            <a:pPr lvl="2"/>
            <a:r>
              <a:rPr lang="en-IN" dirty="0"/>
              <a:t>- Output layer (classification labels)</a:t>
            </a:r>
          </a:p>
          <a:p>
            <a:pPr lvl="2"/>
            <a:r>
              <a:rPr lang="en-IN" dirty="0"/>
              <a:t>- Optimization: Stochastic Gradient Descent (SGD) with backpropagation</a:t>
            </a:r>
          </a:p>
        </p:txBody>
      </p:sp>
      <p:sp>
        <p:nvSpPr>
          <p:cNvPr id="13" name="TextBox 12">
            <a:extLst>
              <a:ext uri="{FF2B5EF4-FFF2-40B4-BE49-F238E27FC236}">
                <a16:creationId xmlns:a16="http://schemas.microsoft.com/office/drawing/2014/main" id="{C713CB5D-FF0F-E594-5EC8-D326B3E7F323}"/>
              </a:ext>
            </a:extLst>
          </p:cNvPr>
          <p:cNvSpPr txBox="1"/>
          <p:nvPr/>
        </p:nvSpPr>
        <p:spPr>
          <a:xfrm>
            <a:off x="6174778" y="1261726"/>
            <a:ext cx="6104626" cy="5478423"/>
          </a:xfrm>
          <a:prstGeom prst="rect">
            <a:avLst/>
          </a:prstGeom>
          <a:noFill/>
        </p:spPr>
        <p:txBody>
          <a:bodyPr wrap="square">
            <a:spAutoFit/>
          </a:bodyPr>
          <a:lstStyle/>
          <a:p>
            <a:pPr>
              <a:buNone/>
            </a:pPr>
            <a:r>
              <a:rPr lang="en-IN" b="1" dirty="0"/>
              <a:t>Experimental Setup – SISA Training</a:t>
            </a:r>
          </a:p>
          <a:p>
            <a:pPr lvl="1">
              <a:buFont typeface="Arial" panose="020B0604020202020204" pitchFamily="34" charset="0"/>
              <a:buChar char="•"/>
            </a:pPr>
            <a:r>
              <a:rPr lang="en-IN" sz="1600" b="1" dirty="0"/>
              <a:t>Training Data:</a:t>
            </a:r>
            <a:endParaRPr lang="en-IN" sz="1600" dirty="0"/>
          </a:p>
          <a:p>
            <a:pPr marL="1200150" lvl="2" indent="-285750">
              <a:buFont typeface="Arial" panose="020B0604020202020204" pitchFamily="34" charset="0"/>
              <a:buChar char="•"/>
            </a:pPr>
            <a:r>
              <a:rPr lang="en-IN" sz="1600" dirty="0"/>
              <a:t>Purchase dataset</a:t>
            </a:r>
          </a:p>
          <a:p>
            <a:pPr lvl="1">
              <a:buFont typeface="Arial" panose="020B0604020202020204" pitchFamily="34" charset="0"/>
              <a:buChar char="•"/>
            </a:pPr>
            <a:r>
              <a:rPr lang="en-IN" sz="1600" b="1" dirty="0"/>
              <a:t>Training:</a:t>
            </a:r>
            <a:endParaRPr lang="en-IN" sz="1600" dirty="0"/>
          </a:p>
          <a:p>
            <a:pPr marL="1200150" lvl="2" indent="-285750">
              <a:buFont typeface="Arial" panose="020B0604020202020204" pitchFamily="34" charset="0"/>
              <a:buChar char="•"/>
            </a:pPr>
            <a:r>
              <a:rPr lang="en-IN" sz="1600" dirty="0"/>
              <a:t>Multiple shard config : 2,5,8,10,12,15,18</a:t>
            </a:r>
          </a:p>
          <a:p>
            <a:pPr marL="1200150" lvl="2" indent="-285750">
              <a:buFont typeface="Arial" panose="020B0604020202020204" pitchFamily="34" charset="0"/>
              <a:buChar char="•"/>
            </a:pPr>
            <a:r>
              <a:rPr lang="en-IN" sz="1600" dirty="0"/>
              <a:t>Num. of unlearning requests : 0 to 60</a:t>
            </a:r>
          </a:p>
          <a:p>
            <a:pPr marL="1200150" lvl="2" indent="-285750">
              <a:buFont typeface="Arial" panose="020B0604020202020204" pitchFamily="34" charset="0"/>
              <a:buChar char="•"/>
            </a:pPr>
            <a:r>
              <a:rPr lang="en-IN" sz="1600" dirty="0"/>
              <a:t>Models trained independently per shard, </a:t>
            </a:r>
          </a:p>
          <a:p>
            <a:pPr marL="1200150" lvl="2" indent="-285750">
              <a:buFont typeface="Arial" panose="020B0604020202020204" pitchFamily="34" charset="0"/>
              <a:buChar char="•"/>
            </a:pPr>
            <a:r>
              <a:rPr lang="en-IN" sz="1600" dirty="0"/>
              <a:t>Aggregation via majority vote across shard models</a:t>
            </a:r>
          </a:p>
          <a:p>
            <a:pPr lvl="1">
              <a:buFont typeface="Arial" panose="020B0604020202020204" pitchFamily="34" charset="0"/>
              <a:buChar char="•"/>
            </a:pPr>
            <a:r>
              <a:rPr lang="en-IN" sz="1600" b="1" dirty="0"/>
              <a:t>Loss Function:</a:t>
            </a:r>
            <a:endParaRPr lang="en-IN" sz="1600" dirty="0"/>
          </a:p>
          <a:p>
            <a:pPr marL="1200150" lvl="2" indent="-285750">
              <a:buFont typeface="Arial" panose="020B0604020202020204" pitchFamily="34" charset="0"/>
              <a:buChar char="•"/>
            </a:pPr>
            <a:r>
              <a:rPr lang="en-IN" sz="1600" dirty="0"/>
              <a:t>Cross-Entropy Loss (classification tasks)</a:t>
            </a:r>
          </a:p>
          <a:p>
            <a:pPr lvl="1">
              <a:buFont typeface="Arial" panose="020B0604020202020204" pitchFamily="34" charset="0"/>
              <a:buChar char="•"/>
            </a:pPr>
            <a:r>
              <a:rPr lang="en-IN" sz="1600" b="1" dirty="0"/>
              <a:t>Optimizer:</a:t>
            </a:r>
            <a:endParaRPr lang="en-IN" sz="1600" dirty="0"/>
          </a:p>
          <a:p>
            <a:pPr marL="1200150" lvl="2" indent="-285750">
              <a:buFont typeface="Arial" panose="020B0604020202020204" pitchFamily="34" charset="0"/>
              <a:buChar char="•"/>
            </a:pPr>
            <a:r>
              <a:rPr lang="en-IN" sz="1600" b="1" dirty="0"/>
              <a:t>Adam</a:t>
            </a:r>
            <a:r>
              <a:rPr lang="en-IN" sz="1600" dirty="0"/>
              <a:t> optimizer</a:t>
            </a:r>
          </a:p>
          <a:p>
            <a:pPr marL="1200150" lvl="2" indent="-285750">
              <a:buFont typeface="Arial" panose="020B0604020202020204" pitchFamily="34" charset="0"/>
              <a:buChar char="•"/>
            </a:pPr>
            <a:r>
              <a:rPr lang="en-IN" sz="1600" dirty="0"/>
              <a:t>Learning rate: </a:t>
            </a:r>
            <a:r>
              <a:rPr lang="en-IN" sz="1600" b="1" dirty="0"/>
              <a:t>0.001</a:t>
            </a:r>
            <a:r>
              <a:rPr lang="en-IN" sz="1600" dirty="0"/>
              <a:t> (tuned per dataset)</a:t>
            </a:r>
          </a:p>
          <a:p>
            <a:pPr marL="1200150" lvl="2" indent="-285750">
              <a:buFont typeface="Arial" panose="020B0604020202020204" pitchFamily="34" charset="0"/>
              <a:buChar char="•"/>
            </a:pPr>
            <a:r>
              <a:rPr lang="en-IN" sz="1600" dirty="0"/>
              <a:t>Batch size: </a:t>
            </a:r>
            <a:r>
              <a:rPr lang="en-IN" sz="1600" b="1" dirty="0"/>
              <a:t>128</a:t>
            </a:r>
            <a:endParaRPr lang="en-IN" sz="1600" dirty="0"/>
          </a:p>
          <a:p>
            <a:pPr lvl="1">
              <a:buFont typeface="Arial" panose="020B0604020202020204" pitchFamily="34" charset="0"/>
              <a:buChar char="•"/>
            </a:pPr>
            <a:r>
              <a:rPr lang="en-IN" sz="1600" b="1" dirty="0"/>
              <a:t>Regularization:</a:t>
            </a:r>
            <a:endParaRPr lang="en-IN" sz="1600" dirty="0"/>
          </a:p>
          <a:p>
            <a:pPr marL="1200150" lvl="2" indent="-285750">
              <a:buFont typeface="Arial" panose="020B0604020202020204" pitchFamily="34" charset="0"/>
              <a:buChar char="•"/>
            </a:pPr>
            <a:r>
              <a:rPr lang="en-IN" sz="1600" dirty="0"/>
              <a:t>Dropout (0.5 for deep networks)</a:t>
            </a:r>
          </a:p>
          <a:p>
            <a:pPr lvl="1">
              <a:buFont typeface="Arial" panose="020B0604020202020204" pitchFamily="34" charset="0"/>
              <a:buChar char="•"/>
            </a:pPr>
            <a:r>
              <a:rPr lang="en-IN" sz="1600" b="1" dirty="0"/>
              <a:t>Evaluation Metrics:</a:t>
            </a:r>
            <a:endParaRPr lang="en-IN" sz="1600" dirty="0"/>
          </a:p>
          <a:p>
            <a:pPr marL="1200150" lvl="2" indent="-285750">
              <a:buFont typeface="Arial" panose="020B0604020202020204" pitchFamily="34" charset="0"/>
              <a:buChar char="•"/>
            </a:pPr>
            <a:r>
              <a:rPr lang="en-IN" sz="1600" dirty="0"/>
              <a:t>Accuracy </a:t>
            </a:r>
          </a:p>
          <a:p>
            <a:pPr marL="1200150" lvl="2" indent="-285750">
              <a:buFont typeface="Arial" panose="020B0604020202020204" pitchFamily="34" charset="0"/>
              <a:buChar char="•"/>
            </a:pPr>
            <a:r>
              <a:rPr lang="en-IN" sz="1600" dirty="0"/>
              <a:t>Unlearning time (speed‑up vs retraining baseline)</a:t>
            </a:r>
          </a:p>
          <a:p>
            <a:pPr marL="1200150" lvl="2" indent="-285750">
              <a:buFont typeface="Arial" panose="020B0604020202020204" pitchFamily="34" charset="0"/>
              <a:buChar char="•"/>
            </a:pPr>
            <a:r>
              <a:rPr lang="en-IN" sz="1600" dirty="0"/>
              <a:t>Privacy compliance (ability to erase requested data)</a:t>
            </a:r>
          </a:p>
          <a:p>
            <a:pPr>
              <a:buNone/>
            </a:pPr>
            <a:br>
              <a:rPr lang="en-IN" sz="1400" dirty="0"/>
            </a:br>
            <a:endParaRPr lang="en-IN" sz="1400" dirty="0"/>
          </a:p>
        </p:txBody>
      </p:sp>
    </p:spTree>
    <p:extLst>
      <p:ext uri="{BB962C8B-B14F-4D97-AF65-F5344CB8AC3E}">
        <p14:creationId xmlns:p14="http://schemas.microsoft.com/office/powerpoint/2010/main" val="7199555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94C9B-F6C7-4D2F-77E2-542CA55B123F}"/>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55E53003-3EC9-EF60-CF8E-BCC8368006E3}"/>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6DA39139-D96C-F1B4-CAF2-94BC28A7B51E}"/>
                </a:ext>
              </a:extLst>
            </p:cNvPr>
            <p:cNvPicPr>
              <a:picLocks noChangeAspect="1"/>
            </p:cNvPicPr>
            <p:nvPr/>
          </p:nvPicPr>
          <p:blipFill rotWithShape="1">
            <a:blip r:embed="rId3">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25F4D10B-91BA-7167-05DB-2EFD5AE5E0C4}"/>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3" name="TextBox 2">
            <a:extLst>
              <a:ext uri="{FF2B5EF4-FFF2-40B4-BE49-F238E27FC236}">
                <a16:creationId xmlns:a16="http://schemas.microsoft.com/office/drawing/2014/main" id="{41C991B4-BB16-7EE7-0CC3-876A12532A89}"/>
              </a:ext>
            </a:extLst>
          </p:cNvPr>
          <p:cNvSpPr txBox="1"/>
          <p:nvPr/>
        </p:nvSpPr>
        <p:spPr>
          <a:xfrm>
            <a:off x="6096000" y="190137"/>
            <a:ext cx="5622387"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Pilot Study: Results</a:t>
            </a:r>
          </a:p>
        </p:txBody>
      </p:sp>
      <p:sp>
        <p:nvSpPr>
          <p:cNvPr id="11" name="Slide Number Placeholder 5">
            <a:extLst>
              <a:ext uri="{FF2B5EF4-FFF2-40B4-BE49-F238E27FC236}">
                <a16:creationId xmlns:a16="http://schemas.microsoft.com/office/drawing/2014/main" id="{C039A71F-7817-4A28-9706-367C4A2E09E4}"/>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27</a:t>
            </a:fld>
            <a:endParaRPr lang="en-IN" sz="1400" dirty="0">
              <a:solidFill>
                <a:schemeClr val="tx1"/>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2D601A33-F342-8C1C-8184-EA3502BB819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12365" y="1195837"/>
            <a:ext cx="4097546" cy="2233163"/>
          </a:xfrm>
          <a:prstGeom prst="rect">
            <a:avLst/>
          </a:prstGeom>
          <a:noFill/>
          <a:ln>
            <a:noFill/>
          </a:ln>
        </p:spPr>
      </p:pic>
      <p:pic>
        <p:nvPicPr>
          <p:cNvPr id="14" name="Picture 13" descr="The diagram illustrates a graph comparing the time taken to retrain a model (in seconds) against the number of requests processed, with different shard configurations (2, 5, 8, 10, and 12 shards).&#10;&#10;AI-generated content may be incorrect.">
            <a:extLst>
              <a:ext uri="{FF2B5EF4-FFF2-40B4-BE49-F238E27FC236}">
                <a16:creationId xmlns:a16="http://schemas.microsoft.com/office/drawing/2014/main" id="{13BBF964-EB59-812B-CC62-8660B2CC15C3}"/>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81261" y="3512342"/>
            <a:ext cx="7620000" cy="3048000"/>
          </a:xfrm>
          <a:prstGeom prst="rect">
            <a:avLst/>
          </a:prstGeom>
          <a:noFill/>
          <a:ln>
            <a:noFill/>
          </a:ln>
        </p:spPr>
      </p:pic>
      <p:pic>
        <p:nvPicPr>
          <p:cNvPr id="15" name="Picture 14">
            <a:extLst>
              <a:ext uri="{FF2B5EF4-FFF2-40B4-BE49-F238E27FC236}">
                <a16:creationId xmlns:a16="http://schemas.microsoft.com/office/drawing/2014/main" id="{CE828BC5-7158-D7F0-FA32-01FB1F79A83F}"/>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029030" y="1069770"/>
            <a:ext cx="3251269" cy="2275889"/>
          </a:xfrm>
          <a:prstGeom prst="rect">
            <a:avLst/>
          </a:prstGeom>
          <a:noFill/>
          <a:ln>
            <a:noFill/>
          </a:ln>
        </p:spPr>
      </p:pic>
      <p:sp>
        <p:nvSpPr>
          <p:cNvPr id="17" name="Rectangle 2">
            <a:extLst>
              <a:ext uri="{FF2B5EF4-FFF2-40B4-BE49-F238E27FC236}">
                <a16:creationId xmlns:a16="http://schemas.microsoft.com/office/drawing/2014/main" id="{F2F5B9C8-5A76-1AC6-77B2-8CDCCB33C724}"/>
              </a:ext>
            </a:extLst>
          </p:cNvPr>
          <p:cNvSpPr>
            <a:spLocks noChangeArrowheads="1"/>
          </p:cNvSpPr>
          <p:nvPr/>
        </p:nvSpPr>
        <p:spPr bwMode="auto">
          <a:xfrm>
            <a:off x="8620380" y="2635179"/>
            <a:ext cx="3562855"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More shards → faster unlearning, lower accuracy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Slicing → consistent speed-up, extra storage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8" name="TextBox 17">
            <a:extLst>
              <a:ext uri="{FF2B5EF4-FFF2-40B4-BE49-F238E27FC236}">
                <a16:creationId xmlns:a16="http://schemas.microsoft.com/office/drawing/2014/main" id="{512AE94B-B642-1437-DF65-90309FC5B272}"/>
              </a:ext>
            </a:extLst>
          </p:cNvPr>
          <p:cNvSpPr txBox="1"/>
          <p:nvPr/>
        </p:nvSpPr>
        <p:spPr>
          <a:xfrm>
            <a:off x="2462307" y="6611779"/>
            <a:ext cx="3115900" cy="246221"/>
          </a:xfrm>
          <a:prstGeom prst="rect">
            <a:avLst/>
          </a:prstGeom>
          <a:noFill/>
        </p:spPr>
        <p:txBody>
          <a:bodyPr wrap="square">
            <a:spAutoFit/>
          </a:bodyPr>
          <a:lstStyle/>
          <a:p>
            <a:r>
              <a:rPr lang="en-US" sz="1000" dirty="0">
                <a:solidFill>
                  <a:schemeClr val="tx1"/>
                </a:solidFill>
                <a:latin typeface="Times New Roman" panose="02020603050405020304" pitchFamily="18" charset="0"/>
                <a:cs typeface="Times New Roman" panose="02020603050405020304" pitchFamily="18" charset="0"/>
              </a:rPr>
              <a:t>Figure 7: </a:t>
            </a:r>
            <a:r>
              <a:rPr lang="en-IN" sz="1000" dirty="0">
                <a:latin typeface="Times New Roman" panose="02020603050405020304" pitchFamily="18" charset="0"/>
                <a:cs typeface="Times New Roman" panose="02020603050405020304" pitchFamily="18" charset="0"/>
              </a:rPr>
              <a:t>Pilot Study: Results</a:t>
            </a:r>
          </a:p>
        </p:txBody>
      </p:sp>
    </p:spTree>
    <p:extLst>
      <p:ext uri="{BB962C8B-B14F-4D97-AF65-F5344CB8AC3E}">
        <p14:creationId xmlns:p14="http://schemas.microsoft.com/office/powerpoint/2010/main" val="17365249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87768-5946-C383-3524-8ECD7F2D27D9}"/>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91F905FD-F146-ABDD-91F8-078D7129FBDB}"/>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CED69B44-8E65-0E71-C2DB-52958D742379}"/>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8E4D548A-9F3E-AD5B-40B7-D5EDF165452E}"/>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3" name="TextBox 2">
            <a:extLst>
              <a:ext uri="{FF2B5EF4-FFF2-40B4-BE49-F238E27FC236}">
                <a16:creationId xmlns:a16="http://schemas.microsoft.com/office/drawing/2014/main" id="{E0592D4D-EEB1-3741-CD65-AE783A53686B}"/>
              </a:ext>
            </a:extLst>
          </p:cNvPr>
          <p:cNvSpPr txBox="1"/>
          <p:nvPr/>
        </p:nvSpPr>
        <p:spPr>
          <a:xfrm>
            <a:off x="6096000" y="190137"/>
            <a:ext cx="5622387"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Expenses and Funding </a:t>
            </a:r>
          </a:p>
        </p:txBody>
      </p:sp>
      <p:sp>
        <p:nvSpPr>
          <p:cNvPr id="8" name="TextBox 7">
            <a:extLst>
              <a:ext uri="{FF2B5EF4-FFF2-40B4-BE49-F238E27FC236}">
                <a16:creationId xmlns:a16="http://schemas.microsoft.com/office/drawing/2014/main" id="{A2984F62-C5EF-E491-671F-EA850CD8D4AD}"/>
              </a:ext>
            </a:extLst>
          </p:cNvPr>
          <p:cNvSpPr txBox="1"/>
          <p:nvPr/>
        </p:nvSpPr>
        <p:spPr>
          <a:xfrm>
            <a:off x="759655" y="1284515"/>
            <a:ext cx="10958732" cy="954107"/>
          </a:xfrm>
          <a:prstGeom prst="rect">
            <a:avLst/>
          </a:prstGeom>
          <a:noFill/>
        </p:spPr>
        <p:txBody>
          <a:bodyPr wrap="square">
            <a:spAutoFit/>
          </a:bodyPr>
          <a:lstStyle/>
          <a:p>
            <a:r>
              <a:rPr lang="en-IN" sz="2800" dirty="0">
                <a:effectLst/>
                <a:latin typeface="Times New Roman" panose="02020603050405020304" pitchFamily="18" charset="0"/>
                <a:cs typeface="Times New Roman" panose="02020603050405020304" pitchFamily="18" charset="0"/>
              </a:rPr>
              <a:t>The most suitable concepts for research funding will be studied and communicated. </a:t>
            </a:r>
            <a:endParaRPr lang="en-IN" sz="2800" dirty="0">
              <a:latin typeface="Times New Roman" panose="02020603050405020304" pitchFamily="18" charset="0"/>
              <a:cs typeface="Times New Roman" panose="02020603050405020304" pitchFamily="18" charset="0"/>
            </a:endParaRPr>
          </a:p>
        </p:txBody>
      </p:sp>
      <p:sp>
        <p:nvSpPr>
          <p:cNvPr id="11" name="Slide Number Placeholder 5">
            <a:extLst>
              <a:ext uri="{FF2B5EF4-FFF2-40B4-BE49-F238E27FC236}">
                <a16:creationId xmlns:a16="http://schemas.microsoft.com/office/drawing/2014/main" id="{7906D747-ABC4-DAE2-C351-D7FB186746B4}"/>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28</a:t>
            </a:fld>
            <a:endParaRPr lang="en-IN" sz="1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04207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C2BE6-5994-496E-EF11-68E5C7A50A33}"/>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2B95E1F0-9C29-CCC1-90E7-1DBB55ABCA48}"/>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B0229672-2715-55C6-92D0-6751E64DB737}"/>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2C1D241A-CBB2-2157-27DE-1F640C463CC1}"/>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3" name="TextBox 2">
            <a:extLst>
              <a:ext uri="{FF2B5EF4-FFF2-40B4-BE49-F238E27FC236}">
                <a16:creationId xmlns:a16="http://schemas.microsoft.com/office/drawing/2014/main" id="{A1133314-42BF-D0BC-92D1-CD1A5B17522A}"/>
              </a:ext>
            </a:extLst>
          </p:cNvPr>
          <p:cNvSpPr txBox="1"/>
          <p:nvPr/>
        </p:nvSpPr>
        <p:spPr>
          <a:xfrm>
            <a:off x="6096000" y="190137"/>
            <a:ext cx="5622387"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Course Work Details</a:t>
            </a:r>
          </a:p>
        </p:txBody>
      </p:sp>
      <p:graphicFrame>
        <p:nvGraphicFramePr>
          <p:cNvPr id="4" name="Table 3">
            <a:extLst>
              <a:ext uri="{FF2B5EF4-FFF2-40B4-BE49-F238E27FC236}">
                <a16:creationId xmlns:a16="http://schemas.microsoft.com/office/drawing/2014/main" id="{DF428C81-582E-D958-C313-25592D8C3E19}"/>
              </a:ext>
            </a:extLst>
          </p:cNvPr>
          <p:cNvGraphicFramePr>
            <a:graphicFrameLocks noGrp="1"/>
          </p:cNvGraphicFramePr>
          <p:nvPr>
            <p:extLst>
              <p:ext uri="{D42A27DB-BD31-4B8C-83A1-F6EECF244321}">
                <p14:modId xmlns:p14="http://schemas.microsoft.com/office/powerpoint/2010/main" val="3891880011"/>
              </p:ext>
            </p:extLst>
          </p:nvPr>
        </p:nvGraphicFramePr>
        <p:xfrm>
          <a:off x="1465023" y="1817346"/>
          <a:ext cx="9261953" cy="2593290"/>
        </p:xfrm>
        <a:graphic>
          <a:graphicData uri="http://schemas.openxmlformats.org/drawingml/2006/table">
            <a:tbl>
              <a:tblPr firstRow="1" bandRow="1">
                <a:tableStyleId>{F5AB1C69-6EDB-4FF4-983F-18BD219EF322}</a:tableStyleId>
              </a:tblPr>
              <a:tblGrid>
                <a:gridCol w="1198664">
                  <a:extLst>
                    <a:ext uri="{9D8B030D-6E8A-4147-A177-3AD203B41FA5}">
                      <a16:colId xmlns:a16="http://schemas.microsoft.com/office/drawing/2014/main" val="112095384"/>
                    </a:ext>
                  </a:extLst>
                </a:gridCol>
                <a:gridCol w="5239180">
                  <a:extLst>
                    <a:ext uri="{9D8B030D-6E8A-4147-A177-3AD203B41FA5}">
                      <a16:colId xmlns:a16="http://schemas.microsoft.com/office/drawing/2014/main" val="632834027"/>
                    </a:ext>
                  </a:extLst>
                </a:gridCol>
                <a:gridCol w="1060007">
                  <a:extLst>
                    <a:ext uri="{9D8B030D-6E8A-4147-A177-3AD203B41FA5}">
                      <a16:colId xmlns:a16="http://schemas.microsoft.com/office/drawing/2014/main" val="2582267028"/>
                    </a:ext>
                  </a:extLst>
                </a:gridCol>
                <a:gridCol w="1764102">
                  <a:extLst>
                    <a:ext uri="{9D8B030D-6E8A-4147-A177-3AD203B41FA5}">
                      <a16:colId xmlns:a16="http://schemas.microsoft.com/office/drawing/2014/main" val="4292168148"/>
                    </a:ext>
                  </a:extLst>
                </a:gridCol>
              </a:tblGrid>
              <a:tr h="709954">
                <a:tc>
                  <a:txBody>
                    <a:bodyPr/>
                    <a:lstStyle/>
                    <a:p>
                      <a:pPr algn="ctr" rtl="0" fontAlgn="ctr">
                        <a:buNone/>
                      </a:pPr>
                      <a:r>
                        <a:rPr lang="en-IN" sz="1600" b="1" i="0" u="none" strike="noStrike" dirty="0">
                          <a:solidFill>
                            <a:srgbClr val="000000"/>
                          </a:solidFill>
                          <a:effectLst/>
                          <a:latin typeface="Times New Roman" panose="02020603050405020304" pitchFamily="18" charset="0"/>
                        </a:rPr>
                        <a:t>S. No.</a:t>
                      </a:r>
                    </a:p>
                  </a:txBody>
                  <a:tcPr marL="0" marR="0" marT="0" marB="0" anchor="ctr">
                    <a:solidFill>
                      <a:schemeClr val="accent2">
                        <a:lumMod val="60000"/>
                        <a:lumOff val="40000"/>
                      </a:schemeClr>
                    </a:solidFill>
                  </a:tcPr>
                </a:tc>
                <a:tc>
                  <a:txBody>
                    <a:bodyPr/>
                    <a:lstStyle/>
                    <a:p>
                      <a:pPr algn="ctr" rtl="0" fontAlgn="ctr">
                        <a:buNone/>
                      </a:pPr>
                      <a:r>
                        <a:rPr lang="en-IN" sz="1600" b="1" i="0" u="none" strike="noStrike">
                          <a:solidFill>
                            <a:srgbClr val="000000"/>
                          </a:solidFill>
                          <a:effectLst/>
                          <a:latin typeface="Times New Roman" panose="02020603050405020304" pitchFamily="18" charset="0"/>
                        </a:rPr>
                        <a:t>Title of Course Work</a:t>
                      </a:r>
                    </a:p>
                  </a:txBody>
                  <a:tcPr marL="0" marR="0" marT="0" marB="0" anchor="ctr">
                    <a:solidFill>
                      <a:schemeClr val="accent2">
                        <a:lumMod val="60000"/>
                        <a:lumOff val="40000"/>
                      </a:schemeClr>
                    </a:solidFill>
                  </a:tcPr>
                </a:tc>
                <a:tc>
                  <a:txBody>
                    <a:bodyPr/>
                    <a:lstStyle/>
                    <a:p>
                      <a:pPr algn="ctr" rtl="0" fontAlgn="ctr">
                        <a:buNone/>
                      </a:pPr>
                      <a:r>
                        <a:rPr lang="en-IN" sz="1600" b="1" i="0" u="none" strike="noStrike">
                          <a:solidFill>
                            <a:srgbClr val="000000"/>
                          </a:solidFill>
                          <a:effectLst/>
                          <a:latin typeface="Times New Roman" panose="02020603050405020304" pitchFamily="18" charset="0"/>
                        </a:rPr>
                        <a:t>Credits</a:t>
                      </a:r>
                    </a:p>
                  </a:txBody>
                  <a:tcPr marL="0" marR="0" marT="0" marB="0" anchor="ctr">
                    <a:solidFill>
                      <a:schemeClr val="accent2">
                        <a:lumMod val="60000"/>
                        <a:lumOff val="40000"/>
                      </a:schemeClr>
                    </a:solidFill>
                  </a:tcPr>
                </a:tc>
                <a:tc>
                  <a:txBody>
                    <a:bodyPr/>
                    <a:lstStyle/>
                    <a:p>
                      <a:pPr algn="ctr" rtl="0" fontAlgn="ctr">
                        <a:buNone/>
                      </a:pPr>
                      <a:r>
                        <a:rPr lang="en-IN" sz="1600" b="1" i="0" u="none" strike="noStrike" dirty="0">
                          <a:solidFill>
                            <a:srgbClr val="000000"/>
                          </a:solidFill>
                          <a:effectLst/>
                          <a:latin typeface="Times New Roman" panose="02020603050405020304" pitchFamily="18" charset="0"/>
                        </a:rPr>
                        <a:t>Status</a:t>
                      </a:r>
                    </a:p>
                  </a:txBody>
                  <a:tcPr marL="0" marR="0" marT="0" marB="0" anchor="ctr">
                    <a:solidFill>
                      <a:schemeClr val="accent2">
                        <a:lumMod val="60000"/>
                        <a:lumOff val="40000"/>
                      </a:schemeClr>
                    </a:solidFill>
                  </a:tcPr>
                </a:tc>
                <a:extLst>
                  <a:ext uri="{0D108BD9-81ED-4DB2-BD59-A6C34878D82A}">
                    <a16:rowId xmlns:a16="http://schemas.microsoft.com/office/drawing/2014/main" val="1113385291"/>
                  </a:ext>
                </a:extLst>
              </a:tr>
              <a:tr h="371288">
                <a:tc>
                  <a:txBody>
                    <a:bodyPr/>
                    <a:lstStyle/>
                    <a:p>
                      <a:pPr algn="ctr" rtl="0" fontAlgn="ctr">
                        <a:buNone/>
                      </a:pPr>
                      <a:r>
                        <a:rPr lang="en-IN" sz="1600" b="0" i="0" u="none" strike="noStrike" dirty="0">
                          <a:solidFill>
                            <a:srgbClr val="000000"/>
                          </a:solidFill>
                          <a:effectLst/>
                          <a:latin typeface="Times New Roman" panose="02020603050405020304" pitchFamily="18" charset="0"/>
                        </a:rPr>
                        <a:t>1</a:t>
                      </a:r>
                    </a:p>
                  </a:txBody>
                  <a:tcPr marL="0" marR="0" marT="0" marB="0" anchor="ctr">
                    <a:solidFill>
                      <a:schemeClr val="accent2">
                        <a:lumMod val="60000"/>
                        <a:lumOff val="40000"/>
                      </a:schemeClr>
                    </a:solidFill>
                  </a:tcPr>
                </a:tc>
                <a:tc>
                  <a:txBody>
                    <a:bodyPr/>
                    <a:lstStyle/>
                    <a:p>
                      <a:pPr algn="l" rtl="0" fontAlgn="ctr">
                        <a:buNone/>
                      </a:pPr>
                      <a:r>
                        <a:rPr lang="en-IN" sz="1600" b="0" i="0" u="none" strike="noStrike" dirty="0">
                          <a:solidFill>
                            <a:srgbClr val="000000"/>
                          </a:solidFill>
                          <a:effectLst/>
                          <a:latin typeface="Times New Roman" panose="02020603050405020304" pitchFamily="18" charset="0"/>
                        </a:rPr>
                        <a:t>Advanced Research Methodology (ARM)</a:t>
                      </a:r>
                    </a:p>
                  </a:txBody>
                  <a:tcPr marL="0" marR="0" marT="0" marB="0" anchor="ctr">
                    <a:solidFill>
                      <a:schemeClr val="accent2">
                        <a:lumMod val="60000"/>
                        <a:lumOff val="40000"/>
                      </a:schemeClr>
                    </a:solidFill>
                  </a:tcPr>
                </a:tc>
                <a:tc>
                  <a:txBody>
                    <a:bodyPr/>
                    <a:lstStyle/>
                    <a:p>
                      <a:pPr algn="ctr" rtl="0" fontAlgn="ctr">
                        <a:buNone/>
                      </a:pPr>
                      <a:r>
                        <a:rPr lang="en-IN" sz="1600" b="0" i="0" u="none" strike="noStrike" dirty="0">
                          <a:solidFill>
                            <a:srgbClr val="000000"/>
                          </a:solidFill>
                          <a:effectLst/>
                          <a:latin typeface="Times New Roman" panose="02020603050405020304" pitchFamily="18" charset="0"/>
                        </a:rPr>
                        <a:t>4</a:t>
                      </a:r>
                    </a:p>
                  </a:txBody>
                  <a:tcPr marL="0" marR="0" marT="0" marB="0" anchor="ctr">
                    <a:solidFill>
                      <a:schemeClr val="accent2">
                        <a:lumMod val="60000"/>
                        <a:lumOff val="40000"/>
                      </a:schemeClr>
                    </a:solidFill>
                  </a:tcPr>
                </a:tc>
                <a:tc>
                  <a:txBody>
                    <a:bodyPr/>
                    <a:lstStyle/>
                    <a:p>
                      <a:pPr algn="l" rtl="0" fontAlgn="ctr">
                        <a:buNone/>
                      </a:pPr>
                      <a:r>
                        <a:rPr lang="en-IN" sz="1600" b="0" i="0" u="none" strike="noStrike" dirty="0">
                          <a:solidFill>
                            <a:srgbClr val="000000"/>
                          </a:solidFill>
                          <a:effectLst/>
                          <a:latin typeface="Times New Roman" panose="02020603050405020304" pitchFamily="18" charset="0"/>
                        </a:rPr>
                        <a:t>In Progress (IP)</a:t>
                      </a:r>
                    </a:p>
                  </a:txBody>
                  <a:tcPr marL="0" marR="0" marT="0" marB="0" anchor="ctr">
                    <a:solidFill>
                      <a:schemeClr val="accent2">
                        <a:lumMod val="60000"/>
                        <a:lumOff val="40000"/>
                      </a:schemeClr>
                    </a:solidFill>
                  </a:tcPr>
                </a:tc>
                <a:extLst>
                  <a:ext uri="{0D108BD9-81ED-4DB2-BD59-A6C34878D82A}">
                    <a16:rowId xmlns:a16="http://schemas.microsoft.com/office/drawing/2014/main" val="1237531107"/>
                  </a:ext>
                </a:extLst>
              </a:tr>
              <a:tr h="310776">
                <a:tc>
                  <a:txBody>
                    <a:bodyPr/>
                    <a:lstStyle/>
                    <a:p>
                      <a:pPr algn="ctr" rtl="0" fontAlgn="ctr">
                        <a:buNone/>
                      </a:pPr>
                      <a:r>
                        <a:rPr lang="en-IN" sz="1600" b="0" i="0" u="none" strike="noStrike">
                          <a:solidFill>
                            <a:srgbClr val="000000"/>
                          </a:solidFill>
                          <a:effectLst/>
                          <a:latin typeface="Times New Roman" panose="02020603050405020304" pitchFamily="18" charset="0"/>
                        </a:rPr>
                        <a:t>2</a:t>
                      </a:r>
                    </a:p>
                  </a:txBody>
                  <a:tcPr marL="0" marR="0" marT="0" marB="0" anchor="ctr">
                    <a:solidFill>
                      <a:schemeClr val="accent2">
                        <a:lumMod val="60000"/>
                        <a:lumOff val="40000"/>
                      </a:schemeClr>
                    </a:solidFill>
                  </a:tcPr>
                </a:tc>
                <a:tc>
                  <a:txBody>
                    <a:bodyPr/>
                    <a:lstStyle/>
                    <a:p>
                      <a:pPr algn="l" rtl="0" fontAlgn="ctr">
                        <a:buNone/>
                      </a:pPr>
                      <a:r>
                        <a:rPr lang="en-US" sz="1600" b="0" i="0" u="none" strike="noStrike">
                          <a:solidFill>
                            <a:srgbClr val="000000"/>
                          </a:solidFill>
                          <a:effectLst/>
                          <a:latin typeface="Times New Roman" panose="02020603050405020304" pitchFamily="18" charset="0"/>
                        </a:rPr>
                        <a:t>Research and Publication Ethics (RPE)</a:t>
                      </a:r>
                    </a:p>
                  </a:txBody>
                  <a:tcPr marL="0" marR="0" marT="0" marB="0" anchor="ctr">
                    <a:solidFill>
                      <a:schemeClr val="accent2">
                        <a:lumMod val="60000"/>
                        <a:lumOff val="40000"/>
                      </a:schemeClr>
                    </a:solidFill>
                  </a:tcPr>
                </a:tc>
                <a:tc>
                  <a:txBody>
                    <a:bodyPr/>
                    <a:lstStyle/>
                    <a:p>
                      <a:pPr algn="ctr" rtl="0" fontAlgn="ctr">
                        <a:buNone/>
                      </a:pPr>
                      <a:r>
                        <a:rPr lang="en-IN" sz="1600" b="0" i="0" u="none" strike="noStrike">
                          <a:solidFill>
                            <a:srgbClr val="000000"/>
                          </a:solidFill>
                          <a:effectLst/>
                          <a:latin typeface="Times New Roman" panose="02020603050405020304" pitchFamily="18" charset="0"/>
                        </a:rPr>
                        <a:t>2</a:t>
                      </a:r>
                    </a:p>
                  </a:txBody>
                  <a:tcPr marL="0" marR="0" marT="0" marB="0" anchor="ctr">
                    <a:solidFill>
                      <a:schemeClr val="accent2">
                        <a:lumMod val="60000"/>
                        <a:lumOff val="40000"/>
                      </a:schemeClr>
                    </a:solidFill>
                  </a:tcPr>
                </a:tc>
                <a:tc>
                  <a:txBody>
                    <a:bodyPr/>
                    <a:lstStyle/>
                    <a:p>
                      <a:pPr algn="l" rtl="0" fontAlgn="ctr">
                        <a:buNone/>
                      </a:pPr>
                      <a:r>
                        <a:rPr lang="en-IN" sz="1600" b="0" i="0" u="none" strike="noStrike">
                          <a:solidFill>
                            <a:srgbClr val="000000"/>
                          </a:solidFill>
                          <a:effectLst/>
                          <a:latin typeface="Times New Roman" panose="02020603050405020304" pitchFamily="18" charset="0"/>
                        </a:rPr>
                        <a:t>Completed</a:t>
                      </a:r>
                    </a:p>
                  </a:txBody>
                  <a:tcPr marL="0" marR="0" marT="0" marB="0" anchor="ctr">
                    <a:solidFill>
                      <a:schemeClr val="accent2">
                        <a:lumMod val="60000"/>
                        <a:lumOff val="40000"/>
                      </a:schemeClr>
                    </a:solidFill>
                  </a:tcPr>
                </a:tc>
                <a:extLst>
                  <a:ext uri="{0D108BD9-81ED-4DB2-BD59-A6C34878D82A}">
                    <a16:rowId xmlns:a16="http://schemas.microsoft.com/office/drawing/2014/main" val="195585577"/>
                  </a:ext>
                </a:extLst>
              </a:tr>
              <a:tr h="400424">
                <a:tc>
                  <a:txBody>
                    <a:bodyPr/>
                    <a:lstStyle/>
                    <a:p>
                      <a:pPr algn="ctr" rtl="0" fontAlgn="ctr">
                        <a:buNone/>
                      </a:pPr>
                      <a:r>
                        <a:rPr lang="en-IN" sz="1600" b="0" i="0" u="none" strike="noStrike" dirty="0">
                          <a:solidFill>
                            <a:srgbClr val="000000"/>
                          </a:solidFill>
                          <a:effectLst/>
                          <a:latin typeface="Times New Roman" panose="02020603050405020304" pitchFamily="18" charset="0"/>
                        </a:rPr>
                        <a:t>3</a:t>
                      </a:r>
                    </a:p>
                  </a:txBody>
                  <a:tcPr marL="0" marR="0" marT="0" marB="0" anchor="ctr">
                    <a:solidFill>
                      <a:schemeClr val="accent2">
                        <a:lumMod val="60000"/>
                        <a:lumOff val="40000"/>
                      </a:schemeClr>
                    </a:solidFill>
                  </a:tcPr>
                </a:tc>
                <a:tc>
                  <a:txBody>
                    <a:bodyPr/>
                    <a:lstStyle/>
                    <a:p>
                      <a:pPr algn="l" rtl="0" fontAlgn="ctr">
                        <a:buNone/>
                      </a:pPr>
                      <a:r>
                        <a:rPr lang="en-IN" sz="1600" b="0" i="0" u="none" strike="noStrike" dirty="0">
                          <a:solidFill>
                            <a:srgbClr val="000000"/>
                          </a:solidFill>
                          <a:effectLst/>
                          <a:latin typeface="Times New Roman" panose="02020603050405020304" pitchFamily="18" charset="0"/>
                        </a:rPr>
                        <a:t>Machine Learning</a:t>
                      </a:r>
                    </a:p>
                  </a:txBody>
                  <a:tcPr marL="0" marR="0" marT="0" marB="0" anchor="ctr">
                    <a:solidFill>
                      <a:schemeClr val="accent2">
                        <a:lumMod val="60000"/>
                        <a:lumOff val="40000"/>
                      </a:schemeClr>
                    </a:solidFill>
                  </a:tcPr>
                </a:tc>
                <a:tc>
                  <a:txBody>
                    <a:bodyPr/>
                    <a:lstStyle/>
                    <a:p>
                      <a:pPr algn="ctr" rtl="0" fontAlgn="ctr">
                        <a:buNone/>
                      </a:pPr>
                      <a:r>
                        <a:rPr lang="en-IN" sz="1600" b="0" i="0" u="none" strike="noStrike">
                          <a:solidFill>
                            <a:srgbClr val="000000"/>
                          </a:solidFill>
                          <a:effectLst/>
                          <a:latin typeface="Times New Roman" panose="02020603050405020304" pitchFamily="18" charset="0"/>
                        </a:rPr>
                        <a:t>3</a:t>
                      </a:r>
                    </a:p>
                  </a:txBody>
                  <a:tcPr marL="0" marR="0" marT="0" marB="0" anchor="ctr">
                    <a:solidFill>
                      <a:schemeClr val="accent2">
                        <a:lumMod val="60000"/>
                        <a:lumOff val="40000"/>
                      </a:schemeClr>
                    </a:solidFill>
                  </a:tcPr>
                </a:tc>
                <a:tc>
                  <a:txBody>
                    <a:bodyPr/>
                    <a:lstStyle/>
                    <a:p>
                      <a:pPr algn="l" rtl="0" fontAlgn="ctr">
                        <a:buNone/>
                      </a:pPr>
                      <a:r>
                        <a:rPr lang="en-IN" sz="1600" b="0" i="0" u="none" strike="noStrike">
                          <a:solidFill>
                            <a:srgbClr val="000000"/>
                          </a:solidFill>
                          <a:effectLst/>
                          <a:latin typeface="Times New Roman" panose="02020603050405020304" pitchFamily="18" charset="0"/>
                        </a:rPr>
                        <a:t>To Be Taken (TBT)</a:t>
                      </a:r>
                    </a:p>
                  </a:txBody>
                  <a:tcPr marL="0" marR="0" marT="0" marB="0" anchor="ctr">
                    <a:solidFill>
                      <a:schemeClr val="accent2">
                        <a:lumMod val="60000"/>
                        <a:lumOff val="40000"/>
                      </a:schemeClr>
                    </a:solidFill>
                  </a:tcPr>
                </a:tc>
                <a:extLst>
                  <a:ext uri="{0D108BD9-81ED-4DB2-BD59-A6C34878D82A}">
                    <a16:rowId xmlns:a16="http://schemas.microsoft.com/office/drawing/2014/main" val="1460210787"/>
                  </a:ext>
                </a:extLst>
              </a:tr>
              <a:tr h="400424">
                <a:tc>
                  <a:txBody>
                    <a:bodyPr/>
                    <a:lstStyle/>
                    <a:p>
                      <a:pPr algn="ctr" rtl="0" fontAlgn="ctr">
                        <a:buNone/>
                      </a:pPr>
                      <a:r>
                        <a:rPr lang="en-IN" sz="1600" b="0" i="0" u="none" strike="noStrike" dirty="0">
                          <a:solidFill>
                            <a:srgbClr val="000000"/>
                          </a:solidFill>
                          <a:effectLst/>
                          <a:latin typeface="Times New Roman" panose="02020603050405020304" pitchFamily="18" charset="0"/>
                        </a:rPr>
                        <a:t>4</a:t>
                      </a:r>
                    </a:p>
                  </a:txBody>
                  <a:tcPr marL="0" marR="0" marT="0" marB="0" anchor="ctr">
                    <a:solidFill>
                      <a:schemeClr val="accent2">
                        <a:lumMod val="60000"/>
                        <a:lumOff val="40000"/>
                      </a:schemeClr>
                    </a:solidFill>
                  </a:tcPr>
                </a:tc>
                <a:tc>
                  <a:txBody>
                    <a:bodyPr/>
                    <a:lstStyle/>
                    <a:p>
                      <a:pPr algn="l" rtl="0" fontAlgn="ctr">
                        <a:buNone/>
                      </a:pPr>
                      <a:r>
                        <a:rPr lang="en-US" sz="1600" b="0" i="0" u="none" strike="noStrike" dirty="0">
                          <a:solidFill>
                            <a:srgbClr val="000000"/>
                          </a:solidFill>
                          <a:effectLst/>
                          <a:latin typeface="Times New Roman" panose="02020603050405020304" pitchFamily="18" charset="0"/>
                        </a:rPr>
                        <a:t>Responsible and Safe AI Systems </a:t>
                      </a:r>
                    </a:p>
                  </a:txBody>
                  <a:tcPr marL="0" marR="0" marT="0" marB="0" anchor="ctr">
                    <a:solidFill>
                      <a:schemeClr val="accent2">
                        <a:lumMod val="60000"/>
                        <a:lumOff val="40000"/>
                      </a:schemeClr>
                    </a:solidFill>
                  </a:tcPr>
                </a:tc>
                <a:tc>
                  <a:txBody>
                    <a:bodyPr/>
                    <a:lstStyle/>
                    <a:p>
                      <a:pPr algn="ctr" rtl="0" fontAlgn="ctr">
                        <a:buNone/>
                      </a:pPr>
                      <a:r>
                        <a:rPr lang="en-IN" sz="1600" b="0" i="0" u="none" strike="noStrike">
                          <a:solidFill>
                            <a:srgbClr val="000000"/>
                          </a:solidFill>
                          <a:effectLst/>
                          <a:latin typeface="Times New Roman" panose="02020603050405020304" pitchFamily="18" charset="0"/>
                        </a:rPr>
                        <a:t>3</a:t>
                      </a:r>
                    </a:p>
                  </a:txBody>
                  <a:tcPr marL="0" marR="0" marT="0" marB="0" anchor="ctr">
                    <a:solidFill>
                      <a:schemeClr val="accent2">
                        <a:lumMod val="60000"/>
                        <a:lumOff val="40000"/>
                      </a:schemeClr>
                    </a:solidFill>
                  </a:tcPr>
                </a:tc>
                <a:tc>
                  <a:txBody>
                    <a:bodyPr/>
                    <a:lstStyle/>
                    <a:p>
                      <a:pPr algn="l" rtl="0" fontAlgn="ctr">
                        <a:buNone/>
                      </a:pPr>
                      <a:r>
                        <a:rPr lang="en-IN" sz="1600" b="0" i="0" u="none" strike="noStrike">
                          <a:solidFill>
                            <a:srgbClr val="000000"/>
                          </a:solidFill>
                          <a:effectLst/>
                          <a:latin typeface="Times New Roman" panose="02020603050405020304" pitchFamily="18" charset="0"/>
                        </a:rPr>
                        <a:t>To Be Taken (TBT)</a:t>
                      </a:r>
                    </a:p>
                  </a:txBody>
                  <a:tcPr marL="0" marR="0" marT="0" marB="0" anchor="ctr">
                    <a:solidFill>
                      <a:schemeClr val="accent2">
                        <a:lumMod val="60000"/>
                        <a:lumOff val="40000"/>
                      </a:schemeClr>
                    </a:solidFill>
                  </a:tcPr>
                </a:tc>
                <a:extLst>
                  <a:ext uri="{0D108BD9-81ED-4DB2-BD59-A6C34878D82A}">
                    <a16:rowId xmlns:a16="http://schemas.microsoft.com/office/drawing/2014/main" val="3097511067"/>
                  </a:ext>
                </a:extLst>
              </a:tr>
              <a:tr h="400424">
                <a:tc>
                  <a:txBody>
                    <a:bodyPr/>
                    <a:lstStyle/>
                    <a:p>
                      <a:pPr algn="ctr" rtl="0" fontAlgn="ctr">
                        <a:buNone/>
                      </a:pPr>
                      <a:r>
                        <a:rPr lang="en-IN" sz="1600" b="0" i="0" u="none" strike="noStrike" dirty="0">
                          <a:solidFill>
                            <a:srgbClr val="000000"/>
                          </a:solidFill>
                          <a:effectLst/>
                          <a:latin typeface="Times New Roman" panose="02020603050405020304" pitchFamily="18" charset="0"/>
                        </a:rPr>
                        <a:t>5</a:t>
                      </a:r>
                    </a:p>
                  </a:txBody>
                  <a:tcPr marL="0" marR="0" marT="0" marB="0" anchor="ctr">
                    <a:solidFill>
                      <a:schemeClr val="accent2">
                        <a:lumMod val="60000"/>
                        <a:lumOff val="40000"/>
                      </a:schemeClr>
                    </a:solidFill>
                  </a:tcPr>
                </a:tc>
                <a:tc>
                  <a:txBody>
                    <a:bodyPr/>
                    <a:lstStyle/>
                    <a:p>
                      <a:pPr algn="l" rtl="0" fontAlgn="ctr">
                        <a:buNone/>
                      </a:pPr>
                      <a:r>
                        <a:rPr lang="en-IN" sz="1600" b="0" i="0" u="none" strike="noStrike">
                          <a:solidFill>
                            <a:srgbClr val="000000"/>
                          </a:solidFill>
                          <a:effectLst/>
                          <a:latin typeface="Times New Roman" panose="02020603050405020304" pitchFamily="18" charset="0"/>
                        </a:rPr>
                        <a:t>Game Theory</a:t>
                      </a:r>
                    </a:p>
                  </a:txBody>
                  <a:tcPr marL="0" marR="0" marT="0" marB="0" anchor="ctr">
                    <a:solidFill>
                      <a:schemeClr val="accent2">
                        <a:lumMod val="60000"/>
                        <a:lumOff val="40000"/>
                      </a:schemeClr>
                    </a:solidFill>
                  </a:tcPr>
                </a:tc>
                <a:tc>
                  <a:txBody>
                    <a:bodyPr/>
                    <a:lstStyle/>
                    <a:p>
                      <a:pPr algn="ctr" rtl="0" fontAlgn="ctr">
                        <a:buNone/>
                      </a:pPr>
                      <a:r>
                        <a:rPr lang="en-IN" sz="1600" b="0" i="0" u="none" strike="noStrike">
                          <a:solidFill>
                            <a:srgbClr val="000000"/>
                          </a:solidFill>
                          <a:effectLst/>
                          <a:latin typeface="Times New Roman" panose="02020603050405020304" pitchFamily="18" charset="0"/>
                        </a:rPr>
                        <a:t>2</a:t>
                      </a:r>
                    </a:p>
                  </a:txBody>
                  <a:tcPr marL="0" marR="0" marT="0" marB="0" anchor="ctr">
                    <a:solidFill>
                      <a:schemeClr val="accent2">
                        <a:lumMod val="60000"/>
                        <a:lumOff val="40000"/>
                      </a:schemeClr>
                    </a:solidFill>
                  </a:tcPr>
                </a:tc>
                <a:tc>
                  <a:txBody>
                    <a:bodyPr/>
                    <a:lstStyle/>
                    <a:p>
                      <a:pPr algn="l" rtl="0" fontAlgn="ctr">
                        <a:buNone/>
                      </a:pPr>
                      <a:r>
                        <a:rPr lang="en-IN" sz="1600" b="0" i="0" u="none" strike="noStrike" dirty="0">
                          <a:solidFill>
                            <a:srgbClr val="000000"/>
                          </a:solidFill>
                          <a:effectLst/>
                          <a:latin typeface="Times New Roman" panose="02020603050405020304" pitchFamily="18" charset="0"/>
                        </a:rPr>
                        <a:t>To Be Taken (TBT)</a:t>
                      </a:r>
                    </a:p>
                  </a:txBody>
                  <a:tcPr marL="0" marR="0" marT="0" marB="0" anchor="ctr">
                    <a:solidFill>
                      <a:schemeClr val="accent2">
                        <a:lumMod val="60000"/>
                        <a:lumOff val="40000"/>
                      </a:schemeClr>
                    </a:solidFill>
                  </a:tcPr>
                </a:tc>
                <a:extLst>
                  <a:ext uri="{0D108BD9-81ED-4DB2-BD59-A6C34878D82A}">
                    <a16:rowId xmlns:a16="http://schemas.microsoft.com/office/drawing/2014/main" val="1684848306"/>
                  </a:ext>
                </a:extLst>
              </a:tr>
            </a:tbl>
          </a:graphicData>
        </a:graphic>
      </p:graphicFrame>
      <p:sp>
        <p:nvSpPr>
          <p:cNvPr id="7" name="Slide Number Placeholder 5">
            <a:extLst>
              <a:ext uri="{FF2B5EF4-FFF2-40B4-BE49-F238E27FC236}">
                <a16:creationId xmlns:a16="http://schemas.microsoft.com/office/drawing/2014/main" id="{4959B264-53FF-FE92-B898-557D41115C3C}"/>
              </a:ext>
            </a:extLst>
          </p:cNvPr>
          <p:cNvSpPr>
            <a:spLocks noGrp="1"/>
          </p:cNvSpPr>
          <p:nvPr>
            <p:ph type="sldNum" sz="quarter" idx="12"/>
          </p:nvPr>
        </p:nvSpPr>
        <p:spPr>
          <a:xfrm>
            <a:off x="11282291" y="6618632"/>
            <a:ext cx="732692" cy="216301"/>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29</a:t>
            </a:fld>
            <a:endParaRPr lang="en-IN" sz="1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60188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3437B-ADDA-F0DA-A08F-C7222AE35EDB}"/>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0B414F6D-B2CE-44F2-14B1-0BC14C881B71}"/>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16878A54-6277-67F5-0372-4B9CCBAB70A7}"/>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1ECFA12D-8C57-B03C-ABAD-63BF2EB83985}"/>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3" name="TextBox 2">
            <a:extLst>
              <a:ext uri="{FF2B5EF4-FFF2-40B4-BE49-F238E27FC236}">
                <a16:creationId xmlns:a16="http://schemas.microsoft.com/office/drawing/2014/main" id="{0C558891-BA15-A4B2-0050-44BB8011483E}"/>
              </a:ext>
            </a:extLst>
          </p:cNvPr>
          <p:cNvSpPr txBox="1"/>
          <p:nvPr/>
        </p:nvSpPr>
        <p:spPr>
          <a:xfrm>
            <a:off x="6096000" y="190137"/>
            <a:ext cx="5622387"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References</a:t>
            </a:r>
          </a:p>
        </p:txBody>
      </p:sp>
      <p:sp>
        <p:nvSpPr>
          <p:cNvPr id="5" name="Slide Number Placeholder 5">
            <a:extLst>
              <a:ext uri="{FF2B5EF4-FFF2-40B4-BE49-F238E27FC236}">
                <a16:creationId xmlns:a16="http://schemas.microsoft.com/office/drawing/2014/main" id="{F94A8F0F-4653-9193-3E45-3A080A6D545C}"/>
              </a:ext>
            </a:extLst>
          </p:cNvPr>
          <p:cNvSpPr>
            <a:spLocks noGrp="1"/>
          </p:cNvSpPr>
          <p:nvPr>
            <p:ph type="sldNum" sz="quarter" idx="12"/>
          </p:nvPr>
        </p:nvSpPr>
        <p:spPr>
          <a:xfrm>
            <a:off x="11282291" y="6442860"/>
            <a:ext cx="732692" cy="392073"/>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30</a:t>
            </a:fld>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65F105B-E33F-30DE-717F-379B207252A3}"/>
              </a:ext>
            </a:extLst>
          </p:cNvPr>
          <p:cNvSpPr txBox="1"/>
          <p:nvPr/>
        </p:nvSpPr>
        <p:spPr>
          <a:xfrm>
            <a:off x="393895" y="913476"/>
            <a:ext cx="11324492" cy="5570756"/>
          </a:xfrm>
          <a:prstGeom prst="rect">
            <a:avLst/>
          </a:prstGeom>
          <a:noFill/>
        </p:spPr>
        <p:txBody>
          <a:bodyPr wrap="square">
            <a:spAutoFit/>
          </a:bodyPr>
          <a:lstStyle/>
          <a:p>
            <a:pPr marL="457200" algn="just">
              <a:spcAft>
                <a:spcPts val="800"/>
              </a:spcAft>
              <a:buNone/>
            </a:pPr>
            <a:r>
              <a:rPr lang="en-IN" sz="1600" dirty="0">
                <a:solidFill>
                  <a:srgbClr val="000000"/>
                </a:solidFill>
                <a:effectLst/>
                <a:latin typeface="Times New Roman" panose="02020603050405020304" pitchFamily="18" charset="0"/>
                <a:ea typeface="Calibri" panose="020F0502020204030204" pitchFamily="34" charset="0"/>
              </a:rPr>
              <a:t>[1] Machine Unlearning: A Survey HENG XU, TIANQING ZHU, and LEFENG ZHANG, University of Technology Sydney, Australia WANLEI ZHOU, City University of Macau, China PHILIP S. YU, University of Illinois at Chicago, United States</a:t>
            </a:r>
            <a:endParaRPr lang="en-IN" sz="1600" dirty="0">
              <a:solidFill>
                <a:srgbClr val="000000"/>
              </a:solidFill>
              <a:effectLst/>
              <a:latin typeface="Calibri" panose="020F0502020204030204" pitchFamily="34" charset="0"/>
              <a:ea typeface="Calibri" panose="020F0502020204030204" pitchFamily="34" charset="0"/>
            </a:endParaRPr>
          </a:p>
          <a:p>
            <a:pPr marL="457200" algn="just">
              <a:spcAft>
                <a:spcPts val="800"/>
              </a:spcAft>
              <a:buNone/>
            </a:pPr>
            <a:r>
              <a:rPr lang="en-IN" sz="1600" dirty="0">
                <a:solidFill>
                  <a:srgbClr val="000000"/>
                </a:solidFill>
                <a:effectLst/>
                <a:latin typeface="Times New Roman" panose="02020603050405020304" pitchFamily="18" charset="0"/>
                <a:ea typeface="Calibri" panose="020F0502020204030204" pitchFamily="34" charset="0"/>
              </a:rPr>
              <a:t>[2] Machine Unlearning: A Comprehensive Survey WEIQI WANG, University of Technology Sydney, Australia ZHIYI TIAN, University of Technology Sydney, Australia CHENHAN ZHANG, University of Technology Sydney, Australia SHUI YU, University of Technology Sydney, Australia</a:t>
            </a:r>
            <a:endParaRPr lang="en-IN" sz="1600" dirty="0">
              <a:solidFill>
                <a:srgbClr val="000000"/>
              </a:solidFill>
              <a:effectLst/>
              <a:latin typeface="Calibri" panose="020F0502020204030204" pitchFamily="34" charset="0"/>
              <a:ea typeface="Calibri" panose="020F0502020204030204" pitchFamily="34" charset="0"/>
            </a:endParaRPr>
          </a:p>
          <a:p>
            <a:pPr marL="457200" algn="just">
              <a:spcAft>
                <a:spcPts val="800"/>
              </a:spcAft>
              <a:buNone/>
            </a:pPr>
            <a:r>
              <a:rPr lang="en-IN" sz="1600" dirty="0">
                <a:solidFill>
                  <a:srgbClr val="000000"/>
                </a:solidFill>
                <a:effectLst/>
                <a:latin typeface="Times New Roman" panose="02020603050405020304" pitchFamily="18" charset="0"/>
                <a:ea typeface="Calibri" panose="020F0502020204030204" pitchFamily="34" charset="0"/>
              </a:rPr>
              <a:t>[3] Stefanos Leonardos and Georgios </a:t>
            </a:r>
            <a:r>
              <a:rPr lang="en-IN" sz="1600" dirty="0" err="1">
                <a:solidFill>
                  <a:srgbClr val="000000"/>
                </a:solidFill>
                <a:effectLst/>
                <a:latin typeface="Times New Roman" panose="02020603050405020304" pitchFamily="18" charset="0"/>
                <a:ea typeface="Calibri" panose="020F0502020204030204" pitchFamily="34" charset="0"/>
              </a:rPr>
              <a:t>Piliouras</a:t>
            </a:r>
            <a:r>
              <a:rPr lang="en-IN" sz="1600" dirty="0">
                <a:solidFill>
                  <a:srgbClr val="000000"/>
                </a:solidFill>
                <a:effectLst/>
                <a:latin typeface="Times New Roman" panose="02020603050405020304" pitchFamily="18" charset="0"/>
                <a:ea typeface="Calibri" panose="020F0502020204030204" pitchFamily="34" charset="0"/>
              </a:rPr>
              <a:t>. 2022. Exploration-exploitation in multi-agent learning: Catastrophe theory meets game theory. </a:t>
            </a:r>
            <a:r>
              <a:rPr lang="en-IN" sz="1600" dirty="0" err="1">
                <a:solidFill>
                  <a:srgbClr val="000000"/>
                </a:solidFill>
                <a:effectLst/>
                <a:latin typeface="Times New Roman" panose="02020603050405020304" pitchFamily="18" charset="0"/>
                <a:ea typeface="Calibri" panose="020F0502020204030204" pitchFamily="34" charset="0"/>
              </a:rPr>
              <a:t>Artif</a:t>
            </a:r>
            <a:r>
              <a:rPr lang="en-IN" sz="1600" dirty="0">
                <a:solidFill>
                  <a:srgbClr val="000000"/>
                </a:solidFill>
                <a:effectLst/>
                <a:latin typeface="Times New Roman" panose="02020603050405020304" pitchFamily="18" charset="0"/>
                <a:ea typeface="Calibri" panose="020F0502020204030204" pitchFamily="34" charset="0"/>
              </a:rPr>
              <a:t>. </a:t>
            </a:r>
            <a:r>
              <a:rPr lang="en-IN" sz="1600" dirty="0" err="1">
                <a:solidFill>
                  <a:srgbClr val="000000"/>
                </a:solidFill>
                <a:effectLst/>
                <a:latin typeface="Times New Roman" panose="02020603050405020304" pitchFamily="18" charset="0"/>
                <a:ea typeface="Calibri" panose="020F0502020204030204" pitchFamily="34" charset="0"/>
              </a:rPr>
              <a:t>Intell</a:t>
            </a:r>
            <a:r>
              <a:rPr lang="en-IN" sz="1600" dirty="0">
                <a:solidFill>
                  <a:srgbClr val="000000"/>
                </a:solidFill>
                <a:effectLst/>
                <a:latin typeface="Times New Roman" panose="02020603050405020304" pitchFamily="18" charset="0"/>
                <a:ea typeface="Calibri" panose="020F0502020204030204" pitchFamily="34" charset="0"/>
              </a:rPr>
              <a:t>. 304 (2022), 103653. DOI: http://dx.doi.org/10.1016/j.artint.2021.103653 </a:t>
            </a:r>
            <a:endParaRPr lang="en-IN" sz="1600" dirty="0">
              <a:solidFill>
                <a:srgbClr val="000000"/>
              </a:solidFill>
              <a:effectLst/>
              <a:latin typeface="Calibri" panose="020F0502020204030204" pitchFamily="34" charset="0"/>
              <a:ea typeface="Calibri" panose="020F0502020204030204" pitchFamily="34" charset="0"/>
            </a:endParaRPr>
          </a:p>
          <a:p>
            <a:pPr marL="457200" algn="just">
              <a:spcAft>
                <a:spcPts val="800"/>
              </a:spcAft>
              <a:buNone/>
            </a:pPr>
            <a:r>
              <a:rPr lang="en-IN" sz="1600" dirty="0">
                <a:solidFill>
                  <a:srgbClr val="000000"/>
                </a:solidFill>
                <a:effectLst/>
                <a:latin typeface="Times New Roman" panose="02020603050405020304" pitchFamily="18" charset="0"/>
                <a:ea typeface="Calibri" panose="020F0502020204030204" pitchFamily="34" charset="0"/>
              </a:rPr>
              <a:t>[4] Lei Cui, Youyang Qu, Mohammad Reza </a:t>
            </a:r>
            <a:r>
              <a:rPr lang="en-IN" sz="1600" dirty="0" err="1">
                <a:solidFill>
                  <a:srgbClr val="000000"/>
                </a:solidFill>
                <a:effectLst/>
                <a:latin typeface="Times New Roman" panose="02020603050405020304" pitchFamily="18" charset="0"/>
                <a:ea typeface="Calibri" panose="020F0502020204030204" pitchFamily="34" charset="0"/>
              </a:rPr>
              <a:t>Nosouhi</a:t>
            </a:r>
            <a:r>
              <a:rPr lang="en-IN" sz="1600" dirty="0">
                <a:solidFill>
                  <a:srgbClr val="000000"/>
                </a:solidFill>
                <a:effectLst/>
                <a:latin typeface="Times New Roman" panose="02020603050405020304" pitchFamily="18" charset="0"/>
                <a:ea typeface="Calibri" panose="020F0502020204030204" pitchFamily="34" charset="0"/>
              </a:rPr>
              <a:t>, Shui Yu, Jianwei Niu, and Gang Xie. 2019. Improving data utility through game theory in personalized differential privacy. J. </a:t>
            </a:r>
            <a:r>
              <a:rPr lang="en-IN" sz="1600" dirty="0" err="1">
                <a:solidFill>
                  <a:srgbClr val="000000"/>
                </a:solidFill>
                <a:effectLst/>
                <a:latin typeface="Times New Roman" panose="02020603050405020304" pitchFamily="18" charset="0"/>
                <a:ea typeface="Calibri" panose="020F0502020204030204" pitchFamily="34" charset="0"/>
              </a:rPr>
              <a:t>Comput</a:t>
            </a:r>
            <a:r>
              <a:rPr lang="en-IN" sz="1600" dirty="0">
                <a:solidFill>
                  <a:srgbClr val="000000"/>
                </a:solidFill>
                <a:effectLst/>
                <a:latin typeface="Times New Roman" panose="02020603050405020304" pitchFamily="18" charset="0"/>
                <a:ea typeface="Calibri" panose="020F0502020204030204" pitchFamily="34" charset="0"/>
              </a:rPr>
              <a:t>. Sci. Technol. 34, 2 (2019), 272–286. </a:t>
            </a:r>
            <a:r>
              <a:rPr lang="en-IN" sz="1600" dirty="0" err="1">
                <a:solidFill>
                  <a:srgbClr val="000000"/>
                </a:solidFill>
                <a:effectLst/>
                <a:latin typeface="Times New Roman" panose="02020603050405020304" pitchFamily="18" charset="0"/>
                <a:ea typeface="Calibri" panose="020F0502020204030204" pitchFamily="34" charset="0"/>
              </a:rPr>
              <a:t>DOI:http</a:t>
            </a:r>
            <a:r>
              <a:rPr lang="en-IN" sz="1600" dirty="0">
                <a:solidFill>
                  <a:srgbClr val="000000"/>
                </a:solidFill>
                <a:effectLst/>
                <a:latin typeface="Times New Roman" panose="02020603050405020304" pitchFamily="18" charset="0"/>
                <a:ea typeface="Calibri" panose="020F0502020204030204" pitchFamily="34" charset="0"/>
              </a:rPr>
              <a:t>: //dx.doi.org/10.1007/s11390-019-1910-3</a:t>
            </a:r>
            <a:endParaRPr lang="en-IN" sz="1600" dirty="0">
              <a:solidFill>
                <a:srgbClr val="000000"/>
              </a:solidFill>
              <a:latin typeface="Calibri" panose="020F0502020204030204" pitchFamily="34" charset="0"/>
              <a:ea typeface="Calibri" panose="020F0502020204030204" pitchFamily="34" charset="0"/>
            </a:endParaRPr>
          </a:p>
          <a:p>
            <a:pPr marL="457200" algn="just">
              <a:spcAft>
                <a:spcPts val="800"/>
              </a:spcAft>
              <a:buNone/>
            </a:pPr>
            <a:r>
              <a:rPr lang="en-IN" sz="1600" dirty="0">
                <a:solidFill>
                  <a:srgbClr val="000000"/>
                </a:solidFill>
                <a:effectLst/>
                <a:latin typeface="Times New Roman" panose="02020603050405020304" pitchFamily="18" charset="0"/>
                <a:ea typeface="Calibri" panose="020F0502020204030204" pitchFamily="34" charset="0"/>
              </a:rPr>
              <a:t>[5] Xueqin Liang, Zheng Yan, Robert H. Deng, and Qinghua Zheng. 2021. Investigating the adoption of hybrid encrypted cloud data deduplication with game theory. IEEE Trans. Parallel </a:t>
            </a:r>
            <a:r>
              <a:rPr lang="en-IN" sz="1600" dirty="0" err="1">
                <a:solidFill>
                  <a:srgbClr val="000000"/>
                </a:solidFill>
                <a:effectLst/>
                <a:latin typeface="Times New Roman" panose="02020603050405020304" pitchFamily="18" charset="0"/>
                <a:ea typeface="Calibri" panose="020F0502020204030204" pitchFamily="34" charset="0"/>
              </a:rPr>
              <a:t>Distrib</a:t>
            </a:r>
            <a:r>
              <a:rPr lang="en-IN" sz="1600" dirty="0">
                <a:solidFill>
                  <a:srgbClr val="000000"/>
                </a:solidFill>
                <a:effectLst/>
                <a:latin typeface="Times New Roman" panose="02020603050405020304" pitchFamily="18" charset="0"/>
                <a:ea typeface="Calibri" panose="020F0502020204030204" pitchFamily="34" charset="0"/>
              </a:rPr>
              <a:t>. Syst. 32, 3 (2021), 587–600. </a:t>
            </a:r>
            <a:r>
              <a:rPr lang="en-IN" sz="1600" dirty="0" err="1">
                <a:solidFill>
                  <a:srgbClr val="000000"/>
                </a:solidFill>
                <a:effectLst/>
                <a:latin typeface="Times New Roman" panose="02020603050405020304" pitchFamily="18" charset="0"/>
                <a:ea typeface="Calibri" panose="020F0502020204030204" pitchFamily="34" charset="0"/>
              </a:rPr>
              <a:t>DOI:http</a:t>
            </a:r>
            <a:r>
              <a:rPr lang="en-IN" sz="1600" dirty="0">
                <a:solidFill>
                  <a:srgbClr val="000000"/>
                </a:solidFill>
                <a:effectLst/>
                <a:latin typeface="Times New Roman" panose="02020603050405020304" pitchFamily="18" charset="0"/>
                <a:ea typeface="Calibri" panose="020F0502020204030204" pitchFamily="34" charset="0"/>
              </a:rPr>
              <a:t>://</a:t>
            </a:r>
            <a:r>
              <a:rPr lang="en-IN" sz="1600" dirty="0" err="1">
                <a:solidFill>
                  <a:srgbClr val="000000"/>
                </a:solidFill>
                <a:effectLst/>
                <a:latin typeface="Times New Roman" panose="02020603050405020304" pitchFamily="18" charset="0"/>
                <a:ea typeface="Calibri" panose="020F0502020204030204" pitchFamily="34" charset="0"/>
              </a:rPr>
              <a:t>dx.doi</a:t>
            </a:r>
            <a:r>
              <a:rPr lang="en-IN" sz="1600" dirty="0">
                <a:solidFill>
                  <a:srgbClr val="000000"/>
                </a:solidFill>
                <a:effectLst/>
                <a:latin typeface="Times New Roman" panose="02020603050405020304" pitchFamily="18" charset="0"/>
                <a:ea typeface="Calibri" panose="020F0502020204030204" pitchFamily="34" charset="0"/>
              </a:rPr>
              <a:t>. org/10.1109/TPDS.2020.3028685 </a:t>
            </a:r>
          </a:p>
          <a:p>
            <a:pPr marL="457200" algn="just">
              <a:spcAft>
                <a:spcPts val="800"/>
              </a:spcAft>
            </a:pPr>
            <a:r>
              <a:rPr lang="en-IN" sz="1600" dirty="0">
                <a:solidFill>
                  <a:srgbClr val="000000"/>
                </a:solidFill>
                <a:latin typeface="Times New Roman" panose="02020603050405020304" pitchFamily="18" charset="0"/>
                <a:ea typeface="Calibri" panose="020F0502020204030204" pitchFamily="34" charset="0"/>
              </a:rPr>
              <a:t>[6] </a:t>
            </a:r>
            <a:r>
              <a:rPr lang="en-IN" sz="1600" dirty="0">
                <a:solidFill>
                  <a:srgbClr val="000000"/>
                </a:solidFill>
                <a:latin typeface="Times New Roman" panose="02020603050405020304" pitchFamily="18" charset="0"/>
                <a:ea typeface="Calibri" panose="020F0502020204030204" pitchFamily="34" charset="0"/>
                <a:hlinkClick r:id="rId3">
                  <a:extLst>
                    <a:ext uri="{A12FA001-AC4F-418D-AE19-62706E023703}">
                      <ahyp:hlinkClr xmlns:ahyp="http://schemas.microsoft.com/office/drawing/2018/hyperlinkcolor" val="tx"/>
                    </a:ext>
                  </a:extLst>
                </a:hlinkClick>
              </a:rPr>
              <a:t>Jiahui Geng</a:t>
            </a:r>
            <a:r>
              <a:rPr lang="en-IN" sz="1600" dirty="0">
                <a:solidFill>
                  <a:srgbClr val="000000"/>
                </a:solidFill>
                <a:latin typeface="Times New Roman" panose="02020603050405020304" pitchFamily="18" charset="0"/>
                <a:ea typeface="Calibri" panose="020F0502020204030204" pitchFamily="34" charset="0"/>
              </a:rPr>
              <a:t>, </a:t>
            </a:r>
            <a:r>
              <a:rPr lang="en-IN" sz="1600" dirty="0">
                <a:solidFill>
                  <a:srgbClr val="000000"/>
                </a:solidFill>
                <a:latin typeface="Times New Roman" panose="02020603050405020304" pitchFamily="18" charset="0"/>
                <a:ea typeface="Calibri" panose="020F0502020204030204" pitchFamily="34" charset="0"/>
                <a:hlinkClick r:id="rId4">
                  <a:extLst>
                    <a:ext uri="{A12FA001-AC4F-418D-AE19-62706E023703}">
                      <ahyp:hlinkClr xmlns:ahyp="http://schemas.microsoft.com/office/drawing/2018/hyperlinkcolor" val="tx"/>
                    </a:ext>
                  </a:extLst>
                </a:hlinkClick>
              </a:rPr>
              <a:t>Qing Li</a:t>
            </a:r>
            <a:r>
              <a:rPr lang="en-IN" sz="1600" dirty="0">
                <a:solidFill>
                  <a:srgbClr val="000000"/>
                </a:solidFill>
                <a:latin typeface="Times New Roman" panose="02020603050405020304" pitchFamily="18" charset="0"/>
                <a:ea typeface="Calibri" panose="020F0502020204030204" pitchFamily="34" charset="0"/>
              </a:rPr>
              <a:t>, </a:t>
            </a:r>
            <a:r>
              <a:rPr lang="en-IN" sz="1600" dirty="0">
                <a:solidFill>
                  <a:srgbClr val="000000"/>
                </a:solidFill>
                <a:latin typeface="Times New Roman" panose="02020603050405020304" pitchFamily="18" charset="0"/>
                <a:ea typeface="Calibri" panose="020F0502020204030204" pitchFamily="34" charset="0"/>
                <a:hlinkClick r:id="rId5">
                  <a:extLst>
                    <a:ext uri="{A12FA001-AC4F-418D-AE19-62706E023703}">
                      <ahyp:hlinkClr xmlns:ahyp="http://schemas.microsoft.com/office/drawing/2018/hyperlinkcolor" val="tx"/>
                    </a:ext>
                  </a:extLst>
                </a:hlinkClick>
              </a:rPr>
              <a:t>Herbert </a:t>
            </a:r>
            <a:r>
              <a:rPr lang="en-IN" sz="1600" dirty="0" err="1">
                <a:solidFill>
                  <a:srgbClr val="000000"/>
                </a:solidFill>
                <a:latin typeface="Times New Roman" panose="02020603050405020304" pitchFamily="18" charset="0"/>
                <a:ea typeface="Calibri" panose="020F0502020204030204" pitchFamily="34" charset="0"/>
                <a:hlinkClick r:id="rId5">
                  <a:extLst>
                    <a:ext uri="{A12FA001-AC4F-418D-AE19-62706E023703}">
                      <ahyp:hlinkClr xmlns:ahyp="http://schemas.microsoft.com/office/drawing/2018/hyperlinkcolor" val="tx"/>
                    </a:ext>
                  </a:extLst>
                </a:hlinkClick>
              </a:rPr>
              <a:t>Woisetschlaeger</a:t>
            </a:r>
            <a:r>
              <a:rPr lang="en-IN" sz="1600" dirty="0">
                <a:solidFill>
                  <a:srgbClr val="000000"/>
                </a:solidFill>
                <a:latin typeface="Times New Roman" panose="02020603050405020304" pitchFamily="18" charset="0"/>
                <a:ea typeface="Calibri" panose="020F0502020204030204" pitchFamily="34" charset="0"/>
              </a:rPr>
              <a:t>, </a:t>
            </a:r>
            <a:r>
              <a:rPr lang="en-IN" sz="1600" dirty="0" err="1">
                <a:solidFill>
                  <a:srgbClr val="000000"/>
                </a:solidFill>
                <a:latin typeface="Times New Roman" panose="02020603050405020304" pitchFamily="18" charset="0"/>
                <a:ea typeface="Calibri" panose="020F0502020204030204" pitchFamily="34" charset="0"/>
                <a:hlinkClick r:id="rId6">
                  <a:extLst>
                    <a:ext uri="{A12FA001-AC4F-418D-AE19-62706E023703}">
                      <ahyp:hlinkClr xmlns:ahyp="http://schemas.microsoft.com/office/drawing/2018/hyperlinkcolor" val="tx"/>
                    </a:ext>
                  </a:extLst>
                </a:hlinkClick>
              </a:rPr>
              <a:t>Zongxiong</a:t>
            </a:r>
            <a:r>
              <a:rPr lang="en-IN" sz="1600" dirty="0">
                <a:solidFill>
                  <a:srgbClr val="000000"/>
                </a:solidFill>
                <a:latin typeface="Times New Roman" panose="02020603050405020304" pitchFamily="18" charset="0"/>
                <a:ea typeface="Calibri" panose="020F0502020204030204" pitchFamily="34" charset="0"/>
                <a:hlinkClick r:id="rId6">
                  <a:extLst>
                    <a:ext uri="{A12FA001-AC4F-418D-AE19-62706E023703}">
                      <ahyp:hlinkClr xmlns:ahyp="http://schemas.microsoft.com/office/drawing/2018/hyperlinkcolor" val="tx"/>
                    </a:ext>
                  </a:extLst>
                </a:hlinkClick>
              </a:rPr>
              <a:t> Chen</a:t>
            </a:r>
            <a:r>
              <a:rPr lang="en-IN" sz="1600" dirty="0">
                <a:solidFill>
                  <a:srgbClr val="000000"/>
                </a:solidFill>
                <a:latin typeface="Times New Roman" panose="02020603050405020304" pitchFamily="18" charset="0"/>
                <a:ea typeface="Calibri" panose="020F0502020204030204" pitchFamily="34" charset="0"/>
              </a:rPr>
              <a:t>, </a:t>
            </a:r>
            <a:r>
              <a:rPr lang="en-IN" sz="1600" dirty="0" err="1">
                <a:solidFill>
                  <a:srgbClr val="000000"/>
                </a:solidFill>
                <a:latin typeface="Times New Roman" panose="02020603050405020304" pitchFamily="18" charset="0"/>
                <a:ea typeface="Calibri" panose="020F0502020204030204" pitchFamily="34" charset="0"/>
                <a:hlinkClick r:id="rId7">
                  <a:extLst>
                    <a:ext uri="{A12FA001-AC4F-418D-AE19-62706E023703}">
                      <ahyp:hlinkClr xmlns:ahyp="http://schemas.microsoft.com/office/drawing/2018/hyperlinkcolor" val="tx"/>
                    </a:ext>
                  </a:extLst>
                </a:hlinkClick>
              </a:rPr>
              <a:t>Fengyu</a:t>
            </a:r>
            <a:r>
              <a:rPr lang="en-IN" sz="1600" dirty="0">
                <a:solidFill>
                  <a:srgbClr val="000000"/>
                </a:solidFill>
                <a:latin typeface="Times New Roman" panose="02020603050405020304" pitchFamily="18" charset="0"/>
                <a:ea typeface="Calibri" panose="020F0502020204030204" pitchFamily="34" charset="0"/>
                <a:hlinkClick r:id="rId7">
                  <a:extLst>
                    <a:ext uri="{A12FA001-AC4F-418D-AE19-62706E023703}">
                      <ahyp:hlinkClr xmlns:ahyp="http://schemas.microsoft.com/office/drawing/2018/hyperlinkcolor" val="tx"/>
                    </a:ext>
                  </a:extLst>
                </a:hlinkClick>
              </a:rPr>
              <a:t> Cai</a:t>
            </a:r>
            <a:r>
              <a:rPr lang="en-IN" sz="1600" dirty="0">
                <a:solidFill>
                  <a:srgbClr val="000000"/>
                </a:solidFill>
                <a:latin typeface="Times New Roman" panose="02020603050405020304" pitchFamily="18" charset="0"/>
                <a:ea typeface="Calibri" panose="020F0502020204030204" pitchFamily="34" charset="0"/>
              </a:rPr>
              <a:t>, </a:t>
            </a:r>
            <a:r>
              <a:rPr lang="en-IN" sz="1600" dirty="0" err="1">
                <a:solidFill>
                  <a:srgbClr val="000000"/>
                </a:solidFill>
                <a:latin typeface="Times New Roman" panose="02020603050405020304" pitchFamily="18" charset="0"/>
                <a:ea typeface="Calibri" panose="020F0502020204030204" pitchFamily="34" charset="0"/>
                <a:hlinkClick r:id="rId8">
                  <a:extLst>
                    <a:ext uri="{A12FA001-AC4F-418D-AE19-62706E023703}">
                      <ahyp:hlinkClr xmlns:ahyp="http://schemas.microsoft.com/office/drawing/2018/hyperlinkcolor" val="tx"/>
                    </a:ext>
                  </a:extLst>
                </a:hlinkClick>
              </a:rPr>
              <a:t>Yuxia</a:t>
            </a:r>
            <a:r>
              <a:rPr lang="en-IN" sz="1600" dirty="0">
                <a:solidFill>
                  <a:srgbClr val="000000"/>
                </a:solidFill>
                <a:latin typeface="Times New Roman" panose="02020603050405020304" pitchFamily="18" charset="0"/>
                <a:ea typeface="Calibri" panose="020F0502020204030204" pitchFamily="34" charset="0"/>
                <a:hlinkClick r:id="rId8">
                  <a:extLst>
                    <a:ext uri="{A12FA001-AC4F-418D-AE19-62706E023703}">
                      <ahyp:hlinkClr xmlns:ahyp="http://schemas.microsoft.com/office/drawing/2018/hyperlinkcolor" val="tx"/>
                    </a:ext>
                  </a:extLst>
                </a:hlinkClick>
              </a:rPr>
              <a:t> Wang</a:t>
            </a:r>
            <a:r>
              <a:rPr lang="en-IN" sz="1600" dirty="0">
                <a:solidFill>
                  <a:srgbClr val="000000"/>
                </a:solidFill>
                <a:latin typeface="Times New Roman" panose="02020603050405020304" pitchFamily="18" charset="0"/>
                <a:ea typeface="Calibri" panose="020F0502020204030204" pitchFamily="34" charset="0"/>
              </a:rPr>
              <a:t>, </a:t>
            </a:r>
            <a:r>
              <a:rPr lang="en-IN" sz="1600" dirty="0">
                <a:solidFill>
                  <a:srgbClr val="000000"/>
                </a:solidFill>
                <a:latin typeface="Times New Roman" panose="02020603050405020304" pitchFamily="18" charset="0"/>
                <a:ea typeface="Calibri" panose="020F0502020204030204" pitchFamily="34" charset="0"/>
                <a:hlinkClick r:id="rId9">
                  <a:extLst>
                    <a:ext uri="{A12FA001-AC4F-418D-AE19-62706E023703}">
                      <ahyp:hlinkClr xmlns:ahyp="http://schemas.microsoft.com/office/drawing/2018/hyperlinkcolor" val="tx"/>
                    </a:ext>
                  </a:extLst>
                </a:hlinkClick>
              </a:rPr>
              <a:t>Preslav </a:t>
            </a:r>
            <a:r>
              <a:rPr lang="en-IN" sz="1600" dirty="0" err="1">
                <a:solidFill>
                  <a:srgbClr val="000000"/>
                </a:solidFill>
                <a:latin typeface="Times New Roman" panose="02020603050405020304" pitchFamily="18" charset="0"/>
                <a:ea typeface="Calibri" panose="020F0502020204030204" pitchFamily="34" charset="0"/>
                <a:hlinkClick r:id="rId9">
                  <a:extLst>
                    <a:ext uri="{A12FA001-AC4F-418D-AE19-62706E023703}">
                      <ahyp:hlinkClr xmlns:ahyp="http://schemas.microsoft.com/office/drawing/2018/hyperlinkcolor" val="tx"/>
                    </a:ext>
                  </a:extLst>
                </a:hlinkClick>
              </a:rPr>
              <a:t>Nakov</a:t>
            </a:r>
            <a:r>
              <a:rPr lang="en-IN" sz="1600" dirty="0">
                <a:solidFill>
                  <a:srgbClr val="000000"/>
                </a:solidFill>
                <a:latin typeface="Times New Roman" panose="02020603050405020304" pitchFamily="18" charset="0"/>
                <a:ea typeface="Calibri" panose="020F0502020204030204" pitchFamily="34" charset="0"/>
              </a:rPr>
              <a:t>, </a:t>
            </a:r>
            <a:r>
              <a:rPr lang="en-IN" sz="1600" dirty="0">
                <a:solidFill>
                  <a:srgbClr val="000000"/>
                </a:solidFill>
                <a:latin typeface="Times New Roman" panose="02020603050405020304" pitchFamily="18" charset="0"/>
                <a:ea typeface="Calibri" panose="020F0502020204030204" pitchFamily="34" charset="0"/>
                <a:hlinkClick r:id="rId10">
                  <a:extLst>
                    <a:ext uri="{A12FA001-AC4F-418D-AE19-62706E023703}">
                      <ahyp:hlinkClr xmlns:ahyp="http://schemas.microsoft.com/office/drawing/2018/hyperlinkcolor" val="tx"/>
                    </a:ext>
                  </a:extLst>
                </a:hlinkClick>
              </a:rPr>
              <a:t>Hans-Arno Jacobsen</a:t>
            </a:r>
            <a:r>
              <a:rPr lang="en-IN" sz="1600" dirty="0">
                <a:solidFill>
                  <a:srgbClr val="000000"/>
                </a:solidFill>
                <a:latin typeface="Times New Roman" panose="02020603050405020304" pitchFamily="18" charset="0"/>
                <a:ea typeface="Calibri" panose="020F0502020204030204" pitchFamily="34" charset="0"/>
              </a:rPr>
              <a:t>, </a:t>
            </a:r>
            <a:r>
              <a:rPr lang="en-IN" sz="1600" dirty="0">
                <a:solidFill>
                  <a:srgbClr val="000000"/>
                </a:solidFill>
                <a:latin typeface="Times New Roman" panose="02020603050405020304" pitchFamily="18" charset="0"/>
                <a:ea typeface="Calibri" panose="020F0502020204030204" pitchFamily="34" charset="0"/>
                <a:hlinkClick r:id="rId11">
                  <a:extLst>
                    <a:ext uri="{A12FA001-AC4F-418D-AE19-62706E023703}">
                      <ahyp:hlinkClr xmlns:ahyp="http://schemas.microsoft.com/office/drawing/2018/hyperlinkcolor" val="tx"/>
                    </a:ext>
                  </a:extLst>
                </a:hlinkClick>
              </a:rPr>
              <a:t>Fakhri </a:t>
            </a:r>
            <a:r>
              <a:rPr lang="en-IN" sz="1600" dirty="0" err="1">
                <a:solidFill>
                  <a:srgbClr val="000000"/>
                </a:solidFill>
                <a:latin typeface="Times New Roman" panose="02020603050405020304" pitchFamily="18" charset="0"/>
                <a:ea typeface="Calibri" panose="020F0502020204030204" pitchFamily="34" charset="0"/>
                <a:hlinkClick r:id="rId11">
                  <a:extLst>
                    <a:ext uri="{A12FA001-AC4F-418D-AE19-62706E023703}">
                      <ahyp:hlinkClr xmlns:ahyp="http://schemas.microsoft.com/office/drawing/2018/hyperlinkcolor" val="tx"/>
                    </a:ext>
                  </a:extLst>
                </a:hlinkClick>
              </a:rPr>
              <a:t>Karray</a:t>
            </a:r>
            <a:r>
              <a:rPr lang="en-IN" sz="1600" dirty="0">
                <a:solidFill>
                  <a:srgbClr val="000000"/>
                </a:solidFill>
                <a:latin typeface="Times New Roman" panose="02020603050405020304" pitchFamily="18" charset="0"/>
                <a:ea typeface="Calibri" panose="020F0502020204030204" pitchFamily="34" charset="0"/>
              </a:rPr>
              <a:t> A Comprehensive Survey of Machine Unlearning Techniques for Large Language Models DOI: </a:t>
            </a:r>
            <a:r>
              <a:rPr lang="en-IN" sz="1600" dirty="0">
                <a:solidFill>
                  <a:srgbClr val="000000"/>
                </a:solidFill>
                <a:latin typeface="Times New Roman" panose="02020603050405020304" pitchFamily="18" charset="0"/>
                <a:ea typeface="Calibri" panose="020F0502020204030204" pitchFamily="34" charset="0"/>
                <a:hlinkClick r:id="rId12">
                  <a:extLst>
                    <a:ext uri="{A12FA001-AC4F-418D-AE19-62706E023703}">
                      <ahyp:hlinkClr xmlns:ahyp="http://schemas.microsoft.com/office/drawing/2018/hyperlinkcolor" val="tx"/>
                    </a:ext>
                  </a:extLst>
                </a:hlinkClick>
              </a:rPr>
              <a:t>https://doi.org/10.48550/arXiv.2503.01854</a:t>
            </a:r>
            <a:endParaRPr lang="en-IN" sz="1600" dirty="0">
              <a:solidFill>
                <a:srgbClr val="000000"/>
              </a:solidFill>
              <a:latin typeface="Times New Roman" panose="02020603050405020304" pitchFamily="18" charset="0"/>
              <a:ea typeface="Calibri" panose="020F0502020204030204" pitchFamily="34" charset="0"/>
            </a:endParaRPr>
          </a:p>
          <a:p>
            <a:pPr marL="457200" algn="just">
              <a:spcAft>
                <a:spcPts val="800"/>
              </a:spcAft>
            </a:pPr>
            <a:r>
              <a:rPr lang="en-IN" sz="1600" dirty="0">
                <a:solidFill>
                  <a:srgbClr val="000000"/>
                </a:solidFill>
                <a:latin typeface="Times New Roman" panose="02020603050405020304" pitchFamily="18" charset="0"/>
                <a:ea typeface="Calibri" panose="020F0502020204030204" pitchFamily="34" charset="0"/>
              </a:rPr>
              <a:t>[7] Exploring Federated Unlearning: Review, Comparison, and Insights Yang Zhao, Member, IEEE, </a:t>
            </a:r>
            <a:r>
              <a:rPr lang="en-IN" sz="1600" dirty="0" err="1">
                <a:solidFill>
                  <a:srgbClr val="000000"/>
                </a:solidFill>
                <a:latin typeface="Times New Roman" panose="02020603050405020304" pitchFamily="18" charset="0"/>
                <a:ea typeface="Calibri" panose="020F0502020204030204" pitchFamily="34" charset="0"/>
              </a:rPr>
              <a:t>Jiaxi</a:t>
            </a:r>
            <a:r>
              <a:rPr lang="en-IN" sz="1600" dirty="0">
                <a:solidFill>
                  <a:srgbClr val="000000"/>
                </a:solidFill>
                <a:latin typeface="Times New Roman" panose="02020603050405020304" pitchFamily="18" charset="0"/>
                <a:ea typeface="Calibri" panose="020F0502020204030204" pitchFamily="34" charset="0"/>
              </a:rPr>
              <a:t> Yang, Student Member, IEEE, Yiling Tao, Student Member, IEEE, </a:t>
            </a:r>
            <a:r>
              <a:rPr lang="en-IN" sz="1600" dirty="0" err="1">
                <a:solidFill>
                  <a:srgbClr val="000000"/>
                </a:solidFill>
                <a:latin typeface="Times New Roman" panose="02020603050405020304" pitchFamily="18" charset="0"/>
                <a:ea typeface="Calibri" panose="020F0502020204030204" pitchFamily="34" charset="0"/>
              </a:rPr>
              <a:t>Lixu</a:t>
            </a:r>
            <a:r>
              <a:rPr lang="en-IN" sz="1600" dirty="0">
                <a:solidFill>
                  <a:srgbClr val="000000"/>
                </a:solidFill>
                <a:latin typeface="Times New Roman" panose="02020603050405020304" pitchFamily="18" charset="0"/>
                <a:ea typeface="Calibri" panose="020F0502020204030204" pitchFamily="34" charset="0"/>
              </a:rPr>
              <a:t> Wang, Student Member, IEEE, </a:t>
            </a:r>
            <a:r>
              <a:rPr lang="en-IN" sz="1600" dirty="0" err="1">
                <a:solidFill>
                  <a:srgbClr val="000000"/>
                </a:solidFill>
                <a:latin typeface="Times New Roman" panose="02020603050405020304" pitchFamily="18" charset="0"/>
                <a:ea typeface="Calibri" panose="020F0502020204030204" pitchFamily="34" charset="0"/>
              </a:rPr>
              <a:t>Xiaoxiao</a:t>
            </a:r>
            <a:r>
              <a:rPr lang="en-IN" sz="1600" dirty="0">
                <a:solidFill>
                  <a:srgbClr val="000000"/>
                </a:solidFill>
                <a:latin typeface="Times New Roman" panose="02020603050405020304" pitchFamily="18" charset="0"/>
                <a:ea typeface="Calibri" panose="020F0502020204030204" pitchFamily="34" charset="0"/>
              </a:rPr>
              <a:t> Li, Member, IEEE, Dusit </a:t>
            </a:r>
            <a:r>
              <a:rPr lang="en-IN" sz="1600" dirty="0" err="1">
                <a:solidFill>
                  <a:srgbClr val="000000"/>
                </a:solidFill>
                <a:latin typeface="Times New Roman" panose="02020603050405020304" pitchFamily="18" charset="0"/>
                <a:ea typeface="Calibri" panose="020F0502020204030204" pitchFamily="34" charset="0"/>
              </a:rPr>
              <a:t>Niyato</a:t>
            </a:r>
            <a:r>
              <a:rPr lang="en-IN" sz="1600" dirty="0">
                <a:solidFill>
                  <a:srgbClr val="000000"/>
                </a:solidFill>
                <a:latin typeface="Times New Roman" panose="02020603050405020304" pitchFamily="18" charset="0"/>
                <a:ea typeface="Calibri" panose="020F0502020204030204" pitchFamily="34" charset="0"/>
              </a:rPr>
              <a:t>, Fellow, IEEE, and H. Vincent Poor, Life Fellow, IEEE</a:t>
            </a:r>
          </a:p>
        </p:txBody>
      </p:sp>
    </p:spTree>
    <p:extLst>
      <p:ext uri="{BB962C8B-B14F-4D97-AF65-F5344CB8AC3E}">
        <p14:creationId xmlns:p14="http://schemas.microsoft.com/office/powerpoint/2010/main" val="17470722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B6B05-45B4-F354-9F54-AB42C603DB23}"/>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698BB6ED-193F-F4DB-00DB-2F6AB1B15CFF}"/>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62B6D837-53DB-33DC-75BB-B0E7590C2726}"/>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3C10B0B4-DA5B-147C-185D-408A7E057166}"/>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3" name="TextBox 2">
            <a:extLst>
              <a:ext uri="{FF2B5EF4-FFF2-40B4-BE49-F238E27FC236}">
                <a16:creationId xmlns:a16="http://schemas.microsoft.com/office/drawing/2014/main" id="{D6E77CE2-12EA-A605-DEEC-F3DEA75FCD87}"/>
              </a:ext>
            </a:extLst>
          </p:cNvPr>
          <p:cNvSpPr txBox="1"/>
          <p:nvPr/>
        </p:nvSpPr>
        <p:spPr>
          <a:xfrm>
            <a:off x="6096000" y="190137"/>
            <a:ext cx="5622387"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References</a:t>
            </a:r>
          </a:p>
        </p:txBody>
      </p:sp>
      <p:sp>
        <p:nvSpPr>
          <p:cNvPr id="5" name="Slide Number Placeholder 5">
            <a:extLst>
              <a:ext uri="{FF2B5EF4-FFF2-40B4-BE49-F238E27FC236}">
                <a16:creationId xmlns:a16="http://schemas.microsoft.com/office/drawing/2014/main" id="{C02A93D9-0296-659D-E891-0334AB4D1364}"/>
              </a:ext>
            </a:extLst>
          </p:cNvPr>
          <p:cNvSpPr>
            <a:spLocks noGrp="1"/>
          </p:cNvSpPr>
          <p:nvPr>
            <p:ph type="sldNum" sz="quarter" idx="12"/>
          </p:nvPr>
        </p:nvSpPr>
        <p:spPr>
          <a:xfrm>
            <a:off x="11282291" y="6442860"/>
            <a:ext cx="732692" cy="392073"/>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31</a:t>
            </a:fld>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EB78E822-B92B-0B88-518D-D9D8998EEF73}"/>
              </a:ext>
            </a:extLst>
          </p:cNvPr>
          <p:cNvSpPr txBox="1"/>
          <p:nvPr/>
        </p:nvSpPr>
        <p:spPr>
          <a:xfrm>
            <a:off x="393895" y="907206"/>
            <a:ext cx="11324492" cy="5878532"/>
          </a:xfrm>
          <a:prstGeom prst="rect">
            <a:avLst/>
          </a:prstGeom>
          <a:noFill/>
        </p:spPr>
        <p:txBody>
          <a:bodyPr wrap="square">
            <a:spAutoFit/>
          </a:bodyPr>
          <a:lstStyle/>
          <a:p>
            <a:pPr marL="457200" algn="just">
              <a:spcAft>
                <a:spcPts val="800"/>
              </a:spcAft>
            </a:pPr>
            <a:r>
              <a:rPr lang="en-IN" sz="1600" dirty="0">
                <a:solidFill>
                  <a:srgbClr val="000000"/>
                </a:solidFill>
                <a:latin typeface="Times New Roman" panose="02020603050405020304" pitchFamily="18" charset="0"/>
                <a:ea typeface="Calibri" panose="020F0502020204030204" pitchFamily="34" charset="0"/>
              </a:rPr>
              <a:t>[8] Chuan Guo, Tom Goldstein, Awni Y. </a:t>
            </a:r>
            <a:r>
              <a:rPr lang="en-IN" sz="1600" dirty="0" err="1">
                <a:solidFill>
                  <a:srgbClr val="000000"/>
                </a:solidFill>
                <a:latin typeface="Times New Roman" panose="02020603050405020304" pitchFamily="18" charset="0"/>
                <a:ea typeface="Calibri" panose="020F0502020204030204" pitchFamily="34" charset="0"/>
              </a:rPr>
              <a:t>Hannun</a:t>
            </a:r>
            <a:r>
              <a:rPr lang="en-IN" sz="1600" dirty="0">
                <a:solidFill>
                  <a:srgbClr val="000000"/>
                </a:solidFill>
                <a:latin typeface="Times New Roman" panose="02020603050405020304" pitchFamily="18" charset="0"/>
                <a:ea typeface="Calibri" panose="020F0502020204030204" pitchFamily="34" charset="0"/>
              </a:rPr>
              <a:t>, and Laurens van der </a:t>
            </a:r>
            <a:r>
              <a:rPr lang="en-IN" sz="1600" dirty="0" err="1">
                <a:solidFill>
                  <a:srgbClr val="000000"/>
                </a:solidFill>
                <a:latin typeface="Times New Roman" panose="02020603050405020304" pitchFamily="18" charset="0"/>
                <a:ea typeface="Calibri" panose="020F0502020204030204" pitchFamily="34" charset="0"/>
              </a:rPr>
              <a:t>Maaten</a:t>
            </a:r>
            <a:r>
              <a:rPr lang="en-IN" sz="1600" dirty="0">
                <a:solidFill>
                  <a:srgbClr val="000000"/>
                </a:solidFill>
                <a:latin typeface="Times New Roman" panose="02020603050405020304" pitchFamily="18" charset="0"/>
                <a:ea typeface="Calibri" panose="020F0502020204030204" pitchFamily="34" charset="0"/>
              </a:rPr>
              <a:t>. 2020. Certified data removal from machine learning models. In 37th International Conference on Machine Learning (Proceedings of Machine Learning Research, Vol. 119). PMLR, 3832–3842. Retrieved from </a:t>
            </a:r>
            <a:r>
              <a:rPr lang="en-IN" sz="1600" dirty="0">
                <a:solidFill>
                  <a:srgbClr val="000000"/>
                </a:solidFill>
                <a:latin typeface="Times New Roman" panose="02020603050405020304" pitchFamily="18" charset="0"/>
                <a:ea typeface="Calibri" panose="020F0502020204030204" pitchFamily="34" charset="0"/>
                <a:hlinkClick r:id="rId3">
                  <a:extLst>
                    <a:ext uri="{A12FA001-AC4F-418D-AE19-62706E023703}">
                      <ahyp:hlinkClr xmlns:ahyp="http://schemas.microsoft.com/office/drawing/2018/hyperlinkcolor" val="tx"/>
                    </a:ext>
                  </a:extLst>
                </a:hlinkClick>
              </a:rPr>
              <a:t>http://proceedings.mlr.press/v119/guo20c.html</a:t>
            </a:r>
            <a:r>
              <a:rPr lang="en-IN" sz="1600" dirty="0">
                <a:solidFill>
                  <a:srgbClr val="000000"/>
                </a:solidFill>
                <a:latin typeface="Times New Roman" panose="02020603050405020304" pitchFamily="18" charset="0"/>
                <a:ea typeface="Calibri" panose="020F0502020204030204" pitchFamily="34" charset="0"/>
              </a:rPr>
              <a:t>.</a:t>
            </a:r>
          </a:p>
          <a:p>
            <a:pPr marL="457200" algn="just">
              <a:spcAft>
                <a:spcPts val="800"/>
              </a:spcAft>
            </a:pPr>
            <a:r>
              <a:rPr lang="en-IN" sz="1600" dirty="0">
                <a:solidFill>
                  <a:srgbClr val="000000"/>
                </a:solidFill>
                <a:latin typeface="Times New Roman" panose="02020603050405020304" pitchFamily="18" charset="0"/>
                <a:ea typeface="Calibri" panose="020F0502020204030204" pitchFamily="34" charset="0"/>
              </a:rPr>
              <a:t>[9] Reinforcement Unlearning </a:t>
            </a:r>
            <a:r>
              <a:rPr lang="en-IN" sz="1600" dirty="0" err="1">
                <a:solidFill>
                  <a:srgbClr val="000000"/>
                </a:solidFill>
                <a:latin typeface="Times New Roman" panose="02020603050405020304" pitchFamily="18" charset="0"/>
                <a:ea typeface="Calibri" panose="020F0502020204030204" pitchFamily="34" charset="0"/>
              </a:rPr>
              <a:t>Dayong</a:t>
            </a:r>
            <a:r>
              <a:rPr lang="en-IN" sz="1600" dirty="0">
                <a:solidFill>
                  <a:srgbClr val="000000"/>
                </a:solidFill>
                <a:latin typeface="Times New Roman" panose="02020603050405020304" pitchFamily="18" charset="0"/>
                <a:ea typeface="Calibri" panose="020F0502020204030204" pitchFamily="34" charset="0"/>
              </a:rPr>
              <a:t> Ye∗ , </a:t>
            </a:r>
            <a:r>
              <a:rPr lang="en-IN" sz="1600" dirty="0" err="1">
                <a:solidFill>
                  <a:srgbClr val="000000"/>
                </a:solidFill>
                <a:latin typeface="Times New Roman" panose="02020603050405020304" pitchFamily="18" charset="0"/>
                <a:ea typeface="Calibri" panose="020F0502020204030204" pitchFamily="34" charset="0"/>
              </a:rPr>
              <a:t>Tianqing</a:t>
            </a:r>
            <a:r>
              <a:rPr lang="en-IN" sz="1600" dirty="0">
                <a:solidFill>
                  <a:srgbClr val="000000"/>
                </a:solidFill>
                <a:latin typeface="Times New Roman" panose="02020603050405020304" pitchFamily="18" charset="0"/>
                <a:ea typeface="Calibri" panose="020F0502020204030204" pitchFamily="34" charset="0"/>
              </a:rPr>
              <a:t> Zhu† , </a:t>
            </a:r>
            <a:r>
              <a:rPr lang="en-IN" sz="1600" dirty="0" err="1">
                <a:solidFill>
                  <a:srgbClr val="000000"/>
                </a:solidFill>
                <a:latin typeface="Times New Roman" panose="02020603050405020304" pitchFamily="18" charset="0"/>
                <a:ea typeface="Calibri" panose="020F0502020204030204" pitchFamily="34" charset="0"/>
              </a:rPr>
              <a:t>Congcong</a:t>
            </a:r>
            <a:r>
              <a:rPr lang="en-IN" sz="1600" dirty="0">
                <a:solidFill>
                  <a:srgbClr val="000000"/>
                </a:solidFill>
                <a:latin typeface="Times New Roman" panose="02020603050405020304" pitchFamily="18" charset="0"/>
                <a:ea typeface="Calibri" panose="020F0502020204030204" pitchFamily="34" charset="0"/>
              </a:rPr>
              <a:t> Zhu† , </a:t>
            </a:r>
            <a:r>
              <a:rPr lang="en-IN" sz="1600" dirty="0" err="1">
                <a:solidFill>
                  <a:srgbClr val="000000"/>
                </a:solidFill>
                <a:latin typeface="Times New Roman" panose="02020603050405020304" pitchFamily="18" charset="0"/>
                <a:ea typeface="Calibri" panose="020F0502020204030204" pitchFamily="34" charset="0"/>
              </a:rPr>
              <a:t>Derui</a:t>
            </a:r>
            <a:r>
              <a:rPr lang="en-IN" sz="1600" dirty="0">
                <a:solidFill>
                  <a:srgbClr val="000000"/>
                </a:solidFill>
                <a:latin typeface="Times New Roman" panose="02020603050405020304" pitchFamily="18" charset="0"/>
                <a:ea typeface="Calibri" panose="020F0502020204030204" pitchFamily="34" charset="0"/>
              </a:rPr>
              <a:t> Wang‡ , Kun Gao∗ , </a:t>
            </a:r>
            <a:r>
              <a:rPr lang="en-IN" sz="1600" dirty="0" err="1">
                <a:solidFill>
                  <a:srgbClr val="000000"/>
                </a:solidFill>
                <a:latin typeface="Times New Roman" panose="02020603050405020304" pitchFamily="18" charset="0"/>
                <a:ea typeface="Calibri" panose="020F0502020204030204" pitchFamily="34" charset="0"/>
              </a:rPr>
              <a:t>Zewei</a:t>
            </a:r>
            <a:r>
              <a:rPr lang="en-IN" sz="1600" dirty="0">
                <a:solidFill>
                  <a:srgbClr val="000000"/>
                </a:solidFill>
                <a:latin typeface="Times New Roman" panose="02020603050405020304" pitchFamily="18" charset="0"/>
                <a:ea typeface="Calibri" panose="020F0502020204030204" pitchFamily="34" charset="0"/>
              </a:rPr>
              <a:t> Shi‡ , Sheng Shen, </a:t>
            </a:r>
            <a:r>
              <a:rPr lang="en-IN" sz="1600" dirty="0" err="1">
                <a:solidFill>
                  <a:srgbClr val="000000"/>
                </a:solidFill>
                <a:latin typeface="Times New Roman" panose="02020603050405020304" pitchFamily="18" charset="0"/>
                <a:ea typeface="Calibri" panose="020F0502020204030204" pitchFamily="34" charset="0"/>
              </a:rPr>
              <a:t>Wanlei</a:t>
            </a:r>
            <a:r>
              <a:rPr lang="en-IN" sz="1600" dirty="0">
                <a:solidFill>
                  <a:srgbClr val="000000"/>
                </a:solidFill>
                <a:latin typeface="Times New Roman" panose="02020603050405020304" pitchFamily="18" charset="0"/>
                <a:ea typeface="Calibri" panose="020F0502020204030204" pitchFamily="34" charset="0"/>
              </a:rPr>
              <a:t> Zhou† , and </a:t>
            </a:r>
            <a:r>
              <a:rPr lang="en-IN" sz="1600" dirty="0" err="1">
                <a:solidFill>
                  <a:srgbClr val="000000"/>
                </a:solidFill>
                <a:latin typeface="Times New Roman" panose="02020603050405020304" pitchFamily="18" charset="0"/>
                <a:ea typeface="Calibri" panose="020F0502020204030204" pitchFamily="34" charset="0"/>
              </a:rPr>
              <a:t>Minhui</a:t>
            </a:r>
            <a:r>
              <a:rPr lang="en-IN" sz="1600" dirty="0">
                <a:solidFill>
                  <a:srgbClr val="000000"/>
                </a:solidFill>
                <a:latin typeface="Times New Roman" panose="02020603050405020304" pitchFamily="18" charset="0"/>
                <a:ea typeface="Calibri" panose="020F0502020204030204" pitchFamily="34" charset="0"/>
              </a:rPr>
              <a:t> Xue‡ ∗University of Technology Sydney, †City University of Macau, ‡CSIRO’s Data61, Torrens University Australia, </a:t>
            </a:r>
            <a:r>
              <a:rPr lang="en-IN" sz="1600" dirty="0">
                <a:solidFill>
                  <a:srgbClr val="000000"/>
                </a:solidFill>
                <a:latin typeface="Times New Roman" panose="02020603050405020304" pitchFamily="18" charset="0"/>
                <a:ea typeface="Calibri" panose="020F0502020204030204" pitchFamily="34" charset="0"/>
                <a:hlinkClick r:id="rId4">
                  <a:extLst>
                    <a:ext uri="{A12FA001-AC4F-418D-AE19-62706E023703}">
                      <ahyp:hlinkClr xmlns:ahyp="http://schemas.microsoft.com/office/drawing/2018/hyperlinkcolor" val="tx"/>
                    </a:ext>
                  </a:extLst>
                </a:hlinkClick>
              </a:rPr>
              <a:t>https://arxiv.org/pdf/2312.15910</a:t>
            </a:r>
            <a:endParaRPr lang="en-IN" sz="1600" dirty="0">
              <a:solidFill>
                <a:srgbClr val="000000"/>
              </a:solidFill>
              <a:latin typeface="Times New Roman" panose="02020603050405020304" pitchFamily="18" charset="0"/>
              <a:ea typeface="Calibri" panose="020F0502020204030204" pitchFamily="34" charset="0"/>
            </a:endParaRPr>
          </a:p>
          <a:p>
            <a:pPr marL="457200" algn="just">
              <a:spcAft>
                <a:spcPts val="800"/>
              </a:spcAft>
            </a:pPr>
            <a:r>
              <a:rPr lang="en-IN" sz="1600" dirty="0">
                <a:solidFill>
                  <a:srgbClr val="000000"/>
                </a:solidFill>
                <a:latin typeface="Times New Roman" panose="02020603050405020304" pitchFamily="18" charset="0"/>
                <a:ea typeface="Calibri" panose="020F0502020204030204" pitchFamily="34" charset="0"/>
              </a:rPr>
              <a:t>[10] Xiaofeng Ding, </a:t>
            </a:r>
            <a:r>
              <a:rPr lang="en-IN" sz="1600" dirty="0" err="1">
                <a:solidFill>
                  <a:srgbClr val="000000"/>
                </a:solidFill>
                <a:latin typeface="Times New Roman" panose="02020603050405020304" pitchFamily="18" charset="0"/>
                <a:ea typeface="Calibri" panose="020F0502020204030204" pitchFamily="34" charset="0"/>
              </a:rPr>
              <a:t>Hongbiao</a:t>
            </a:r>
            <a:r>
              <a:rPr lang="en-IN" sz="1600" dirty="0">
                <a:solidFill>
                  <a:srgbClr val="000000"/>
                </a:solidFill>
                <a:latin typeface="Times New Roman" panose="02020603050405020304" pitchFamily="18" charset="0"/>
                <a:ea typeface="Calibri" panose="020F0502020204030204" pitchFamily="34" charset="0"/>
              </a:rPr>
              <a:t> Fang, Zhilin Zhang, Kim-Kwang Raymond Choo, and Hai Jin. 2022. Privacy-preserving feature extraction via adversarial training. IEEE Trans. </a:t>
            </a:r>
            <a:r>
              <a:rPr lang="en-IN" sz="1600" dirty="0" err="1">
                <a:solidFill>
                  <a:srgbClr val="000000"/>
                </a:solidFill>
                <a:latin typeface="Times New Roman" panose="02020603050405020304" pitchFamily="18" charset="0"/>
                <a:ea typeface="Calibri" panose="020F0502020204030204" pitchFamily="34" charset="0"/>
              </a:rPr>
              <a:t>Knowl</a:t>
            </a:r>
            <a:r>
              <a:rPr lang="en-IN" sz="1600" dirty="0">
                <a:solidFill>
                  <a:srgbClr val="000000"/>
                </a:solidFill>
                <a:latin typeface="Times New Roman" panose="02020603050405020304" pitchFamily="18" charset="0"/>
                <a:ea typeface="Calibri" panose="020F0502020204030204" pitchFamily="34" charset="0"/>
              </a:rPr>
              <a:t>. Data Eng. 34, 4 (2022), 1967–1979. </a:t>
            </a:r>
            <a:r>
              <a:rPr lang="en-IN" sz="1600" dirty="0" err="1">
                <a:solidFill>
                  <a:srgbClr val="000000"/>
                </a:solidFill>
                <a:latin typeface="Times New Roman" panose="02020603050405020304" pitchFamily="18" charset="0"/>
                <a:ea typeface="Calibri" panose="020F0502020204030204" pitchFamily="34" charset="0"/>
              </a:rPr>
              <a:t>DOI:http</a:t>
            </a:r>
            <a:r>
              <a:rPr lang="en-IN" sz="1600" dirty="0">
                <a:solidFill>
                  <a:srgbClr val="000000"/>
                </a:solidFill>
                <a:latin typeface="Times New Roman" panose="02020603050405020304" pitchFamily="18" charset="0"/>
                <a:ea typeface="Calibri" panose="020F0502020204030204" pitchFamily="34" charset="0"/>
              </a:rPr>
              <a:t>://</a:t>
            </a:r>
            <a:r>
              <a:rPr lang="en-IN" sz="1600" dirty="0" err="1">
                <a:solidFill>
                  <a:srgbClr val="000000"/>
                </a:solidFill>
                <a:latin typeface="Times New Roman" panose="02020603050405020304" pitchFamily="18" charset="0"/>
                <a:ea typeface="Calibri" panose="020F0502020204030204" pitchFamily="34" charset="0"/>
              </a:rPr>
              <a:t>dx.doi</a:t>
            </a:r>
            <a:r>
              <a:rPr lang="en-IN" sz="1600" dirty="0">
                <a:solidFill>
                  <a:srgbClr val="000000"/>
                </a:solidFill>
                <a:latin typeface="Times New Roman" panose="02020603050405020304" pitchFamily="18" charset="0"/>
                <a:ea typeface="Calibri" panose="020F0502020204030204" pitchFamily="34" charset="0"/>
              </a:rPr>
              <a:t>. org/10.1109/TKDE.2020.2997604 </a:t>
            </a:r>
          </a:p>
          <a:p>
            <a:pPr marL="457200" algn="just">
              <a:spcAft>
                <a:spcPts val="800"/>
              </a:spcAft>
            </a:pPr>
            <a:r>
              <a:rPr lang="en-IN" sz="1600" dirty="0">
                <a:solidFill>
                  <a:srgbClr val="000000"/>
                </a:solidFill>
                <a:latin typeface="Times New Roman" panose="02020603050405020304" pitchFamily="18" charset="0"/>
                <a:ea typeface="Calibri" panose="020F0502020204030204" pitchFamily="34" charset="0"/>
              </a:rPr>
              <a:t>[11] Bo Zhang, </a:t>
            </a:r>
            <a:r>
              <a:rPr lang="en-IN" sz="1600" dirty="0" err="1">
                <a:solidFill>
                  <a:srgbClr val="000000"/>
                </a:solidFill>
                <a:latin typeface="Times New Roman" panose="02020603050405020304" pitchFamily="18" charset="0"/>
                <a:ea typeface="Calibri" panose="020F0502020204030204" pitchFamily="34" charset="0"/>
              </a:rPr>
              <a:t>Hancheng</a:t>
            </a:r>
            <a:r>
              <a:rPr lang="en-IN" sz="1600" dirty="0">
                <a:solidFill>
                  <a:srgbClr val="000000"/>
                </a:solidFill>
                <a:latin typeface="Times New Roman" panose="02020603050405020304" pitchFamily="18" charset="0"/>
                <a:ea typeface="Calibri" panose="020F0502020204030204" pitchFamily="34" charset="0"/>
              </a:rPr>
              <a:t> Ye, Gang Yu, Bin Wang, Yike Wu, Jiayuan Fan, and Tao Chen. 2022. Sample-centric feature generation for semi-supervised few-shot learning. IEEE Trans. Image Process. 31 (2022), 2309–2320. </a:t>
            </a:r>
            <a:r>
              <a:rPr lang="en-IN" sz="1600" dirty="0" err="1">
                <a:solidFill>
                  <a:srgbClr val="000000"/>
                </a:solidFill>
                <a:latin typeface="Times New Roman" panose="02020603050405020304" pitchFamily="18" charset="0"/>
                <a:ea typeface="Calibri" panose="020F0502020204030204" pitchFamily="34" charset="0"/>
              </a:rPr>
              <a:t>DOI:http</a:t>
            </a:r>
            <a:r>
              <a:rPr lang="en-IN" sz="1600" dirty="0">
                <a:solidFill>
                  <a:srgbClr val="000000"/>
                </a:solidFill>
                <a:latin typeface="Times New Roman" panose="02020603050405020304" pitchFamily="18" charset="0"/>
                <a:ea typeface="Calibri" panose="020F0502020204030204" pitchFamily="34" charset="0"/>
              </a:rPr>
              <a:t>://dx. doi.org/10.1109/TIP.2022.3154938 </a:t>
            </a:r>
          </a:p>
          <a:p>
            <a:pPr marL="457200" algn="just">
              <a:spcAft>
                <a:spcPts val="800"/>
              </a:spcAft>
            </a:pPr>
            <a:r>
              <a:rPr lang="en-IN" sz="1600" dirty="0">
                <a:solidFill>
                  <a:srgbClr val="000000"/>
                </a:solidFill>
                <a:latin typeface="Times New Roman" panose="02020603050405020304" pitchFamily="18" charset="0"/>
                <a:ea typeface="Calibri" panose="020F0502020204030204" pitchFamily="34" charset="0"/>
              </a:rPr>
              <a:t>[12] Jiajing Zhu, </a:t>
            </a:r>
            <a:r>
              <a:rPr lang="en-IN" sz="1600" dirty="0" err="1">
                <a:solidFill>
                  <a:srgbClr val="000000"/>
                </a:solidFill>
                <a:latin typeface="Times New Roman" panose="02020603050405020304" pitchFamily="18" charset="0"/>
                <a:ea typeface="Calibri" panose="020F0502020204030204" pitchFamily="34" charset="0"/>
              </a:rPr>
              <a:t>Yongguo</a:t>
            </a:r>
            <a:r>
              <a:rPr lang="en-IN" sz="1600" dirty="0">
                <a:solidFill>
                  <a:srgbClr val="000000"/>
                </a:solidFill>
                <a:latin typeface="Times New Roman" panose="02020603050405020304" pitchFamily="18" charset="0"/>
                <a:ea typeface="Calibri" panose="020F0502020204030204" pitchFamily="34" charset="0"/>
              </a:rPr>
              <a:t> Liu, </a:t>
            </a:r>
            <a:r>
              <a:rPr lang="en-IN" sz="1600" dirty="0" err="1">
                <a:solidFill>
                  <a:srgbClr val="000000"/>
                </a:solidFill>
                <a:latin typeface="Times New Roman" panose="02020603050405020304" pitchFamily="18" charset="0"/>
                <a:ea typeface="Calibri" panose="020F0502020204030204" pitchFamily="34" charset="0"/>
              </a:rPr>
              <a:t>Chuanbiao</a:t>
            </a:r>
            <a:r>
              <a:rPr lang="en-IN" sz="1600" dirty="0">
                <a:solidFill>
                  <a:srgbClr val="000000"/>
                </a:solidFill>
                <a:latin typeface="Times New Roman" panose="02020603050405020304" pitchFamily="18" charset="0"/>
                <a:ea typeface="Calibri" panose="020F0502020204030204" pitchFamily="34" charset="0"/>
              </a:rPr>
              <a:t> Wen, and </a:t>
            </a:r>
            <a:r>
              <a:rPr lang="en-IN" sz="1600" dirty="0" err="1">
                <a:solidFill>
                  <a:srgbClr val="000000"/>
                </a:solidFill>
                <a:latin typeface="Times New Roman" panose="02020603050405020304" pitchFamily="18" charset="0"/>
                <a:ea typeface="Calibri" panose="020F0502020204030204" pitchFamily="34" charset="0"/>
              </a:rPr>
              <a:t>Xindong</a:t>
            </a:r>
            <a:r>
              <a:rPr lang="en-IN" sz="1600" dirty="0">
                <a:solidFill>
                  <a:srgbClr val="000000"/>
                </a:solidFill>
                <a:latin typeface="Times New Roman" panose="02020603050405020304" pitchFamily="18" charset="0"/>
                <a:ea typeface="Calibri" panose="020F0502020204030204" pitchFamily="34" charset="0"/>
              </a:rPr>
              <a:t> Wu. 2022. DGDFS: Dependence Guided Discriminative Feature Selection for predicting adverse drug-drug interaction. IEEE Trans. </a:t>
            </a:r>
            <a:r>
              <a:rPr lang="en-IN" sz="1600" dirty="0" err="1">
                <a:solidFill>
                  <a:srgbClr val="000000"/>
                </a:solidFill>
                <a:latin typeface="Times New Roman" panose="02020603050405020304" pitchFamily="18" charset="0"/>
                <a:ea typeface="Calibri" panose="020F0502020204030204" pitchFamily="34" charset="0"/>
              </a:rPr>
              <a:t>Knowl</a:t>
            </a:r>
            <a:r>
              <a:rPr lang="en-IN" sz="1600" dirty="0">
                <a:solidFill>
                  <a:srgbClr val="000000"/>
                </a:solidFill>
                <a:latin typeface="Times New Roman" panose="02020603050405020304" pitchFamily="18" charset="0"/>
                <a:ea typeface="Calibri" panose="020F0502020204030204" pitchFamily="34" charset="0"/>
              </a:rPr>
              <a:t>. Data Eng. 34, 1 (2022), 271–285. </a:t>
            </a:r>
            <a:r>
              <a:rPr lang="en-IN" sz="1600" dirty="0" err="1">
                <a:solidFill>
                  <a:srgbClr val="000000"/>
                </a:solidFill>
                <a:latin typeface="Times New Roman" panose="02020603050405020304" pitchFamily="18" charset="0"/>
                <a:ea typeface="Calibri" panose="020F0502020204030204" pitchFamily="34" charset="0"/>
              </a:rPr>
              <a:t>DOI:http</a:t>
            </a:r>
            <a:r>
              <a:rPr lang="en-IN" sz="1600" dirty="0">
                <a:solidFill>
                  <a:srgbClr val="000000"/>
                </a:solidFill>
                <a:latin typeface="Times New Roman" panose="02020603050405020304" pitchFamily="18" charset="0"/>
                <a:ea typeface="Calibri" panose="020F0502020204030204" pitchFamily="34" charset="0"/>
              </a:rPr>
              <a:t>://dx.doi.org/10.1109/TKDE.2020.2978055</a:t>
            </a:r>
          </a:p>
          <a:p>
            <a:pPr marL="457200" algn="just">
              <a:spcAft>
                <a:spcPts val="800"/>
              </a:spcAft>
            </a:pPr>
            <a:r>
              <a:rPr lang="en-IN" sz="1600" dirty="0"/>
              <a:t>[13] [Wu et al., 2023] Xinwei Wu, </a:t>
            </a:r>
            <a:r>
              <a:rPr lang="en-IN" sz="1600" dirty="0" err="1"/>
              <a:t>Junzhuo</a:t>
            </a:r>
            <a:r>
              <a:rPr lang="en-IN" sz="1600" dirty="0"/>
              <a:t> Li, </a:t>
            </a:r>
            <a:r>
              <a:rPr lang="en-IN" sz="1600" dirty="0" err="1"/>
              <a:t>Minghui</a:t>
            </a:r>
            <a:r>
              <a:rPr lang="en-IN" sz="1600" dirty="0"/>
              <a:t> Xu, </a:t>
            </a:r>
            <a:r>
              <a:rPr lang="en-IN" sz="1600" dirty="0" err="1"/>
              <a:t>Weilong</a:t>
            </a:r>
            <a:r>
              <a:rPr lang="en-IN" sz="1600" dirty="0"/>
              <a:t> Dong, </a:t>
            </a:r>
            <a:r>
              <a:rPr lang="en-IN" sz="1600" dirty="0" err="1"/>
              <a:t>Shuangzhi</a:t>
            </a:r>
            <a:r>
              <a:rPr lang="en-IN" sz="1600" dirty="0"/>
              <a:t> Wu, Chao Bian, and </a:t>
            </a:r>
            <a:r>
              <a:rPr lang="en-IN" sz="1600" dirty="0" err="1"/>
              <a:t>Deyi</a:t>
            </a:r>
            <a:r>
              <a:rPr lang="en-IN" sz="1600" dirty="0"/>
              <a:t> Xiong. DEPN: Detecting and editing privacy neurons in pretrained language models. In Houda </a:t>
            </a:r>
            <a:r>
              <a:rPr lang="en-IN" sz="1600" dirty="0" err="1"/>
              <a:t>Bouamor</a:t>
            </a:r>
            <a:r>
              <a:rPr lang="en-IN" sz="1600" dirty="0"/>
              <a:t>, Juan Pino, and Kalika Bali, editors, Proceedings of the 2023 Conference on Empirical Methods in Natural Language Processing, pages 2875–2886, Singapore, December 2023. Association for Computational Linguistics.</a:t>
            </a:r>
            <a:endParaRPr lang="en-IN" sz="1600" dirty="0">
              <a:solidFill>
                <a:srgbClr val="000000"/>
              </a:solidFill>
              <a:latin typeface="Times New Roman" panose="02020603050405020304" pitchFamily="18" charset="0"/>
              <a:ea typeface="Calibri" panose="020F0502020204030204" pitchFamily="34" charset="0"/>
            </a:endParaRPr>
          </a:p>
          <a:p>
            <a:pPr marL="457200" algn="just">
              <a:spcAft>
                <a:spcPts val="800"/>
              </a:spcAft>
              <a:buNone/>
            </a:pPr>
            <a:br>
              <a:rPr lang="en-IN" sz="1600" dirty="0">
                <a:solidFill>
                  <a:srgbClr val="000000"/>
                </a:solidFill>
                <a:latin typeface="Calibri" panose="020F0502020204030204" pitchFamily="34" charset="0"/>
                <a:ea typeface="Calibri" panose="020F0502020204030204" pitchFamily="34" charset="0"/>
              </a:rPr>
            </a:b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57032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EF595-8A61-ED02-2B16-C17AE19F6B70}"/>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366577A6-29AE-EF64-25CA-1A7B6537D20E}"/>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5E0EE9CE-9D0F-1732-7C6A-212C3B2CEF56}"/>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AC9EC9CC-8E28-4E5F-23DD-B5FCDDD7DD8B}"/>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5" name="Slide Number Placeholder 5">
            <a:extLst>
              <a:ext uri="{FF2B5EF4-FFF2-40B4-BE49-F238E27FC236}">
                <a16:creationId xmlns:a16="http://schemas.microsoft.com/office/drawing/2014/main" id="{8B7A5148-99DE-1287-1C7A-0924DCD11A71}"/>
              </a:ext>
            </a:extLst>
          </p:cNvPr>
          <p:cNvSpPr>
            <a:spLocks noGrp="1"/>
          </p:cNvSpPr>
          <p:nvPr>
            <p:ph type="sldNum" sz="quarter" idx="12"/>
          </p:nvPr>
        </p:nvSpPr>
        <p:spPr>
          <a:xfrm>
            <a:off x="11282291" y="6442860"/>
            <a:ext cx="732692" cy="392073"/>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32</a:t>
            </a:fld>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59E1747-A58F-D5FD-8DB8-B88FCF677A38}"/>
              </a:ext>
            </a:extLst>
          </p:cNvPr>
          <p:cNvSpPr txBox="1"/>
          <p:nvPr/>
        </p:nvSpPr>
        <p:spPr>
          <a:xfrm>
            <a:off x="6096000" y="190137"/>
            <a:ext cx="5622387"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References</a:t>
            </a:r>
          </a:p>
        </p:txBody>
      </p:sp>
      <p:sp>
        <p:nvSpPr>
          <p:cNvPr id="8" name="TextBox 7">
            <a:extLst>
              <a:ext uri="{FF2B5EF4-FFF2-40B4-BE49-F238E27FC236}">
                <a16:creationId xmlns:a16="http://schemas.microsoft.com/office/drawing/2014/main" id="{0E793BB7-4019-699B-39BC-ED40372B63B8}"/>
              </a:ext>
            </a:extLst>
          </p:cNvPr>
          <p:cNvSpPr txBox="1"/>
          <p:nvPr/>
        </p:nvSpPr>
        <p:spPr>
          <a:xfrm>
            <a:off x="393895" y="923299"/>
            <a:ext cx="11324492" cy="5724644"/>
          </a:xfrm>
          <a:prstGeom prst="rect">
            <a:avLst/>
          </a:prstGeom>
          <a:noFill/>
        </p:spPr>
        <p:txBody>
          <a:bodyPr wrap="square">
            <a:spAutoFit/>
          </a:bodyPr>
          <a:lstStyle/>
          <a:p>
            <a:pPr marL="457200" algn="just">
              <a:spcAft>
                <a:spcPts val="800"/>
              </a:spcAft>
            </a:pPr>
            <a:r>
              <a:rPr lang="en-IN" sz="1600" dirty="0">
                <a:solidFill>
                  <a:srgbClr val="000000"/>
                </a:solidFill>
                <a:latin typeface="Times New Roman" panose="02020603050405020304" pitchFamily="18" charset="0"/>
                <a:ea typeface="Calibri" panose="020F0502020204030204" pitchFamily="34" charset="0"/>
              </a:rPr>
              <a:t>[14] [Jia et al., 2024] Jinghan Jia, </a:t>
            </a:r>
            <a:r>
              <a:rPr lang="en-IN" sz="1600" dirty="0" err="1">
                <a:solidFill>
                  <a:srgbClr val="000000"/>
                </a:solidFill>
                <a:latin typeface="Times New Roman" panose="02020603050405020304" pitchFamily="18" charset="0"/>
                <a:ea typeface="Calibri" panose="020F0502020204030204" pitchFamily="34" charset="0"/>
              </a:rPr>
              <a:t>Jiancheng</a:t>
            </a:r>
            <a:r>
              <a:rPr lang="en-IN" sz="1600" dirty="0">
                <a:solidFill>
                  <a:srgbClr val="000000"/>
                </a:solidFill>
                <a:latin typeface="Times New Roman" panose="02020603050405020304" pitchFamily="18" charset="0"/>
                <a:ea typeface="Calibri" panose="020F0502020204030204" pitchFamily="34" charset="0"/>
              </a:rPr>
              <a:t> Liu, Yihua Zhang, Parikshit Ram, Nathalie Baracaldo, and </a:t>
            </a:r>
            <a:r>
              <a:rPr lang="en-IN" sz="1600" dirty="0" err="1">
                <a:solidFill>
                  <a:srgbClr val="000000"/>
                </a:solidFill>
                <a:latin typeface="Times New Roman" panose="02020603050405020304" pitchFamily="18" charset="0"/>
                <a:ea typeface="Calibri" panose="020F0502020204030204" pitchFamily="34" charset="0"/>
              </a:rPr>
              <a:t>Sijia</a:t>
            </a:r>
            <a:r>
              <a:rPr lang="en-IN" sz="1600" dirty="0">
                <a:solidFill>
                  <a:srgbClr val="000000"/>
                </a:solidFill>
                <a:latin typeface="Times New Roman" panose="02020603050405020304" pitchFamily="18" charset="0"/>
                <a:ea typeface="Calibri" panose="020F0502020204030204" pitchFamily="34" charset="0"/>
              </a:rPr>
              <a:t> Liu. WAGLE: Strategic weight attribution for effective and modular unlearning in large language models. In The Thirty-eighth Annual Conf</a:t>
            </a:r>
          </a:p>
          <a:p>
            <a:pPr marL="457200" algn="just">
              <a:spcAft>
                <a:spcPts val="800"/>
              </a:spcAft>
            </a:pPr>
            <a:r>
              <a:rPr lang="en-IN" sz="1600" dirty="0">
                <a:solidFill>
                  <a:srgbClr val="000000"/>
                </a:solidFill>
                <a:latin typeface="Times New Roman" panose="02020603050405020304" pitchFamily="18" charset="0"/>
                <a:ea typeface="Calibri" panose="020F0502020204030204" pitchFamily="34" charset="0"/>
              </a:rPr>
              <a:t>[15] A Survey on Recommendation Unlearning: Fundamentals, Taxonomy, Evaluation, and Open Questions Yuyuan Li, Xiaohua Feng, </a:t>
            </a:r>
            <a:r>
              <a:rPr lang="en-IN" sz="1600" dirty="0" err="1">
                <a:solidFill>
                  <a:srgbClr val="000000"/>
                </a:solidFill>
                <a:latin typeface="Times New Roman" panose="02020603050405020304" pitchFamily="18" charset="0"/>
                <a:ea typeface="Calibri" panose="020F0502020204030204" pitchFamily="34" charset="0"/>
              </a:rPr>
              <a:t>Chaochao</a:t>
            </a:r>
            <a:r>
              <a:rPr lang="en-IN" sz="1600" dirty="0">
                <a:solidFill>
                  <a:srgbClr val="000000"/>
                </a:solidFill>
                <a:latin typeface="Times New Roman" panose="02020603050405020304" pitchFamily="18" charset="0"/>
                <a:ea typeface="Calibri" panose="020F0502020204030204" pitchFamily="34" charset="0"/>
              </a:rPr>
              <a:t> Chen*, Senior Member, IEEE, and Qiang Yang, Fellow, IEEE</a:t>
            </a:r>
          </a:p>
          <a:p>
            <a:pPr marL="457200" algn="just">
              <a:spcAft>
                <a:spcPts val="800"/>
              </a:spcAft>
            </a:pPr>
            <a:r>
              <a:rPr lang="en-IN" sz="1600" dirty="0">
                <a:solidFill>
                  <a:srgbClr val="000000"/>
                </a:solidFill>
                <a:latin typeface="Times New Roman" panose="02020603050405020304" pitchFamily="18" charset="0"/>
                <a:ea typeface="Calibri" panose="020F0502020204030204" pitchFamily="34" charset="0"/>
              </a:rPr>
              <a:t>[16] Alessandro </a:t>
            </a:r>
            <a:r>
              <a:rPr lang="en-IN" sz="1600" dirty="0" err="1">
                <a:solidFill>
                  <a:srgbClr val="000000"/>
                </a:solidFill>
                <a:latin typeface="Times New Roman" panose="02020603050405020304" pitchFamily="18" charset="0"/>
                <a:ea typeface="Calibri" panose="020F0502020204030204" pitchFamily="34" charset="0"/>
              </a:rPr>
              <a:t>Mantelero</a:t>
            </a:r>
            <a:r>
              <a:rPr lang="en-IN" sz="1600" dirty="0">
                <a:solidFill>
                  <a:srgbClr val="000000"/>
                </a:solidFill>
                <a:latin typeface="Times New Roman" panose="02020603050405020304" pitchFamily="18" charset="0"/>
                <a:ea typeface="Calibri" panose="020F0502020204030204" pitchFamily="34" charset="0"/>
              </a:rPr>
              <a:t>. The EU proposal for a general data protection regulation and the roots of the ’right to be forgotten’. </a:t>
            </a:r>
            <a:r>
              <a:rPr lang="en-IN" sz="1600" dirty="0" err="1">
                <a:solidFill>
                  <a:srgbClr val="000000"/>
                </a:solidFill>
                <a:latin typeface="Times New Roman" panose="02020603050405020304" pitchFamily="18" charset="0"/>
                <a:ea typeface="Calibri" panose="020F0502020204030204" pitchFamily="34" charset="0"/>
              </a:rPr>
              <a:t>Comput</a:t>
            </a:r>
            <a:r>
              <a:rPr lang="en-IN" sz="1600" dirty="0">
                <a:solidFill>
                  <a:srgbClr val="000000"/>
                </a:solidFill>
                <a:latin typeface="Times New Roman" panose="02020603050405020304" pitchFamily="18" charset="0"/>
                <a:ea typeface="Calibri" panose="020F0502020204030204" pitchFamily="34" charset="0"/>
              </a:rPr>
              <a:t>. Law </a:t>
            </a:r>
            <a:r>
              <a:rPr lang="en-IN" sz="1600" dirty="0" err="1">
                <a:solidFill>
                  <a:srgbClr val="000000"/>
                </a:solidFill>
                <a:latin typeface="Times New Roman" panose="02020603050405020304" pitchFamily="18" charset="0"/>
                <a:ea typeface="Calibri" panose="020F0502020204030204" pitchFamily="34" charset="0"/>
              </a:rPr>
              <a:t>Secur</a:t>
            </a:r>
            <a:r>
              <a:rPr lang="en-IN" sz="1600" dirty="0">
                <a:solidFill>
                  <a:srgbClr val="000000"/>
                </a:solidFill>
                <a:latin typeface="Times New Roman" panose="02020603050405020304" pitchFamily="18" charset="0"/>
                <a:ea typeface="Calibri" panose="020F0502020204030204" pitchFamily="34" charset="0"/>
              </a:rPr>
              <a:t>. Rev., 29(3):229–235, 2013.</a:t>
            </a:r>
          </a:p>
          <a:p>
            <a:pPr marL="457200" algn="just">
              <a:spcAft>
                <a:spcPts val="800"/>
              </a:spcAft>
            </a:pPr>
            <a:r>
              <a:rPr lang="en-IN" sz="1600" dirty="0">
                <a:solidFill>
                  <a:srgbClr val="000000"/>
                </a:solidFill>
                <a:latin typeface="Times New Roman" panose="02020603050405020304" pitchFamily="18" charset="0"/>
                <a:ea typeface="Calibri" panose="020F0502020204030204" pitchFamily="34" charset="0"/>
              </a:rPr>
              <a:t>[17] O. of the Privacy Commissioner of Canada. Announcement: Privacy commissioner seeks federal court determination on key issue for </a:t>
            </a:r>
            <a:r>
              <a:rPr lang="en-IN" sz="1600" dirty="0" err="1">
                <a:solidFill>
                  <a:srgbClr val="000000"/>
                </a:solidFill>
                <a:latin typeface="Times New Roman" panose="02020603050405020304" pitchFamily="18" charset="0"/>
                <a:ea typeface="Calibri" panose="020F0502020204030204" pitchFamily="34" charset="0"/>
              </a:rPr>
              <a:t>canadians’</a:t>
            </a:r>
            <a:r>
              <a:rPr lang="en-IN" sz="1600" dirty="0">
                <a:solidFill>
                  <a:srgbClr val="000000"/>
                </a:solidFill>
                <a:latin typeface="Times New Roman" panose="02020603050405020304" pitchFamily="18" charset="0"/>
                <a:ea typeface="Calibri" panose="020F0502020204030204" pitchFamily="34" charset="0"/>
              </a:rPr>
              <a:t> online reputation.</a:t>
            </a:r>
          </a:p>
          <a:p>
            <a:pPr marL="457200" algn="just">
              <a:spcAft>
                <a:spcPts val="800"/>
              </a:spcAft>
            </a:pPr>
            <a:r>
              <a:rPr lang="en-IN" sz="1600" dirty="0">
                <a:solidFill>
                  <a:srgbClr val="000000"/>
                </a:solidFill>
                <a:latin typeface="Times New Roman" panose="02020603050405020304" pitchFamily="18" charset="0"/>
                <a:ea typeface="Calibri" panose="020F0502020204030204" pitchFamily="34" charset="0"/>
              </a:rPr>
              <a:t>[18] Lydia de la Torre. A guide to the </a:t>
            </a:r>
            <a:r>
              <a:rPr lang="en-IN" sz="1600" dirty="0" err="1">
                <a:solidFill>
                  <a:srgbClr val="000000"/>
                </a:solidFill>
                <a:latin typeface="Times New Roman" panose="02020603050405020304" pitchFamily="18" charset="0"/>
                <a:ea typeface="Calibri" panose="020F0502020204030204" pitchFamily="34" charset="0"/>
              </a:rPr>
              <a:t>california</a:t>
            </a:r>
            <a:r>
              <a:rPr lang="en-IN" sz="1600" dirty="0">
                <a:solidFill>
                  <a:srgbClr val="000000"/>
                </a:solidFill>
                <a:latin typeface="Times New Roman" panose="02020603050405020304" pitchFamily="18" charset="0"/>
                <a:ea typeface="Calibri" panose="020F0502020204030204" pitchFamily="34" charset="0"/>
              </a:rPr>
              <a:t> consumer privacy act of 2018. Available at SSRN 3275571, 2018.</a:t>
            </a:r>
          </a:p>
          <a:p>
            <a:pPr marL="457200" algn="just">
              <a:spcAft>
                <a:spcPts val="800"/>
              </a:spcAft>
            </a:pPr>
            <a:r>
              <a:rPr lang="en-IN" sz="1600" dirty="0">
                <a:solidFill>
                  <a:srgbClr val="000000"/>
                </a:solidFill>
                <a:latin typeface="Times New Roman" panose="02020603050405020304" pitchFamily="18" charset="0"/>
                <a:ea typeface="Calibri" panose="020F0502020204030204" pitchFamily="34" charset="0"/>
              </a:rPr>
              <a:t>[19] Digital Personal Data Protection Act, 2023. Available at </a:t>
            </a:r>
            <a:r>
              <a:rPr lang="en-IN" sz="1600" dirty="0">
                <a:solidFill>
                  <a:srgbClr val="000000"/>
                </a:solidFill>
                <a:latin typeface="Times New Roman" panose="02020603050405020304" pitchFamily="18" charset="0"/>
                <a:ea typeface="Calibri" panose="020F0502020204030204" pitchFamily="34" charset="0"/>
                <a:hlinkClick r:id="rId3">
                  <a:extLst>
                    <a:ext uri="{A12FA001-AC4F-418D-AE19-62706E023703}">
                      <ahyp:hlinkClr xmlns:ahyp="http://schemas.microsoft.com/office/drawing/2018/hyperlinkcolor" val="tx"/>
                    </a:ext>
                  </a:extLst>
                </a:hlinkClick>
              </a:rPr>
              <a:t>https://www.meity.gov.in/static/uploads/2024/06/2bf1f0e9f04e6fb4f8fef35e82c42aa5.pdf</a:t>
            </a:r>
            <a:endParaRPr lang="en-IN" sz="1600" dirty="0">
              <a:solidFill>
                <a:srgbClr val="000000"/>
              </a:solidFill>
              <a:latin typeface="Times New Roman" panose="02020603050405020304" pitchFamily="18" charset="0"/>
              <a:ea typeface="Calibri" panose="020F0502020204030204" pitchFamily="34" charset="0"/>
            </a:endParaRPr>
          </a:p>
          <a:p>
            <a:pPr marL="457200" algn="just">
              <a:spcAft>
                <a:spcPts val="800"/>
              </a:spcAft>
            </a:pPr>
            <a:r>
              <a:rPr lang="en-IN" sz="1600" dirty="0">
                <a:solidFill>
                  <a:srgbClr val="000000"/>
                </a:solidFill>
                <a:latin typeface="Times New Roman" panose="02020603050405020304" pitchFamily="18" charset="0"/>
                <a:ea typeface="Calibri" panose="020F0502020204030204" pitchFamily="34" charset="0"/>
              </a:rPr>
              <a:t>[20] L. Bourtoule, V. Chandrasekaran, C. A. Choquette-Choo, H. Jia, A. Travers, B. Zhang, D. Lie, and N. </a:t>
            </a:r>
            <a:r>
              <a:rPr lang="en-IN" sz="1600" dirty="0" err="1">
                <a:solidFill>
                  <a:srgbClr val="000000"/>
                </a:solidFill>
                <a:latin typeface="Times New Roman" panose="02020603050405020304" pitchFamily="18" charset="0"/>
                <a:ea typeface="Calibri" panose="020F0502020204030204" pitchFamily="34" charset="0"/>
              </a:rPr>
              <a:t>Papernot</a:t>
            </a:r>
            <a:r>
              <a:rPr lang="en-IN" sz="1600" dirty="0">
                <a:solidFill>
                  <a:srgbClr val="000000"/>
                </a:solidFill>
                <a:latin typeface="Times New Roman" panose="02020603050405020304" pitchFamily="18" charset="0"/>
                <a:ea typeface="Calibri" panose="020F0502020204030204" pitchFamily="34" charset="0"/>
              </a:rPr>
              <a:t>, “Machine unlearning,” in Proc. IEEE Symposium on Security and Privacy (SP), 2021</a:t>
            </a:r>
          </a:p>
          <a:p>
            <a:pPr marL="457200" algn="just">
              <a:spcAft>
                <a:spcPts val="800"/>
              </a:spcAft>
            </a:pPr>
            <a:r>
              <a:rPr lang="en-IN" sz="1600" dirty="0">
                <a:solidFill>
                  <a:srgbClr val="000000"/>
                </a:solidFill>
                <a:latin typeface="Times New Roman" panose="02020603050405020304" pitchFamily="18" charset="0"/>
                <a:ea typeface="Calibri" panose="020F0502020204030204" pitchFamily="34" charset="0"/>
              </a:rPr>
              <a:t>[21] </a:t>
            </a:r>
            <a:r>
              <a:rPr lang="en-IN" sz="1600" dirty="0" err="1">
                <a:solidFill>
                  <a:srgbClr val="000000"/>
                </a:solidFill>
                <a:latin typeface="Times New Roman" panose="02020603050405020304" pitchFamily="18" charset="0"/>
                <a:ea typeface="Calibri" panose="020F0502020204030204" pitchFamily="34" charset="0"/>
              </a:rPr>
              <a:t>Hengzhu</a:t>
            </a:r>
            <a:r>
              <a:rPr lang="en-IN" sz="1600" dirty="0">
                <a:solidFill>
                  <a:srgbClr val="000000"/>
                </a:solidFill>
                <a:latin typeface="Times New Roman" panose="02020603050405020304" pitchFamily="18" charset="0"/>
                <a:ea typeface="Calibri" panose="020F0502020204030204" pitchFamily="34" charset="0"/>
              </a:rPr>
              <a:t> Liu, </a:t>
            </a:r>
            <a:r>
              <a:rPr lang="en-IN" sz="1600" dirty="0" err="1">
                <a:solidFill>
                  <a:srgbClr val="000000"/>
                </a:solidFill>
                <a:latin typeface="Times New Roman" panose="02020603050405020304" pitchFamily="18" charset="0"/>
                <a:ea typeface="Calibri" panose="020F0502020204030204" pitchFamily="34" charset="0"/>
              </a:rPr>
              <a:t>Tianqing</a:t>
            </a:r>
            <a:r>
              <a:rPr lang="en-IN" sz="1600" dirty="0">
                <a:solidFill>
                  <a:srgbClr val="000000"/>
                </a:solidFill>
                <a:latin typeface="Times New Roman" panose="02020603050405020304" pitchFamily="18" charset="0"/>
                <a:ea typeface="Calibri" panose="020F0502020204030204" pitchFamily="34" charset="0"/>
              </a:rPr>
              <a:t> Zhu, </a:t>
            </a:r>
            <a:r>
              <a:rPr lang="en-IN" sz="1600" dirty="0" err="1">
                <a:solidFill>
                  <a:srgbClr val="000000"/>
                </a:solidFill>
                <a:latin typeface="Times New Roman" panose="02020603050405020304" pitchFamily="18" charset="0"/>
                <a:ea typeface="Calibri" panose="020F0502020204030204" pitchFamily="34" charset="0"/>
              </a:rPr>
              <a:t>Lefeng</a:t>
            </a:r>
            <a:r>
              <a:rPr lang="en-IN" sz="1600" dirty="0">
                <a:solidFill>
                  <a:srgbClr val="000000"/>
                </a:solidFill>
                <a:latin typeface="Times New Roman" panose="02020603050405020304" pitchFamily="18" charset="0"/>
                <a:ea typeface="Calibri" panose="020F0502020204030204" pitchFamily="34" charset="0"/>
              </a:rPr>
              <a:t> Zhang, Ping Xiong, “Game-Theoretic Machine Unlearning: Mitigating Extra Privacy Leakage”, in JOURNAL OF LATEX CLASS FILES, VOL. 14, NO. 8, AUGUST 2021 1</a:t>
            </a:r>
          </a:p>
          <a:p>
            <a:pPr marL="457200" algn="just">
              <a:spcAft>
                <a:spcPts val="800"/>
              </a:spcAft>
            </a:pPr>
            <a:r>
              <a:rPr lang="en-IN" sz="1600" dirty="0">
                <a:solidFill>
                  <a:srgbClr val="000000"/>
                </a:solidFill>
                <a:latin typeface="Times New Roman" panose="02020603050405020304" pitchFamily="18" charset="0"/>
                <a:ea typeface="Calibri" panose="020F0502020204030204" pitchFamily="34" charset="0"/>
              </a:rPr>
              <a:t>[22] Stuart </a:t>
            </a:r>
            <a:r>
              <a:rPr lang="en-IN" sz="1600" dirty="0" err="1">
                <a:solidFill>
                  <a:srgbClr val="000000"/>
                </a:solidFill>
                <a:latin typeface="Times New Roman" panose="02020603050405020304" pitchFamily="18" charset="0"/>
                <a:ea typeface="Calibri" panose="020F0502020204030204" pitchFamily="34" charset="0"/>
              </a:rPr>
              <a:t>Wesselby</a:t>
            </a:r>
            <a:r>
              <a:rPr lang="en-IN" sz="1600" dirty="0">
                <a:solidFill>
                  <a:srgbClr val="000000"/>
                </a:solidFill>
                <a:latin typeface="Times New Roman" panose="02020603050405020304" pitchFamily="18" charset="0"/>
                <a:ea typeface="Calibri" panose="020F0502020204030204" pitchFamily="34" charset="0"/>
              </a:rPr>
              <a:t>, “Responsible AI: Principles, Practices, and Applications. How to implement ai responsibly”, </a:t>
            </a:r>
            <a:r>
              <a:rPr lang="en-IN" sz="1600" dirty="0">
                <a:solidFill>
                  <a:srgbClr val="000000"/>
                </a:solidFill>
                <a:latin typeface="Times New Roman" panose="02020603050405020304" pitchFamily="18" charset="0"/>
                <a:ea typeface="Calibri" panose="020F0502020204030204" pitchFamily="34" charset="0"/>
                <a:hlinkClick r:id="rId4">
                  <a:extLst>
                    <a:ext uri="{A12FA001-AC4F-418D-AE19-62706E023703}">
                      <ahyp:hlinkClr xmlns:ahyp="http://schemas.microsoft.com/office/drawing/2018/hyperlinkcolor" val="tx"/>
                    </a:ext>
                  </a:extLst>
                </a:hlinkClick>
              </a:rPr>
              <a:t>https://www.udemy.com/course/responsible-ai-principles-practices-and-applications/?srsltid=AfmBOorcJDN91T-1RxFtCerA13W6GAUedvgXI_K5mlDnzcsPdM9ebOlg</a:t>
            </a:r>
            <a:endParaRPr lang="en-IN" sz="1600" dirty="0">
              <a:solidFill>
                <a:srgbClr val="000000"/>
              </a:solidFill>
              <a:latin typeface="Times New Roman" panose="02020603050405020304" pitchFamily="18" charset="0"/>
              <a:ea typeface="Calibri" panose="020F0502020204030204" pitchFamily="34" charset="0"/>
            </a:endParaRPr>
          </a:p>
          <a:p>
            <a:endParaRPr lang="en-IN" dirty="0"/>
          </a:p>
        </p:txBody>
      </p:sp>
    </p:spTree>
    <p:extLst>
      <p:ext uri="{BB962C8B-B14F-4D97-AF65-F5344CB8AC3E}">
        <p14:creationId xmlns:p14="http://schemas.microsoft.com/office/powerpoint/2010/main" val="30908985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73818-7599-F9C0-1594-21DD92549FB6}"/>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09BBE9E4-3647-CB9E-8EC9-333E5453C928}"/>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85719D26-1315-F70B-AE00-F774730489AD}"/>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0D0BD6E9-AE03-06C6-CFAD-B9FFDB8971E0}"/>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Times New Roman" panose="02020603050405020304" pitchFamily="18" charset="0"/>
                <a:cs typeface="Times New Roman" panose="02020603050405020304" pitchFamily="18" charset="0"/>
              </a:endParaRPr>
            </a:p>
          </p:txBody>
        </p:sp>
      </p:grpSp>
      <p:sp>
        <p:nvSpPr>
          <p:cNvPr id="5" name="Slide Number Placeholder 5">
            <a:extLst>
              <a:ext uri="{FF2B5EF4-FFF2-40B4-BE49-F238E27FC236}">
                <a16:creationId xmlns:a16="http://schemas.microsoft.com/office/drawing/2014/main" id="{80AAF635-BEF6-2569-CBC3-93D5EF963A0A}"/>
              </a:ext>
            </a:extLst>
          </p:cNvPr>
          <p:cNvSpPr>
            <a:spLocks noGrp="1"/>
          </p:cNvSpPr>
          <p:nvPr>
            <p:ph type="sldNum" sz="quarter" idx="12"/>
          </p:nvPr>
        </p:nvSpPr>
        <p:spPr>
          <a:xfrm>
            <a:off x="11282291" y="6442860"/>
            <a:ext cx="732692" cy="392073"/>
          </a:xfrm>
        </p:spPr>
        <p:txBody>
          <a:bodyPr/>
          <a:lstStyle/>
          <a:p>
            <a:fld id="{4A9795D8-83FD-4522-A0A1-E4DAAF0E10D3}" type="slidenum">
              <a:rPr lang="en-IN" sz="1400" smtClean="0">
                <a:solidFill>
                  <a:schemeClr val="tx1"/>
                </a:solidFill>
                <a:latin typeface="Times New Roman" panose="02020603050405020304" pitchFamily="18" charset="0"/>
                <a:cs typeface="Times New Roman" panose="02020603050405020304" pitchFamily="18" charset="0"/>
              </a:rPr>
              <a:t>33</a:t>
            </a:fld>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D29FA66-DE91-38E2-0DB7-8B0AD930AE09}"/>
              </a:ext>
            </a:extLst>
          </p:cNvPr>
          <p:cNvSpPr txBox="1"/>
          <p:nvPr/>
        </p:nvSpPr>
        <p:spPr>
          <a:xfrm>
            <a:off x="6096000" y="190137"/>
            <a:ext cx="5622387" cy="584775"/>
          </a:xfrm>
          <a:prstGeom prst="rect">
            <a:avLst/>
          </a:prstGeom>
          <a:noFill/>
        </p:spPr>
        <p:txBody>
          <a:bodyPr wrap="square" rtlCol="0">
            <a:spAutoFit/>
          </a:bodyPr>
          <a:lstStyle/>
          <a:p>
            <a:pPr algn="r"/>
            <a:r>
              <a:rPr lang="en-IN" sz="3200" b="1" dirty="0">
                <a:latin typeface="Times New Roman" panose="02020603050405020304" pitchFamily="18" charset="0"/>
                <a:cs typeface="Times New Roman" panose="02020603050405020304" pitchFamily="18" charset="0"/>
              </a:rPr>
              <a:t>References</a:t>
            </a:r>
          </a:p>
        </p:txBody>
      </p:sp>
      <p:sp>
        <p:nvSpPr>
          <p:cNvPr id="8" name="TextBox 7">
            <a:extLst>
              <a:ext uri="{FF2B5EF4-FFF2-40B4-BE49-F238E27FC236}">
                <a16:creationId xmlns:a16="http://schemas.microsoft.com/office/drawing/2014/main" id="{2EE10376-4C62-FDBF-8B63-15CE08899CAB}"/>
              </a:ext>
            </a:extLst>
          </p:cNvPr>
          <p:cNvSpPr txBox="1"/>
          <p:nvPr/>
        </p:nvSpPr>
        <p:spPr>
          <a:xfrm>
            <a:off x="393895" y="938289"/>
            <a:ext cx="11324492" cy="2472472"/>
          </a:xfrm>
          <a:prstGeom prst="rect">
            <a:avLst/>
          </a:prstGeom>
          <a:noFill/>
        </p:spPr>
        <p:txBody>
          <a:bodyPr wrap="square">
            <a:spAutoFit/>
          </a:bodyPr>
          <a:lstStyle/>
          <a:p>
            <a:pPr marL="457200" algn="just">
              <a:spcAft>
                <a:spcPts val="800"/>
              </a:spcAft>
            </a:pPr>
            <a:r>
              <a:rPr lang="en-IN" sz="1600" dirty="0">
                <a:solidFill>
                  <a:srgbClr val="000000"/>
                </a:solidFill>
                <a:latin typeface="Times New Roman" panose="02020603050405020304" pitchFamily="18" charset="0"/>
                <a:ea typeface="Calibri" panose="020F0502020204030204" pitchFamily="34" charset="0"/>
              </a:rPr>
              <a:t>[23] </a:t>
            </a:r>
            <a:r>
              <a:rPr lang="en-IN" sz="1600" dirty="0" err="1">
                <a:solidFill>
                  <a:srgbClr val="000000"/>
                </a:solidFill>
                <a:latin typeface="Times New Roman" panose="02020603050405020304" pitchFamily="18" charset="0"/>
                <a:ea typeface="Calibri" panose="020F0502020204030204" pitchFamily="34" charset="0"/>
              </a:rPr>
              <a:t>Yinzhi</a:t>
            </a:r>
            <a:r>
              <a:rPr lang="en-IN" sz="1600" dirty="0">
                <a:solidFill>
                  <a:srgbClr val="000000"/>
                </a:solidFill>
                <a:latin typeface="Times New Roman" panose="02020603050405020304" pitchFamily="18" charset="0"/>
                <a:ea typeface="Calibri" panose="020F0502020204030204" pitchFamily="34" charset="0"/>
              </a:rPr>
              <a:t> Cao and </a:t>
            </a:r>
            <a:r>
              <a:rPr lang="en-IN" sz="1600" dirty="0" err="1">
                <a:solidFill>
                  <a:srgbClr val="000000"/>
                </a:solidFill>
                <a:latin typeface="Times New Roman" panose="02020603050405020304" pitchFamily="18" charset="0"/>
                <a:ea typeface="Calibri" panose="020F0502020204030204" pitchFamily="34" charset="0"/>
              </a:rPr>
              <a:t>Junfeng</a:t>
            </a:r>
            <a:r>
              <a:rPr lang="en-IN" sz="1600" dirty="0">
                <a:solidFill>
                  <a:srgbClr val="000000"/>
                </a:solidFill>
                <a:latin typeface="Times New Roman" panose="02020603050405020304" pitchFamily="18" charset="0"/>
                <a:ea typeface="Calibri" panose="020F0502020204030204" pitchFamily="34" charset="0"/>
              </a:rPr>
              <a:t> Yang. 2015. Towards making systems forget with machine unlearning. In IEEE Symposium</a:t>
            </a:r>
          </a:p>
          <a:p>
            <a:pPr marL="457200" algn="just">
              <a:spcAft>
                <a:spcPts val="800"/>
              </a:spcAft>
            </a:pPr>
            <a:r>
              <a:rPr lang="en-IN" sz="1600" dirty="0">
                <a:solidFill>
                  <a:srgbClr val="000000"/>
                </a:solidFill>
                <a:latin typeface="Times New Roman" panose="02020603050405020304" pitchFamily="18" charset="0"/>
                <a:ea typeface="Calibri" panose="020F0502020204030204" pitchFamily="34" charset="0"/>
              </a:rPr>
              <a:t>on Security and Privacy. IEEE Computer Society, 463–480. </a:t>
            </a:r>
            <a:r>
              <a:rPr lang="en-IN" sz="1600" dirty="0" err="1">
                <a:solidFill>
                  <a:srgbClr val="000000"/>
                </a:solidFill>
                <a:latin typeface="Times New Roman" panose="02020603050405020304" pitchFamily="18" charset="0"/>
                <a:ea typeface="Calibri" panose="020F0502020204030204" pitchFamily="34" charset="0"/>
              </a:rPr>
              <a:t>DOI:http</a:t>
            </a:r>
            <a:r>
              <a:rPr lang="en-IN" sz="1600" dirty="0">
                <a:solidFill>
                  <a:srgbClr val="000000"/>
                </a:solidFill>
                <a:latin typeface="Times New Roman" panose="02020603050405020304" pitchFamily="18" charset="0"/>
                <a:ea typeface="Calibri" panose="020F0502020204030204" pitchFamily="34" charset="0"/>
              </a:rPr>
              <a:t>://dx.doi.org/10.1109/SP.2015.35</a:t>
            </a:r>
          </a:p>
          <a:p>
            <a:pPr marL="457200" algn="just">
              <a:spcAft>
                <a:spcPts val="800"/>
              </a:spcAft>
            </a:pPr>
            <a:r>
              <a:rPr lang="en-IN" sz="1600" dirty="0">
                <a:solidFill>
                  <a:srgbClr val="000000"/>
                </a:solidFill>
                <a:latin typeface="Times New Roman" panose="02020603050405020304" pitchFamily="18" charset="0"/>
                <a:ea typeface="Calibri" panose="020F0502020204030204" pitchFamily="34" charset="0"/>
              </a:rPr>
              <a:t>[24] Xiaofeng Ding, </a:t>
            </a:r>
            <a:r>
              <a:rPr lang="en-IN" sz="1600" dirty="0" err="1">
                <a:solidFill>
                  <a:srgbClr val="000000"/>
                </a:solidFill>
                <a:latin typeface="Times New Roman" panose="02020603050405020304" pitchFamily="18" charset="0"/>
                <a:ea typeface="Calibri" panose="020F0502020204030204" pitchFamily="34" charset="0"/>
              </a:rPr>
              <a:t>Hongbiao</a:t>
            </a:r>
            <a:r>
              <a:rPr lang="en-IN" sz="1600" dirty="0">
                <a:solidFill>
                  <a:srgbClr val="000000"/>
                </a:solidFill>
                <a:latin typeface="Times New Roman" panose="02020603050405020304" pitchFamily="18" charset="0"/>
                <a:ea typeface="Calibri" panose="020F0502020204030204" pitchFamily="34" charset="0"/>
              </a:rPr>
              <a:t> Fang, Zhilin Zhang, Kim-Kwang Raymond Choo, and Hai Jin. Privacy-preserving feature extraction via adversarial training. IEEE Trans. </a:t>
            </a:r>
            <a:r>
              <a:rPr lang="en-IN" sz="1600" dirty="0" err="1">
                <a:solidFill>
                  <a:srgbClr val="000000"/>
                </a:solidFill>
                <a:latin typeface="Times New Roman" panose="02020603050405020304" pitchFamily="18" charset="0"/>
                <a:ea typeface="Calibri" panose="020F0502020204030204" pitchFamily="34" charset="0"/>
              </a:rPr>
              <a:t>Knowl</a:t>
            </a:r>
            <a:r>
              <a:rPr lang="en-IN" sz="1600" dirty="0">
                <a:solidFill>
                  <a:srgbClr val="000000"/>
                </a:solidFill>
                <a:latin typeface="Times New Roman" panose="02020603050405020304" pitchFamily="18" charset="0"/>
                <a:ea typeface="Calibri" panose="020F0502020204030204" pitchFamily="34" charset="0"/>
              </a:rPr>
              <a:t>. Data Eng., 34(4):1967–1979, 2022.</a:t>
            </a:r>
          </a:p>
          <a:p>
            <a:pPr marL="457200" algn="just">
              <a:spcAft>
                <a:spcPts val="800"/>
              </a:spcAft>
            </a:pPr>
            <a:r>
              <a:rPr lang="en-IN" sz="1600" dirty="0">
                <a:solidFill>
                  <a:srgbClr val="000000"/>
                </a:solidFill>
                <a:latin typeface="Times New Roman" panose="02020603050405020304" pitchFamily="18" charset="0"/>
                <a:ea typeface="Calibri" panose="020F0502020204030204" pitchFamily="34" charset="0"/>
              </a:rPr>
              <a:t>[25] Bo Zhang, </a:t>
            </a:r>
            <a:r>
              <a:rPr lang="en-IN" sz="1600" dirty="0" err="1">
                <a:solidFill>
                  <a:srgbClr val="000000"/>
                </a:solidFill>
                <a:latin typeface="Times New Roman" panose="02020603050405020304" pitchFamily="18" charset="0"/>
                <a:ea typeface="Calibri" panose="020F0502020204030204" pitchFamily="34" charset="0"/>
              </a:rPr>
              <a:t>Hancheng</a:t>
            </a:r>
            <a:r>
              <a:rPr lang="en-IN" sz="1600" dirty="0">
                <a:solidFill>
                  <a:srgbClr val="000000"/>
                </a:solidFill>
                <a:latin typeface="Times New Roman" panose="02020603050405020304" pitchFamily="18" charset="0"/>
                <a:ea typeface="Calibri" panose="020F0502020204030204" pitchFamily="34" charset="0"/>
              </a:rPr>
              <a:t> Ye, Gang Yu, Bin Wang, Yike Wu, Jiayuan Fan, and Tao Chen. Sample-centric feature generation for semi-supervised few-shot learning. IEEE Trans. Image Process., 31:2309–2320, 2022. </a:t>
            </a:r>
          </a:p>
          <a:p>
            <a:pPr marL="457200" algn="just">
              <a:spcAft>
                <a:spcPts val="800"/>
              </a:spcAft>
            </a:pPr>
            <a:r>
              <a:rPr lang="en-IN" sz="1600" dirty="0">
                <a:solidFill>
                  <a:srgbClr val="000000"/>
                </a:solidFill>
                <a:latin typeface="Times New Roman" panose="02020603050405020304" pitchFamily="18" charset="0"/>
                <a:ea typeface="Calibri" panose="020F0502020204030204" pitchFamily="34" charset="0"/>
              </a:rPr>
              <a:t>[26] Jiajing Zhu, </a:t>
            </a:r>
            <a:r>
              <a:rPr lang="en-IN" sz="1600" dirty="0" err="1">
                <a:solidFill>
                  <a:srgbClr val="000000"/>
                </a:solidFill>
                <a:latin typeface="Times New Roman" panose="02020603050405020304" pitchFamily="18" charset="0"/>
                <a:ea typeface="Calibri" panose="020F0502020204030204" pitchFamily="34" charset="0"/>
              </a:rPr>
              <a:t>Yongguo</a:t>
            </a:r>
            <a:r>
              <a:rPr lang="en-IN" sz="1600" dirty="0">
                <a:solidFill>
                  <a:srgbClr val="000000"/>
                </a:solidFill>
                <a:latin typeface="Times New Roman" panose="02020603050405020304" pitchFamily="18" charset="0"/>
                <a:ea typeface="Calibri" panose="020F0502020204030204" pitchFamily="34" charset="0"/>
              </a:rPr>
              <a:t> Liu, </a:t>
            </a:r>
            <a:r>
              <a:rPr lang="en-IN" sz="1600" dirty="0" err="1">
                <a:solidFill>
                  <a:srgbClr val="000000"/>
                </a:solidFill>
                <a:latin typeface="Times New Roman" panose="02020603050405020304" pitchFamily="18" charset="0"/>
                <a:ea typeface="Calibri" panose="020F0502020204030204" pitchFamily="34" charset="0"/>
              </a:rPr>
              <a:t>Chuanbiao</a:t>
            </a:r>
            <a:r>
              <a:rPr lang="en-IN" sz="1600" dirty="0">
                <a:solidFill>
                  <a:srgbClr val="000000"/>
                </a:solidFill>
                <a:latin typeface="Times New Roman" panose="02020603050405020304" pitchFamily="18" charset="0"/>
                <a:ea typeface="Calibri" panose="020F0502020204030204" pitchFamily="34" charset="0"/>
              </a:rPr>
              <a:t> Wen, and </a:t>
            </a:r>
            <a:r>
              <a:rPr lang="en-IN" sz="1600" dirty="0" err="1">
                <a:solidFill>
                  <a:srgbClr val="000000"/>
                </a:solidFill>
                <a:latin typeface="Times New Roman" panose="02020603050405020304" pitchFamily="18" charset="0"/>
                <a:ea typeface="Calibri" panose="020F0502020204030204" pitchFamily="34" charset="0"/>
              </a:rPr>
              <a:t>Xindong</a:t>
            </a:r>
            <a:r>
              <a:rPr lang="en-IN" sz="1600" dirty="0">
                <a:solidFill>
                  <a:srgbClr val="000000"/>
                </a:solidFill>
                <a:latin typeface="Times New Roman" panose="02020603050405020304" pitchFamily="18" charset="0"/>
                <a:ea typeface="Calibri" panose="020F0502020204030204" pitchFamily="34" charset="0"/>
              </a:rPr>
              <a:t> Wu. DGDFS: dependence guided discriminative feature selection for predicting adverse drug-drug interaction. IEEE Trans. </a:t>
            </a:r>
            <a:r>
              <a:rPr lang="en-IN" sz="1600" dirty="0" err="1">
                <a:solidFill>
                  <a:srgbClr val="000000"/>
                </a:solidFill>
                <a:latin typeface="Times New Roman" panose="02020603050405020304" pitchFamily="18" charset="0"/>
                <a:ea typeface="Calibri" panose="020F0502020204030204" pitchFamily="34" charset="0"/>
              </a:rPr>
              <a:t>Knowl</a:t>
            </a:r>
            <a:r>
              <a:rPr lang="en-IN" sz="1600" dirty="0">
                <a:solidFill>
                  <a:srgbClr val="000000"/>
                </a:solidFill>
                <a:latin typeface="Times New Roman" panose="02020603050405020304" pitchFamily="18" charset="0"/>
                <a:ea typeface="Calibri" panose="020F0502020204030204" pitchFamily="34" charset="0"/>
              </a:rPr>
              <a:t>. Data Eng., 34(1):271–285, 2022</a:t>
            </a:r>
          </a:p>
        </p:txBody>
      </p:sp>
    </p:spTree>
    <p:extLst>
      <p:ext uri="{BB962C8B-B14F-4D97-AF65-F5344CB8AC3E}">
        <p14:creationId xmlns:p14="http://schemas.microsoft.com/office/powerpoint/2010/main" val="31941117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FAE99-DF84-C4E3-0773-6E79BA3D34ED}"/>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0EBA75AB-9AD5-4DFE-B772-E3B9016279ED}"/>
              </a:ext>
            </a:extLst>
          </p:cNvPr>
          <p:cNvGrpSpPr/>
          <p:nvPr/>
        </p:nvGrpSpPr>
        <p:grpSpPr>
          <a:xfrm>
            <a:off x="1080" y="30152"/>
            <a:ext cx="12184920" cy="868184"/>
            <a:chOff x="1080" y="30152"/>
            <a:chExt cx="12184920" cy="868184"/>
          </a:xfrm>
        </p:grpSpPr>
        <p:pic>
          <p:nvPicPr>
            <p:cNvPr id="9" name="Picture 8">
              <a:extLst>
                <a:ext uri="{FF2B5EF4-FFF2-40B4-BE49-F238E27FC236}">
                  <a16:creationId xmlns:a16="http://schemas.microsoft.com/office/drawing/2014/main" id="{EB64CDFE-C3EC-5F79-E401-D99AB053399B}"/>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r="75162" b="9694"/>
            <a:stretch/>
          </p:blipFill>
          <p:spPr>
            <a:xfrm>
              <a:off x="38086" y="30152"/>
              <a:ext cx="721569" cy="843190"/>
            </a:xfrm>
            <a:prstGeom prst="rect">
              <a:avLst/>
            </a:prstGeom>
          </p:spPr>
        </p:pic>
        <p:sp>
          <p:nvSpPr>
            <p:cNvPr id="12" name="Straight Arrow Connector 2">
              <a:extLst>
                <a:ext uri="{FF2B5EF4-FFF2-40B4-BE49-F238E27FC236}">
                  <a16:creationId xmlns:a16="http://schemas.microsoft.com/office/drawing/2014/main" id="{8551C407-865E-18A5-89F6-A5C8BE5F335A}"/>
                </a:ext>
              </a:extLst>
            </p:cNvPr>
            <p:cNvSpPr/>
            <p:nvPr/>
          </p:nvSpPr>
          <p:spPr>
            <a:xfrm flipV="1">
              <a:off x="1080" y="892216"/>
              <a:ext cx="12184920" cy="6120"/>
            </a:xfrm>
            <a:custGeom>
              <a:avLst/>
              <a:gdLst/>
              <a:ahLst/>
              <a:cxnLst/>
              <a:rect l="l" t="t" r="r" b="b"/>
              <a:pathLst>
                <a:path w="21600" h="21600">
                  <a:moveTo>
                    <a:pt x="0" y="0"/>
                  </a:moveTo>
                  <a:lnTo>
                    <a:pt x="21600" y="21600"/>
                  </a:lnTo>
                </a:path>
              </a:pathLst>
            </a:custGeom>
            <a:ln w="38100">
              <a:solidFill>
                <a:srgbClr val="FD9D39"/>
              </a:solidFill>
            </a:ln>
          </p:spPr>
          <p:style>
            <a:lnRef idx="1">
              <a:schemeClr val="accent2"/>
            </a:lnRef>
            <a:fillRef idx="0">
              <a:schemeClr val="accent2"/>
            </a:fillRef>
            <a:effectRef idx="0">
              <a:schemeClr val="accent2"/>
            </a:effectRef>
            <a:fontRef idx="minor">
              <a:schemeClr val="tx1"/>
            </a:fontRef>
          </p:style>
          <p:txBody>
            <a:bodyPr/>
            <a:lstStyle/>
            <a:p>
              <a:endParaRPr lang="en-US">
                <a:latin typeface="Arial" panose="020B0604020202020204" pitchFamily="34" charset="0"/>
                <a:cs typeface="Arial" panose="020B0604020202020204" pitchFamily="34" charset="0"/>
              </a:endParaRPr>
            </a:p>
          </p:txBody>
        </p:sp>
      </p:grpSp>
      <p:sp>
        <p:nvSpPr>
          <p:cNvPr id="5" name="Slide Number Placeholder 5">
            <a:extLst>
              <a:ext uri="{FF2B5EF4-FFF2-40B4-BE49-F238E27FC236}">
                <a16:creationId xmlns:a16="http://schemas.microsoft.com/office/drawing/2014/main" id="{3EB6BFE7-98C0-39E5-6BFC-30D88C0E253E}"/>
              </a:ext>
            </a:extLst>
          </p:cNvPr>
          <p:cNvSpPr>
            <a:spLocks noGrp="1"/>
          </p:cNvSpPr>
          <p:nvPr>
            <p:ph type="sldNum" sz="quarter" idx="12"/>
          </p:nvPr>
        </p:nvSpPr>
        <p:spPr>
          <a:xfrm>
            <a:off x="11282291" y="6442860"/>
            <a:ext cx="732692" cy="392073"/>
          </a:xfrm>
        </p:spPr>
        <p:txBody>
          <a:bodyPr/>
          <a:lstStyle/>
          <a:p>
            <a:fld id="{4A9795D8-83FD-4522-A0A1-E4DAAF0E10D3}" type="slidenum">
              <a:rPr lang="en-IN" sz="1400" smtClean="0">
                <a:solidFill>
                  <a:schemeClr val="tx1"/>
                </a:solidFill>
                <a:latin typeface="Arial" panose="020B0604020202020204" pitchFamily="34" charset="0"/>
                <a:cs typeface="Arial" panose="020B0604020202020204" pitchFamily="34" charset="0"/>
              </a:rPr>
              <a:t>34</a:t>
            </a:fld>
            <a:endParaRPr lang="en-IN" sz="1400" dirty="0">
              <a:solidFill>
                <a:schemeClr val="tx1"/>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2340E856-F876-5DDE-54C1-3C847414DDCC}"/>
              </a:ext>
            </a:extLst>
          </p:cNvPr>
          <p:cNvSpPr txBox="1"/>
          <p:nvPr/>
        </p:nvSpPr>
        <p:spPr>
          <a:xfrm>
            <a:off x="3044687" y="2567226"/>
            <a:ext cx="6102626" cy="1015663"/>
          </a:xfrm>
          <a:prstGeom prst="rect">
            <a:avLst/>
          </a:prstGeom>
          <a:noFill/>
        </p:spPr>
        <p:txBody>
          <a:bodyPr wrap="square" anchor="ctr">
            <a:spAutoFit/>
          </a:bodyPr>
          <a:lstStyle/>
          <a:p>
            <a:pPr algn="ctr"/>
            <a:r>
              <a:rPr lang="en-US" sz="4000" dirty="0">
                <a:latin typeface="Times New Roman" panose="02020603050405020304" pitchFamily="18" charset="0"/>
                <a:cs typeface="Times New Roman" panose="02020603050405020304" pitchFamily="18" charset="0"/>
              </a:rPr>
              <a:t>Thank You</a:t>
            </a:r>
            <a:endParaRPr lang="en-IN" sz="4000" dirty="0">
              <a:latin typeface="Times New Roman" panose="02020603050405020304" pitchFamily="18" charset="0"/>
              <a:cs typeface="Times New Roman" panose="02020603050405020304" pitchFamily="18" charset="0"/>
              <a:hlinkClick r:id="rId3"/>
            </a:endParaRP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14088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38457</TotalTime>
  <Words>4874</Words>
  <Application>Microsoft Office PowerPoint</Application>
  <PresentationFormat>Widescreen</PresentationFormat>
  <Paragraphs>504</Paragraphs>
  <Slides>34</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Aptos</vt:lpstr>
      <vt:lpstr>Arial</vt:lpstr>
      <vt:lpstr>Calibri</vt:lpstr>
      <vt:lpstr>Calibri Light</vt:lpstr>
      <vt:lpstr>Cambria</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Bhavya B</dc:creator>
  <cp:lastModifiedBy>Abhishek Hupele</cp:lastModifiedBy>
  <cp:revision>874</cp:revision>
  <dcterms:created xsi:type="dcterms:W3CDTF">2024-05-18T05:42:47Z</dcterms:created>
  <dcterms:modified xsi:type="dcterms:W3CDTF">2026-03-17T09:26:45Z</dcterms:modified>
</cp:coreProperties>
</file>