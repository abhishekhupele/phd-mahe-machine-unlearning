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6" r:id="rId3"/>
    <p:sldId id="294" r:id="rId4"/>
    <p:sldId id="296" r:id="rId5"/>
    <p:sldId id="289" r:id="rId6"/>
    <p:sldId id="288" r:id="rId7"/>
    <p:sldId id="274" r:id="rId8"/>
    <p:sldId id="293" r:id="rId9"/>
    <p:sldId id="282" r:id="rId10"/>
    <p:sldId id="284" r:id="rId11"/>
    <p:sldId id="285" r:id="rId12"/>
    <p:sldId id="286" r:id="rId13"/>
    <p:sldId id="266" r:id="rId14"/>
    <p:sldId id="267" r:id="rId15"/>
    <p:sldId id="297" r:id="rId16"/>
    <p:sldId id="298" r:id="rId17"/>
    <p:sldId id="269" r:id="rId18"/>
    <p:sldId id="279" r:id="rId19"/>
    <p:sldId id="291" r:id="rId20"/>
    <p:sldId id="29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1A3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2" autoAdjust="0"/>
    <p:restoredTop sz="94577" autoAdjust="0"/>
  </p:normalViewPr>
  <p:slideViewPr>
    <p:cSldViewPr snapToGrid="0" showGuides="1">
      <p:cViewPr varScale="1">
        <p:scale>
          <a:sx n="102" d="100"/>
          <a:sy n="102" d="100"/>
        </p:scale>
        <p:origin x="976" y="176"/>
      </p:cViewPr>
      <p:guideLst>
        <p:guide orient="horz" pos="3385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C6DDA-EC43-4BFF-B7B8-190BECB9F21C}" type="datetimeFigureOut">
              <a:rPr lang="en-IN" smtClean="0"/>
              <a:t>18/07/24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323AD-D4C6-4860-8944-ADA84F789B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00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F3FFD-6421-0BC4-88F2-E8AC00EC0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BA723-4FE8-DFB3-7EC3-BFB537206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EFA2C-D327-A1CC-7115-93AC0820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8CCA-F578-7170-2DD9-3D9AF407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FADA1-F7F4-4450-940B-66608F1F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525969-0A34-DF0B-964B-9E6AD8797D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3" b="9694"/>
          <a:stretch/>
        </p:blipFill>
        <p:spPr>
          <a:xfrm>
            <a:off x="9286875" y="0"/>
            <a:ext cx="2905125" cy="8431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EBE7EC-2AB0-202E-B391-44F7A87EA329}"/>
              </a:ext>
            </a:extLst>
          </p:cNvPr>
          <p:cNvCxnSpPr>
            <a:cxnSpLocks/>
          </p:cNvCxnSpPr>
          <p:nvPr userDrawn="1"/>
        </p:nvCxnSpPr>
        <p:spPr>
          <a:xfrm>
            <a:off x="838200" y="886409"/>
            <a:ext cx="10515600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7C5F899-3DB1-3E07-B77B-1036FF5AB8BF}"/>
              </a:ext>
            </a:extLst>
          </p:cNvPr>
          <p:cNvSpPr/>
          <p:nvPr userDrawn="1"/>
        </p:nvSpPr>
        <p:spPr>
          <a:xfrm>
            <a:off x="0" y="6428792"/>
            <a:ext cx="12192000" cy="42920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    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592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96D0-69C1-A146-4C49-F3E462DF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E2D8-F99E-CDF8-23DA-D9757CD6F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C3A61-57E3-6142-E438-56E6BB4D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16CB1-B4F4-3FED-ED90-F3CAFA9C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2A5AB-694D-6A36-7AAC-F116E75C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DC8FC3-3B81-1F59-8DD8-39B9112FFB21}"/>
              </a:ext>
            </a:extLst>
          </p:cNvPr>
          <p:cNvCxnSpPr>
            <a:cxnSpLocks/>
          </p:cNvCxnSpPr>
          <p:nvPr userDrawn="1"/>
        </p:nvCxnSpPr>
        <p:spPr>
          <a:xfrm>
            <a:off x="838200" y="886409"/>
            <a:ext cx="10515600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2A70A2C-93DD-FC21-B6C8-35BF51267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3" b="9694"/>
          <a:stretch/>
        </p:blipFill>
        <p:spPr>
          <a:xfrm>
            <a:off x="9286875" y="0"/>
            <a:ext cx="2905125" cy="8431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48CF8E-9E9A-5AFD-B84A-F6E159B6421A}"/>
              </a:ext>
            </a:extLst>
          </p:cNvPr>
          <p:cNvSpPr/>
          <p:nvPr userDrawn="1"/>
        </p:nvSpPr>
        <p:spPr>
          <a:xfrm>
            <a:off x="0" y="6428792"/>
            <a:ext cx="12192000" cy="42920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    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18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DF38-26EE-1CF3-83A6-89734BCB7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32331-9404-0A87-962D-1ED739D6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F0E6B-0DFE-8A06-415B-292C6BB4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9CC43-C986-7E98-EB2A-09BAEB29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E99AE-DF6D-21E3-EFAD-DEB40CC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8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E5FD-A00E-4A03-DCD0-835AFD41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4C61-8732-B15B-0B4E-9F1EA1491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45A3E-421A-C9E5-AEFE-5198E4D6A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D9584-8B0D-29B4-39E8-5E1179D4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28F0C-F569-C595-61C3-4B5BA1E3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C42D7-A3CE-ABA2-351A-F729EE92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10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1CE2-A701-0B74-EF99-44768578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E375B-DF98-BD18-7776-CB61F4B2A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47425-43DD-1FE9-773F-C6834E32A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72BD0-84AE-494C-5572-7AD24F3AA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E251E-763B-E470-9AB0-4FB63D0FA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75951-64E1-103D-6F0D-54554F5C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088D1-62BF-44A7-A712-1AEC049F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49D8C-495B-F0E1-3093-40AC6ADD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73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DD67-8853-D863-D56B-48416106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2F676-7869-E046-8F15-52887D4C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1BE55-527D-258E-166C-26C674A12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5DDD3-504C-C229-F806-4A451A33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14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6099D-4E2C-D6BD-FD83-3A458998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6FEAE-69CB-E862-4C35-0E38E27E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B2282-FD2E-4E61-99EA-9E5B31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10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3ABA-3E9A-8CF4-3218-0ECD9CA8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EF167-A762-D097-AA35-8D0AB9A0B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568E5-7B2B-0B65-0E05-FD22DB537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87988-C3FC-C4E8-4EED-9DAB8A6D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96F33-517B-13A7-8D6F-E4A19DBD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8ACD-7A84-A622-156C-9F66D049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4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3B68-B5F6-3541-DAAD-03437256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13C991-DFB1-042F-E524-DB71B6806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8B70C-7EAF-75D3-2656-72D9D08F4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EF521-CFA3-5556-769E-3EED465F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7C24-FBBA-B4DD-1B42-CD671017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A4C8B-B562-13D1-004C-17C58407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46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41DA9-AD34-0FFB-5774-9D0B6771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52225-2A8A-087C-E85D-3A8DAB836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0B07-B91A-43C9-8861-178C9842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152B7-F69D-9BA2-DAAC-2ABF2711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8B4FA-6967-AE45-B69D-530FF079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39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8CAE2-907F-24BC-D9CB-F8A24314F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15A29-E9EE-2467-B11B-0B1D08BF2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D7541-B633-9D0E-588A-9CCA0891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A5740-BB89-0D72-449A-B86EA1E3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73FE4-A134-8C0F-E327-86B2CD26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48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8C858-6053-E6E5-BA16-11D1E2A4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0DFCB-2517-751C-FDA1-C6BDC919D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868CF-E733-6B21-54EA-1BD0051A6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31BD-4280-7BF5-84BB-3C22E5359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B5DAE-52BA-8DC8-4B1F-A8521EC9A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795D8-83FD-4522-A0A1-E4DAAF0E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20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nk.springer.com/chapter/10.1007/978-1-4939-1200-1_1" TargetMode="External"/><Relationship Id="rId4" Type="http://schemas.openxmlformats.org/officeDocument/2006/relationships/hyperlink" Target="https://ilts.org/insights/couinauds-segmental-anatomy-of-the-liver-and-proposed-classification-of-pediatric-liver-tumor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ast.org/resources-detail/injury-scoring-scale" TargetMode="External"/><Relationship Id="rId3" Type="http://schemas.openxmlformats.org/officeDocument/2006/relationships/hyperlink" Target="https://doi.org/10.1055/s-0041-1724014" TargetMode="External"/><Relationship Id="rId7" Type="http://schemas.openxmlformats.org/officeDocument/2006/relationships/hyperlink" Target="https://doi.org/10.1148/rg.251045079" TargetMode="External"/><Relationship Id="rId2" Type="http://schemas.openxmlformats.org/officeDocument/2006/relationships/hyperlink" Target="https://www.ncbi.nlm.nih.gov/books/NBK513236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6959/879/385" TargetMode="External"/><Relationship Id="rId5" Type="http://schemas.openxmlformats.org/officeDocument/2006/relationships/hyperlink" Target="https://www.ncbi.nlm.nih.gov/books/NBK535438/" TargetMode="External"/><Relationship Id="rId4" Type="http://schemas.openxmlformats.org/officeDocument/2006/relationships/hyperlink" Target="https://doi.org/10.1016/j.cnc.2022.04.008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8/rg.251045079" TargetMode="External"/><Relationship Id="rId7" Type="http://schemas.openxmlformats.org/officeDocument/2006/relationships/hyperlink" Target="https://doi.org/10.1007/s00261-020-02892-x" TargetMode="External"/><Relationship Id="rId2" Type="http://schemas.openxmlformats.org/officeDocument/2006/relationships/hyperlink" Target="https://doi.org/10.1186/s13017-020-00302-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86/s40001-022-00943-1" TargetMode="External"/><Relationship Id="rId5" Type="http://schemas.openxmlformats.org/officeDocument/2006/relationships/hyperlink" Target="https://doi.org/10.1186/s12880-022-00759-9" TargetMode="External"/><Relationship Id="rId4" Type="http://schemas.openxmlformats.org/officeDocument/2006/relationships/hyperlink" Target="https://doi.org/10.3390/jpm14060572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ipal.edu/mu/academics/phd/admissions---phd-program/full-time-phd-with-dr-tma-pai-scholarship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56C238-E7CD-50EE-C20C-02B1C3C0810D}"/>
              </a:ext>
            </a:extLst>
          </p:cNvPr>
          <p:cNvSpPr txBox="1"/>
          <p:nvPr/>
        </p:nvSpPr>
        <p:spPr>
          <a:xfrm>
            <a:off x="-14" y="84319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CB6EE5-8B8C-6F79-C7AC-F02C24B6EDB1}"/>
              </a:ext>
            </a:extLst>
          </p:cNvPr>
          <p:cNvSpPr/>
          <p:nvPr/>
        </p:nvSpPr>
        <p:spPr>
          <a:xfrm>
            <a:off x="3243453" y="2163641"/>
            <a:ext cx="57050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Cauvery K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 No.: 230900225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Manipal Institute of Technology,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3ECF9-C73A-48FD-319C-ADCEAF5FCA80}"/>
              </a:ext>
            </a:extLst>
          </p:cNvPr>
          <p:cNvSpPr txBox="1"/>
          <p:nvPr/>
        </p:nvSpPr>
        <p:spPr>
          <a:xfrm flipH="1">
            <a:off x="38086" y="4970866"/>
            <a:ext cx="502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Sanjay Singh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(Co-Guide)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Communication Technology,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Manipal Institute of Technology,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805A23-E79D-C3AA-0483-FCBF1B532C33}"/>
              </a:ext>
            </a:extLst>
          </p:cNvPr>
          <p:cNvSpPr/>
          <p:nvPr/>
        </p:nvSpPr>
        <p:spPr>
          <a:xfrm>
            <a:off x="7124716" y="5050408"/>
            <a:ext cx="47497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Prakashini K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&amp; Head (Co-Guide)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Radiodiagnosis,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Kasturba Medical College,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B357E-F3D3-9E74-EDA1-3E59F5248E7B}"/>
              </a:ext>
            </a:extLst>
          </p:cNvPr>
          <p:cNvSpPr txBox="1"/>
          <p:nvPr/>
        </p:nvSpPr>
        <p:spPr>
          <a:xfrm>
            <a:off x="2552686" y="1508586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Pre-Proposal Presentation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2AC434-5DCE-8421-B231-4354F196EFE2}"/>
              </a:ext>
            </a:extLst>
          </p:cNvPr>
          <p:cNvSpPr txBox="1"/>
          <p:nvPr/>
        </p:nvSpPr>
        <p:spPr>
          <a:xfrm>
            <a:off x="2744635" y="3507117"/>
            <a:ext cx="670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2AEAA8-BF52-6764-0DB0-4EA5E9591E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3" b="9694"/>
          <a:stretch/>
        </p:blipFill>
        <p:spPr>
          <a:xfrm>
            <a:off x="9286875" y="0"/>
            <a:ext cx="2905125" cy="8431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9EAFD0-30F0-67AA-DF85-F53353707270}"/>
              </a:ext>
            </a:extLst>
          </p:cNvPr>
          <p:cNvSpPr/>
          <p:nvPr/>
        </p:nvSpPr>
        <p:spPr>
          <a:xfrm>
            <a:off x="0" y="6428792"/>
            <a:ext cx="12192000" cy="42920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   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9D8F5-5282-EC7B-6F49-AE55545A6448}"/>
              </a:ext>
            </a:extLst>
          </p:cNvPr>
          <p:cNvSpPr txBox="1"/>
          <p:nvPr/>
        </p:nvSpPr>
        <p:spPr>
          <a:xfrm>
            <a:off x="5484384" y="6470616"/>
            <a:ext cx="1223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 12,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891EB-7439-3E27-A229-497A81D341F1}"/>
              </a:ext>
            </a:extLst>
          </p:cNvPr>
          <p:cNvSpPr txBox="1"/>
          <p:nvPr/>
        </p:nvSpPr>
        <p:spPr>
          <a:xfrm flipH="1">
            <a:off x="3581382" y="4019596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P.C. Siddalingaswamy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(Guide)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Manipal Institute of Technology, Manipal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328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2C3015D-2D37-0225-19B9-8CC1661B7C1C}"/>
              </a:ext>
            </a:extLst>
          </p:cNvPr>
          <p:cNvSpPr txBox="1"/>
          <p:nvPr/>
        </p:nvSpPr>
        <p:spPr>
          <a:xfrm>
            <a:off x="868018" y="928102"/>
            <a:ext cx="10485782" cy="5538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to Objectives Mapping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Work Details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Plan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6BDC76-00B2-735B-7858-B39DDFBB5276}"/>
              </a:ext>
            </a:extLst>
          </p:cNvPr>
          <p:cNvSpPr txBox="1"/>
          <p:nvPr/>
        </p:nvSpPr>
        <p:spPr>
          <a:xfrm>
            <a:off x="868018" y="366782"/>
            <a:ext cx="846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33551-B682-D11F-D891-1391D80E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55740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7C3C2-51C3-C63F-8035-14B9A7B45C5E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27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949C245-0D7A-5D9F-8E09-5712E993F6FD}"/>
              </a:ext>
            </a:extLst>
          </p:cNvPr>
          <p:cNvSpPr txBox="1"/>
          <p:nvPr/>
        </p:nvSpPr>
        <p:spPr>
          <a:xfrm>
            <a:off x="838200" y="367532"/>
            <a:ext cx="2552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C78FD-25B2-DD34-B4A4-096EAF20A5B3}"/>
              </a:ext>
            </a:extLst>
          </p:cNvPr>
          <p:cNvSpPr txBox="1"/>
          <p:nvPr/>
        </p:nvSpPr>
        <p:spPr>
          <a:xfrm>
            <a:off x="838200" y="899352"/>
            <a:ext cx="105156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Trauma [1]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Injury to liver due to external forces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~5% of all trauma admissions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cause of death in severe abdominal trauma, 10-15% mortality rate</a:t>
            </a:r>
          </a:p>
          <a:p>
            <a:pPr lvl="1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of injury [2,3]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injured organ in blunt trauma and in penetrating trauma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Blunt trauma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35-45% of abdominal trauma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edestrian accidents, falls, sports, fights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Penetrating trauma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SWs and 30% GSWs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Stabbing, gunshot, shear forces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lobe of the liver most affected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§"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§"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FE97DE5-B1DF-FEA5-8A55-A70D00AD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3138" y="6469123"/>
            <a:ext cx="310662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0BE6C-A515-1992-9D51-3C265C7FEE98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60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949C245-0D7A-5D9F-8E09-5712E993F6FD}"/>
              </a:ext>
            </a:extLst>
          </p:cNvPr>
          <p:cNvSpPr txBox="1"/>
          <p:nvPr/>
        </p:nvSpPr>
        <p:spPr>
          <a:xfrm>
            <a:off x="838200" y="367532"/>
            <a:ext cx="2552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Introduction-II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C78FD-25B2-DD34-B4A4-096EAF20A5B3}"/>
              </a:ext>
            </a:extLst>
          </p:cNvPr>
          <p:cNvSpPr txBox="1"/>
          <p:nvPr/>
        </p:nvSpPr>
        <p:spPr>
          <a:xfrm>
            <a:off x="838199" y="952533"/>
            <a:ext cx="11244235" cy="5449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liver is prone to trauma? [4,5,6]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argest peritoneal abdominal organ in the human body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and Size: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Situated in the RUQ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effectLst/>
                <a:latin typeface="Times"/>
              </a:rPr>
              <a:t>~2% total body mass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position (falciform, coronary, triangular ligaments)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Fragility: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Covered by thin fibrous capsule (Glisson capsule)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Fragile parenchyma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Vascularity: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blood supply 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hepatic artery (25%), portal vein (75%)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blood flow, haemorrhage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Biliary tree disruption</a:t>
            </a:r>
          </a:p>
        </p:txBody>
      </p:sp>
      <p:pic>
        <p:nvPicPr>
          <p:cNvPr id="12" name="Picture 11" descr="A diagram of the liver&#10;&#10;Description automatically generated">
            <a:extLst>
              <a:ext uri="{FF2B5EF4-FFF2-40B4-BE49-F238E27FC236}">
                <a16:creationId xmlns:a16="http://schemas.microsoft.com/office/drawing/2014/main" id="{61BBF74B-77E3-F604-1AEC-A0CA0AF42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145" y="977876"/>
            <a:ext cx="4272108" cy="2090890"/>
          </a:xfrm>
          <a:prstGeom prst="rect">
            <a:avLst/>
          </a:prstGeom>
        </p:spPr>
      </p:pic>
      <p:pic>
        <p:nvPicPr>
          <p:cNvPr id="16" name="Picture 15" descr="A diagram of the human body&#10;&#10;Description automatically generated">
            <a:extLst>
              <a:ext uri="{FF2B5EF4-FFF2-40B4-BE49-F238E27FC236}">
                <a16:creationId xmlns:a16="http://schemas.microsoft.com/office/drawing/2014/main" id="{596F4D1F-65CE-D5CB-C2AE-A75B11D76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231" y="3450215"/>
            <a:ext cx="4076022" cy="2404635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351887D-921A-5AED-DD7B-CA4DB9EA8CEA}"/>
              </a:ext>
            </a:extLst>
          </p:cNvPr>
          <p:cNvSpPr txBox="1">
            <a:spLocks/>
          </p:cNvSpPr>
          <p:nvPr/>
        </p:nvSpPr>
        <p:spPr>
          <a:xfrm>
            <a:off x="6775450" y="5918499"/>
            <a:ext cx="5306984" cy="499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1.2: Liver segmented along 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Canauid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://ilts.org/insights/couinauds-segmental-anatomy-of-the-liver-and-proposed-classification-of-pediatric-liver-tumors/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4019A9E5-166B-2500-7A8E-87E0AB98B806}"/>
              </a:ext>
            </a:extLst>
          </p:cNvPr>
          <p:cNvSpPr txBox="1">
            <a:spLocks/>
          </p:cNvSpPr>
          <p:nvPr/>
        </p:nvSpPr>
        <p:spPr>
          <a:xfrm>
            <a:off x="6775450" y="2923274"/>
            <a:ext cx="541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1.1: Liver Anatomy. </a:t>
            </a:r>
          </a:p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0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://link.springer.com/chapter/10.1007/978-1-4939-1200-1_1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FE97DE5-B1DF-FEA5-8A55-A70D00AD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3138" y="6469123"/>
            <a:ext cx="310662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871C9-7E2B-17C3-AF44-0F5DA3F58FF4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1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D6B6A-411C-8C4F-7E54-15F1385A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21911"/>
            <a:ext cx="10515600" cy="365125"/>
          </a:xfrm>
        </p:spPr>
        <p:txBody>
          <a:bodyPr/>
          <a:lstStyle/>
          <a:p>
            <a:pPr algn="ctr"/>
            <a:r>
              <a:rPr lang="en-I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1.3: Different Liver Injuries Types (a), (b), (c), (d), (e), (f) [7].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4B5D-285C-9C2A-61C1-DBD690BC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3138" y="6469123"/>
            <a:ext cx="310662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9E628-2922-4EBC-7117-DEB1C9D97D32}"/>
              </a:ext>
            </a:extLst>
          </p:cNvPr>
          <p:cNvSpPr txBox="1"/>
          <p:nvPr/>
        </p:nvSpPr>
        <p:spPr>
          <a:xfrm>
            <a:off x="838200" y="367532"/>
            <a:ext cx="6921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Introduction-III: Liver Trauma Injuries</a:t>
            </a:r>
            <a:endParaRPr lang="en-IN" sz="2800" dirty="0"/>
          </a:p>
        </p:txBody>
      </p:sp>
      <p:pic>
        <p:nvPicPr>
          <p:cNvPr id="2" name="Main graphic">
            <a:extLst>
              <a:ext uri="{FF2B5EF4-FFF2-40B4-BE49-F238E27FC236}">
                <a16:creationId xmlns:a16="http://schemas.microsoft.com/office/drawing/2014/main" id="{C0847433-C771-9A57-2791-95A84F42D86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45236" y="945613"/>
            <a:ext cx="3035300" cy="2064287"/>
          </a:xfrm>
          <a:prstGeom prst="rect">
            <a:avLst/>
          </a:prstGeom>
          <a:ln>
            <a:noFill/>
          </a:ln>
        </p:spPr>
      </p:pic>
      <p:pic>
        <p:nvPicPr>
          <p:cNvPr id="3" name="Main graphic">
            <a:extLst>
              <a:ext uri="{FF2B5EF4-FFF2-40B4-BE49-F238E27FC236}">
                <a16:creationId xmlns:a16="http://schemas.microsoft.com/office/drawing/2014/main" id="{B62F854A-3C74-943A-0073-8A1040FED76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580107" y="956432"/>
            <a:ext cx="3031783" cy="2042647"/>
          </a:xfrm>
          <a:prstGeom prst="rect">
            <a:avLst/>
          </a:prstGeom>
          <a:ln>
            <a:noFill/>
          </a:ln>
        </p:spPr>
      </p:pic>
      <p:pic>
        <p:nvPicPr>
          <p:cNvPr id="8" name="Main graphic">
            <a:extLst>
              <a:ext uri="{FF2B5EF4-FFF2-40B4-BE49-F238E27FC236}">
                <a16:creationId xmlns:a16="http://schemas.microsoft.com/office/drawing/2014/main" id="{56C80BF1-1447-85FC-DC72-6A5E223A607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8307947" y="956432"/>
            <a:ext cx="3038817" cy="2064287"/>
          </a:xfrm>
          <a:prstGeom prst="rect">
            <a:avLst/>
          </a:prstGeom>
          <a:ln>
            <a:noFill/>
          </a:ln>
        </p:spPr>
      </p:pic>
      <p:pic>
        <p:nvPicPr>
          <p:cNvPr id="9" name="Main graphic">
            <a:extLst>
              <a:ext uri="{FF2B5EF4-FFF2-40B4-BE49-F238E27FC236}">
                <a16:creationId xmlns:a16="http://schemas.microsoft.com/office/drawing/2014/main" id="{027AE2FD-C223-8239-9F5A-E5897B5E3A8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38200" y="3544599"/>
            <a:ext cx="3035300" cy="2064287"/>
          </a:xfrm>
          <a:prstGeom prst="rect">
            <a:avLst/>
          </a:prstGeom>
          <a:ln>
            <a:noFill/>
          </a:ln>
        </p:spPr>
      </p:pic>
      <p:pic>
        <p:nvPicPr>
          <p:cNvPr id="10" name="Main graphic">
            <a:extLst>
              <a:ext uri="{FF2B5EF4-FFF2-40B4-BE49-F238E27FC236}">
                <a16:creationId xmlns:a16="http://schemas.microsoft.com/office/drawing/2014/main" id="{B918795B-56E0-D2F4-033F-B017933562D6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4580107" y="3533777"/>
            <a:ext cx="3035300" cy="2064287"/>
          </a:xfrm>
          <a:prstGeom prst="rect">
            <a:avLst/>
          </a:prstGeom>
          <a:ln>
            <a:noFill/>
          </a:ln>
        </p:spPr>
      </p:pic>
      <p:pic>
        <p:nvPicPr>
          <p:cNvPr id="13" name="Main graphic">
            <a:extLst>
              <a:ext uri="{FF2B5EF4-FFF2-40B4-BE49-F238E27FC236}">
                <a16:creationId xmlns:a16="http://schemas.microsoft.com/office/drawing/2014/main" id="{C0A4B8C2-8218-286F-C1C5-765B5F7E5A68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8307947" y="3542266"/>
            <a:ext cx="3031783" cy="2075109"/>
          </a:xfrm>
          <a:prstGeom prst="rect">
            <a:avLst/>
          </a:prstGeom>
          <a:ln>
            <a:noFill/>
          </a:ln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D369A5E-55C6-8E2F-CD21-24B4F8DF5E43}"/>
              </a:ext>
            </a:extLst>
          </p:cNvPr>
          <p:cNvSpPr txBox="1">
            <a:spLocks/>
          </p:cNvSpPr>
          <p:nvPr/>
        </p:nvSpPr>
        <p:spPr>
          <a:xfrm>
            <a:off x="852270" y="3095543"/>
            <a:ext cx="3021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Lacerations (arrow).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13AC915-56EA-FF67-0E63-0B3124EF3F4A}"/>
              </a:ext>
            </a:extLst>
          </p:cNvPr>
          <p:cNvSpPr txBox="1">
            <a:spLocks/>
          </p:cNvSpPr>
          <p:nvPr/>
        </p:nvSpPr>
        <p:spPr>
          <a:xfrm>
            <a:off x="4580106" y="3057732"/>
            <a:ext cx="3021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Subcapsular Hematoma (arrow).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C95F32C-6FCB-9DF4-D04E-EC0219303F17}"/>
              </a:ext>
            </a:extLst>
          </p:cNvPr>
          <p:cNvSpPr txBox="1">
            <a:spLocks/>
          </p:cNvSpPr>
          <p:nvPr/>
        </p:nvSpPr>
        <p:spPr>
          <a:xfrm>
            <a:off x="8307947" y="3095543"/>
            <a:ext cx="3031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Intraparenchymal Hematoma (arrow), Subcapsular Hematoma (arrowhead).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A71BF958-BFD2-DAA9-A057-5B9214793ECF}"/>
              </a:ext>
            </a:extLst>
          </p:cNvPr>
          <p:cNvSpPr txBox="1">
            <a:spLocks/>
          </p:cNvSpPr>
          <p:nvPr/>
        </p:nvSpPr>
        <p:spPr>
          <a:xfrm>
            <a:off x="848753" y="5701901"/>
            <a:ext cx="3031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Hepatic vein injury: Active bleeding within intraparenchymal hematoma.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B8CF341-BCCE-CA39-55BE-5BE80D1F6665}"/>
              </a:ext>
            </a:extLst>
          </p:cNvPr>
          <p:cNvSpPr txBox="1">
            <a:spLocks/>
          </p:cNvSpPr>
          <p:nvPr/>
        </p:nvSpPr>
        <p:spPr>
          <a:xfrm>
            <a:off x="4580106" y="5598064"/>
            <a:ext cx="3031783" cy="561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(e) Hepatic venous injury: Lacerations extending to Inferior Vana Cava (IVC) and cutoff of right hepatic venous drainage (arrow). </a:t>
            </a:r>
          </a:p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9A269697-2008-43A5-030F-96716EE10BD2}"/>
              </a:ext>
            </a:extLst>
          </p:cNvPr>
          <p:cNvSpPr txBox="1">
            <a:spLocks/>
          </p:cNvSpPr>
          <p:nvPr/>
        </p:nvSpPr>
        <p:spPr>
          <a:xfrm>
            <a:off x="8222075" y="5701899"/>
            <a:ext cx="30317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 Biliary duct injury: Biloma (arrow),         pseudoaneurysm (arrowhead). </a:t>
            </a:r>
          </a:p>
          <a:p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C4963-BFAA-4573-0FA9-95C015CA2437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190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4B5D-285C-9C2A-61C1-DBD690BC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3138" y="6469123"/>
            <a:ext cx="310662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9E628-2922-4EBC-7117-DEB1C9D97D32}"/>
              </a:ext>
            </a:extLst>
          </p:cNvPr>
          <p:cNvSpPr txBox="1"/>
          <p:nvPr/>
        </p:nvSpPr>
        <p:spPr>
          <a:xfrm>
            <a:off x="838199" y="367532"/>
            <a:ext cx="82072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Introduction-IV: AAST-Liver Injury Classification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2C086A-3B7E-968F-FB4F-162A71CF8FA1}"/>
              </a:ext>
            </a:extLst>
          </p:cNvPr>
          <p:cNvSpPr txBox="1"/>
          <p:nvPr/>
        </p:nvSpPr>
        <p:spPr>
          <a:xfrm>
            <a:off x="838200" y="974690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AAST (American Association for the Surgery of Trauma) Liver Injury Scale (2018 revision) [8]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B496C9-15BE-9FB2-5433-C9EAC8AF1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41181"/>
              </p:ext>
            </p:extLst>
          </p:nvPr>
        </p:nvGraphicFramePr>
        <p:xfrm>
          <a:off x="838200" y="1423069"/>
          <a:ext cx="5092337" cy="462700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24096">
                  <a:extLst>
                    <a:ext uri="{9D8B030D-6E8A-4147-A177-3AD203B41FA5}">
                      <a16:colId xmlns:a16="http://schemas.microsoft.com/office/drawing/2014/main" val="1217969971"/>
                    </a:ext>
                  </a:extLst>
                </a:gridCol>
                <a:gridCol w="4468241">
                  <a:extLst>
                    <a:ext uri="{9D8B030D-6E8A-4147-A177-3AD203B41FA5}">
                      <a16:colId xmlns:a16="http://schemas.microsoft.com/office/drawing/2014/main" val="2591763145"/>
                    </a:ext>
                  </a:extLst>
                </a:gridCol>
              </a:tblGrid>
              <a:tr h="4809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AAST Grade</a:t>
                      </a:r>
                      <a:endParaRPr lang="en-IN" sz="1200" b="1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Imaging Criteria (CT Findings)</a:t>
                      </a:r>
                      <a:endParaRPr lang="en-IN" sz="1200" b="1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939790"/>
                  </a:ext>
                </a:extLst>
              </a:tr>
              <a:tr h="22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Subcapsular hematoma &lt;10% surface area 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02529839"/>
                  </a:ext>
                </a:extLst>
              </a:tr>
              <a:tr h="2603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Parenchymal laceration &lt;1 cm depth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435432"/>
                  </a:ext>
                </a:extLst>
              </a:tr>
              <a:tr h="514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Subcapsular hematoma 10-50% surface area; intraparenchymal hematoma &lt;10 cm in diameter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757449"/>
                  </a:ext>
                </a:extLst>
              </a:tr>
              <a:tr h="3409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Laceration 1-3 cm in depth and ≤10 cm length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269276"/>
                  </a:ext>
                </a:extLst>
              </a:tr>
              <a:tr h="6012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 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Subcapsular hematoma &gt;50% surface area;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ruptured subcapsular or parenchymal</a:t>
                      </a:r>
                      <a:b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hematoma 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81554205"/>
                  </a:ext>
                </a:extLst>
              </a:tr>
              <a:tr h="191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Intrparenchymal laceration &gt;10 cm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853592"/>
                  </a:ext>
                </a:extLst>
              </a:tr>
              <a:tr h="191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Laceration &gt;3 cm depth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899207"/>
                  </a:ext>
                </a:extLst>
              </a:tr>
              <a:tr h="4638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injury in the presence of a liver vascular injury or active bleeding contained within liver parenchyma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933638"/>
                  </a:ext>
                </a:extLst>
              </a:tr>
              <a:tr h="2834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Parenchymal disruption involving 25-75% of a hepatic lobe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68124720"/>
                  </a:ext>
                </a:extLst>
              </a:tr>
              <a:tr h="3962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bleeding extending beyond the liver parenchyma into the peritoneum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028847"/>
                  </a:ext>
                </a:extLst>
              </a:tr>
              <a:tr h="1912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Parenchymal disruption &gt;75% of hepatic lobe</a:t>
                      </a:r>
                      <a:endParaRPr lang="en-IN" sz="12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33399267"/>
                  </a:ext>
                </a:extLst>
              </a:tr>
              <a:tr h="4882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Juxtahepatic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venous injury to include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retrohepatic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vena cava and central major hepatic veins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439678"/>
                  </a:ext>
                </a:extLst>
              </a:tr>
            </a:tbl>
          </a:graphicData>
        </a:graphic>
      </p:graphicFrame>
      <p:pic>
        <p:nvPicPr>
          <p:cNvPr id="9" name="Picture 8" descr="A diagram of different types of blood vessels&#10;&#10;Description automatically generated">
            <a:extLst>
              <a:ext uri="{FF2B5EF4-FFF2-40B4-BE49-F238E27FC236}">
                <a16:creationId xmlns:a16="http://schemas.microsoft.com/office/drawing/2014/main" id="{8EA6CFFF-EE5B-0095-98E3-8C903C6A9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1423069"/>
            <a:ext cx="5511803" cy="4627006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28E9077-0DBC-72C1-27E1-2DD7DCE0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7" y="6077036"/>
            <a:ext cx="5511803" cy="365125"/>
          </a:xfrm>
        </p:spPr>
        <p:txBody>
          <a:bodyPr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1.4: Liver Injury Grading as per AAST-OIS [9]. 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9FC22D-1209-BE60-8CAA-FE08A502388F}"/>
              </a:ext>
            </a:extLst>
          </p:cNvPr>
          <p:cNvSpPr txBox="1">
            <a:spLocks/>
          </p:cNvSpPr>
          <p:nvPr/>
        </p:nvSpPr>
        <p:spPr>
          <a:xfrm>
            <a:off x="838200" y="6035796"/>
            <a:ext cx="5092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1.1: CT based AAST Liver Trauma Grading [8].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FC1DB-FF35-A6B7-00D6-A8D8880F1045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20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B26AF-FEC1-544D-17E9-A96054A8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1988" y="6445801"/>
            <a:ext cx="341811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BDD85-B022-B112-59EA-9871EE29731A}"/>
              </a:ext>
            </a:extLst>
          </p:cNvPr>
          <p:cNvSpPr txBox="1"/>
          <p:nvPr/>
        </p:nvSpPr>
        <p:spPr>
          <a:xfrm>
            <a:off x="838200" y="367532"/>
            <a:ext cx="759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Introduction-V: WSES Trauma Classification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5655-837A-F1D3-26A1-566531FE3C6B}"/>
              </a:ext>
            </a:extLst>
          </p:cNvPr>
          <p:cNvSpPr txBox="1"/>
          <p:nvPr/>
        </p:nvSpPr>
        <p:spPr>
          <a:xfrm>
            <a:off x="838200" y="974690"/>
            <a:ext cx="105156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WSES (World Society of Emergency Surgery) [10]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IN" sz="2000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000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iver trauma classification is based on AAST-OIS anatomic classification + hemodynamic status + associated injuries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F2F6BF-1C02-06D8-CB0D-7E75D66BF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06803"/>
              </p:ext>
            </p:extLst>
          </p:nvPr>
        </p:nvGraphicFramePr>
        <p:xfrm>
          <a:off x="1358537" y="2207623"/>
          <a:ext cx="9418324" cy="356616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61837">
                  <a:extLst>
                    <a:ext uri="{9D8B030D-6E8A-4147-A177-3AD203B41FA5}">
                      <a16:colId xmlns:a16="http://schemas.microsoft.com/office/drawing/2014/main" val="1094240381"/>
                    </a:ext>
                  </a:extLst>
                </a:gridCol>
                <a:gridCol w="1668300">
                  <a:extLst>
                    <a:ext uri="{9D8B030D-6E8A-4147-A177-3AD203B41FA5}">
                      <a16:colId xmlns:a16="http://schemas.microsoft.com/office/drawing/2014/main" val="193410865"/>
                    </a:ext>
                  </a:extLst>
                </a:gridCol>
                <a:gridCol w="1031966">
                  <a:extLst>
                    <a:ext uri="{9D8B030D-6E8A-4147-A177-3AD203B41FA5}">
                      <a16:colId xmlns:a16="http://schemas.microsoft.com/office/drawing/2014/main" val="4099658387"/>
                    </a:ext>
                  </a:extLst>
                </a:gridCol>
                <a:gridCol w="1750423">
                  <a:extLst>
                    <a:ext uri="{9D8B030D-6E8A-4147-A177-3AD203B41FA5}">
                      <a16:colId xmlns:a16="http://schemas.microsoft.com/office/drawing/2014/main" val="287330911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1702390994"/>
                    </a:ext>
                  </a:extLst>
                </a:gridCol>
                <a:gridCol w="2782392">
                  <a:extLst>
                    <a:ext uri="{9D8B030D-6E8A-4147-A177-3AD203B41FA5}">
                      <a16:colId xmlns:a16="http://schemas.microsoft.com/office/drawing/2014/main" val="4282982414"/>
                    </a:ext>
                  </a:extLst>
                </a:gridCol>
              </a:tblGrid>
              <a:tr h="7417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highlight>
                            <a:srgbClr val="E6E6E6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highlight>
                          <a:srgbClr val="E6E6E6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WSES grade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AAST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Hemodynamic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 scan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First-line treatment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428911"/>
                  </a:ext>
                </a:extLst>
              </a:tr>
              <a:tr h="7416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Minor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WSES grade I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I–II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273685" algn="l"/>
                        </a:tabLs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(Clinical/Laboratory/Radiological Evaluation)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7305"/>
                  </a:ext>
                </a:extLst>
              </a:tr>
              <a:tr h="7416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WSES grade II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24028"/>
                  </a:ext>
                </a:extLst>
              </a:tr>
              <a:tr h="74164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WSES grade III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IV–V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388124"/>
                  </a:ext>
                </a:extLst>
              </a:tr>
              <a:tr h="5995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WSES grade IV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I–V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Unstable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</a:t>
                      </a:r>
                      <a:endParaRPr lang="en-IN" sz="16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431671"/>
                  </a:ext>
                </a:extLst>
              </a:tr>
            </a:tbl>
          </a:graphicData>
        </a:graphic>
      </p:graphicFrame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336F20-87F8-6271-05E7-29D82681B1D8}"/>
              </a:ext>
            </a:extLst>
          </p:cNvPr>
          <p:cNvSpPr txBox="1">
            <a:spLocks/>
          </p:cNvSpPr>
          <p:nvPr/>
        </p:nvSpPr>
        <p:spPr>
          <a:xfrm>
            <a:off x="1358537" y="5935811"/>
            <a:ext cx="9418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1.2: WSES classification of Liver Trauma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A80C27-D54A-C392-F26F-C78706242280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95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B26AF-FEC1-544D-17E9-A96054A8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1988" y="6445801"/>
            <a:ext cx="341811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BDD85-B022-B112-59EA-9871EE29731A}"/>
              </a:ext>
            </a:extLst>
          </p:cNvPr>
          <p:cNvSpPr txBox="1"/>
          <p:nvPr/>
        </p:nvSpPr>
        <p:spPr>
          <a:xfrm>
            <a:off x="838200" y="367532"/>
            <a:ext cx="739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Introduction-VI: Initial Assessment (Imaging)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5655-837A-F1D3-26A1-566531FE3C6B}"/>
              </a:ext>
            </a:extLst>
          </p:cNvPr>
          <p:cNvSpPr txBox="1"/>
          <p:nvPr/>
        </p:nvSpPr>
        <p:spPr>
          <a:xfrm>
            <a:off x="838199" y="1119333"/>
            <a:ext cx="10515600" cy="4905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stem Font Regular"/>
              <a:buChar char="-"/>
            </a:pPr>
            <a:r>
              <a:rPr lang="en-IN" sz="2200" b="1" i="0" u="none" strike="noStrike" dirty="0">
                <a:solidFill>
                  <a:srgbClr val="3D3D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Contrast-enhanced Computed Tomography (CT) [11]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 standard: Sens./Spec.: 98%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of injury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bleeding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injuries</a:t>
            </a:r>
          </a:p>
          <a:p>
            <a:pPr marL="342900" indent="-342900">
              <a:lnSpc>
                <a:spcPct val="150000"/>
              </a:lnSpc>
              <a:buFont typeface="System Font Regular"/>
              <a:buChar char="-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automated assessment? [12]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 limitations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 variability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tools can:</a:t>
            </a:r>
          </a:p>
          <a:p>
            <a:pPr marL="1257300" lvl="2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rapid, consistent, and accurate evaluations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64EF5-D428-B83E-22AD-3AAE0B76540A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12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1BF5-B817-DFB4-6B92-0CAF689F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5679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663B8A-E845-103D-95DE-662C9BB17CF6}"/>
              </a:ext>
            </a:extLst>
          </p:cNvPr>
          <p:cNvSpPr txBox="1"/>
          <p:nvPr/>
        </p:nvSpPr>
        <p:spPr>
          <a:xfrm>
            <a:off x="850899" y="395037"/>
            <a:ext cx="3356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0D3888-2ACF-3642-54B5-DEA51F81D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95933"/>
              </p:ext>
            </p:extLst>
          </p:nvPr>
        </p:nvGraphicFramePr>
        <p:xfrm>
          <a:off x="850899" y="1043135"/>
          <a:ext cx="10502904" cy="529759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625726">
                  <a:extLst>
                    <a:ext uri="{9D8B030D-6E8A-4147-A177-3AD203B41FA5}">
                      <a16:colId xmlns:a16="http://schemas.microsoft.com/office/drawing/2014/main" val="55104276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1339870958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217653430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3148379315"/>
                    </a:ext>
                  </a:extLst>
                </a:gridCol>
              </a:tblGrid>
              <a:tr h="8170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Author, Title, Journal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Work-done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805049"/>
                  </a:ext>
                </a:extLst>
              </a:tr>
              <a:tr h="2283323">
                <a:tc>
                  <a:txBody>
                    <a:bodyPr/>
                    <a:lstStyle/>
                    <a:p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Farzaneh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 (2022) [13]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Learning Framework for Automated Detection and Quantitative Assessment of Liver Trauma.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BMC Medical Imaging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University of Michigan Health System (UMHS) </a:t>
                      </a: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Department of Radiology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(private: train + test)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3DIRCAD (public: test)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U-Net models used to segment liver parenchyma and trauma regions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 processing done to refine the segmented trauma region by incorporating human domain knowledge and vision algorithms (morphological operations + 3D Chan-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Vese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active contour model (ACM)) to avoid false positives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Calculated the liver parenchyma disruption index (LDI) to assess the presence and extent of liver trauma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was trained on UMHS dataset and additional testing of liver parenchyma segmentation was done on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3DIRCAD dataset.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model performance for Di, Re, </a:t>
                      </a: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96.13%, 96.00%, 96.35% for liver and 51.21% (&gt;5%, 72.45%),  53.20% (&gt;5%, 73.84%), 56.76% (&gt;5%, 75.35%) for trauma segmentation.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Bland–Altman analysis was also performed to understand the algorithms agreement with the  systematic errors and the ground truth. The model showed negligible bias (-0.13)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of the liver trauma segmentation improved for considerable injuries with over 5% of LDI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is limited to liver intra-parenchymal hematoma.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10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BD55044-8763-FEE1-AC1C-FC784D78AD6F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73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1BF5-B817-DFB4-6B92-0CAF689F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5679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663B8A-E845-103D-95DE-662C9BB17CF6}"/>
              </a:ext>
            </a:extLst>
          </p:cNvPr>
          <p:cNvSpPr txBox="1"/>
          <p:nvPr/>
        </p:nvSpPr>
        <p:spPr>
          <a:xfrm>
            <a:off x="850899" y="395037"/>
            <a:ext cx="3356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II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0D3888-2ACF-3642-54B5-DEA51F81D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699412"/>
              </p:ext>
            </p:extLst>
          </p:nvPr>
        </p:nvGraphicFramePr>
        <p:xfrm>
          <a:off x="850899" y="1267883"/>
          <a:ext cx="10502904" cy="420031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625726">
                  <a:extLst>
                    <a:ext uri="{9D8B030D-6E8A-4147-A177-3AD203B41FA5}">
                      <a16:colId xmlns:a16="http://schemas.microsoft.com/office/drawing/2014/main" val="55104276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1339870958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217653430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3148379315"/>
                    </a:ext>
                  </a:extLst>
                </a:gridCol>
              </a:tblGrid>
              <a:tr h="8170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Author, Title, Journal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Work-done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805049"/>
                  </a:ext>
                </a:extLst>
              </a:tr>
              <a:tr h="2283323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 (2022) [14]</a:t>
                      </a:r>
                    </a:p>
                    <a:p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2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Quantitative Assessment of </a:t>
                      </a:r>
                      <a:r>
                        <a:rPr lang="en-IN" sz="12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Pediatric</a:t>
                      </a:r>
                      <a:r>
                        <a:rPr lang="en-IN" sz="12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Blunt Hepatic Trauma by Deep Learning-Based CT Volumetry</a:t>
                      </a:r>
                    </a:p>
                    <a:p>
                      <a:endParaRPr lang="en-IN" sz="12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European Journal of Medical Research 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 images of 170 children for blunt liver trauma from Children’s Hospital of Soochow University (private dataset)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Leveraged 2 MONAI dynUNet models to segment liver parenchyma and trauma regions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equalization and grayscale inversion was performed as pre-processing step on the output of 1</a:t>
                      </a:r>
                      <a:r>
                        <a:rPr lang="en-US" sz="12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dynUNet model to highlight the trauma region before passing it to 2</a:t>
                      </a:r>
                      <a:r>
                        <a:rPr lang="en-US" sz="12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dynUNet model.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Calculated the liver parenchyma disruption index (LDI) to assess the presence and extent of liver trauma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was trained on 118 CT images and validated on 52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model performance for Di, Re, </a:t>
                      </a: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94.75%, 95.46%, 96.35% for liver and 72.91%, 76.8 %, 72.4 % for trauma segmentation.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Spearman rank correlation analysis was performed to show the correlation between automated LPDI and liver trauma volume with the AAST grade (rho=0.823, p&lt;0.001; rho=0.831, p&lt;0.001, respectively)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is limited to liver intra-parenchymal hematoma.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degrades for lower AAST grade trauma regions.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10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AC74524-1F82-1ABE-6E09-9A982DB76D6F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224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1BF5-B817-DFB4-6B92-0CAF689F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5679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663B8A-E845-103D-95DE-662C9BB17CF6}"/>
              </a:ext>
            </a:extLst>
          </p:cNvPr>
          <p:cNvSpPr txBox="1"/>
          <p:nvPr/>
        </p:nvSpPr>
        <p:spPr>
          <a:xfrm>
            <a:off x="850899" y="395037"/>
            <a:ext cx="3496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III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0D3888-2ACF-3642-54B5-DEA51F81D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84950"/>
              </p:ext>
            </p:extLst>
          </p:nvPr>
        </p:nvGraphicFramePr>
        <p:xfrm>
          <a:off x="844548" y="955874"/>
          <a:ext cx="10502904" cy="548047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625726">
                  <a:extLst>
                    <a:ext uri="{9D8B030D-6E8A-4147-A177-3AD203B41FA5}">
                      <a16:colId xmlns:a16="http://schemas.microsoft.com/office/drawing/2014/main" val="55104276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1339870958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217653430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3148379315"/>
                    </a:ext>
                  </a:extLst>
                </a:gridCol>
              </a:tblGrid>
              <a:tr h="8170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Author, Title, Journal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Work-done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805049"/>
                  </a:ext>
                </a:extLst>
              </a:tr>
              <a:tr h="2283323">
                <a:tc>
                  <a:txBody>
                    <a:bodyPr/>
                    <a:lstStyle/>
                    <a:p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Dreizin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 (2021) [15]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Value of Deep Learning-Based Liver Parenchymal CT Volumetry for Predicting Major Arterial Injury after Blunt Hepatic Trauma.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Abdominal Radiology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of 73 adult patients who underwent contrast-enhanced admission CT of the abdomen followed by hepatic arterial angiography at two level I trauma centers (56 patients from R Adams Cow- ley Shock Trauma Center (STC) , and 17 patients from Ryder Trauma Center (RTC)) (private)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Extensive voxel-wise ground-truth labeling was done. 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Volumetric measurements such as total liver parenchymal disruption (LPD) volume, total liver volume, subcapsular hematoma volume, and contrast extravasation (CE) volume was extracted from CT images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Employed pre-trained DL models for whole organ and injury segmentation. 4-fold validation was used for training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LDPI was calculated for liver trauma severity assessment.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decision tree models created using the classification and regression tree (CART) approach: DR1: Combined automated LPDI and binary CE (CE as either present or absent). DR2: Combined automated LPDI and volumetric CE measurements (from manual segmentation).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automated results showed excellent correlation and concurrence with the  manual measurements, with high ICC and Pearson’s r values, for laceration vol, whole liver vol and LDPI.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Bland-Altman plot showed minimal bias for LDPI.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sensitivity, specificity, PPV and NPV was calculated for Binary CE, Decision Tree analysis, and AAST grade.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DTA with auto LDPI + binary resulted in 32% reduction in false negative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DTA with auto LDPI + CE volume resulted in 63% reduction in false negative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only considered the CT scans of upper abdomen during portal venous phase ignoring the blood pooling in the lower abdomen.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Also didn’t consider injury near the bile duct and periphery.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10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0B61A6-141D-2B5D-DF34-88C3A9264C5E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4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1BF5-B817-DFB4-6B92-0CAF689F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5679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663B8A-E845-103D-95DE-662C9BB17CF6}"/>
              </a:ext>
            </a:extLst>
          </p:cNvPr>
          <p:cNvSpPr txBox="1"/>
          <p:nvPr/>
        </p:nvSpPr>
        <p:spPr>
          <a:xfrm>
            <a:off x="850899" y="395037"/>
            <a:ext cx="3496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IV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0D3888-2ACF-3642-54B5-DEA51F81D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97274"/>
              </p:ext>
            </p:extLst>
          </p:nvPr>
        </p:nvGraphicFramePr>
        <p:xfrm>
          <a:off x="844548" y="1043135"/>
          <a:ext cx="10502904" cy="529759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625726">
                  <a:extLst>
                    <a:ext uri="{9D8B030D-6E8A-4147-A177-3AD203B41FA5}">
                      <a16:colId xmlns:a16="http://schemas.microsoft.com/office/drawing/2014/main" val="55104276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1339870958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2176534302"/>
                    </a:ext>
                  </a:extLst>
                </a:gridCol>
                <a:gridCol w="2625726">
                  <a:extLst>
                    <a:ext uri="{9D8B030D-6E8A-4147-A177-3AD203B41FA5}">
                      <a16:colId xmlns:a16="http://schemas.microsoft.com/office/drawing/2014/main" val="3148379315"/>
                    </a:ext>
                  </a:extLst>
                </a:gridCol>
              </a:tblGrid>
              <a:tr h="8170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Author, Title, Journal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Work-done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805049"/>
                  </a:ext>
                </a:extLst>
              </a:tr>
              <a:tr h="2283323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 et al (2024) [16]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Application of Deep Learning in Abdominal Trauma Diagnosis by CT Imaging.</a:t>
                      </a:r>
                    </a:p>
                    <a:p>
                      <a:endParaRPr lang="en-IN" sz="12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 Journal of Emergency Surgery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RSNA (Radiological Society of North America) dataset containing 3147 CT scans with various abdominal injuries from 23 sites and 14  countries.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was categorized into six sections: liver, spleen, kidney, intestine, extravasation, and any injury. Each section divided into health or injury categories.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 cropped to focus on the abdominal organs within each scan.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 2-stage model to detect trauma regions.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Stage1-Segmentation (2D): Used U-Net model with EfficientNetB0 as backbone to segment individual organs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Stage2: Injury Classification (2.5D): An EfficientNetB1 model was used to process 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image from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segmented slice. The LSTM (long short-term memory) network was introduced to get the spatial information between the segmented images. A Neck structure and Multi-Label classification was used to compute the average injury probability for each organ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Grad-CAM to visualize model working. 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metrics like accuracy, sensitivity and specificity was calculated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 was evaluated using ROC and AUROC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obtained an accuracy of 0.873 (PPV: 0.789; NPV: 0.895; Sensitivity: 0.789; Specificity: 0.895; AUC:0.817) 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Overall, the model performance was good in diagnosing liver injuries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is limited to only classification task – injured, healthy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11045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F7CE33B-EF83-FFC0-3552-2163B7932367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50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CD7483-2A22-5E3E-4625-68EF8775D9C7}"/>
              </a:ext>
            </a:extLst>
          </p:cNvPr>
          <p:cNvSpPr txBox="1"/>
          <p:nvPr/>
        </p:nvSpPr>
        <p:spPr>
          <a:xfrm>
            <a:off x="787944" y="375159"/>
            <a:ext cx="2602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8A656DA-1A9B-1C20-C9B6-37093B56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2962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22033-BAF1-FE7C-9265-568B6F7CCB28}"/>
              </a:ext>
            </a:extLst>
          </p:cNvPr>
          <p:cNvSpPr txBox="1"/>
          <p:nvPr/>
        </p:nvSpPr>
        <p:spPr>
          <a:xfrm>
            <a:off x="813072" y="1366223"/>
            <a:ext cx="10565855" cy="412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Limited work is reported on detecting and segmenting multiple liver injuries in one study with radiologist level accuracy [13,15].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major study has been carried out on segmenting the images of liver trauma with pre-existing liver conditions like fatty livers, disease infected liver etc [13].</a:t>
            </a:r>
            <a:endParaRPr lang="en-I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Although work has been done on volumetric assessment of liver trauma, very</a:t>
            </a: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limited work has been carried out on grading the severity of the liver injury [14].</a:t>
            </a:r>
          </a:p>
          <a:p>
            <a:pPr marL="342900" lvl="0" indent="-342900" algn="just">
              <a:lnSpc>
                <a:spcPct val="13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no major work carried out on designing a decision support system to automate the assessment of liver trauma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450C4-9685-231E-1468-34E5171E23B3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631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CB1C20-E5DF-F1E1-5B2A-A246173BF7E1}"/>
              </a:ext>
            </a:extLst>
          </p:cNvPr>
          <p:cNvSpPr txBox="1"/>
          <p:nvPr/>
        </p:nvSpPr>
        <p:spPr>
          <a:xfrm>
            <a:off x="838199" y="332344"/>
            <a:ext cx="33513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3C4B8F4-CB8B-19DC-7A46-A4B39139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55740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3ED33-C995-91C2-44E0-B25F6D844978}"/>
              </a:ext>
            </a:extLst>
          </p:cNvPr>
          <p:cNvSpPr txBox="1"/>
          <p:nvPr/>
        </p:nvSpPr>
        <p:spPr>
          <a:xfrm>
            <a:off x="838199" y="1759408"/>
            <a:ext cx="10515601" cy="333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an efficient framework to identify and segment the liver and traumatic regions of liver in CT scan for trauma assessment.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Automatic Quantitative Assessment and Severity Grading of Liver Trauma.</a:t>
            </a: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 a decision support system (DSS) integrating objective 1 and 2 into a software tool to provide an accurate and precise understanding of liver trauma.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5F9FE1-F49D-BE37-7138-E3EF7B0ED4B0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4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CB1C20-E5DF-F1E1-5B2A-A246173BF7E1}"/>
              </a:ext>
            </a:extLst>
          </p:cNvPr>
          <p:cNvSpPr txBox="1"/>
          <p:nvPr/>
        </p:nvSpPr>
        <p:spPr>
          <a:xfrm>
            <a:off x="838199" y="332344"/>
            <a:ext cx="7772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to Objectives Mapping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3C4B8F4-CB8B-19DC-7A46-A4B39139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55740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5F9FE1-F49D-BE37-7138-E3EF7B0ED4B0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88D27F-053C-A647-4659-D6A66F843BDD}"/>
              </a:ext>
            </a:extLst>
          </p:cNvPr>
          <p:cNvGrpSpPr/>
          <p:nvPr/>
        </p:nvGrpSpPr>
        <p:grpSpPr>
          <a:xfrm>
            <a:off x="1540702" y="1169357"/>
            <a:ext cx="9018740" cy="5054896"/>
            <a:chOff x="0" y="0"/>
            <a:chExt cx="6623715" cy="439200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4AD3E58-BD18-EB23-9715-1BACE94648DF}"/>
                </a:ext>
              </a:extLst>
            </p:cNvPr>
            <p:cNvSpPr/>
            <p:nvPr/>
          </p:nvSpPr>
          <p:spPr>
            <a:xfrm>
              <a:off x="0" y="0"/>
              <a:ext cx="2901600" cy="820800"/>
            </a:xfrm>
            <a:prstGeom prst="roundRect">
              <a:avLst/>
            </a:prstGeom>
            <a:solidFill>
              <a:srgbClr val="C46F8A">
                <a:alpha val="49773"/>
              </a:srgbClr>
            </a:solidFill>
            <a:ln w="19050">
              <a:solidFill>
                <a:srgbClr val="731B3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endParaRPr lang="en-IN" sz="1200" b="1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IN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GAP-1</a:t>
              </a:r>
            </a:p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IN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Limited work is reported on detecting and segmenting multiple liver injuries in one study with radiologist level accuracy. </a:t>
              </a: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US" sz="9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500" dirty="0">
                <a:solidFill>
                  <a:srgbClr val="59595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4A49132F-FB71-C8E1-0859-F5F7A5CB67EC}"/>
                </a:ext>
              </a:extLst>
            </p:cNvPr>
            <p:cNvSpPr/>
            <p:nvPr/>
          </p:nvSpPr>
          <p:spPr>
            <a:xfrm>
              <a:off x="0" y="1137600"/>
              <a:ext cx="2901315" cy="842010"/>
            </a:xfrm>
            <a:prstGeom prst="roundRect">
              <a:avLst/>
            </a:prstGeom>
            <a:solidFill>
              <a:srgbClr val="C46F8A">
                <a:alpha val="49992"/>
              </a:srgbClr>
            </a:solidFill>
            <a:ln w="19050">
              <a:solidFill>
                <a:srgbClr val="731A3F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US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GAP-2</a:t>
              </a:r>
              <a:endParaRPr lang="en-IN" sz="1200" b="1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US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No major study has been carried out on segmenting the images of liver trauma with pre-existing liver conditions like fatty livers, disease infected liver</a:t>
              </a:r>
              <a:endParaRPr lang="en-IN" sz="1200" b="1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B0944A6B-56F4-DC1E-A0B4-8781365B53C2}"/>
                </a:ext>
              </a:extLst>
            </p:cNvPr>
            <p:cNvSpPr/>
            <p:nvPr/>
          </p:nvSpPr>
          <p:spPr>
            <a:xfrm>
              <a:off x="7200" y="2347200"/>
              <a:ext cx="2901315" cy="856615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endParaRPr lang="en-IN" sz="1200" b="1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IN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GAP-3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IN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Although work has been done on volumetric assessment of liver trauma, very limited work has been carried out on grading the severity of the liver injury.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US" sz="9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500" dirty="0">
                <a:solidFill>
                  <a:srgbClr val="59595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06FAA55-B3FF-2BD1-063D-8E60AC5BBB92}"/>
                </a:ext>
              </a:extLst>
            </p:cNvPr>
            <p:cNvSpPr/>
            <p:nvPr/>
          </p:nvSpPr>
          <p:spPr>
            <a:xfrm>
              <a:off x="0" y="3564000"/>
              <a:ext cx="2901315" cy="828000"/>
            </a:xfrm>
            <a:prstGeom prst="roundRect">
              <a:avLst/>
            </a:prstGeom>
            <a:solidFill>
              <a:srgbClr val="F6D362">
                <a:alpha val="49757"/>
              </a:srgb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endParaRPr lang="en-IN" sz="900" b="1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IN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GAP-4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IN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There is no major work carried out on designing a decision support system to automate the assessment of liver trauma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US" sz="9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500" dirty="0">
                <a:solidFill>
                  <a:srgbClr val="59595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E1BB3A67-32F6-4F1F-CCEB-5A25A5FD9F81}"/>
                </a:ext>
              </a:extLst>
            </p:cNvPr>
            <p:cNvSpPr/>
            <p:nvPr/>
          </p:nvSpPr>
          <p:spPr>
            <a:xfrm>
              <a:off x="3722400" y="518400"/>
              <a:ext cx="2901315" cy="842400"/>
            </a:xfrm>
            <a:prstGeom prst="roundRect">
              <a:avLst/>
            </a:prstGeom>
            <a:solidFill>
              <a:srgbClr val="C46F8A">
                <a:alpha val="49773"/>
              </a:srgbClr>
            </a:solidFill>
            <a:ln w="19050">
              <a:solidFill>
                <a:srgbClr val="731A3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GB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OBJECTIVE-1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GB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Develop an efficient framework to identify and segment the liver and traumatic regions of liver in CT scan for trauma assessment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B81C69A-1D6F-6A69-038F-DE5C63A3DCC7}"/>
                </a:ext>
              </a:extLst>
            </p:cNvPr>
            <p:cNvSpPr/>
            <p:nvPr/>
          </p:nvSpPr>
          <p:spPr>
            <a:xfrm>
              <a:off x="3722400" y="1778400"/>
              <a:ext cx="2901315" cy="820800"/>
            </a:xfrm>
            <a:prstGeom prst="roundRect">
              <a:avLst/>
            </a:prstGeom>
            <a:solidFill>
              <a:srgbClr val="F9873E">
                <a:alpha val="50000"/>
              </a:srgbClr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GB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OBJECTIVE-2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GB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Automatic Quantitative Assessment and Severity Grading of Liver Trauma.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US" sz="9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500" dirty="0">
                <a:solidFill>
                  <a:srgbClr val="59595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542C6555-A3BE-3AA0-E806-CB46D79938AF}"/>
                </a:ext>
              </a:extLst>
            </p:cNvPr>
            <p:cNvSpPr/>
            <p:nvPr/>
          </p:nvSpPr>
          <p:spPr>
            <a:xfrm>
              <a:off x="3708000" y="3031200"/>
              <a:ext cx="2901315" cy="849600"/>
            </a:xfrm>
            <a:prstGeom prst="roundRect">
              <a:avLst/>
            </a:prstGeom>
            <a:solidFill>
              <a:srgbClr val="F6D362">
                <a:alpha val="49757"/>
              </a:srgb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endParaRPr lang="en-GB" sz="900" b="1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GB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OBJECTIVE-3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600"/>
                </a:spcAft>
              </a:pPr>
              <a:r>
                <a:rPr lang="en-GB" sz="12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Design a decision support system (DSS) integrating objective 1 and 2 into a software tool to provide an accurate and precise understanding of liver trauma.</a:t>
              </a:r>
              <a:endParaRPr lang="en-IN" sz="1200" dirty="0">
                <a:solidFill>
                  <a:srgbClr val="59595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7000"/>
                </a:lnSpc>
                <a:spcAft>
                  <a:spcPts val="600"/>
                </a:spcAft>
              </a:pPr>
              <a:r>
                <a:rPr lang="en-US" sz="900" b="1" dirty="0">
                  <a:solidFill>
                    <a:srgbClr val="595959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500" dirty="0">
                <a:solidFill>
                  <a:srgbClr val="59595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6B2AF82-A521-B17E-3069-6BC1352F9D25}"/>
                </a:ext>
              </a:extLst>
            </p:cNvPr>
            <p:cNvCxnSpPr/>
            <p:nvPr/>
          </p:nvCxnSpPr>
          <p:spPr>
            <a:xfrm>
              <a:off x="2901600" y="403200"/>
              <a:ext cx="821085" cy="532800"/>
            </a:xfrm>
            <a:prstGeom prst="line">
              <a:avLst/>
            </a:prstGeom>
            <a:ln w="38100" cap="flat" cmpd="sng" algn="ctr">
              <a:solidFill>
                <a:srgbClr val="731A3F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36337AF-AADF-582E-ACAD-2E3122049B38}"/>
                </a:ext>
              </a:extLst>
            </p:cNvPr>
            <p:cNvCxnSpPr/>
            <p:nvPr/>
          </p:nvCxnSpPr>
          <p:spPr>
            <a:xfrm flipV="1">
              <a:off x="2901600" y="972000"/>
              <a:ext cx="820800" cy="604800"/>
            </a:xfrm>
            <a:prstGeom prst="line">
              <a:avLst/>
            </a:prstGeom>
            <a:ln w="38100" cap="flat" cmpd="sng" algn="ctr">
              <a:solidFill>
                <a:srgbClr val="731A3F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C7499E-B5A0-8344-BA05-2AB0D3E770FE}"/>
                </a:ext>
              </a:extLst>
            </p:cNvPr>
            <p:cNvCxnSpPr/>
            <p:nvPr/>
          </p:nvCxnSpPr>
          <p:spPr>
            <a:xfrm flipV="1">
              <a:off x="2908800" y="2181600"/>
              <a:ext cx="813885" cy="597600"/>
            </a:xfrm>
            <a:prstGeom prst="line">
              <a:avLst/>
            </a:prstGeom>
            <a:ln w="38100" cap="flat" cmpd="sng" algn="ctr">
              <a:solidFill>
                <a:schemeClr val="accent2">
                  <a:lumMod val="75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AAE6687-BCDC-0BCC-E10F-D46C03583C28}"/>
                </a:ext>
              </a:extLst>
            </p:cNvPr>
            <p:cNvCxnSpPr/>
            <p:nvPr/>
          </p:nvCxnSpPr>
          <p:spPr>
            <a:xfrm flipV="1">
              <a:off x="2901600" y="3448800"/>
              <a:ext cx="806400" cy="547200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5259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E9031B-E904-D6CC-014B-CC6E3A5A9125}"/>
              </a:ext>
            </a:extLst>
          </p:cNvPr>
          <p:cNvSpPr txBox="1"/>
          <p:nvPr/>
        </p:nvSpPr>
        <p:spPr>
          <a:xfrm>
            <a:off x="829995" y="382747"/>
            <a:ext cx="2264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AF1BF-6AD4-934A-7D2E-3131CDF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5500" y="6465680"/>
            <a:ext cx="3683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724632F-B143-77A0-0BC4-1F2815DE5865}"/>
              </a:ext>
            </a:extLst>
          </p:cNvPr>
          <p:cNvSpPr txBox="1"/>
          <p:nvPr/>
        </p:nvSpPr>
        <p:spPr>
          <a:xfrm>
            <a:off x="2934206" y="6074363"/>
            <a:ext cx="63235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5.1: Decision Support System for Liver Trauma Assessment workflow</a:t>
            </a:r>
            <a:endParaRPr lang="en-US" sz="1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6FC5F3-5ECA-082C-1D21-C1ECEDD5C3BF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1C874AF4-187B-4B54-C42A-D6DEFB074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549" y="1046072"/>
            <a:ext cx="6162901" cy="495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80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218026-F0E1-43C8-2A8C-3CF5BF6E01C9}"/>
              </a:ext>
            </a:extLst>
          </p:cNvPr>
          <p:cNvSpPr txBox="1"/>
          <p:nvPr/>
        </p:nvSpPr>
        <p:spPr>
          <a:xfrm>
            <a:off x="792645" y="391804"/>
            <a:ext cx="609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Course Work Details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7D42ED-6937-1FC5-D21E-85DD5D8DD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415348"/>
              </p:ext>
            </p:extLst>
          </p:nvPr>
        </p:nvGraphicFramePr>
        <p:xfrm>
          <a:off x="1465023" y="1817346"/>
          <a:ext cx="9261953" cy="35141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98664">
                  <a:extLst>
                    <a:ext uri="{9D8B030D-6E8A-4147-A177-3AD203B41FA5}">
                      <a16:colId xmlns:a16="http://schemas.microsoft.com/office/drawing/2014/main" val="112095384"/>
                    </a:ext>
                  </a:extLst>
                </a:gridCol>
                <a:gridCol w="5239180">
                  <a:extLst>
                    <a:ext uri="{9D8B030D-6E8A-4147-A177-3AD203B41FA5}">
                      <a16:colId xmlns:a16="http://schemas.microsoft.com/office/drawing/2014/main" val="632834027"/>
                    </a:ext>
                  </a:extLst>
                </a:gridCol>
                <a:gridCol w="1060007">
                  <a:extLst>
                    <a:ext uri="{9D8B030D-6E8A-4147-A177-3AD203B41FA5}">
                      <a16:colId xmlns:a16="http://schemas.microsoft.com/office/drawing/2014/main" val="2582267028"/>
                    </a:ext>
                  </a:extLst>
                </a:gridCol>
                <a:gridCol w="1764102">
                  <a:extLst>
                    <a:ext uri="{9D8B030D-6E8A-4147-A177-3AD203B41FA5}">
                      <a16:colId xmlns:a16="http://schemas.microsoft.com/office/drawing/2014/main" val="4292168148"/>
                    </a:ext>
                  </a:extLst>
                </a:gridCol>
              </a:tblGrid>
              <a:tr h="709954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Course Work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Credits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20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385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Research Methodology (ARM)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be Taken (TBT)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2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and Publication Ethics (RPE)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Progress (IP)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39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Image Processing (Customized)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 approval pending</a:t>
                      </a:r>
                      <a:endParaRPr lang="en-IN" sz="20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22975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and its Applications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 approval pending</a:t>
                      </a:r>
                      <a:endParaRPr lang="en-IN" sz="20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938823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BF8053E-D6A6-B3B9-AF70-30218860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6195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15FF7-8E12-F01D-8DF1-B5E0570520C3}"/>
              </a:ext>
            </a:extLst>
          </p:cNvPr>
          <p:cNvSpPr txBox="1"/>
          <p:nvPr/>
        </p:nvSpPr>
        <p:spPr>
          <a:xfrm>
            <a:off x="9512300" y="342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669D49-6E65-08FA-F66F-DDBAED6BC936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226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039B0-A083-49B8-D189-A05E88D0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59865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F9E183-BB41-2D67-A24D-CD25213A0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536855"/>
              </p:ext>
            </p:extLst>
          </p:nvPr>
        </p:nvGraphicFramePr>
        <p:xfrm>
          <a:off x="139700" y="934076"/>
          <a:ext cx="11874501" cy="544692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41922">
                  <a:extLst>
                    <a:ext uri="{9D8B030D-6E8A-4147-A177-3AD203B41FA5}">
                      <a16:colId xmlns:a16="http://schemas.microsoft.com/office/drawing/2014/main" val="1086605193"/>
                    </a:ext>
                  </a:extLst>
                </a:gridCol>
                <a:gridCol w="2529586">
                  <a:extLst>
                    <a:ext uri="{9D8B030D-6E8A-4147-A177-3AD203B41FA5}">
                      <a16:colId xmlns:a16="http://schemas.microsoft.com/office/drawing/2014/main" val="3258620300"/>
                    </a:ext>
                  </a:extLst>
                </a:gridCol>
                <a:gridCol w="1174743">
                  <a:extLst>
                    <a:ext uri="{9D8B030D-6E8A-4147-A177-3AD203B41FA5}">
                      <a16:colId xmlns:a16="http://schemas.microsoft.com/office/drawing/2014/main" val="1077306149"/>
                    </a:ext>
                  </a:extLst>
                </a:gridCol>
                <a:gridCol w="1110196">
                  <a:extLst>
                    <a:ext uri="{9D8B030D-6E8A-4147-A177-3AD203B41FA5}">
                      <a16:colId xmlns:a16="http://schemas.microsoft.com/office/drawing/2014/main" val="3138340213"/>
                    </a:ext>
                  </a:extLst>
                </a:gridCol>
                <a:gridCol w="1084378">
                  <a:extLst>
                    <a:ext uri="{9D8B030D-6E8A-4147-A177-3AD203B41FA5}">
                      <a16:colId xmlns:a16="http://schemas.microsoft.com/office/drawing/2014/main" val="2874371635"/>
                    </a:ext>
                  </a:extLst>
                </a:gridCol>
                <a:gridCol w="1032741">
                  <a:extLst>
                    <a:ext uri="{9D8B030D-6E8A-4147-A177-3AD203B41FA5}">
                      <a16:colId xmlns:a16="http://schemas.microsoft.com/office/drawing/2014/main" val="3171150086"/>
                    </a:ext>
                  </a:extLst>
                </a:gridCol>
                <a:gridCol w="1019832">
                  <a:extLst>
                    <a:ext uri="{9D8B030D-6E8A-4147-A177-3AD203B41FA5}">
                      <a16:colId xmlns:a16="http://schemas.microsoft.com/office/drawing/2014/main" val="320038711"/>
                    </a:ext>
                  </a:extLst>
                </a:gridCol>
                <a:gridCol w="981103">
                  <a:extLst>
                    <a:ext uri="{9D8B030D-6E8A-4147-A177-3AD203B41FA5}">
                      <a16:colId xmlns:a16="http://schemas.microsoft.com/office/drawing/2014/main" val="2340487649"/>
                    </a:ext>
                  </a:extLst>
                </a:gridCol>
              </a:tblGrid>
              <a:tr h="281845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2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2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2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12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2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IN" sz="12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IN" sz="1200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 </a:t>
                      </a: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877865"/>
                  </a:ext>
                </a:extLst>
              </a:tr>
              <a:tr h="42006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for mandatory course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Immediately after the 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948207"/>
                  </a:ext>
                </a:extLst>
              </a:tr>
              <a:tr h="28184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Constitution of DAC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1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16450"/>
                  </a:ext>
                </a:extLst>
              </a:tr>
              <a:tr h="281845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PreDAC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2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691835"/>
                  </a:ext>
                </a:extLst>
              </a:tr>
              <a:tr h="28184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IPAC presentation deadline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02-11-2024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901519"/>
                  </a:ext>
                </a:extLst>
              </a:tr>
              <a:tr h="293119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Renewal deadlines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02-11-2024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02-05-2025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02-11-2025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02-05-2026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02-11-2026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02-05-2027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185388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 presentation deadlines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DAC1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02-05-2025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DAC2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02-11-2025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DAC3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02-05-2026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DAC4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02-11-2026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DAC5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02-05-2027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DAC6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02-11-2027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09358"/>
                  </a:ext>
                </a:extLst>
              </a:tr>
              <a:tr h="28184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Work completion (12 credits)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517188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2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draft of review/ original article submission to 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16268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Review/ original article submission to 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124599"/>
                  </a:ext>
                </a:extLst>
              </a:tr>
              <a:tr h="28184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2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article preparation and submission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549761"/>
                  </a:ext>
                </a:extLst>
              </a:tr>
              <a:tr h="39395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 presentations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approved by the guide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371741"/>
                  </a:ext>
                </a:extLst>
              </a:tr>
              <a:tr h="375793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Synopsis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41345"/>
                  </a:ext>
                </a:extLst>
              </a:tr>
              <a:tr h="469741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 of NOC request to CDS for thesis submission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3 months of synopsis presentation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337189"/>
                  </a:ext>
                </a:extLst>
              </a:tr>
              <a:tr h="393958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Thesis submission to Registrar Evaluation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Immediately after NOC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4202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0DC2C15-96C7-08BA-C3E6-1007F2E37639}"/>
              </a:ext>
            </a:extLst>
          </p:cNvPr>
          <p:cNvSpPr txBox="1"/>
          <p:nvPr/>
        </p:nvSpPr>
        <p:spPr>
          <a:xfrm>
            <a:off x="838200" y="334655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Plan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C75D3-6AE1-59C7-297D-ED0BA9819E2F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1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73308-2E79-D375-A0A3-07F8D791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5585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4B6A-50D5-6289-A463-391516478142}"/>
              </a:ext>
            </a:extLst>
          </p:cNvPr>
          <p:cNvSpPr txBox="1"/>
          <p:nvPr/>
        </p:nvSpPr>
        <p:spPr>
          <a:xfrm>
            <a:off x="748187" y="395037"/>
            <a:ext cx="3459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0D5F2-F9C5-DA6E-F70B-C98061020A12}"/>
              </a:ext>
            </a:extLst>
          </p:cNvPr>
          <p:cNvSpPr txBox="1"/>
          <p:nvPr/>
        </p:nvSpPr>
        <p:spPr>
          <a:xfrm>
            <a:off x="748187" y="938042"/>
            <a:ext cx="10694513" cy="5547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[1]S.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Taghavi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and R. Askari, “Liver Trauma,”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https://www.ncbi.nlm.nih.gov/books/NBK513236/</a:t>
            </a:r>
            <a:endParaRPr lang="en-IN" sz="1400" b="0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57200">
              <a:lnSpc>
                <a:spcPct val="150000"/>
              </a:lnSpc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[2]A. S. Pillai, G. Kumar, and A. K. Pillai, “Hepatic Trauma Interventions,”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Seminars in Interventional Radiology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vol. 38, no. 01, pp. 096–0104, Mar. 2021,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3"/>
              </a:rPr>
              <a:t>https://doi.org/10.1055/s-0041-1724014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</a:t>
            </a: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]W. Villegas and J. Vaughan, “Trends in Reduction of Mortality in Liver Trauma,”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Critical Care Nursing Clinics of North America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vol. 34, no. 3, pp. 351–359, Sep. 2022,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4"/>
              </a:rPr>
              <a:t>https://doi.org/10.1016/j.cnc.2022.04.008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R="457200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[4]A. Kalra, F.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Tuma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E.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Yetiskul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and C. J.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Wehrle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“Physiology, Liver,”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National Library of Medicine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May 01, 2023.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https://www.ncbi.nlm.nih.gov/books/NBK535438/</a:t>
            </a:r>
            <a:endParaRPr lang="en-IN" sz="1400" b="0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57200" algn="l">
              <a:lnSpc>
                <a:spcPct val="150000"/>
              </a:lnSpc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</a:t>
            </a: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5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]R. Laing, M. Edwards, T. Faulkner, and K. Roberts, “Liver Trauma: Review of Management, and Patient Outcomes at Our Major Trauma Centre,”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Journal of gastrointestinal and hepatic surgery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vol. 5, no. 1, Dec. 2022,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6"/>
              </a:rPr>
              <a:t>https://doi.org/10.36959/879/385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</a:t>
            </a: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</a:rPr>
              <a:t>6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]I. A.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Ziogas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I.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Katsaros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and Georgios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Tsoulfas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“Damage Control Surgery for Liver Trauma,” </a:t>
            </a:r>
            <a:r>
              <a:rPr lang="en-IN" sz="1400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IntechOpen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eBooks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Jul. 2021,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https://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doi.org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/10.5772/intechopen.94109.</a:t>
            </a:r>
            <a:endParaRPr lang="en-IN" sz="1400" b="0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[7]W. Yoon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“CT in Blunt Liver Trauma,” </a:t>
            </a:r>
            <a:r>
              <a:rPr lang="en-IN" sz="1400" b="0" i="1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RadioGraphics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vol. 25, no. 1, pp. 87–104, Jan. 2005,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https://doi.org/10.1148/rg.251045079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[8]“Injury Scoring Scale,”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American Association for the Surgery of Trauma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Aug. 27, 2009.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https://www.aast.org/resources-detail/injury-scoring-scale</a:t>
            </a:r>
            <a:endParaRPr lang="en-IN" sz="1400" b="0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[9]S.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Hapugoda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“Liver trauma grading (diagrams) | Radiology Case |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Radiopaedia.org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,” </a:t>
            </a:r>
            <a:r>
              <a:rPr lang="en-IN" sz="1400" b="0" i="1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Radiopaedia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https://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radiopaedia.org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/cases/liver-trauma-grading-diagrams-5 (accessed Jul. 12, 2024).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0F4BF4-7CA3-7F2E-2C74-9D61ABADB498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20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73308-2E79-D375-A0A3-07F8D791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5585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4B6A-50D5-6289-A463-391516478142}"/>
              </a:ext>
            </a:extLst>
          </p:cNvPr>
          <p:cNvSpPr txBox="1"/>
          <p:nvPr/>
        </p:nvSpPr>
        <p:spPr>
          <a:xfrm>
            <a:off x="748187" y="395037"/>
            <a:ext cx="3459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0D5F2-F9C5-DA6E-F70B-C98061020A12}"/>
              </a:ext>
            </a:extLst>
          </p:cNvPr>
          <p:cNvSpPr txBox="1"/>
          <p:nvPr/>
        </p:nvSpPr>
        <p:spPr>
          <a:xfrm>
            <a:off x="748187" y="938042"/>
            <a:ext cx="10750706" cy="5224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[10]F.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Coccolini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“Liver trauma: WSES 2020 guidelines,”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World Journal of Emergency Surgery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1, Mar. 2020,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https://doi.org/10.1186/s13017-020-00302-7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[11]W. Yoon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et al.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“CT in Blunt Liver Trauma,” </a:t>
            </a:r>
            <a:r>
              <a:rPr lang="en-IN" sz="1400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RadioGraphics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vol. 25, no. 1, pp. 87–104, Jan. 2005,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3"/>
              </a:rPr>
              <a:t>https://doi.org/10.1148/rg.251045079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[12]Maria Chiara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Brunese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et al.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“Future Perspectives on Radiomics in Acute Liver Injury and Liver Trauma,”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Journal of personalized medicine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vol. 14, no. 6, pp. 572–572, May 2024,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4"/>
              </a:rPr>
              <a:t>https://doi.org/10.3390/jpm14060572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IN" sz="1400" b="0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[13]N.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Farzaneh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E. B. Stein, R.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Soroushmehr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Gryak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and K. Najarian, “A deep learning framework for automated detection and quantitative assessment of liver trauma,”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BMC Medical Imaging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vol. 22, no. 1, Mar. 2022,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https://doi.org/10.1186/s12880-022-00759-9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[14]S. Huang, Z. Zhou, X. Qian, D. Li, W. Guo, and Y. Dai, “Automated quantitative assessment of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pediatric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blunt hepatic trauma by deep learning-based CT volumetry,”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European Journal of Medical Research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vol. 27, no. 1, Dec. 2022,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https://doi.org/10.1186/s40001-022-00943-1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[15]D.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Dreizin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“Added value of deep learning-based liver parenchymal CT volumetry for predicting major arterial injury after blunt hepatic trauma: a decision tree analysis,”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Abdominal radiology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vol. 46, no. 6, pp. 2556–2566, Jan. 2021,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https://doi.org/10.1007/s00261-020-02892-x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457200" algn="l">
              <a:lnSpc>
                <a:spcPct val="150000"/>
              </a:lnSpc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[16]X. Shen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“The application of deep learning in abdominal trauma diagnosis by CT imaging,” </a:t>
            </a:r>
            <a:r>
              <a:rPr lang="en-IN" sz="1400" b="0" i="1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World journal of emergency surgery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1, May 2024,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https://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doi.org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/10.1186/s13017-024-00546-7.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B989B-70C2-06E5-E1E5-923A8A9241D2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834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888F9-4F68-9616-D652-D6093FFE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55740"/>
            <a:ext cx="2743200" cy="365125"/>
          </a:xfrm>
        </p:spPr>
        <p:txBody>
          <a:bodyPr/>
          <a:lstStyle/>
          <a:p>
            <a:fld id="{4A9795D8-83FD-4522-A0A1-E4DAAF0E10D3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17B98-BCB0-A92F-EA05-BF81A6DFF018}"/>
              </a:ext>
            </a:extLst>
          </p:cNvPr>
          <p:cNvSpPr txBox="1"/>
          <p:nvPr/>
        </p:nvSpPr>
        <p:spPr>
          <a:xfrm>
            <a:off x="3044687" y="2567226"/>
            <a:ext cx="6102626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F515-8F95-B804-034A-0E7B535E5485}"/>
              </a:ext>
            </a:extLst>
          </p:cNvPr>
          <p:cNvSpPr txBox="1"/>
          <p:nvPr/>
        </p:nvSpPr>
        <p:spPr>
          <a:xfrm>
            <a:off x="3176380" y="6465751"/>
            <a:ext cx="586905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for Liver Trauma Assessment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28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20208</TotalTime>
  <Words>3385</Words>
  <Application>Microsoft Macintosh PowerPoint</Application>
  <PresentationFormat>Widescreen</PresentationFormat>
  <Paragraphs>402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System Font Regular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Bhavya B</dc:creator>
  <cp:lastModifiedBy>Cauvery K</cp:lastModifiedBy>
  <cp:revision>408</cp:revision>
  <dcterms:created xsi:type="dcterms:W3CDTF">2024-05-18T05:42:47Z</dcterms:created>
  <dcterms:modified xsi:type="dcterms:W3CDTF">2024-07-18T06:37:33Z</dcterms:modified>
</cp:coreProperties>
</file>